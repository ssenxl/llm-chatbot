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88" r:id="rId3"/>
    <p:sldId id="257" r:id="rId4"/>
    <p:sldId id="258" r:id="rId5"/>
    <p:sldId id="259" r:id="rId6"/>
    <p:sldId id="260" r:id="rId7"/>
    <p:sldId id="290" r:id="rId8"/>
    <p:sldId id="265" r:id="rId9"/>
    <p:sldId id="266" r:id="rId10"/>
    <p:sldId id="267" r:id="rId11"/>
    <p:sldId id="268" r:id="rId12"/>
    <p:sldId id="269" r:id="rId13"/>
    <p:sldId id="274" r:id="rId14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80" autoAdjust="0"/>
  </p:normalViewPr>
  <p:slideViewPr>
    <p:cSldViewPr snapToGrid="0">
      <p:cViewPr varScale="1">
        <p:scale>
          <a:sx n="103" d="100"/>
          <a:sy n="103" d="100"/>
        </p:scale>
        <p:origin x="1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F4D36-78C9-4952-9455-6F68B624DDA6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88CDB-384B-4B62-B63C-7F843B8C632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73033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88CDB-384B-4B62-B63C-7F843B8C632A}" type="slidenum">
              <a:rPr lang="th-TH" smtClean="0"/>
              <a:t>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73239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DCACA-8BE6-46FE-9F8D-427696E83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6A76D-F641-412A-ABCE-FEAD4B47D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4BA10-CE8B-4817-BF5C-797C4AB7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F4F2-C6CF-4977-8049-49490D244CF6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87E90-7A3C-44AD-9625-E515D3A11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A335E-6FA2-4BC1-8927-7D7302506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1101B-2245-4663-BAD7-BF1A4965813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12553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360CF-971D-4C45-BE5B-33ED917CC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2FBAF-452C-4046-ACA9-4403F3102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F62A0-C700-49CC-A4D9-45E76B66A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F4F2-C6CF-4977-8049-49490D244CF6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90A51-17AA-44B8-9659-099830C1E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3B5D5-E27B-4E27-90A7-B3878F966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1101B-2245-4663-BAD7-BF1A4965813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3981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AF9C3-A310-4B94-844D-86FB63715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BA57D-ADBB-4556-9D59-AFF5592D3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316DF-B79A-49E6-9B3D-7CC4F8740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F4F2-C6CF-4977-8049-49490D244CF6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201CE-3597-4789-BD84-76B663413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EACC3-0594-4688-AE9A-575CE9C92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1101B-2245-4663-BAD7-BF1A4965813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1122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CDD3F-D0F5-42CD-9466-3705CA853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CD00C-9F80-4DD8-852F-6C3B712A7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0F2D39-2282-4701-BCBF-C7023FE45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CD946-16D1-47CA-A7B2-1FF0FBD63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F4F2-C6CF-4977-8049-49490D244CF6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0AF16-2940-4769-8D9D-908456C2E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B89B4-5518-468D-A90D-FA645F6FC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1101B-2245-4663-BAD7-BF1A4965813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28812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52E99-3BCA-4635-8533-4B7B7F779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825DC-723C-45AD-B358-DC4C9E495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67CBA-59D8-42F3-A9E0-1AFFFFAC7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DAA50-061E-4E4C-B635-91FF95A04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BF54DB-4913-4C6E-82EB-201352FCAF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DA75F9-D91A-4634-A55C-FC090DAC4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F4F2-C6CF-4977-8049-49490D244CF6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A7562C-F40A-43C8-ABBD-DE0715A7E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374F82-073D-4695-927A-6CB8000D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1101B-2245-4663-BAD7-BF1A4965813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9195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89F9-C18D-42B4-8951-BF69747BF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480683-B567-41D2-8F92-171EA710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F4F2-C6CF-4977-8049-49490D244CF6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8080F6-0051-4DAF-93D4-98324F16A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02B09-2703-4A61-B267-C6C681904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1101B-2245-4663-BAD7-BF1A4965813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32630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C25A74-C992-42DA-B4A3-80438EEBF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F4F2-C6CF-4977-8049-49490D244CF6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AF873-5445-489E-B4D3-048AAAFA1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1BF16-29C7-461A-9ED7-EB4B21B76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1101B-2245-4663-BAD7-BF1A4965813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11998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7B9C6-483C-42C3-8DAC-C6A59707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14AEA-680C-40EE-8531-4EBCE391A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31680-978F-4D11-B8D9-A389B5099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BEA11-8A3F-43E8-867B-24A2ACD05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F4F2-C6CF-4977-8049-49490D244CF6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EA7B8-64EA-4855-AB7A-2C6D2FD9C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595F3-E71B-4959-ABF8-E953CF02A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1101B-2245-4663-BAD7-BF1A4965813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28731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46A9-04D2-49B1-B90F-12CF18523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7E6530-D630-4285-8D8E-2CC909B84A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AA44-F7D6-4AD0-AC27-9250C3E6B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B2F15-F426-443D-932F-F7CA2D70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F4F2-C6CF-4977-8049-49490D244CF6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3D448-2836-4EEB-8111-BB1F9070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8EC69-6EF7-4AB5-8165-A08C488B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1101B-2245-4663-BAD7-BF1A4965813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89798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8686C-D2DC-43E6-AFAC-4C8128125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137E4F-643B-4A25-B6EA-9A9B639ED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75D43-DE61-4813-A331-E3B2174F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F4F2-C6CF-4977-8049-49490D244CF6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0FE59-65B2-43B8-867F-0F745467E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77BB2-A332-4411-AA2B-BCB27FC23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1101B-2245-4663-BAD7-BF1A4965813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68602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48957F-B1EF-4153-8952-84B847A42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AF472-84B9-4CCF-86D8-BB483DC89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8B953-1E47-4C21-83C0-95D18609B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F4F2-C6CF-4977-8049-49490D244CF6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02105-CDD7-4BD1-B647-1286820D2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5ECBC-33E7-483C-923A-09D170065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1101B-2245-4663-BAD7-BF1A4965813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60704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7A86B2-A687-4131-BAD3-67183F759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F9EA7-9947-4756-AFF8-73914C949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F9696-ACCB-432F-89AF-83A0B26C2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2F4F2-C6CF-4977-8049-49490D244CF6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13B21-C531-4C12-9670-73DFB57E7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DF7FD-A7F8-4362-8AA0-A22D26551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1101B-2245-4663-BAD7-BF1A4965813C}" type="slidenum">
              <a:rPr lang="th-TH" smtClean="0"/>
              <a:t>‹#›</a:t>
            </a:fld>
            <a:endParaRPr lang="th-T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5138AB-69E7-4520-9E2D-53F6343D9481}"/>
              </a:ext>
            </a:extLst>
          </p:cNvPr>
          <p:cNvSpPr txBox="1"/>
          <p:nvPr userDrawn="1"/>
        </p:nvSpPr>
        <p:spPr>
          <a:xfrm>
            <a:off x="0" y="0"/>
            <a:ext cx="12192000" cy="52322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APP160 </a:t>
            </a:r>
            <a:r>
              <a:rPr lang="th-TH" dirty="0"/>
              <a:t>การปรับปรุงยอดบัญชีธนาคาร (</a:t>
            </a:r>
            <a:r>
              <a:rPr lang="en-US" dirty="0"/>
              <a:t>Bank Adjustment Entry)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87848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3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F479B-D57C-4BE1-830A-72463720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5172"/>
            <a:ext cx="9144000" cy="2325693"/>
          </a:xfrm>
        </p:spPr>
        <p:txBody>
          <a:bodyPr anchor="ctr"/>
          <a:lstStyle/>
          <a:p>
            <a:r>
              <a:rPr lang="en-US" sz="4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APP160</a:t>
            </a:r>
            <a:r>
              <a:rPr lang="th-TH" sz="4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การปรับปรุงยอดบัญชีธนาคาร (</a:t>
            </a:r>
            <a:r>
              <a:rPr 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Bank Adjustment Entry)</a:t>
            </a:r>
            <a:endParaRPr lang="th-TH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B49707-5F81-48EC-9B56-B5BB6975C32C}"/>
              </a:ext>
            </a:extLst>
          </p:cNvPr>
          <p:cNvSpPr txBox="1">
            <a:spLocks/>
          </p:cNvSpPr>
          <p:nvPr/>
        </p:nvSpPr>
        <p:spPr>
          <a:xfrm>
            <a:off x="1844351" y="-19014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th-T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4D19AA-3EDB-4F61-9CC3-34006CCD8E72}"/>
              </a:ext>
            </a:extLst>
          </p:cNvPr>
          <p:cNvSpPr txBox="1"/>
          <p:nvPr/>
        </p:nvSpPr>
        <p:spPr>
          <a:xfrm>
            <a:off x="2100942" y="4014214"/>
            <a:ext cx="8630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3600" dirty="0"/>
              <a:t>ใช้ในการบันทึกค่าธรรมเนียมธนาคาร ดอกเบี้ยรับ ดอกเบี้ยจ่าย</a:t>
            </a:r>
          </a:p>
        </p:txBody>
      </p:sp>
    </p:spTree>
    <p:extLst>
      <p:ext uri="{BB962C8B-B14F-4D97-AF65-F5344CB8AC3E}">
        <p14:creationId xmlns:p14="http://schemas.microsoft.com/office/powerpoint/2010/main" val="888744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82BA034-0CFB-4B94-9896-835CC1EC3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569981"/>
              </p:ext>
            </p:extLst>
          </p:nvPr>
        </p:nvGraphicFramePr>
        <p:xfrm>
          <a:off x="870079" y="866140"/>
          <a:ext cx="10451841" cy="45770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916525">
                  <a:extLst>
                    <a:ext uri="{9D8B030D-6E8A-4147-A177-3AD203B41FA5}">
                      <a16:colId xmlns:a16="http://schemas.microsoft.com/office/drawing/2014/main" val="3983567285"/>
                    </a:ext>
                  </a:extLst>
                </a:gridCol>
                <a:gridCol w="6535316">
                  <a:extLst>
                    <a:ext uri="{9D8B030D-6E8A-4147-A177-3AD203B41FA5}">
                      <a16:colId xmlns:a16="http://schemas.microsoft.com/office/drawing/2014/main" val="2876745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1.กระบวนการ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(process)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APP160 -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การปรับปรุงยอดบัญชีธนาคาร (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Bank Adjustment Entry))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06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2.ขั้นตอนย่อย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(sub process)</a:t>
                      </a:r>
                      <a:endParaRPr lang="th-TH" sz="18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1.สร้าง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group</a:t>
                      </a:r>
                    </a:p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2.สร้าง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new adjustment</a:t>
                      </a:r>
                    </a:p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.ตรวจสอบการบันทึกบัญชี</a:t>
                      </a:r>
                    </a:p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4.การบันทึกบัญชี (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post)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235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3.ข้อมูลที่ต้องใช้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(Input)</a:t>
                      </a:r>
                      <a:endParaRPr lang="th-TH" sz="18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Statement/Book Bank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342900" indent="-342900">
                        <a:buAutoNum type="arabicPeriod"/>
                      </a:pP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423079"/>
                  </a:ext>
                </a:extLst>
              </a:tr>
              <a:tr h="44479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4.ความเสี่ยง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(Risk)</a:t>
                      </a:r>
                      <a:endParaRPr lang="th-TH" sz="18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R1.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เลือก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bank account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ที่จะใช้ในการจ่ายผิด</a:t>
                      </a:r>
                    </a:p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R2.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ระบุวันที่จ่ายเงินผิด</a:t>
                      </a:r>
                    </a:p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R3.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ระบุจำนวนเงินที่จ่ายผิด</a:t>
                      </a:r>
                    </a:p>
                    <a:p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545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5.จุดควบคุม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(Control point)</a:t>
                      </a:r>
                      <a:endParaRPr lang="th-TH" sz="18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1.1ตรวจสอบกับ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Statement/Book Bank</a:t>
                      </a:r>
                    </a:p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2.1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ตรวจสอบกับ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Statement/Book Bank</a:t>
                      </a:r>
                    </a:p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3.1ตรวจสอบกับ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Statement/Book Bank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306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938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AA4235-0E87-4E28-8A37-106D76BC34DD}"/>
              </a:ext>
            </a:extLst>
          </p:cNvPr>
          <p:cNvGrpSpPr/>
          <p:nvPr/>
        </p:nvGrpSpPr>
        <p:grpSpPr>
          <a:xfrm>
            <a:off x="454548" y="578498"/>
            <a:ext cx="11282904" cy="5959670"/>
            <a:chOff x="380222" y="263879"/>
            <a:chExt cx="11580568" cy="631164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30FB950-042A-4A57-801E-DF469F6F4D3E}"/>
                </a:ext>
              </a:extLst>
            </p:cNvPr>
            <p:cNvGrpSpPr/>
            <p:nvPr/>
          </p:nvGrpSpPr>
          <p:grpSpPr>
            <a:xfrm>
              <a:off x="380222" y="658323"/>
              <a:ext cx="11580568" cy="5917199"/>
              <a:chOff x="445537" y="639661"/>
              <a:chExt cx="11580568" cy="5917199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7A6BC878-A524-4239-B4E7-C23AD484A604}"/>
                  </a:ext>
                </a:extLst>
              </p:cNvPr>
              <p:cNvGrpSpPr/>
              <p:nvPr/>
            </p:nvGrpSpPr>
            <p:grpSpPr>
              <a:xfrm>
                <a:off x="445537" y="639661"/>
                <a:ext cx="11580568" cy="5917199"/>
                <a:chOff x="896009" y="22034"/>
                <a:chExt cx="11877445" cy="6609637"/>
              </a:xfrm>
            </p:grpSpPr>
            <p:sp>
              <p:nvSpPr>
                <p:cNvPr id="7" name="Star: 8 Points 6">
                  <a:extLst>
                    <a:ext uri="{FF2B5EF4-FFF2-40B4-BE49-F238E27FC236}">
                      <a16:creationId xmlns:a16="http://schemas.microsoft.com/office/drawing/2014/main" id="{84AD9160-86EF-4EFF-A14B-F492982D3EC0}"/>
                    </a:ext>
                  </a:extLst>
                </p:cNvPr>
                <p:cNvSpPr/>
                <p:nvPr/>
              </p:nvSpPr>
              <p:spPr>
                <a:xfrm>
                  <a:off x="1999512" y="875491"/>
                  <a:ext cx="288152" cy="272173"/>
                </a:xfrm>
                <a:prstGeom prst="star8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</a:rPr>
                    <a:t>1</a:t>
                  </a:r>
                  <a:endParaRPr lang="th-TH" sz="1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986CB15D-958A-4CD4-BCCF-79BA675D4991}"/>
                    </a:ext>
                  </a:extLst>
                </p:cNvPr>
                <p:cNvSpPr/>
                <p:nvPr/>
              </p:nvSpPr>
              <p:spPr>
                <a:xfrm>
                  <a:off x="1531179" y="2137588"/>
                  <a:ext cx="1726163" cy="60649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150E2CE2-3933-4F37-9EB9-895BE2735F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r="2580" b="3622"/>
                <a:stretch/>
              </p:blipFill>
              <p:spPr>
                <a:xfrm>
                  <a:off x="896009" y="22034"/>
                  <a:ext cx="11877445" cy="6609637"/>
                </a:xfrm>
                <a:prstGeom prst="rect">
                  <a:avLst/>
                </a:prstGeom>
              </p:spPr>
            </p:pic>
          </p:grp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CB786D3-CF18-4A8D-9DC3-89B9765C854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81172" b="28409"/>
              <a:stretch/>
            </p:blipFill>
            <p:spPr>
              <a:xfrm>
                <a:off x="461849" y="639661"/>
                <a:ext cx="2890951" cy="5914178"/>
              </a:xfrm>
              <a:prstGeom prst="rect">
                <a:avLst/>
              </a:prstGeom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6440615-8879-4758-AF78-A673E57E44E9}"/>
                  </a:ext>
                </a:extLst>
              </p:cNvPr>
              <p:cNvSpPr/>
              <p:nvPr/>
            </p:nvSpPr>
            <p:spPr>
              <a:xfrm>
                <a:off x="1017037" y="2066925"/>
                <a:ext cx="2192888" cy="77152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94B8D7D-2953-44B8-9183-B6D75753E1CD}"/>
                </a:ext>
              </a:extLst>
            </p:cNvPr>
            <p:cNvSpPr txBox="1"/>
            <p:nvPr/>
          </p:nvSpPr>
          <p:spPr>
            <a:xfrm>
              <a:off x="396534" y="263879"/>
              <a:ext cx="11564256" cy="369332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Menu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เลือก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Bank Adjustment Entry</a:t>
              </a:r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9854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5058758-6CA9-4D70-A200-67462FF1F901}"/>
              </a:ext>
            </a:extLst>
          </p:cNvPr>
          <p:cNvGrpSpPr/>
          <p:nvPr/>
        </p:nvGrpSpPr>
        <p:grpSpPr>
          <a:xfrm>
            <a:off x="624126" y="633241"/>
            <a:ext cx="10943748" cy="6132696"/>
            <a:chOff x="401216" y="162988"/>
            <a:chExt cx="11207057" cy="654572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EA41B5F-A143-4277-9163-ADA76C4C2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0547" y="552346"/>
              <a:ext cx="11197726" cy="6156367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A7BA4AC-BCEF-46A4-ADB8-C767EC08EA84}"/>
                </a:ext>
              </a:extLst>
            </p:cNvPr>
            <p:cNvSpPr txBox="1"/>
            <p:nvPr/>
          </p:nvSpPr>
          <p:spPr>
            <a:xfrm>
              <a:off x="401216" y="162988"/>
              <a:ext cx="11197727" cy="394206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        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New 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rPr>
                <a:t>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rPr>
                <a:t>เลือก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rPr>
                <a:t>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New Group</a:t>
              </a:r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EB4C0B8-D122-4D73-9F7D-DE4AF7B07B2E}"/>
                </a:ext>
              </a:extLst>
            </p:cNvPr>
            <p:cNvSpPr/>
            <p:nvPr/>
          </p:nvSpPr>
          <p:spPr>
            <a:xfrm>
              <a:off x="423788" y="850048"/>
              <a:ext cx="271260" cy="23413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1935700-7DC8-4100-95B7-7D462119547F}"/>
                </a:ext>
              </a:extLst>
            </p:cNvPr>
            <p:cNvSpPr/>
            <p:nvPr/>
          </p:nvSpPr>
          <p:spPr>
            <a:xfrm>
              <a:off x="419878" y="1093661"/>
              <a:ext cx="1452392" cy="23413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81C96E7-7274-4C09-B019-F8EA7E9A29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81" t="6073" r="97748" b="91119"/>
            <a:stretch/>
          </p:blipFill>
          <p:spPr>
            <a:xfrm>
              <a:off x="838249" y="221665"/>
              <a:ext cx="237267" cy="2720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3163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820C7B4-525C-4778-B39F-2FC9A474F7E4}"/>
              </a:ext>
            </a:extLst>
          </p:cNvPr>
          <p:cNvGrpSpPr/>
          <p:nvPr/>
        </p:nvGrpSpPr>
        <p:grpSpPr>
          <a:xfrm>
            <a:off x="175051" y="905232"/>
            <a:ext cx="11683363" cy="5000520"/>
            <a:chOff x="175051" y="905232"/>
            <a:chExt cx="11683363" cy="500052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BBE651C-3B74-4946-A632-9898126B88AF}"/>
                </a:ext>
              </a:extLst>
            </p:cNvPr>
            <p:cNvGrpSpPr/>
            <p:nvPr/>
          </p:nvGrpSpPr>
          <p:grpSpPr>
            <a:xfrm>
              <a:off x="175051" y="905232"/>
              <a:ext cx="11683363" cy="5000520"/>
              <a:chOff x="147959" y="659263"/>
              <a:chExt cx="11683363" cy="5000520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065FB17C-6268-4AD3-B10D-D437987BC3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7959" y="659263"/>
                <a:ext cx="9095373" cy="5000520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5FC787E-0A6A-4AAC-8267-601B59186E3F}"/>
                  </a:ext>
                </a:extLst>
              </p:cNvPr>
              <p:cNvSpPr/>
              <p:nvPr/>
            </p:nvSpPr>
            <p:spPr>
              <a:xfrm>
                <a:off x="3800010" y="2003428"/>
                <a:ext cx="1027931" cy="1484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BDD93BF-EB7A-48CA-8BDC-FB4D8A63D261}"/>
                  </a:ext>
                </a:extLst>
              </p:cNvPr>
              <p:cNvSpPr/>
              <p:nvPr/>
            </p:nvSpPr>
            <p:spPr>
              <a:xfrm>
                <a:off x="6004140" y="1967952"/>
                <a:ext cx="1721608" cy="18387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B5D9ACD-6224-46DB-9C23-37ECA16621D3}"/>
                  </a:ext>
                </a:extLst>
              </p:cNvPr>
              <p:cNvSpPr/>
              <p:nvPr/>
            </p:nvSpPr>
            <p:spPr>
              <a:xfrm>
                <a:off x="457199" y="1069891"/>
                <a:ext cx="205273" cy="19907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73C9847-B9EA-4285-9813-E86E1298E2C9}"/>
                  </a:ext>
                </a:extLst>
              </p:cNvPr>
              <p:cNvSpPr/>
              <p:nvPr/>
            </p:nvSpPr>
            <p:spPr>
              <a:xfrm>
                <a:off x="3812197" y="1810140"/>
                <a:ext cx="666497" cy="1484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F61744C-80F1-40CF-A2B0-C68E8DCF85F7}"/>
                  </a:ext>
                </a:extLst>
              </p:cNvPr>
              <p:cNvSpPr txBox="1"/>
              <p:nvPr/>
            </p:nvSpPr>
            <p:spPr>
              <a:xfrm>
                <a:off x="9237945" y="659264"/>
                <a:ext cx="2593377" cy="4955203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1. Group ID </a:t>
                </a:r>
                <a:r>
                  <a:rPr lang="en-US" sz="24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: </a:t>
                </a:r>
                <a:r>
                  <a:rPr lang="th-TH" sz="20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ตั้งชื่อ กรุ๊ป </a:t>
                </a:r>
                <a:endParaRPr lang="th-TH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r>
                  <a:rPr lang="en-US" sz="2400" b="1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2. Default Transaction Date </a:t>
                </a:r>
                <a:r>
                  <a:rPr lang="en-US" sz="24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: </a:t>
                </a:r>
                <a:r>
                  <a:rPr lang="th-TH" sz="20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คลิกลูกศรด้านขวา เพื่อเลือกวันที่  (วันที่บันทึกบัญชี)</a:t>
                </a:r>
              </a:p>
              <a:p>
                <a:r>
                  <a:rPr lang="en-US" sz="2400" b="1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3.</a:t>
                </a:r>
                <a:r>
                  <a:rPr lang="en-US" sz="24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sz="2400" b="1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Bank</a:t>
                </a:r>
                <a:r>
                  <a:rPr lang="en-US" sz="24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: </a:t>
                </a:r>
                <a:r>
                  <a:rPr lang="th-TH" sz="20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คลิกลูกศรด้านขวา เพื่อเลือกธนาคารที่ต้องการบันทึกบัญชี</a:t>
                </a:r>
                <a:endParaRPr lang="th-TH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r>
                  <a:rPr lang="th-TH" sz="2400" b="1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4. </a:t>
                </a:r>
                <a:r>
                  <a:rPr lang="th-TH" sz="24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กด</a:t>
                </a:r>
                <a:r>
                  <a:rPr lang="th-TH" sz="2400" b="1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sz="2400" b="1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Save</a:t>
                </a:r>
              </a:p>
              <a:p>
                <a:pPr marL="285750" indent="-285750">
                  <a:buFontTx/>
                  <a:buChar char="-"/>
                </a:pPr>
                <a:endParaRPr lang="en-US" sz="1600" b="1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pPr marL="285750" indent="-285750">
                  <a:buFontTx/>
                  <a:buChar char="-"/>
                </a:pPr>
                <a:endParaRPr lang="en-US" sz="1600" b="1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pPr marL="285750" indent="-285750">
                  <a:buFontTx/>
                  <a:buChar char="-"/>
                </a:pPr>
                <a:endParaRPr lang="en-US" sz="1600" b="1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pPr marL="285750" indent="-285750">
                  <a:buFontTx/>
                  <a:buChar char="-"/>
                </a:pPr>
                <a:endParaRPr lang="en-US" sz="1600" b="1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pPr marL="285750" indent="-285750">
                  <a:buFontTx/>
                  <a:buChar char="-"/>
                </a:pPr>
                <a:endParaRPr lang="en-US" sz="1600" b="1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endParaRPr lang="en-US" sz="1200" b="1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endParaRPr lang="th-TH" sz="1600" b="1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endParaRPr lang="en-US" sz="1600" b="1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endParaRPr lang="en-US" sz="1600" b="1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endParaRPr lang="en-US" sz="1600" b="1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16" name="Heptagon 15">
                <a:extLst>
                  <a:ext uri="{FF2B5EF4-FFF2-40B4-BE49-F238E27FC236}">
                    <a16:creationId xmlns:a16="http://schemas.microsoft.com/office/drawing/2014/main" id="{BB4C7711-CDFF-4912-8F4B-AD3998F98878}"/>
                  </a:ext>
                </a:extLst>
              </p:cNvPr>
              <p:cNvSpPr/>
              <p:nvPr/>
            </p:nvSpPr>
            <p:spPr>
              <a:xfrm>
                <a:off x="2518666" y="1726190"/>
                <a:ext cx="289848" cy="232350"/>
              </a:xfrm>
              <a:prstGeom prst="heptagon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1</a:t>
                </a:r>
                <a:endParaRPr lang="th-TH" sz="2400" dirty="0">
                  <a:latin typeface="AngsanaUPC" panose="02020603050405020304" pitchFamily="18" charset="-34"/>
                  <a:cs typeface="AngsanaUPC" panose="02020603050405020304" pitchFamily="18" charset="-34"/>
                </a:endParaRPr>
              </a:p>
            </p:txBody>
          </p:sp>
          <p:sp>
            <p:nvSpPr>
              <p:cNvPr id="20" name="Heptagon 19">
                <a:extLst>
                  <a:ext uri="{FF2B5EF4-FFF2-40B4-BE49-F238E27FC236}">
                    <a16:creationId xmlns:a16="http://schemas.microsoft.com/office/drawing/2014/main" id="{C44230ED-25B5-4000-A7C0-B3CA89F34B65}"/>
                  </a:ext>
                </a:extLst>
              </p:cNvPr>
              <p:cNvSpPr/>
              <p:nvPr/>
            </p:nvSpPr>
            <p:spPr>
              <a:xfrm>
                <a:off x="2372710" y="1951330"/>
                <a:ext cx="277270" cy="233771"/>
              </a:xfrm>
              <a:prstGeom prst="heptagon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2</a:t>
                </a:r>
                <a:endParaRPr lang="th-TH" sz="2400" dirty="0">
                  <a:latin typeface="AngsanaUPC" panose="02020603050405020304" pitchFamily="18" charset="-34"/>
                  <a:cs typeface="AngsanaUPC" panose="02020603050405020304" pitchFamily="18" charset="-34"/>
                </a:endParaRPr>
              </a:p>
            </p:txBody>
          </p:sp>
          <p:sp>
            <p:nvSpPr>
              <p:cNvPr id="21" name="Heptagon 20">
                <a:extLst>
                  <a:ext uri="{FF2B5EF4-FFF2-40B4-BE49-F238E27FC236}">
                    <a16:creationId xmlns:a16="http://schemas.microsoft.com/office/drawing/2014/main" id="{43343360-60BA-42E5-B3F1-70EFF3A31695}"/>
                  </a:ext>
                </a:extLst>
              </p:cNvPr>
              <p:cNvSpPr/>
              <p:nvPr/>
            </p:nvSpPr>
            <p:spPr>
              <a:xfrm>
                <a:off x="5396504" y="1922872"/>
                <a:ext cx="244348" cy="255211"/>
              </a:xfrm>
              <a:prstGeom prst="heptagon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3</a:t>
                </a:r>
                <a:endParaRPr lang="th-TH" sz="2400" dirty="0">
                  <a:latin typeface="AngsanaUPC" panose="02020603050405020304" pitchFamily="18" charset="-34"/>
                  <a:cs typeface="AngsanaUPC" panose="02020603050405020304" pitchFamily="18" charset="-34"/>
                </a:endParaRPr>
              </a:p>
            </p:txBody>
          </p:sp>
        </p:grpSp>
        <p:sp>
          <p:nvSpPr>
            <p:cNvPr id="25" name="Heptagon 24">
              <a:extLst>
                <a:ext uri="{FF2B5EF4-FFF2-40B4-BE49-F238E27FC236}">
                  <a16:creationId xmlns:a16="http://schemas.microsoft.com/office/drawing/2014/main" id="{F5ECC3EB-B589-4133-82DB-A6A892B84410}"/>
                </a:ext>
              </a:extLst>
            </p:cNvPr>
            <p:cNvSpPr/>
            <p:nvPr/>
          </p:nvSpPr>
          <p:spPr>
            <a:xfrm>
              <a:off x="198743" y="1279538"/>
              <a:ext cx="261857" cy="203181"/>
            </a:xfrm>
            <a:prstGeom prst="heptagon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4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936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ED0E22C-4A0A-4F87-B7D3-20A1C6EFB9A6}"/>
              </a:ext>
            </a:extLst>
          </p:cNvPr>
          <p:cNvGrpSpPr/>
          <p:nvPr/>
        </p:nvGrpSpPr>
        <p:grpSpPr>
          <a:xfrm>
            <a:off x="728977" y="622584"/>
            <a:ext cx="10734046" cy="5992820"/>
            <a:chOff x="499281" y="289249"/>
            <a:chExt cx="11024025" cy="621675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84A5E4D-213C-47FB-9193-C7871C7C25E3}"/>
                </a:ext>
              </a:extLst>
            </p:cNvPr>
            <p:cNvGrpSpPr/>
            <p:nvPr/>
          </p:nvGrpSpPr>
          <p:grpSpPr>
            <a:xfrm>
              <a:off x="499281" y="615820"/>
              <a:ext cx="11024025" cy="5890184"/>
              <a:chOff x="499281" y="351995"/>
              <a:chExt cx="11193437" cy="6154009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280DEAE5-87AF-4354-9465-1D04716DBB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9281" y="351995"/>
                <a:ext cx="11193437" cy="6154009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F0FBFE9-CBAA-4882-A26C-D97693D96F18}"/>
                  </a:ext>
                </a:extLst>
              </p:cNvPr>
              <p:cNvSpPr/>
              <p:nvPr/>
            </p:nvSpPr>
            <p:spPr>
              <a:xfrm>
                <a:off x="499281" y="1306286"/>
                <a:ext cx="1469478" cy="223934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8E586E7-2B53-4E50-94C4-7E8870C1EC18}"/>
                  </a:ext>
                </a:extLst>
              </p:cNvPr>
              <p:cNvSpPr/>
              <p:nvPr/>
            </p:nvSpPr>
            <p:spPr>
              <a:xfrm>
                <a:off x="499281" y="866192"/>
                <a:ext cx="247168" cy="223934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8FD09FD-B8B9-4D95-B12A-45BD30E0771C}"/>
                </a:ext>
              </a:extLst>
            </p:cNvPr>
            <p:cNvSpPr txBox="1"/>
            <p:nvPr/>
          </p:nvSpPr>
          <p:spPr>
            <a:xfrm>
              <a:off x="499282" y="289249"/>
              <a:ext cx="11024024" cy="383133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          New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เลือก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New Adjustment</a:t>
              </a:r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6331814-C868-4D3D-A399-3EDEBB5972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81" t="6073" r="97748" b="91119"/>
            <a:stretch/>
          </p:blipFill>
          <p:spPr>
            <a:xfrm>
              <a:off x="1007601" y="335142"/>
              <a:ext cx="231693" cy="2548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7159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0459EE43-7EA4-4659-B614-F79785A71A46}"/>
              </a:ext>
            </a:extLst>
          </p:cNvPr>
          <p:cNvGrpSpPr/>
          <p:nvPr/>
        </p:nvGrpSpPr>
        <p:grpSpPr>
          <a:xfrm>
            <a:off x="147637" y="757596"/>
            <a:ext cx="11896726" cy="5573000"/>
            <a:chOff x="114299" y="748265"/>
            <a:chExt cx="11896726" cy="557300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5EF9AA-4A6B-4A4B-8A7E-AB331A299081}"/>
                </a:ext>
              </a:extLst>
            </p:cNvPr>
            <p:cNvSpPr txBox="1"/>
            <p:nvPr/>
          </p:nvSpPr>
          <p:spPr>
            <a:xfrm>
              <a:off x="9201150" y="750509"/>
              <a:ext cx="2809875" cy="5570756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 </a:t>
              </a:r>
              <a:r>
                <a:rPr lang="en-US" dirty="0">
                  <a:solidFill>
                    <a:srgbClr val="00B0F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Adjustment</a:t>
              </a:r>
            </a:p>
            <a:p>
              <a:r>
                <a:rPr lang="en-US" sz="2000" b="1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1. Transaction Apply Date: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เลือกวันที่ต้องการบันทึกบัญชี</a:t>
              </a:r>
              <a:endParaRPr lang="en-US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r>
                <a:rPr lang="en-US" sz="2000" b="1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2. Description :</a:t>
              </a:r>
              <a:r>
                <a:rPr lang="th-TH" sz="2000" b="1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ใส่รายละเอียดหรือเลขที่อ้างอิง/เลขที่เอกสารที่ได้รับ</a:t>
              </a:r>
            </a:p>
            <a:p>
              <a:r>
                <a:rPr lang="en-US" sz="2000" b="1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3. Amount :</a:t>
              </a:r>
              <a:r>
                <a:rPr lang="th-TH" sz="2000" b="1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ใส่จำนวนเงิน ถ้าเป็นค่าใช้จ่ายให้ใส่     เครื่องหมายลบ เช่น ค่าธรรมเนียมธนาคาร ให้ใส่เป็น</a:t>
              </a:r>
            </a:p>
            <a:p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“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-200.00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”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ถ้าเป็นรายได้ เช่น ดอกเบี้ยรับ ไม่ต้องใส่เครื่องหมาย (–) ด้านหน้า เช่น ดอกเบี้ยรับ ใส่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“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200.00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”</a:t>
              </a:r>
            </a:p>
            <a:p>
              <a:r>
                <a:rPr lang="en-US" sz="2000" b="1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4. Bank Fee :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กด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Search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แล้วเลือกรายการที่ต้องการ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ว่าเป็นค่าธรรมเนียมธนาคาร/ดอกเบี้ยจ่าย/ดอกเบี้ยรับ จากนั้น กด </a:t>
              </a:r>
              <a:r>
                <a:rPr lang="en-US" sz="18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OK</a:t>
              </a:r>
            </a:p>
            <a:p>
              <a:r>
                <a:rPr lang="th-TH" sz="1800" b="1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5. </a:t>
              </a:r>
              <a:r>
                <a:rPr lang="th-TH" sz="20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กด</a:t>
              </a:r>
              <a:r>
                <a:rPr lang="th-TH" sz="2000" b="1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2000" b="1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Save</a:t>
              </a:r>
            </a:p>
            <a:p>
              <a:endParaRPr lang="en-US" sz="20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en-US" sz="1400" b="1" dirty="0">
                <a:latin typeface="Cordia New" panose="020B0304020202020204" pitchFamily="34" charset="-34"/>
              </a:endParaRPr>
            </a:p>
            <a:p>
              <a:endParaRPr lang="th-TH" sz="1400" b="1" dirty="0">
                <a:latin typeface="Cordia New" panose="020B0304020202020204" pitchFamily="34" charset="-34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C696824-C053-41BB-A689-7E3B0560B8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206" t="-9" r="19026" b="11099"/>
            <a:stretch/>
          </p:blipFill>
          <p:spPr>
            <a:xfrm>
              <a:off x="114299" y="748265"/>
              <a:ext cx="9086851" cy="547156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609CF12-6499-4828-BC0E-05AE10E221D8}"/>
                </a:ext>
              </a:extLst>
            </p:cNvPr>
            <p:cNvSpPr/>
            <p:nvPr/>
          </p:nvSpPr>
          <p:spPr>
            <a:xfrm>
              <a:off x="2677885" y="1673243"/>
              <a:ext cx="656303" cy="22087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50873A4-7F07-4B9C-8693-6B337E0DEF93}"/>
                </a:ext>
              </a:extLst>
            </p:cNvPr>
            <p:cNvSpPr/>
            <p:nvPr/>
          </p:nvSpPr>
          <p:spPr>
            <a:xfrm>
              <a:off x="3872204" y="2096230"/>
              <a:ext cx="1315616" cy="19910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7BFC1E-C5C9-4DF8-BDB4-B78C9858A39D}"/>
                </a:ext>
              </a:extLst>
            </p:cNvPr>
            <p:cNvSpPr/>
            <p:nvPr/>
          </p:nvSpPr>
          <p:spPr>
            <a:xfrm>
              <a:off x="3872203" y="3047952"/>
              <a:ext cx="1716834" cy="49146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DFAFC5-5D4C-42E8-986C-6C4AC4B6727B}"/>
                </a:ext>
              </a:extLst>
            </p:cNvPr>
            <p:cNvSpPr/>
            <p:nvPr/>
          </p:nvSpPr>
          <p:spPr>
            <a:xfrm>
              <a:off x="3872204" y="3539413"/>
              <a:ext cx="1315616" cy="19910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9620DCF-5D8A-4844-A545-41B4AA2EAEC1}"/>
                </a:ext>
              </a:extLst>
            </p:cNvPr>
            <p:cNvSpPr/>
            <p:nvPr/>
          </p:nvSpPr>
          <p:spPr>
            <a:xfrm>
              <a:off x="7299649" y="2332702"/>
              <a:ext cx="1315616" cy="19910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370FD60-838E-48F7-BC4C-AC06E7D64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35390" y="2531803"/>
              <a:ext cx="3531547" cy="2812918"/>
            </a:xfrm>
            <a:prstGeom prst="rect">
              <a:avLst/>
            </a:prstGeom>
          </p:spPr>
        </p:pic>
        <p:sp>
          <p:nvSpPr>
            <p:cNvPr id="14" name="Heptagon 13">
              <a:extLst>
                <a:ext uri="{FF2B5EF4-FFF2-40B4-BE49-F238E27FC236}">
                  <a16:creationId xmlns:a16="http://schemas.microsoft.com/office/drawing/2014/main" id="{5061461A-DFFD-4354-8200-74631666BD41}"/>
                </a:ext>
              </a:extLst>
            </p:cNvPr>
            <p:cNvSpPr/>
            <p:nvPr/>
          </p:nvSpPr>
          <p:spPr>
            <a:xfrm>
              <a:off x="2276189" y="2079038"/>
              <a:ext cx="252407" cy="253664"/>
            </a:xfrm>
            <a:prstGeom prst="heptagon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1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5" name="Heptagon 14">
              <a:extLst>
                <a:ext uri="{FF2B5EF4-FFF2-40B4-BE49-F238E27FC236}">
                  <a16:creationId xmlns:a16="http://schemas.microsoft.com/office/drawing/2014/main" id="{4072C236-6DD4-4EE0-9321-1939FBD3C6CF}"/>
                </a:ext>
              </a:extLst>
            </p:cNvPr>
            <p:cNvSpPr/>
            <p:nvPr/>
          </p:nvSpPr>
          <p:spPr>
            <a:xfrm>
              <a:off x="2882340" y="2977739"/>
              <a:ext cx="266783" cy="259958"/>
            </a:xfrm>
            <a:prstGeom prst="heptagon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2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6" name="Heptagon 15">
              <a:extLst>
                <a:ext uri="{FF2B5EF4-FFF2-40B4-BE49-F238E27FC236}">
                  <a16:creationId xmlns:a16="http://schemas.microsoft.com/office/drawing/2014/main" id="{7C64771E-8AA2-4C60-B500-07BE58199BD0}"/>
                </a:ext>
              </a:extLst>
            </p:cNvPr>
            <p:cNvSpPr/>
            <p:nvPr/>
          </p:nvSpPr>
          <p:spPr>
            <a:xfrm>
              <a:off x="5867495" y="2276625"/>
              <a:ext cx="266783" cy="220871"/>
            </a:xfrm>
            <a:prstGeom prst="heptagon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4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7" name="Heptagon 16">
              <a:extLst>
                <a:ext uri="{FF2B5EF4-FFF2-40B4-BE49-F238E27FC236}">
                  <a16:creationId xmlns:a16="http://schemas.microsoft.com/office/drawing/2014/main" id="{675DC052-8BF2-476F-91DA-7C7BEC66A0BA}"/>
                </a:ext>
              </a:extLst>
            </p:cNvPr>
            <p:cNvSpPr/>
            <p:nvPr/>
          </p:nvSpPr>
          <p:spPr>
            <a:xfrm>
              <a:off x="3015731" y="3478556"/>
              <a:ext cx="266783" cy="259958"/>
            </a:xfrm>
            <a:prstGeom prst="heptagon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3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22" name="Heptagon 21">
              <a:extLst>
                <a:ext uri="{FF2B5EF4-FFF2-40B4-BE49-F238E27FC236}">
                  <a16:creationId xmlns:a16="http://schemas.microsoft.com/office/drawing/2014/main" id="{CBC2B1D5-F345-4281-83CD-4BE4F69F0616}"/>
                </a:ext>
              </a:extLst>
            </p:cNvPr>
            <p:cNvSpPr/>
            <p:nvPr/>
          </p:nvSpPr>
          <p:spPr>
            <a:xfrm>
              <a:off x="180975" y="1188801"/>
              <a:ext cx="315652" cy="267826"/>
            </a:xfrm>
            <a:prstGeom prst="heptagon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5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7803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710D264-E5D6-4974-87A2-53DAEEB500D8}"/>
              </a:ext>
            </a:extLst>
          </p:cNvPr>
          <p:cNvGrpSpPr/>
          <p:nvPr/>
        </p:nvGrpSpPr>
        <p:grpSpPr>
          <a:xfrm>
            <a:off x="842500" y="550506"/>
            <a:ext cx="10507000" cy="6189186"/>
            <a:chOff x="677293" y="155873"/>
            <a:chExt cx="10837413" cy="662138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67EC606-28FC-4C2E-83A9-114DF2D33E92}"/>
                </a:ext>
              </a:extLst>
            </p:cNvPr>
            <p:cNvGrpSpPr/>
            <p:nvPr/>
          </p:nvGrpSpPr>
          <p:grpSpPr>
            <a:xfrm>
              <a:off x="677293" y="558011"/>
              <a:ext cx="10837413" cy="6219247"/>
              <a:chOff x="499281" y="351993"/>
              <a:chExt cx="11193437" cy="6154009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FED32796-328C-442A-ADB6-8606A25728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9281" y="351993"/>
                <a:ext cx="11193437" cy="6154009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D245E7F-D031-4591-AB16-6DAC2A3CBEE3}"/>
                  </a:ext>
                </a:extLst>
              </p:cNvPr>
              <p:cNvSpPr/>
              <p:nvPr/>
            </p:nvSpPr>
            <p:spPr>
              <a:xfrm>
                <a:off x="4855029" y="4295190"/>
                <a:ext cx="1312506" cy="23793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C707D102-26BC-4F67-9E25-AC67AF6E22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41648" y="1127295"/>
                <a:ext cx="4576956" cy="4790021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94977C7-8AEC-4553-93A9-43BE760F87CE}"/>
                  </a:ext>
                </a:extLst>
              </p:cNvPr>
              <p:cNvSpPr/>
              <p:nvPr/>
            </p:nvSpPr>
            <p:spPr>
              <a:xfrm>
                <a:off x="10316109" y="1978090"/>
                <a:ext cx="777989" cy="16795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7996CC2-92C7-4AF8-9036-DE2FC65F133F}"/>
                  </a:ext>
                </a:extLst>
              </p:cNvPr>
              <p:cNvSpPr/>
              <p:nvPr/>
            </p:nvSpPr>
            <p:spPr>
              <a:xfrm>
                <a:off x="8005227" y="2286000"/>
                <a:ext cx="1250740" cy="18661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14C9A94-1690-4B85-9724-95D85FB288D3}"/>
                  </a:ext>
                </a:extLst>
              </p:cNvPr>
              <p:cNvSpPr/>
              <p:nvPr/>
            </p:nvSpPr>
            <p:spPr>
              <a:xfrm>
                <a:off x="6814018" y="3566004"/>
                <a:ext cx="1900774" cy="18661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9E5A48B-77F3-4F51-907F-C5DAC4AFA113}"/>
                  </a:ext>
                </a:extLst>
              </p:cNvPr>
              <p:cNvSpPr/>
              <p:nvPr/>
            </p:nvSpPr>
            <p:spPr>
              <a:xfrm>
                <a:off x="6660310" y="5547203"/>
                <a:ext cx="785519" cy="18661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4A24D72-E26C-4DEE-90B1-197AA87E9293}"/>
                </a:ext>
              </a:extLst>
            </p:cNvPr>
            <p:cNvSpPr txBox="1"/>
            <p:nvPr/>
          </p:nvSpPr>
          <p:spPr>
            <a:xfrm>
              <a:off x="677293" y="155873"/>
              <a:ext cx="10837412" cy="707886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เมื่อกด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Save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แล้ว จะขึ้น เลขที่บัญชี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ในกรณีที่ยังไม่ได้ผูกบัญชี สามารถเลือกบัญชีที่จะบันทึกได้ </a:t>
              </a:r>
            </a:p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โดยไปที่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G/L Account : </a:t>
              </a:r>
              <a:r>
                <a:rPr lang="th-TH" sz="20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ใส่เลขที่บัญชี/หรือเลือก </a:t>
              </a:r>
              <a:r>
                <a:rPr lang="en-US" sz="20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Search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จากนั้นกด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OK</a:t>
              </a:r>
              <a:endParaRPr lang="th-TH" sz="24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0319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E5D5844-56F9-4422-8CB0-4913F2B0E6ED}"/>
              </a:ext>
            </a:extLst>
          </p:cNvPr>
          <p:cNvGrpSpPr/>
          <p:nvPr/>
        </p:nvGrpSpPr>
        <p:grpSpPr>
          <a:xfrm>
            <a:off x="790816" y="553886"/>
            <a:ext cx="10610367" cy="6179435"/>
            <a:chOff x="499280" y="191148"/>
            <a:chExt cx="11193438" cy="657611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D80732B-FAC8-4C34-9EC2-F1DB09A05BD3}"/>
                </a:ext>
              </a:extLst>
            </p:cNvPr>
            <p:cNvGrpSpPr/>
            <p:nvPr/>
          </p:nvGrpSpPr>
          <p:grpSpPr>
            <a:xfrm>
              <a:off x="499281" y="613251"/>
              <a:ext cx="11193437" cy="6154009"/>
              <a:chOff x="508612" y="342664"/>
              <a:chExt cx="11193437" cy="6154009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83D55AE5-05D3-446F-B4BB-FB8F769735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8612" y="342664"/>
                <a:ext cx="11193437" cy="6154009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200D5BD-DBF3-46DF-8C4C-000142F1902F}"/>
                  </a:ext>
                </a:extLst>
              </p:cNvPr>
              <p:cNvSpPr/>
              <p:nvPr/>
            </p:nvSpPr>
            <p:spPr>
              <a:xfrm>
                <a:off x="1511121" y="662475"/>
                <a:ext cx="541614" cy="1679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1262AA0-7EA8-48BB-BB49-8BB7E61D65BE}"/>
                  </a:ext>
                </a:extLst>
              </p:cNvPr>
              <p:cNvSpPr/>
              <p:nvPr/>
            </p:nvSpPr>
            <p:spPr>
              <a:xfrm>
                <a:off x="1529783" y="1054359"/>
                <a:ext cx="1717271" cy="25192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1391CF-74A1-4F35-95CE-2A6F64EF0D6F}"/>
                </a:ext>
              </a:extLst>
            </p:cNvPr>
            <p:cNvSpPr txBox="1"/>
            <p:nvPr/>
          </p:nvSpPr>
          <p:spPr>
            <a:xfrm>
              <a:off x="499280" y="191148"/>
              <a:ext cx="11193437" cy="425794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Actions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Print Group Edit List 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(เพื่อดูการบันทึกบัญชี)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7422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717B130-740A-46E5-B115-76553ABE8404}"/>
              </a:ext>
            </a:extLst>
          </p:cNvPr>
          <p:cNvGrpSpPr/>
          <p:nvPr/>
        </p:nvGrpSpPr>
        <p:grpSpPr>
          <a:xfrm>
            <a:off x="2527041" y="751113"/>
            <a:ext cx="7137918" cy="5355773"/>
            <a:chOff x="1118117" y="437846"/>
            <a:chExt cx="10078617" cy="616822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CB2DA4E-9ED4-465C-B143-46723CC9EF96}"/>
                </a:ext>
              </a:extLst>
            </p:cNvPr>
            <p:cNvGrpSpPr/>
            <p:nvPr/>
          </p:nvGrpSpPr>
          <p:grpSpPr>
            <a:xfrm>
              <a:off x="1118117" y="886407"/>
              <a:ext cx="10078617" cy="5719665"/>
              <a:chOff x="3752523" y="1618997"/>
              <a:chExt cx="4686954" cy="3620005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0C912D60-63DE-42C7-A1D8-5564684627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52523" y="1618997"/>
                <a:ext cx="4686954" cy="3620005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EF91640-50EF-4494-8AB4-009E6017544C}"/>
                  </a:ext>
                </a:extLst>
              </p:cNvPr>
              <p:cNvSpPr/>
              <p:nvPr/>
            </p:nvSpPr>
            <p:spPr>
              <a:xfrm>
                <a:off x="4838023" y="2127380"/>
                <a:ext cx="190921" cy="22388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BAE3F0B-E8C2-4D3E-82C9-E1BB155F8C70}"/>
                </a:ext>
              </a:extLst>
            </p:cNvPr>
            <p:cNvSpPr txBox="1"/>
            <p:nvPr/>
          </p:nvSpPr>
          <p:spPr>
            <a:xfrm>
              <a:off x="1140959" y="437846"/>
              <a:ext cx="10055775" cy="460805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       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Print Preview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Output Format :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PDF</a:t>
              </a:r>
              <a:endParaRPr lang="th-TH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D9B9EC4-6288-480A-B90A-5E2ED8611C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3027" t="14817" r="72263" b="79048"/>
            <a:stretch/>
          </p:blipFill>
          <p:spPr>
            <a:xfrm>
              <a:off x="1808233" y="583602"/>
              <a:ext cx="333114" cy="249759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41A954-80CF-431A-802B-25656F7D89DE}"/>
                </a:ext>
              </a:extLst>
            </p:cNvPr>
            <p:cNvSpPr/>
            <p:nvPr/>
          </p:nvSpPr>
          <p:spPr>
            <a:xfrm>
              <a:off x="3164635" y="2092088"/>
              <a:ext cx="2275111" cy="35374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791585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AF5A972-DA2E-47D4-8152-161D16419AC2}"/>
              </a:ext>
            </a:extLst>
          </p:cNvPr>
          <p:cNvGrpSpPr/>
          <p:nvPr/>
        </p:nvGrpSpPr>
        <p:grpSpPr>
          <a:xfrm>
            <a:off x="1569628" y="788083"/>
            <a:ext cx="9052744" cy="5281833"/>
            <a:chOff x="1678175" y="526473"/>
            <a:chExt cx="9052744" cy="528183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A673A47-74B8-434F-BE46-633E9751DA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9055" t="18281" r="18805" b="21417"/>
            <a:stretch/>
          </p:blipFill>
          <p:spPr>
            <a:xfrm>
              <a:off x="1678175" y="1049693"/>
              <a:ext cx="9052744" cy="475861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96BAE1B-C639-48A0-9E98-F2C971ADAE83}"/>
                </a:ext>
              </a:extLst>
            </p:cNvPr>
            <p:cNvSpPr txBox="1"/>
            <p:nvPr/>
          </p:nvSpPr>
          <p:spPr>
            <a:xfrm>
              <a:off x="1678175" y="526473"/>
              <a:ext cx="9052743" cy="52322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pPr algn="ctr"/>
              <a:r>
                <a:rPr lang="th-TH" b="1" dirty="0"/>
                <a:t>ตัวอย่างการบันทึกบัญชี 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A12A1D5-CF7E-4FD1-A090-15344F9B0231}"/>
                </a:ext>
              </a:extLst>
            </p:cNvPr>
            <p:cNvSpPr/>
            <p:nvPr/>
          </p:nvSpPr>
          <p:spPr>
            <a:xfrm>
              <a:off x="1931436" y="4002834"/>
              <a:ext cx="8431454" cy="94239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2027626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DA83B74-9B35-494A-BD84-A5F3D1F291FB}"/>
              </a:ext>
            </a:extLst>
          </p:cNvPr>
          <p:cNvGrpSpPr/>
          <p:nvPr/>
        </p:nvGrpSpPr>
        <p:grpSpPr>
          <a:xfrm>
            <a:off x="776820" y="302601"/>
            <a:ext cx="10638359" cy="6252797"/>
            <a:chOff x="329242" y="298580"/>
            <a:chExt cx="11120880" cy="645807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09058CB-1E7B-4A94-8F75-B142CD97AB36}"/>
                </a:ext>
              </a:extLst>
            </p:cNvPr>
            <p:cNvGrpSpPr/>
            <p:nvPr/>
          </p:nvGrpSpPr>
          <p:grpSpPr>
            <a:xfrm>
              <a:off x="329242" y="642532"/>
              <a:ext cx="11120880" cy="6114118"/>
              <a:chOff x="291920" y="474578"/>
              <a:chExt cx="11120880" cy="611411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D394D07C-AE06-42B5-9BE5-78DDCC734C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91920" y="474578"/>
                <a:ext cx="11120880" cy="6114118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1A5AF32-5552-47EE-9D90-D15C5F262ABE}"/>
                  </a:ext>
                </a:extLst>
              </p:cNvPr>
              <p:cNvSpPr/>
              <p:nvPr/>
            </p:nvSpPr>
            <p:spPr>
              <a:xfrm>
                <a:off x="1315617" y="755780"/>
                <a:ext cx="503852" cy="20527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0F0A747-8D94-4305-B882-40E354C06231}"/>
                  </a:ext>
                </a:extLst>
              </p:cNvPr>
              <p:cNvSpPr/>
              <p:nvPr/>
            </p:nvSpPr>
            <p:spPr>
              <a:xfrm>
                <a:off x="1324948" y="970380"/>
                <a:ext cx="1670179" cy="20527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DB09C1DE-880D-4DC1-9628-0E0C6966C5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04997" y="2860684"/>
                <a:ext cx="3982006" cy="1733792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F768CF7-41B8-427B-8DB3-68D4B1A6E068}"/>
                  </a:ext>
                </a:extLst>
              </p:cNvPr>
              <p:cNvSpPr/>
              <p:nvPr/>
            </p:nvSpPr>
            <p:spPr>
              <a:xfrm>
                <a:off x="4341843" y="3359020"/>
                <a:ext cx="323460" cy="22393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FF2048F-61C6-4909-8BEF-CB5E50C68A6C}"/>
                </a:ext>
              </a:extLst>
            </p:cNvPr>
            <p:cNvSpPr txBox="1"/>
            <p:nvPr/>
          </p:nvSpPr>
          <p:spPr>
            <a:xfrm>
              <a:off x="329242" y="298580"/>
              <a:ext cx="11120880" cy="413245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Actions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Post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Submit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          (เพื่อ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Post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รายการไปบัญชีแยกประเภท)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CC2BF6C-21FC-43CF-BE70-3272485879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068" t="28913" r="86914" b="58257"/>
            <a:stretch/>
          </p:blipFill>
          <p:spPr>
            <a:xfrm>
              <a:off x="2901801" y="369384"/>
              <a:ext cx="259536" cy="2408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7745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3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358B01-1E15-4720-A264-09A7A2B5DB0F}"/>
              </a:ext>
            </a:extLst>
          </p:cNvPr>
          <p:cNvSpPr/>
          <p:nvPr/>
        </p:nvSpPr>
        <p:spPr>
          <a:xfrm>
            <a:off x="9010270" y="6177066"/>
            <a:ext cx="277428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Create by Arunee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990521-C9D0-4899-9CF1-8A29FFB68801}"/>
              </a:ext>
            </a:extLst>
          </p:cNvPr>
          <p:cNvSpPr/>
          <p:nvPr/>
        </p:nvSpPr>
        <p:spPr>
          <a:xfrm>
            <a:off x="4418917" y="2482143"/>
            <a:ext cx="3522118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THE END</a:t>
            </a:r>
            <a:endParaRPr lang="th-TH" sz="72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1368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</TotalTime>
  <Words>401</Words>
  <Application>Microsoft Office PowerPoint</Application>
  <PresentationFormat>Widescreen</PresentationFormat>
  <Paragraphs>61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Angsana New</vt:lpstr>
      <vt:lpstr>AngsanaUPC</vt:lpstr>
      <vt:lpstr>Arial</vt:lpstr>
      <vt:lpstr>Calibri</vt:lpstr>
      <vt:lpstr>Calibri Light</vt:lpstr>
      <vt:lpstr>Cordia New</vt:lpstr>
      <vt:lpstr>Office Theme</vt:lpstr>
      <vt:lpstr>APP160 การปรับปรุงยอดบัญชีธนาคาร (Bank Adjustment Entry)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APP160 การปรับปรุงยอดบัญชีธนาคาร (Bank Adjustment Entry)</dc:title>
  <dc:creator>Arunee Songprasert</dc:creator>
  <cp:lastModifiedBy>Arunee Songprasert</cp:lastModifiedBy>
  <cp:revision>56</cp:revision>
  <dcterms:created xsi:type="dcterms:W3CDTF">2024-02-26T11:22:36Z</dcterms:created>
  <dcterms:modified xsi:type="dcterms:W3CDTF">2024-08-09T03:36:58Z</dcterms:modified>
</cp:coreProperties>
</file>