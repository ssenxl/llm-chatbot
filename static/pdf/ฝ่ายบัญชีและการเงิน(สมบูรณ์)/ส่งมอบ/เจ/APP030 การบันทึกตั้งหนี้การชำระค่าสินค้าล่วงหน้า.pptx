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8" r:id="rId3"/>
    <p:sldId id="257" r:id="rId4"/>
    <p:sldId id="282" r:id="rId5"/>
    <p:sldId id="260" r:id="rId6"/>
    <p:sldId id="262" r:id="rId7"/>
    <p:sldId id="263" r:id="rId8"/>
    <p:sldId id="264" r:id="rId9"/>
    <p:sldId id="266" r:id="rId10"/>
    <p:sldId id="267" r:id="rId11"/>
    <p:sldId id="283" r:id="rId12"/>
    <p:sldId id="269" r:id="rId13"/>
    <p:sldId id="271" r:id="rId14"/>
    <p:sldId id="270" r:id="rId15"/>
    <p:sldId id="280" r:id="rId16"/>
    <p:sldId id="272" r:id="rId17"/>
    <p:sldId id="274" r:id="rId18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runee Songprasert" initials="AS" lastIdx="3" clrIdx="0">
    <p:extLst>
      <p:ext uri="{19B8F6BF-5375-455C-9EA6-DF929625EA0E}">
        <p15:presenceInfo xmlns:p15="http://schemas.microsoft.com/office/powerpoint/2012/main" userId="S-1-5-21-4059006370-2331511250-3142268630-152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8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C55A67-DBA6-47F2-9942-EB3882E60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9CD4C-0908-4FF4-8D95-F4C34C519A63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3BD9F7-8EE1-4D6B-A1CF-C8D4F4F93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9318FA-B12C-47D3-B948-51B31728A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D91DC-FADD-48DE-8B2D-E3C99C8862BF}" type="slidenum">
              <a:rPr lang="th-TH" smtClean="0"/>
              <a:t>‹#›</a:t>
            </a:fld>
            <a:endParaRPr lang="th-TH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E89B51B-21CF-4869-85E1-736CDDCBBC9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38200" y="1033145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3548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D66386-685E-42DC-87B2-2A1BB6994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79BD0-45D8-4913-BB60-1E669D13F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9CD4C-0908-4FF4-8D95-F4C34C519A63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BDC79-1FAA-45AA-8471-76467F0B8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272CB-36F4-46DC-8086-A71BA67D2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D91DC-FADD-48DE-8B2D-E3C99C8862BF}" type="slidenum">
              <a:rPr lang="th-TH" smtClean="0"/>
              <a:t>‹#›</a:t>
            </a:fld>
            <a:endParaRPr lang="th-TH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F27F50-EF07-4965-B539-08106C05FA1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38200" y="1033145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386608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A6BA0-E4AB-4D20-9019-7B80D25E4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500B7-2465-452F-9A9A-35DB7987C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39793-422E-4C75-88F0-7A2862DD8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9CD4C-0908-4FF4-8D95-F4C34C519A63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0A56B-ACCB-487F-B7D8-677E2A5AB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1360A-8F28-4B8C-B448-C31ABC011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D91DC-FADD-48DE-8B2D-E3C99C8862B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74541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7FAD1-BD05-4F57-AC81-C9AA176B3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251FA-CC0A-463F-8F7A-90ADDC638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81E55-6085-4EE1-957D-D399F537F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9CD4C-0908-4FF4-8D95-F4C34C519A63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804B1-80CD-4E21-95CB-CDF73CB96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173BD-242C-4003-A9F1-7D5C18D71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D91DC-FADD-48DE-8B2D-E3C99C8862B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66120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50175-EEB0-4B86-B68B-07EADCFA2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EE002-AE75-4BED-8776-22E5BCC3AF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A37282-6AAA-4BD2-B570-2D92F2C7D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113976-B3AB-4638-9E97-DDE54523A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9CD4C-0908-4FF4-8D95-F4C34C519A63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277DD-6A09-4B46-B3F1-06E78148A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5EF6F6-00D2-4610-AC0E-C5E26A672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D91DC-FADD-48DE-8B2D-E3C99C8862B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94157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BA605-EC5F-477C-9437-A33F0892D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F9B22-34C8-4431-88F6-B759E18F3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C96CDD-57E0-49CE-AEAE-03F2AEBE1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B35CC1-A94E-4E99-8D24-DD8C5C16C6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1CC34B-BA61-4F15-861D-8BCF46AE25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05BE2B-D40E-4DF0-AF08-95642A602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9CD4C-0908-4FF4-8D95-F4C34C519A63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FEAEA1-FF8A-46D0-92E5-F5DE4287E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57B7FC-6DDF-4DC4-A25F-565753CD7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D91DC-FADD-48DE-8B2D-E3C99C8862B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03232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96BDB-B52D-4C08-B3AD-B6A2ADD08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8B762E-1FB6-47FA-AE55-91A00863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9CD4C-0908-4FF4-8D95-F4C34C519A63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2433EE-3916-4B08-B8E3-7967C6623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59A52-5130-4DC8-962D-F0655CBBC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D91DC-FADD-48DE-8B2D-E3C99C8862B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53011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88071-44D6-4B32-B743-70A63C05F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42F9B-3E62-4F96-AD21-5D747C41D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4D6E7C-A0E8-4295-BCAB-5D0861174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09913-84E8-4E26-B60D-514B87604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9CD4C-0908-4FF4-8D95-F4C34C519A63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5939A7-75E2-46A8-806A-C6239F4F0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C9BB4-44C9-41F2-B360-416A66B70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D91DC-FADD-48DE-8B2D-E3C99C8862B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07840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A63D2-555C-480C-97EC-948C4C6A2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E11FB7-D5D1-4D95-9008-AE0B7CD32B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ED511E-6A5F-4698-AD5E-AD4FF29DBB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87B1A4-4369-4393-99D3-7E70A6E49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9CD4C-0908-4FF4-8D95-F4C34C519A63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CB4AA-8294-43AF-9A35-8C62D446A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5CC384-9803-49CC-95D8-284715023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D91DC-FADD-48DE-8B2D-E3C99C8862B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9511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16126-3C0E-4207-90A6-D58E9465C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D8605C-B8C4-4CD9-88DC-73C143DA7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36DC0-9A22-4909-B90C-7CA70653E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9CD4C-0908-4FF4-8D95-F4C34C519A63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39AF8-DE14-49A3-B90A-61A320344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E0901-F0BC-4614-AB09-95D7A4B5A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D91DC-FADD-48DE-8B2D-E3C99C8862B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45244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418CEA-A633-4378-9DB5-6C5C8206A3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DBA71-0C63-4971-A7B3-BD36606389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01BC9-D7DD-46A7-99F3-7FF637537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9CD4C-0908-4FF4-8D95-F4C34C519A63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9B6ED-22A4-48B5-ADEA-4DF847776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247E4-35DC-4263-831B-634136E0F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D91DC-FADD-48DE-8B2D-E3C99C8862B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35990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2CF0A9-E16E-496E-A9AA-ED3495AD4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DC940-0A7E-4E18-A5C9-72855C231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BA8F5-116B-4226-B054-6BFCDFFAC2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99CD4C-0908-4FF4-8D95-F4C34C519A63}" type="datetimeFigureOut">
              <a:rPr lang="th-TH" smtClean="0"/>
              <a:t>10/08/67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88191-577D-44F9-9E84-D76948F7B0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28A11-5F33-42F0-8D05-25DC35C43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DD91DC-FADD-48DE-8B2D-E3C99C8862BF}" type="slidenum">
              <a:rPr lang="th-TH" smtClean="0"/>
              <a:t>‹#›</a:t>
            </a:fld>
            <a:endParaRPr lang="th-T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125CD1-F648-436C-99C9-3A6C2554B74C}"/>
              </a:ext>
            </a:extLst>
          </p:cNvPr>
          <p:cNvSpPr txBox="1"/>
          <p:nvPr userDrawn="1"/>
        </p:nvSpPr>
        <p:spPr>
          <a:xfrm>
            <a:off x="0" y="0"/>
            <a:ext cx="12192000" cy="52322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APP030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การบันทึกตั้งหนี้การชำระค่าสินค้าล่วงหน้า (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Advance Billing Line)</a:t>
            </a:r>
            <a:endParaRPr lang="th-TH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675286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40000"/>
            <a:lum/>
          </a:blip>
          <a:srcRect/>
          <a:stretch>
            <a:fillRect t="-15000" b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A3A3C9A-3342-41BE-B928-3255B3FB3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0755" y="3508732"/>
            <a:ext cx="9750489" cy="1655762"/>
          </a:xfrm>
        </p:spPr>
        <p:txBody>
          <a:bodyPr>
            <a:normAutofit fontScale="92500"/>
          </a:bodyPr>
          <a:lstStyle/>
          <a:p>
            <a:r>
              <a:rPr lang="en-US" sz="7200" dirty="0">
                <a:ln>
                  <a:solidFill>
                    <a:srgbClr val="00B050"/>
                  </a:solidFill>
                </a:ln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AP Invoice Entry: Advance Billing Line</a:t>
            </a:r>
            <a:endParaRPr lang="th-TH" sz="7200" dirty="0">
              <a:ln>
                <a:solidFill>
                  <a:srgbClr val="00B050"/>
                </a:solidFill>
              </a:ln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9F1B02-90D0-4AC3-9A55-6353E9205386}"/>
              </a:ext>
            </a:extLst>
          </p:cNvPr>
          <p:cNvSpPr/>
          <p:nvPr/>
        </p:nvSpPr>
        <p:spPr>
          <a:xfrm>
            <a:off x="717765" y="1801008"/>
            <a:ext cx="10756470" cy="94641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6000" dirty="0">
                <a:ln>
                  <a:solidFill>
                    <a:srgbClr val="00B050"/>
                  </a:solidFill>
                </a:ln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APP030 </a:t>
            </a:r>
            <a:r>
              <a:rPr lang="th-TH" sz="6000" dirty="0">
                <a:ln>
                  <a:solidFill>
                    <a:srgbClr val="00B050"/>
                  </a:solidFill>
                </a:ln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การบันทึกตั้งหนี้การชำระค่าสินค้าล่วงหน้า</a:t>
            </a:r>
          </a:p>
        </p:txBody>
      </p:sp>
    </p:spTree>
    <p:extLst>
      <p:ext uri="{BB962C8B-B14F-4D97-AF65-F5344CB8AC3E}">
        <p14:creationId xmlns:p14="http://schemas.microsoft.com/office/powerpoint/2010/main" val="1015131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082BA034-0CFB-4B94-9896-835CC1EC36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613658"/>
              </p:ext>
            </p:extLst>
          </p:nvPr>
        </p:nvGraphicFramePr>
        <p:xfrm>
          <a:off x="954054" y="622611"/>
          <a:ext cx="10451841" cy="605815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79210">
                  <a:extLst>
                    <a:ext uri="{9D8B030D-6E8A-4147-A177-3AD203B41FA5}">
                      <a16:colId xmlns:a16="http://schemas.microsoft.com/office/drawing/2014/main" val="3983567285"/>
                    </a:ext>
                  </a:extLst>
                </a:gridCol>
                <a:gridCol w="7472631">
                  <a:extLst>
                    <a:ext uri="{9D8B030D-6E8A-4147-A177-3AD203B41FA5}">
                      <a16:colId xmlns:a16="http://schemas.microsoft.com/office/drawing/2014/main" val="2876745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1.กระบวนการ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(process)</a:t>
                      </a: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APP030 </a:t>
                      </a:r>
                      <a:r>
                        <a:rPr lang="th-TH" sz="1800" b="1" kern="1200" dirty="0">
                          <a:solidFill>
                            <a:schemeClr val="lt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การบันทึกตั้งหนี้การชำระค่าสินค้าล่วงหน้า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AP Invoice Entry: Advance Billing Line</a:t>
                      </a:r>
                      <a:endParaRPr lang="th-TH" sz="1800" b="1" kern="1200" dirty="0">
                        <a:solidFill>
                          <a:schemeClr val="lt1"/>
                        </a:solidFill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algn="l">
                        <a:lnSpc>
                          <a:spcPct val="90000"/>
                        </a:lnSpc>
                        <a:spcBef>
                          <a:spcPts val="1000"/>
                        </a:spcBef>
                      </a:pPr>
                      <a:endParaRPr lang="th-TH" sz="1800" b="1" kern="1200" dirty="0">
                        <a:solidFill>
                          <a:schemeClr val="lt1"/>
                        </a:solidFill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06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th-TH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2.ขั้นตอนย่อย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(sub process)</a:t>
                      </a:r>
                      <a:endParaRPr lang="th-TH" sz="1800" b="1" kern="12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1.สร้าง 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group</a:t>
                      </a:r>
                    </a:p>
                    <a:p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2.สร้าง 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new Invoice</a:t>
                      </a:r>
                    </a:p>
                    <a:p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3.สร้าง </a:t>
                      </a:r>
                      <a:r>
                        <a:rPr lang="en-US" sz="2000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New</a:t>
                      </a:r>
                      <a:r>
                        <a:rPr lang="en-US" sz="1800" dirty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Adv bill Line</a:t>
                      </a:r>
                      <a:endParaRPr lang="en-US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4.ตรวจสอบการบันทึกบัญชี</a:t>
                      </a:r>
                    </a:p>
                    <a:p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5.การบันทึกบัญชี (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post)</a:t>
                      </a: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235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th-TH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3.ข้อมูลที่ต้องใช้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(Input)</a:t>
                      </a:r>
                      <a:endParaRPr lang="th-TH" sz="1800" b="1" kern="12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 เอกสารการจ่าย เช่น 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PO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,ใบแจ้งหนี้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, Memo, 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สัญญา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423079"/>
                  </a:ext>
                </a:extLst>
              </a:tr>
              <a:tr h="44479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th-TH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4.ความเสี่ยง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(Risk)</a:t>
                      </a:r>
                      <a:endParaRPr lang="th-TH" sz="1800" b="1" kern="12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R1. 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เลือก 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bank account 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ที่จะใช้ในการจ่ายผิด</a:t>
                      </a:r>
                    </a:p>
                    <a:p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R2. 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ระบุสกุลเงินที่จะจ่ายผิด</a:t>
                      </a:r>
                    </a:p>
                    <a:p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R3. 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ระบุวันที่จ่ายเงินผิด</a:t>
                      </a:r>
                    </a:p>
                    <a:p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R4. 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เลือก 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document type 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ผิด</a:t>
                      </a:r>
                    </a:p>
                    <a:p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R5. 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ระบุจำนวนเงินที่จะจ่ายผิด (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VAT, Non-VAT,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การหักภาษี ณ ที่จ่าย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) </a:t>
                      </a: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7545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th-TH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5.จุดควบคุม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(Control point)</a:t>
                      </a:r>
                      <a:endParaRPr lang="th-TH" sz="1800" b="1" kern="12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1.1 การจัดทำฐานข้อมูล บัญชีธนาคารที่จะใช้ในแต่ละ 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supplier</a:t>
                      </a:r>
                    </a:p>
                    <a:p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2.1 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ตรวจสอบกับเอกสาร</a:t>
                      </a:r>
                    </a:p>
                    <a:p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3.1 ตรวจสอบที่ 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PO</a:t>
                      </a:r>
                    </a:p>
                    <a:p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3.2 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ตรวจสอบกับ 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note 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ของเจ้าหน้าที่รับวางบิล</a:t>
                      </a:r>
                    </a:p>
                    <a:p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4.1 จัดทำมาตรฐานการเลือก 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document type</a:t>
                      </a:r>
                    </a:p>
                    <a:p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5.1 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ตรวจสอบกับ </a:t>
                      </a:r>
                      <a:r>
                        <a:rPr lang="en-US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note </a:t>
                      </a:r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ของเจ้าหน้าที่รับวางบิล</a:t>
                      </a:r>
                    </a:p>
                    <a:p>
                      <a:r>
                        <a:rPr lang="th-TH" sz="18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5.2 จัดทำมาตรฐานการคำนวณยอดเงินที่ต้องจ่าย (ค่าแรง/ค่าบริการ/ค่าเช่า/ค่าสินค้า)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306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8938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F702CC7-CDB8-4575-8A2B-0E0C695BFA0C}"/>
              </a:ext>
            </a:extLst>
          </p:cNvPr>
          <p:cNvGrpSpPr/>
          <p:nvPr/>
        </p:nvGrpSpPr>
        <p:grpSpPr>
          <a:xfrm>
            <a:off x="667139" y="559836"/>
            <a:ext cx="10857722" cy="5738327"/>
            <a:chOff x="755779" y="186476"/>
            <a:chExt cx="10923036" cy="634501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851C70A-189E-4532-9BF9-A97764A5A0F1}"/>
                </a:ext>
              </a:extLst>
            </p:cNvPr>
            <p:cNvGrpSpPr/>
            <p:nvPr/>
          </p:nvGrpSpPr>
          <p:grpSpPr>
            <a:xfrm>
              <a:off x="755780" y="634482"/>
              <a:ext cx="10923035" cy="5897012"/>
              <a:chOff x="662472" y="604472"/>
              <a:chExt cx="11016343" cy="5927022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21CD2231-6058-4BBA-B7D5-DA7BB92A20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62472" y="604472"/>
                <a:ext cx="11016343" cy="5927022"/>
              </a:xfrm>
              <a:prstGeom prst="rect">
                <a:avLst/>
              </a:prstGeom>
            </p:spPr>
          </p:pic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8C4B408-B4C1-44EB-A5E1-5F93BF75B4E4}"/>
                  </a:ext>
                </a:extLst>
              </p:cNvPr>
              <p:cNvSpPr/>
              <p:nvPr/>
            </p:nvSpPr>
            <p:spPr>
              <a:xfrm>
                <a:off x="1147665" y="3853543"/>
                <a:ext cx="2547261" cy="821094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D11D00F-88CF-4A5C-990B-D31C1666E6F8}"/>
                </a:ext>
              </a:extLst>
            </p:cNvPr>
            <p:cNvSpPr txBox="1"/>
            <p:nvPr/>
          </p:nvSpPr>
          <p:spPr>
            <a:xfrm>
              <a:off x="755779" y="186476"/>
              <a:ext cx="10923035" cy="400110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ไปที่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Menu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เลือก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AP Invoice Entry</a:t>
              </a:r>
              <a:endParaRPr lang="th-TH" sz="20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635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05FA596-5D42-4A96-B428-496F40C522C2}"/>
              </a:ext>
            </a:extLst>
          </p:cNvPr>
          <p:cNvGrpSpPr/>
          <p:nvPr/>
        </p:nvGrpSpPr>
        <p:grpSpPr>
          <a:xfrm>
            <a:off x="1974202" y="622818"/>
            <a:ext cx="8243596" cy="5612363"/>
            <a:chOff x="1978090" y="172461"/>
            <a:chExt cx="8061649" cy="572633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CB11864-CDA7-4BC1-9305-EC1746EFD824}"/>
                </a:ext>
              </a:extLst>
            </p:cNvPr>
            <p:cNvGrpSpPr/>
            <p:nvPr/>
          </p:nvGrpSpPr>
          <p:grpSpPr>
            <a:xfrm>
              <a:off x="1978090" y="555808"/>
              <a:ext cx="8061649" cy="5342987"/>
              <a:chOff x="2500604" y="387553"/>
              <a:chExt cx="6978551" cy="5155646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27BE859E-B62B-4F5C-B098-A74464B0953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b="12635"/>
              <a:stretch/>
            </p:blipFill>
            <p:spPr>
              <a:xfrm>
                <a:off x="2500604" y="387553"/>
                <a:ext cx="6978551" cy="5155646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2F45BCA-65FC-41FE-AC98-E122A1F80450}"/>
                  </a:ext>
                </a:extLst>
              </p:cNvPr>
              <p:cNvSpPr/>
              <p:nvPr/>
            </p:nvSpPr>
            <p:spPr>
              <a:xfrm>
                <a:off x="2500604" y="899967"/>
                <a:ext cx="1698172" cy="19171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C0CC3ED-B99C-4D50-B480-69D34074BB65}"/>
                </a:ext>
              </a:extLst>
            </p:cNvPr>
            <p:cNvSpPr txBox="1"/>
            <p:nvPr/>
          </p:nvSpPr>
          <p:spPr>
            <a:xfrm>
              <a:off x="1978090" y="172461"/>
              <a:ext cx="8061649" cy="420468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ไปที่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New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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New Group</a:t>
              </a:r>
              <a:endParaRPr lang="th-TH" sz="20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5133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C6A3E0F-840E-4159-9AE8-8199AFB5DA85}"/>
              </a:ext>
            </a:extLst>
          </p:cNvPr>
          <p:cNvGrpSpPr/>
          <p:nvPr/>
        </p:nvGrpSpPr>
        <p:grpSpPr>
          <a:xfrm>
            <a:off x="2178398" y="690466"/>
            <a:ext cx="8346531" cy="5262465"/>
            <a:chOff x="2060370" y="-741267"/>
            <a:chExt cx="7670126" cy="598466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374E8BD-188F-4CC1-B1A3-93553AE1E8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22593"/>
            <a:stretch/>
          </p:blipFill>
          <p:spPr>
            <a:xfrm>
              <a:off x="2060371" y="222722"/>
              <a:ext cx="7670125" cy="5020677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D499119-634D-4C54-B192-2EB7210E86FD}"/>
                </a:ext>
              </a:extLst>
            </p:cNvPr>
            <p:cNvSpPr txBox="1"/>
            <p:nvPr/>
          </p:nvSpPr>
          <p:spPr>
            <a:xfrm>
              <a:off x="2060370" y="-741267"/>
              <a:ext cx="7670126" cy="805034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1.Group</a:t>
              </a:r>
              <a:r>
                <a:rPr lang="th-TH" sz="20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 </a:t>
              </a:r>
              <a:r>
                <a:rPr lang="en-US" sz="20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: </a:t>
              </a:r>
              <a:r>
                <a:rPr lang="th-TH" sz="2000" dirty="0">
                  <a:solidFill>
                    <a:srgbClr val="FF0000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ตั้งชื่อ</a:t>
              </a:r>
              <a:r>
                <a:rPr lang="en-US" sz="2000" dirty="0">
                  <a:solidFill>
                    <a:srgbClr val="FF0000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 Group</a:t>
              </a:r>
              <a:endParaRPr lang="th-TH" sz="24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  <a:p>
              <a:r>
                <a:rPr lang="en-US" sz="20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2.Apply Date</a:t>
              </a:r>
              <a:r>
                <a:rPr lang="th-TH" sz="20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 </a:t>
              </a:r>
              <a:r>
                <a:rPr lang="en-US" sz="20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: </a:t>
              </a:r>
              <a:r>
                <a:rPr lang="th-TH" sz="2000" dirty="0">
                  <a:solidFill>
                    <a:srgbClr val="FF0000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เลือกวัน/เดือน/ปี  (มีผลกับการบันทึกบัญชี)</a:t>
              </a:r>
              <a:endParaRPr lang="th-TH" sz="24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D6C6BD5-F3E5-480F-A254-ECFE010FDFBA}"/>
                </a:ext>
              </a:extLst>
            </p:cNvPr>
            <p:cNvSpPr/>
            <p:nvPr/>
          </p:nvSpPr>
          <p:spPr>
            <a:xfrm>
              <a:off x="4404049" y="1362269"/>
              <a:ext cx="718458" cy="16795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923FAC3-B364-4804-9805-6B0E0C13BB9C}"/>
                </a:ext>
              </a:extLst>
            </p:cNvPr>
            <p:cNvSpPr/>
            <p:nvPr/>
          </p:nvSpPr>
          <p:spPr>
            <a:xfrm>
              <a:off x="4404048" y="1579982"/>
              <a:ext cx="718458" cy="16795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9" name="Heptagon 8">
            <a:extLst>
              <a:ext uri="{FF2B5EF4-FFF2-40B4-BE49-F238E27FC236}">
                <a16:creationId xmlns:a16="http://schemas.microsoft.com/office/drawing/2014/main" id="{F7A7E175-9994-4746-843A-F13E59CCDA33}"/>
              </a:ext>
            </a:extLst>
          </p:cNvPr>
          <p:cNvSpPr/>
          <p:nvPr/>
        </p:nvSpPr>
        <p:spPr>
          <a:xfrm>
            <a:off x="3748210" y="2428123"/>
            <a:ext cx="229326" cy="224068"/>
          </a:xfrm>
          <a:prstGeom prst="heptagon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1</a:t>
            </a:r>
            <a:endParaRPr lang="th-TH" sz="24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0" name="Heptagon 9">
            <a:extLst>
              <a:ext uri="{FF2B5EF4-FFF2-40B4-BE49-F238E27FC236}">
                <a16:creationId xmlns:a16="http://schemas.microsoft.com/office/drawing/2014/main" id="{62686D6D-5324-4176-B652-A558D93498EC}"/>
              </a:ext>
            </a:extLst>
          </p:cNvPr>
          <p:cNvSpPr/>
          <p:nvPr/>
        </p:nvSpPr>
        <p:spPr>
          <a:xfrm>
            <a:off x="3862873" y="2687840"/>
            <a:ext cx="229326" cy="224068"/>
          </a:xfrm>
          <a:prstGeom prst="heptagon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2</a:t>
            </a:r>
            <a:endParaRPr lang="th-TH" sz="24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504450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C8F0DBB-2F4E-4020-8D41-C686BC14178D}"/>
              </a:ext>
            </a:extLst>
          </p:cNvPr>
          <p:cNvGrpSpPr/>
          <p:nvPr/>
        </p:nvGrpSpPr>
        <p:grpSpPr>
          <a:xfrm>
            <a:off x="2575435" y="653144"/>
            <a:ext cx="7041130" cy="5812971"/>
            <a:chOff x="2519264" y="218492"/>
            <a:chExt cx="7146503" cy="617297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5B19DBF-D056-41E0-B1C0-1CDA77158319}"/>
                </a:ext>
              </a:extLst>
            </p:cNvPr>
            <p:cNvGrpSpPr/>
            <p:nvPr/>
          </p:nvGrpSpPr>
          <p:grpSpPr>
            <a:xfrm>
              <a:off x="2519265" y="690465"/>
              <a:ext cx="7146502" cy="5701004"/>
              <a:chOff x="2519265" y="348164"/>
              <a:chExt cx="7146502" cy="6043305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30DB421C-9A83-43E2-80F5-180EDAFCAC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19265" y="348164"/>
                <a:ext cx="7146502" cy="6043305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33B4ED6-798D-4601-AEA4-1266A88A896C}"/>
                  </a:ext>
                </a:extLst>
              </p:cNvPr>
              <p:cNvSpPr/>
              <p:nvPr/>
            </p:nvSpPr>
            <p:spPr>
              <a:xfrm>
                <a:off x="2519266" y="890899"/>
                <a:ext cx="1726164" cy="20078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 sz="3200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B7C012C-D283-4514-8110-F00B9B04072E}"/>
                </a:ext>
              </a:extLst>
            </p:cNvPr>
            <p:cNvSpPr txBox="1"/>
            <p:nvPr/>
          </p:nvSpPr>
          <p:spPr>
            <a:xfrm>
              <a:off x="2519264" y="218492"/>
              <a:ext cx="7146502" cy="490257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ไปที่ </a:t>
              </a:r>
              <a:r>
                <a:rPr lang="en-US" sz="24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New </a:t>
              </a:r>
              <a:r>
                <a:rPr lang="en-US" sz="2400" b="1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 </a:t>
              </a:r>
              <a:r>
                <a:rPr lang="en-US" sz="24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New Invoice</a:t>
              </a:r>
              <a:endParaRPr lang="th-TH" sz="24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9143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CEA91794-B747-422B-BB55-F0AB502B15C7}"/>
              </a:ext>
            </a:extLst>
          </p:cNvPr>
          <p:cNvGrpSpPr/>
          <p:nvPr/>
        </p:nvGrpSpPr>
        <p:grpSpPr>
          <a:xfrm>
            <a:off x="2062064" y="642895"/>
            <a:ext cx="7934131" cy="6019161"/>
            <a:chOff x="2062064" y="642895"/>
            <a:chExt cx="7934131" cy="601916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B0A654E-9BBA-49F8-8AC2-49CBFC40A637}"/>
                </a:ext>
              </a:extLst>
            </p:cNvPr>
            <p:cNvGrpSpPr/>
            <p:nvPr/>
          </p:nvGrpSpPr>
          <p:grpSpPr>
            <a:xfrm>
              <a:off x="2062064" y="642895"/>
              <a:ext cx="7934131" cy="6019161"/>
              <a:chOff x="1567542" y="250094"/>
              <a:chExt cx="8117634" cy="6393302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428A7D23-56DE-4CA1-A797-D281D321AC65}"/>
                  </a:ext>
                </a:extLst>
              </p:cNvPr>
              <p:cNvGrpSpPr/>
              <p:nvPr/>
            </p:nvGrpSpPr>
            <p:grpSpPr>
              <a:xfrm>
                <a:off x="1567543" y="765109"/>
                <a:ext cx="8117633" cy="5878287"/>
                <a:chOff x="1119673" y="320555"/>
                <a:chExt cx="8229601" cy="6216889"/>
              </a:xfrm>
            </p:grpSpPr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D679F538-EB9F-4359-8160-89626C6259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119673" y="320555"/>
                  <a:ext cx="7351774" cy="6216889"/>
                </a:xfrm>
                <a:prstGeom prst="rect">
                  <a:avLst/>
                </a:prstGeom>
              </p:spPr>
            </p:pic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CCDCBC38-671C-4F65-B933-1EF6BAE4F6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26768" y="811036"/>
                  <a:ext cx="5122506" cy="5336657"/>
                </a:xfrm>
                <a:prstGeom prst="rect">
                  <a:avLst/>
                </a:prstGeom>
              </p:spPr>
            </p:pic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FB0B661A-5CBE-4C80-940C-B87EB946730B}"/>
                    </a:ext>
                  </a:extLst>
                </p:cNvPr>
                <p:cNvSpPr/>
                <p:nvPr/>
              </p:nvSpPr>
              <p:spPr>
                <a:xfrm>
                  <a:off x="2482692" y="1586204"/>
                  <a:ext cx="866250" cy="205274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8BAF1F2B-1D80-4732-A969-E074234E5C64}"/>
                    </a:ext>
                  </a:extLst>
                </p:cNvPr>
                <p:cNvSpPr/>
                <p:nvPr/>
              </p:nvSpPr>
              <p:spPr>
                <a:xfrm>
                  <a:off x="8304244" y="1492898"/>
                  <a:ext cx="830425" cy="177282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24827155-6D24-451B-BFFF-5D7FF5C8EC57}"/>
                    </a:ext>
                  </a:extLst>
                </p:cNvPr>
                <p:cNvSpPr/>
                <p:nvPr/>
              </p:nvSpPr>
              <p:spPr>
                <a:xfrm>
                  <a:off x="4380347" y="4659086"/>
                  <a:ext cx="4828967" cy="177282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B085CF9F-F661-486E-9D0D-1DE5B6989379}"/>
                    </a:ext>
                  </a:extLst>
                </p:cNvPr>
                <p:cNvSpPr/>
                <p:nvPr/>
              </p:nvSpPr>
              <p:spPr>
                <a:xfrm>
                  <a:off x="4236099" y="5788091"/>
                  <a:ext cx="839754" cy="177282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9B4CF2-1C01-462C-8ECA-EA39F6423775}"/>
                  </a:ext>
                </a:extLst>
              </p:cNvPr>
              <p:cNvSpPr txBox="1"/>
              <p:nvPr/>
            </p:nvSpPr>
            <p:spPr>
              <a:xfrm>
                <a:off x="1567542" y="250094"/>
                <a:ext cx="8117634" cy="424980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txBody>
              <a:bodyPr wrap="square" rtlCol="0">
                <a:spAutoFit/>
              </a:bodyPr>
              <a:lstStyle/>
              <a:p>
                <a:r>
                  <a:rPr lang="th-TH" sz="2000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1.กด </a:t>
                </a:r>
                <a:r>
                  <a:rPr lang="en-US" sz="2000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Ref PO..</a:t>
                </a:r>
                <a:r>
                  <a:rPr lang="en-US" sz="2000" dirty="0">
                    <a:latin typeface="AngsanaUPC" panose="02020603050405020304" pitchFamily="18" charset="-34"/>
                    <a:cs typeface="AngsanaUPC" panose="02020603050405020304" pitchFamily="18" charset="-34"/>
                    <a:sym typeface="Wingdings" panose="05000000000000000000" pitchFamily="2" charset="2"/>
                  </a:rPr>
                  <a:t> </a:t>
                </a:r>
                <a:r>
                  <a:rPr lang="en-US" sz="20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 3" panose="05040102010807070707" pitchFamily="18" charset="2"/>
                  </a:rPr>
                  <a:t></a:t>
                </a:r>
                <a:r>
                  <a:rPr lang="en-US" sz="2000" dirty="0">
                    <a:latin typeface="AngsanaUPC" panose="02020603050405020304" pitchFamily="18" charset="-34"/>
                    <a:cs typeface="AngsanaUPC" panose="02020603050405020304" pitchFamily="18" charset="-34"/>
                    <a:sym typeface="Wingdings" panose="05000000000000000000" pitchFamily="2" charset="2"/>
                  </a:rPr>
                  <a:t> </a:t>
                </a:r>
                <a:r>
                  <a:rPr lang="th-TH" sz="2000" dirty="0">
                    <a:latin typeface="AngsanaUPC" panose="02020603050405020304" pitchFamily="18" charset="-34"/>
                    <a:cs typeface="AngsanaUPC" panose="02020603050405020304" pitchFamily="18" charset="-34"/>
                    <a:sym typeface="Wingdings" panose="05000000000000000000" pitchFamily="2" charset="2"/>
                  </a:rPr>
                  <a:t>2.กด </a:t>
                </a:r>
                <a:r>
                  <a:rPr lang="en-US" sz="2000" dirty="0">
                    <a:latin typeface="AngsanaUPC" panose="02020603050405020304" pitchFamily="18" charset="-34"/>
                    <a:cs typeface="AngsanaUPC" panose="02020603050405020304" pitchFamily="18" charset="-34"/>
                    <a:sym typeface="Wingdings" panose="05000000000000000000" pitchFamily="2" charset="2"/>
                  </a:rPr>
                  <a:t>S</a:t>
                </a:r>
                <a:r>
                  <a:rPr lang="en-US" sz="2000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earch</a:t>
                </a:r>
                <a:r>
                  <a:rPr lang="th-TH" sz="2000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 </a:t>
                </a:r>
                <a:r>
                  <a:rPr lang="en-US" sz="20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 3" panose="05040102010807070707" pitchFamily="18" charset="2"/>
                  </a:rPr>
                  <a:t></a:t>
                </a:r>
                <a:r>
                  <a:rPr lang="en-US" sz="2000" dirty="0">
                    <a:latin typeface="AngsanaUPC" panose="02020603050405020304" pitchFamily="18" charset="-34"/>
                    <a:cs typeface="AngsanaUPC" panose="02020603050405020304" pitchFamily="18" charset="-34"/>
                    <a:sym typeface="Wingdings" panose="05000000000000000000" pitchFamily="2" charset="2"/>
                  </a:rPr>
                  <a:t> </a:t>
                </a:r>
                <a:r>
                  <a:rPr lang="th-TH" sz="2000" dirty="0">
                    <a:latin typeface="AngsanaUPC" panose="02020603050405020304" pitchFamily="18" charset="-34"/>
                    <a:cs typeface="AngsanaUPC" panose="02020603050405020304" pitchFamily="18" charset="-34"/>
                    <a:sym typeface="Wingdings" panose="05000000000000000000" pitchFamily="2" charset="2"/>
                  </a:rPr>
                  <a:t>3.</a:t>
                </a:r>
                <a:r>
                  <a:rPr lang="th-TH" sz="2000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เลือก </a:t>
                </a:r>
                <a:r>
                  <a:rPr lang="en-US" sz="2000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PO</a:t>
                </a:r>
                <a:r>
                  <a:rPr lang="th-TH" sz="2000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 ที่ต้องการจ่ายเงินมัดจำ </a:t>
                </a:r>
                <a:r>
                  <a:rPr lang="en-US" sz="20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 3" panose="05040102010807070707" pitchFamily="18" charset="2"/>
                  </a:rPr>
                  <a:t></a:t>
                </a:r>
                <a:r>
                  <a:rPr lang="en-US" sz="2000" dirty="0">
                    <a:latin typeface="AngsanaUPC" panose="02020603050405020304" pitchFamily="18" charset="-34"/>
                    <a:cs typeface="AngsanaUPC" panose="02020603050405020304" pitchFamily="18" charset="-34"/>
                    <a:sym typeface="Wingdings" panose="05000000000000000000" pitchFamily="2" charset="2"/>
                  </a:rPr>
                  <a:t> </a:t>
                </a:r>
                <a:r>
                  <a:rPr lang="th-TH" sz="2000" dirty="0">
                    <a:latin typeface="AngsanaUPC" panose="02020603050405020304" pitchFamily="18" charset="-34"/>
                    <a:cs typeface="AngsanaUPC" panose="02020603050405020304" pitchFamily="18" charset="-34"/>
                    <a:sym typeface="Wingdings" panose="05000000000000000000" pitchFamily="2" charset="2"/>
                  </a:rPr>
                  <a:t>4.</a:t>
                </a:r>
                <a:r>
                  <a:rPr lang="th-TH" sz="2000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กด </a:t>
                </a:r>
                <a:r>
                  <a:rPr lang="en-US" sz="2000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OK</a:t>
                </a:r>
                <a:endParaRPr lang="en-US" sz="3200" dirty="0">
                  <a:latin typeface="AngsanaUPC" panose="02020603050405020304" pitchFamily="18" charset="-34"/>
                  <a:cs typeface="AngsanaUPC" panose="02020603050405020304" pitchFamily="18" charset="-34"/>
                </a:endParaRPr>
              </a:p>
            </p:txBody>
          </p:sp>
        </p:grpSp>
        <p:sp>
          <p:nvSpPr>
            <p:cNvPr id="15" name="Heptagon 14">
              <a:extLst>
                <a:ext uri="{FF2B5EF4-FFF2-40B4-BE49-F238E27FC236}">
                  <a16:creationId xmlns:a16="http://schemas.microsoft.com/office/drawing/2014/main" id="{27B6B6E4-EC48-42FE-9D9B-94D89AA51CC4}"/>
                </a:ext>
              </a:extLst>
            </p:cNvPr>
            <p:cNvSpPr/>
            <p:nvPr/>
          </p:nvSpPr>
          <p:spPr>
            <a:xfrm>
              <a:off x="3042115" y="2171393"/>
              <a:ext cx="284958" cy="265796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1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6" name="Heptagon 15">
              <a:extLst>
                <a:ext uri="{FF2B5EF4-FFF2-40B4-BE49-F238E27FC236}">
                  <a16:creationId xmlns:a16="http://schemas.microsoft.com/office/drawing/2014/main" id="{7D2C3182-635F-4D0C-98C6-7BD5F47E1E9B}"/>
                </a:ext>
              </a:extLst>
            </p:cNvPr>
            <p:cNvSpPr/>
            <p:nvPr/>
          </p:nvSpPr>
          <p:spPr>
            <a:xfrm>
              <a:off x="8623959" y="2116388"/>
              <a:ext cx="315652" cy="267826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2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7" name="Heptagon 16">
              <a:extLst>
                <a:ext uri="{FF2B5EF4-FFF2-40B4-BE49-F238E27FC236}">
                  <a16:creationId xmlns:a16="http://schemas.microsoft.com/office/drawing/2014/main" id="{3B49A99C-6854-4E68-92CF-428634E059AF}"/>
                </a:ext>
              </a:extLst>
            </p:cNvPr>
            <p:cNvSpPr/>
            <p:nvPr/>
          </p:nvSpPr>
          <p:spPr>
            <a:xfrm>
              <a:off x="4716145" y="5947279"/>
              <a:ext cx="315652" cy="267826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4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8" name="Heptagon 17">
              <a:extLst>
                <a:ext uri="{FF2B5EF4-FFF2-40B4-BE49-F238E27FC236}">
                  <a16:creationId xmlns:a16="http://schemas.microsoft.com/office/drawing/2014/main" id="{CEFF098B-7893-4E44-9464-A2FBDFC30E9B}"/>
                </a:ext>
              </a:extLst>
            </p:cNvPr>
            <p:cNvSpPr/>
            <p:nvPr/>
          </p:nvSpPr>
          <p:spPr>
            <a:xfrm>
              <a:off x="4879894" y="4934934"/>
              <a:ext cx="315652" cy="267826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3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0414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CFBD905-E521-4BAF-A651-3344A91CE1F1}"/>
              </a:ext>
            </a:extLst>
          </p:cNvPr>
          <p:cNvGrpSpPr/>
          <p:nvPr/>
        </p:nvGrpSpPr>
        <p:grpSpPr>
          <a:xfrm>
            <a:off x="819538" y="630980"/>
            <a:ext cx="10752816" cy="5969392"/>
            <a:chOff x="819538" y="630980"/>
            <a:chExt cx="10752816" cy="596939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4504F9A-730C-4DF8-B6A9-E66CBDE1A3F5}"/>
                </a:ext>
              </a:extLst>
            </p:cNvPr>
            <p:cNvGrpSpPr/>
            <p:nvPr/>
          </p:nvGrpSpPr>
          <p:grpSpPr>
            <a:xfrm>
              <a:off x="819538" y="630980"/>
              <a:ext cx="10752816" cy="5969392"/>
              <a:chOff x="550097" y="166235"/>
              <a:chExt cx="11047961" cy="6307384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6F4A358-326F-4267-9EF1-995112A2D927}"/>
                  </a:ext>
                </a:extLst>
              </p:cNvPr>
              <p:cNvSpPr txBox="1"/>
              <p:nvPr/>
            </p:nvSpPr>
            <p:spPr>
              <a:xfrm>
                <a:off x="8004509" y="166235"/>
                <a:ext cx="3593549" cy="6276421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txBody>
              <a:bodyPr wrap="square" rtlCol="0">
                <a:spAutoFit/>
              </a:bodyPr>
              <a:lstStyle/>
              <a:p>
                <a:r>
                  <a:rPr lang="th-TH" sz="20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ไปที่ </a:t>
                </a:r>
                <a:r>
                  <a:rPr lang="en-US" sz="2000" dirty="0">
                    <a:solidFill>
                      <a:srgbClr val="00B0F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Header</a:t>
                </a:r>
                <a:r>
                  <a:rPr lang="en-US" sz="20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r>
                  <a:rPr lang="en-US" sz="20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 3" panose="05040102010807070707" pitchFamily="18" charset="2"/>
                  </a:rPr>
                  <a:t></a:t>
                </a:r>
                <a:r>
                  <a:rPr lang="en-US" sz="20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 </a:t>
                </a:r>
                <a:r>
                  <a:rPr lang="en-US" sz="2000" dirty="0">
                    <a:solidFill>
                      <a:srgbClr val="00B0F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Detail</a:t>
                </a:r>
              </a:p>
              <a:p>
                <a:r>
                  <a:rPr lang="en-US" sz="2000" dirty="0">
                    <a:solidFill>
                      <a:srgbClr val="FF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1.Invoice : </a:t>
                </a:r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ใส่เลขที่ </a:t>
                </a:r>
                <a:r>
                  <a:rPr lang="en-US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Invoice </a:t>
                </a:r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ที่ได้รับจาก </a:t>
                </a:r>
                <a:r>
                  <a:rPr lang="en-US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Supplier (</a:t>
                </a:r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หรืออ้างอิงเลขที่ใดๆ ที่เกี่ยวข้อง)</a:t>
                </a:r>
              </a:p>
              <a:p>
                <a:r>
                  <a:rPr lang="en-US" sz="2000" dirty="0">
                    <a:solidFill>
                      <a:srgbClr val="FF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2.Document Type : </a:t>
                </a:r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คลิกลูกศรด้านขวา เพื่อเลือกว่าเป็นการซื้อสินค้าอะไร </a:t>
                </a:r>
                <a:r>
                  <a:rPr lang="en-US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Site </a:t>
                </a:r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งานอะไร (มีผลกับการบันทึกบัญชี)</a:t>
                </a:r>
              </a:p>
              <a:p>
                <a:r>
                  <a:rPr lang="en-US" sz="2000" dirty="0">
                    <a:solidFill>
                      <a:srgbClr val="FF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3.Invoice Date : </a:t>
                </a:r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เลือกวันที่ตาม </a:t>
                </a:r>
                <a:r>
                  <a:rPr lang="en-US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Invoice </a:t>
                </a:r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ที่ได้รับ</a:t>
                </a:r>
                <a:endParaRPr lang="th-TH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" panose="05000000000000000000" pitchFamily="2" charset="2"/>
                </a:endParaRPr>
              </a:p>
              <a:p>
                <a:r>
                  <a:rPr lang="en-US" sz="2000" dirty="0">
                    <a:solidFill>
                      <a:srgbClr val="FF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4.Apply Date : </a:t>
                </a:r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เลือกวันที่ต้องการให้บันทึก</a:t>
                </a:r>
                <a:r>
                  <a:rPr lang="th-TH" sz="16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บัญชี </a:t>
                </a:r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(ควรตรงกับ </a:t>
                </a:r>
                <a:r>
                  <a:rPr lang="en-US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Invoice Date)</a:t>
                </a:r>
              </a:p>
              <a:p>
                <a:r>
                  <a:rPr lang="en-US" sz="2000" dirty="0">
                    <a:solidFill>
                      <a:srgbClr val="FF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5.Description : </a:t>
                </a:r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ใส่คำอธิบายว่าเป็นการจ่ายค่าอะไร</a:t>
                </a:r>
                <a:endParaRPr lang="th-TH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" panose="05000000000000000000" pitchFamily="2" charset="2"/>
                </a:endParaRPr>
              </a:p>
              <a:p>
                <a:r>
                  <a:rPr lang="en-US" sz="2000" dirty="0">
                    <a:solidFill>
                      <a:srgbClr val="FF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6.Amount : </a:t>
                </a:r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ใส่จำนวนเงิน เช่น 70</a:t>
                </a:r>
                <a:r>
                  <a:rPr lang="en-US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% </a:t>
                </a:r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ของยอด 48,600.00 เป็นเงิน 34,020.00 (รวม </a:t>
                </a:r>
                <a:r>
                  <a:rPr lang="en-US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Vat)</a:t>
                </a:r>
                <a:endParaRPr lang="th-TH" sz="18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" panose="05000000000000000000" pitchFamily="2" charset="2"/>
                </a:endParaRPr>
              </a:p>
              <a:p>
                <a:r>
                  <a:rPr lang="en-US" sz="2000" dirty="0">
                    <a:solidFill>
                      <a:srgbClr val="FF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7.Payment Method : </a:t>
                </a:r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คลิกลูกศรด้านขวา เพื่อเลือกประเภทการจ่าย</a:t>
                </a:r>
              </a:p>
              <a:p>
                <a:r>
                  <a:rPr lang="en-US" sz="2000" dirty="0">
                    <a:solidFill>
                      <a:srgbClr val="FF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8.Currency : </a:t>
                </a:r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คลิกลูกศรด้านขวา</a:t>
                </a:r>
                <a:r>
                  <a:rPr lang="en-US" sz="18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เพื่อเลือกสกุลเงิน (ถ้าจ่ายเป็นสกุลเงินต่างประเทศ เช่น </a:t>
                </a:r>
                <a:r>
                  <a:rPr lang="en-US" sz="18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USD, EURO,</a:t>
                </a:r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อื่นๆ)</a:t>
                </a:r>
                <a:endPara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r>
                  <a:rPr lang="en-US" sz="2000" dirty="0">
                    <a:solidFill>
                      <a:srgbClr val="FF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9.Rate Type </a:t>
                </a:r>
                <a:r>
                  <a:rPr lang="en-US" sz="1800" dirty="0">
                    <a:solidFill>
                      <a:srgbClr val="FF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: </a:t>
                </a:r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เลือก </a:t>
                </a:r>
                <a:r>
                  <a:rPr lang="en-US" sz="18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Rate Type </a:t>
                </a:r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เป็น </a:t>
                </a:r>
                <a:r>
                  <a:rPr lang="en-US" sz="18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Buying Rate </a:t>
                </a:r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(ตาม </a:t>
                </a:r>
                <a:r>
                  <a:rPr lang="en-US" sz="18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Bank) </a:t>
                </a:r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ถ้าเป็นสกุลเงินต่างประเทศ</a:t>
                </a:r>
              </a:p>
              <a:p>
                <a:endPara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A5BCF1E4-2D3D-4960-9913-1EAD9E0F670E}"/>
                  </a:ext>
                </a:extLst>
              </p:cNvPr>
              <p:cNvGrpSpPr/>
              <p:nvPr/>
            </p:nvGrpSpPr>
            <p:grpSpPr>
              <a:xfrm>
                <a:off x="550097" y="169936"/>
                <a:ext cx="7454412" cy="6303683"/>
                <a:chOff x="468460" y="211844"/>
                <a:chExt cx="7454412" cy="6303683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CD52C44B-C0CD-4DC3-AD80-619278D96A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68460" y="211844"/>
                  <a:ext cx="7454412" cy="6303683"/>
                </a:xfrm>
                <a:prstGeom prst="rect">
                  <a:avLst/>
                </a:prstGeom>
              </p:spPr>
            </p:pic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04E8EF92-E2B2-49F5-A8A4-747A87ABD573}"/>
                    </a:ext>
                  </a:extLst>
                </p:cNvPr>
                <p:cNvSpPr/>
                <p:nvPr/>
              </p:nvSpPr>
              <p:spPr>
                <a:xfrm>
                  <a:off x="2705878" y="951723"/>
                  <a:ext cx="513184" cy="195943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1D83A7D4-42E8-4C75-8F69-BC1DF509FA78}"/>
                    </a:ext>
                  </a:extLst>
                </p:cNvPr>
                <p:cNvSpPr/>
                <p:nvPr/>
              </p:nvSpPr>
              <p:spPr>
                <a:xfrm>
                  <a:off x="1691951" y="1150775"/>
                  <a:ext cx="513184" cy="195943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66BF5992-8456-442E-8F60-6581B039EB19}"/>
                    </a:ext>
                  </a:extLst>
                </p:cNvPr>
                <p:cNvSpPr/>
                <p:nvPr/>
              </p:nvSpPr>
              <p:spPr>
                <a:xfrm>
                  <a:off x="2836504" y="4236100"/>
                  <a:ext cx="839758" cy="178656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EEFB515-E3E4-45EC-B18A-140E3ED4E1BF}"/>
                    </a:ext>
                  </a:extLst>
                </p:cNvPr>
                <p:cNvSpPr/>
                <p:nvPr/>
              </p:nvSpPr>
              <p:spPr>
                <a:xfrm>
                  <a:off x="2824062" y="4786425"/>
                  <a:ext cx="1496011" cy="178656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93BBAE61-7C34-4B75-B0EA-80DA94501730}"/>
                    </a:ext>
                  </a:extLst>
                </p:cNvPr>
                <p:cNvSpPr/>
                <p:nvPr/>
              </p:nvSpPr>
              <p:spPr>
                <a:xfrm>
                  <a:off x="6083558" y="3079105"/>
                  <a:ext cx="1237863" cy="38100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AB67DFB0-A404-45AB-B486-E64FA2319E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062009" y="2864645"/>
                  <a:ext cx="1306234" cy="1182178"/>
                </a:xfrm>
                <a:prstGeom prst="rect">
                  <a:avLst/>
                </a:prstGeom>
              </p:spPr>
            </p:pic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F28927A0-485D-41DC-8838-BE6B9E22E547}"/>
                    </a:ext>
                  </a:extLst>
                </p:cNvPr>
                <p:cNvSpPr/>
                <p:nvPr/>
              </p:nvSpPr>
              <p:spPr>
                <a:xfrm>
                  <a:off x="2805403" y="2603242"/>
                  <a:ext cx="1237863" cy="751115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73260E1D-9A14-488F-8E7B-EFE5D3B119CD}"/>
                    </a:ext>
                  </a:extLst>
                </p:cNvPr>
                <p:cNvSpPr/>
                <p:nvPr/>
              </p:nvSpPr>
              <p:spPr>
                <a:xfrm>
                  <a:off x="2805403" y="3774230"/>
                  <a:ext cx="1038810" cy="291735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F5D5A315-3777-4022-81A1-85D11F9CD1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814734" y="4981357"/>
                  <a:ext cx="1701283" cy="729122"/>
                </a:xfrm>
                <a:prstGeom prst="rect">
                  <a:avLst/>
                </a:prstGeom>
              </p:spPr>
            </p:pic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3209DD96-3E60-4F0C-B8B4-F9E716EFE6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168758" y="2280400"/>
                  <a:ext cx="1296289" cy="777773"/>
                </a:xfrm>
                <a:prstGeom prst="rect">
                  <a:avLst/>
                </a:prstGeom>
              </p:spPr>
            </p:pic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1C815B96-32A7-4082-A4F7-A45168854C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51792" y="3478767"/>
                  <a:ext cx="1313256" cy="948030"/>
                </a:xfrm>
                <a:prstGeom prst="rect">
                  <a:avLst/>
                </a:prstGeom>
              </p:spPr>
            </p:pic>
          </p:grpSp>
        </p:grpSp>
        <p:sp>
          <p:nvSpPr>
            <p:cNvPr id="30" name="Heptagon 29">
              <a:extLst>
                <a:ext uri="{FF2B5EF4-FFF2-40B4-BE49-F238E27FC236}">
                  <a16:creationId xmlns:a16="http://schemas.microsoft.com/office/drawing/2014/main" id="{142FF96A-5F40-4D6D-9D87-01912879335A}"/>
                </a:ext>
              </a:extLst>
            </p:cNvPr>
            <p:cNvSpPr/>
            <p:nvPr/>
          </p:nvSpPr>
          <p:spPr>
            <a:xfrm>
              <a:off x="2270465" y="2763250"/>
              <a:ext cx="239353" cy="185442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1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31" name="Heptagon 30">
              <a:extLst>
                <a:ext uri="{FF2B5EF4-FFF2-40B4-BE49-F238E27FC236}">
                  <a16:creationId xmlns:a16="http://schemas.microsoft.com/office/drawing/2014/main" id="{4ABB79F7-88B5-4A1F-8F27-E79A0FDA9C8C}"/>
                </a:ext>
              </a:extLst>
            </p:cNvPr>
            <p:cNvSpPr/>
            <p:nvPr/>
          </p:nvSpPr>
          <p:spPr>
            <a:xfrm>
              <a:off x="2088528" y="3060505"/>
              <a:ext cx="239354" cy="207464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2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32" name="Heptagon 31">
              <a:extLst>
                <a:ext uri="{FF2B5EF4-FFF2-40B4-BE49-F238E27FC236}">
                  <a16:creationId xmlns:a16="http://schemas.microsoft.com/office/drawing/2014/main" id="{9307B8D0-F26E-47F3-BFD1-D36C1EB54B29}"/>
                </a:ext>
              </a:extLst>
            </p:cNvPr>
            <p:cNvSpPr/>
            <p:nvPr/>
          </p:nvSpPr>
          <p:spPr>
            <a:xfrm>
              <a:off x="2059330" y="3410951"/>
              <a:ext cx="252407" cy="231377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4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33" name="Heptagon 32">
              <a:extLst>
                <a:ext uri="{FF2B5EF4-FFF2-40B4-BE49-F238E27FC236}">
                  <a16:creationId xmlns:a16="http://schemas.microsoft.com/office/drawing/2014/main" id="{D3A149A1-EC4C-4ABD-AF74-25188C8623AA}"/>
                </a:ext>
              </a:extLst>
            </p:cNvPr>
            <p:cNvSpPr/>
            <p:nvPr/>
          </p:nvSpPr>
          <p:spPr>
            <a:xfrm>
              <a:off x="2209717" y="3954192"/>
              <a:ext cx="252407" cy="200265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5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34" name="Heptagon 33">
              <a:extLst>
                <a:ext uri="{FF2B5EF4-FFF2-40B4-BE49-F238E27FC236}">
                  <a16:creationId xmlns:a16="http://schemas.microsoft.com/office/drawing/2014/main" id="{3DD57E62-47BE-4DBD-82E8-AB22C65566CA}"/>
                </a:ext>
              </a:extLst>
            </p:cNvPr>
            <p:cNvSpPr/>
            <p:nvPr/>
          </p:nvSpPr>
          <p:spPr>
            <a:xfrm>
              <a:off x="2366905" y="4441748"/>
              <a:ext cx="239353" cy="221894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6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35" name="Heptagon 34">
              <a:extLst>
                <a:ext uri="{FF2B5EF4-FFF2-40B4-BE49-F238E27FC236}">
                  <a16:creationId xmlns:a16="http://schemas.microsoft.com/office/drawing/2014/main" id="{12B27438-29A6-4499-8140-36D982B9EF30}"/>
                </a:ext>
              </a:extLst>
            </p:cNvPr>
            <p:cNvSpPr/>
            <p:nvPr/>
          </p:nvSpPr>
          <p:spPr>
            <a:xfrm>
              <a:off x="2114498" y="4932744"/>
              <a:ext cx="252407" cy="200266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7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36" name="Heptagon 35">
              <a:extLst>
                <a:ext uri="{FF2B5EF4-FFF2-40B4-BE49-F238E27FC236}">
                  <a16:creationId xmlns:a16="http://schemas.microsoft.com/office/drawing/2014/main" id="{D32A9473-E519-4F86-B734-506D7F5808CF}"/>
                </a:ext>
              </a:extLst>
            </p:cNvPr>
            <p:cNvSpPr/>
            <p:nvPr/>
          </p:nvSpPr>
          <p:spPr>
            <a:xfrm>
              <a:off x="5532900" y="3285321"/>
              <a:ext cx="269109" cy="192851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8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37" name="Heptagon 36">
              <a:extLst>
                <a:ext uri="{FF2B5EF4-FFF2-40B4-BE49-F238E27FC236}">
                  <a16:creationId xmlns:a16="http://schemas.microsoft.com/office/drawing/2014/main" id="{A308A04B-74DA-42CF-9AB4-09D349245700}"/>
                </a:ext>
              </a:extLst>
            </p:cNvPr>
            <p:cNvSpPr/>
            <p:nvPr/>
          </p:nvSpPr>
          <p:spPr>
            <a:xfrm>
              <a:off x="5543842" y="3509226"/>
              <a:ext cx="252407" cy="216403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9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38" name="Heptagon 37">
              <a:extLst>
                <a:ext uri="{FF2B5EF4-FFF2-40B4-BE49-F238E27FC236}">
                  <a16:creationId xmlns:a16="http://schemas.microsoft.com/office/drawing/2014/main" id="{A3BAAF4E-8FCF-4642-BE88-2D8176BE1B80}"/>
                </a:ext>
              </a:extLst>
            </p:cNvPr>
            <p:cNvSpPr/>
            <p:nvPr/>
          </p:nvSpPr>
          <p:spPr>
            <a:xfrm>
              <a:off x="2274615" y="3267969"/>
              <a:ext cx="239354" cy="221894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3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8952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57A84B6-2B8C-4F28-BCFA-77D44871D1E3}"/>
              </a:ext>
            </a:extLst>
          </p:cNvPr>
          <p:cNvGrpSpPr/>
          <p:nvPr/>
        </p:nvGrpSpPr>
        <p:grpSpPr>
          <a:xfrm>
            <a:off x="2635307" y="578497"/>
            <a:ext cx="6921385" cy="6171589"/>
            <a:chOff x="2471431" y="397159"/>
            <a:chExt cx="7249138" cy="660485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C4E2F0C-92A6-4B5D-BFEF-4F4EF43B24FC}"/>
                </a:ext>
              </a:extLst>
            </p:cNvPr>
            <p:cNvGrpSpPr/>
            <p:nvPr/>
          </p:nvGrpSpPr>
          <p:grpSpPr>
            <a:xfrm>
              <a:off x="2471431" y="397159"/>
              <a:ext cx="7249138" cy="6604854"/>
              <a:chOff x="1950098" y="69886"/>
              <a:chExt cx="7249138" cy="6604854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254E6BDF-B5A4-406A-8FFD-76309B0AE4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50098" y="544644"/>
                <a:ext cx="7249138" cy="6130096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45303A-E723-423E-BC06-E3C51A74A32D}"/>
                  </a:ext>
                </a:extLst>
              </p:cNvPr>
              <p:cNvSpPr txBox="1"/>
              <p:nvPr/>
            </p:nvSpPr>
            <p:spPr>
              <a:xfrm>
                <a:off x="1950098" y="69886"/>
                <a:ext cx="7249138" cy="461665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txBody>
              <a:bodyPr wrap="square" rtlCol="0">
                <a:spAutoFit/>
              </a:bodyPr>
              <a:lstStyle/>
              <a:p>
                <a:r>
                  <a:rPr lang="th-TH" sz="2000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ไปที่ </a:t>
                </a:r>
                <a:r>
                  <a:rPr lang="en-US" sz="2000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New </a:t>
                </a:r>
                <a:r>
                  <a:rPr lang="en-US" sz="2000" dirty="0">
                    <a:latin typeface="AngsanaUPC" panose="02020603050405020304" pitchFamily="18" charset="-34"/>
                    <a:cs typeface="AngsanaUPC" panose="02020603050405020304" pitchFamily="18" charset="-34"/>
                    <a:sym typeface="Wingdings 3" panose="05040102010807070707" pitchFamily="18" charset="2"/>
                  </a:rPr>
                  <a:t> </a:t>
                </a:r>
                <a:r>
                  <a:rPr lang="en-US" sz="2000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 </a:t>
                </a:r>
                <a:r>
                  <a:rPr lang="th-TH" sz="2000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เลือก </a:t>
                </a:r>
                <a:r>
                  <a:rPr lang="en-US" sz="2400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New</a:t>
                </a:r>
                <a:r>
                  <a:rPr lang="en-US" sz="2000" dirty="0">
                    <a:latin typeface="AngsanaUPC" panose="02020603050405020304" pitchFamily="18" charset="-34"/>
                    <a:cs typeface="AngsanaUPC" panose="02020603050405020304" pitchFamily="18" charset="-34"/>
                  </a:rPr>
                  <a:t> Adv bill Line</a:t>
                </a:r>
                <a:endParaRPr lang="en-US" sz="3200" dirty="0">
                  <a:latin typeface="AngsanaUPC" panose="02020603050405020304" pitchFamily="18" charset="-34"/>
                  <a:cs typeface="AngsanaUPC" panose="02020603050405020304" pitchFamily="18" charset="-34"/>
                </a:endParaRPr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ED743B5-2D30-4538-A159-9E1B810CE8FF}"/>
                </a:ext>
              </a:extLst>
            </p:cNvPr>
            <p:cNvSpPr/>
            <p:nvPr/>
          </p:nvSpPr>
          <p:spPr>
            <a:xfrm>
              <a:off x="2471431" y="3428999"/>
              <a:ext cx="1773998" cy="18194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39988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EA03E35B-4C05-4726-B8D1-EE08BDB4253A}"/>
              </a:ext>
            </a:extLst>
          </p:cNvPr>
          <p:cNvGrpSpPr/>
          <p:nvPr/>
        </p:nvGrpSpPr>
        <p:grpSpPr>
          <a:xfrm>
            <a:off x="528543" y="653143"/>
            <a:ext cx="11134913" cy="6001644"/>
            <a:chOff x="528543" y="653143"/>
            <a:chExt cx="11134913" cy="600164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6D7C9CB-BBEA-4FFC-84A4-88BFE3483485}"/>
                </a:ext>
              </a:extLst>
            </p:cNvPr>
            <p:cNvGrpSpPr/>
            <p:nvPr/>
          </p:nvGrpSpPr>
          <p:grpSpPr>
            <a:xfrm>
              <a:off x="528543" y="653143"/>
              <a:ext cx="11134913" cy="6001644"/>
              <a:chOff x="333558" y="225186"/>
              <a:chExt cx="11519812" cy="6429984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A5F6BB-27D1-4ADA-B9D6-46B2DB25CC5D}"/>
                  </a:ext>
                </a:extLst>
              </p:cNvPr>
              <p:cNvSpPr txBox="1"/>
              <p:nvPr/>
            </p:nvSpPr>
            <p:spPr>
              <a:xfrm>
                <a:off x="8282088" y="225187"/>
                <a:ext cx="3571282" cy="6429983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txBody>
              <a:bodyPr wrap="square" rtlCol="0">
                <a:spAutoFit/>
              </a:bodyPr>
              <a:lstStyle/>
              <a:p>
                <a:r>
                  <a:rPr lang="th-TH" sz="20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ไปที่</a:t>
                </a:r>
                <a:r>
                  <a:rPr lang="en-US" sz="20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r>
                  <a:rPr lang="en-US" sz="2000" dirty="0">
                    <a:solidFill>
                      <a:srgbClr val="00B0F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Lines</a:t>
                </a:r>
                <a:r>
                  <a:rPr lang="en-US" sz="20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 3" panose="05040102010807070707" pitchFamily="18" charset="2"/>
                  </a:rPr>
                  <a:t> </a:t>
                </a:r>
                <a:r>
                  <a:rPr lang="en-US" sz="20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 </a:t>
                </a:r>
                <a:r>
                  <a:rPr lang="en-US" sz="2000" dirty="0">
                    <a:solidFill>
                      <a:srgbClr val="00B0F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Detail</a:t>
                </a:r>
              </a:p>
              <a:p>
                <a:r>
                  <a:rPr lang="en-US" sz="2000" dirty="0">
                    <a:solidFill>
                      <a:srgbClr val="FF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1.PO/Line :</a:t>
                </a:r>
                <a:r>
                  <a:rPr lang="th-TH" sz="2000" dirty="0">
                    <a:solidFill>
                      <a:srgbClr val="FF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 </a:t>
                </a:r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ใส่เลขที่ </a:t>
                </a:r>
                <a:r>
                  <a:rPr lang="en-US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PO</a:t>
                </a:r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 ที่ต้องการจ่ายเงินมัดจำ (หรือกด </a:t>
                </a:r>
                <a:r>
                  <a:rPr lang="en-US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Search </a:t>
                </a:r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เลือก </a:t>
                </a:r>
                <a:r>
                  <a:rPr lang="en-US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PO </a:t>
                </a:r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 ที่ต้องการ แล้วกด </a:t>
                </a:r>
                <a:r>
                  <a:rPr lang="en-US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OK)</a:t>
                </a:r>
              </a:p>
              <a:p>
                <a:r>
                  <a:rPr lang="th-TH" sz="2000" dirty="0">
                    <a:solidFill>
                      <a:srgbClr val="FF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2.ใส่ลำดับรายการ </a:t>
                </a:r>
                <a:r>
                  <a:rPr lang="en-US" sz="2000" dirty="0">
                    <a:solidFill>
                      <a:srgbClr val="FF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: </a:t>
                </a:r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เช่น </a:t>
                </a:r>
                <a:r>
                  <a:rPr lang="en-US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PO </a:t>
                </a:r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มี 2 รายการ เลือกลำดับที่ 1</a:t>
                </a:r>
              </a:p>
              <a:p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   </a:t>
                </a:r>
                <a:r>
                  <a:rPr lang="th-TH" sz="20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**ถ้ามีมากกว่า 1 รายการ ต้องเพิ่มที่ </a:t>
                </a:r>
                <a:r>
                  <a:rPr lang="en-US" sz="20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New Adv Bill Line </a:t>
                </a:r>
                <a:endParaRPr lang="th-TH" sz="18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" panose="05000000000000000000" pitchFamily="2" charset="2"/>
                </a:endParaRPr>
              </a:p>
              <a:p>
                <a:r>
                  <a:rPr lang="en-US" sz="2000" dirty="0">
                    <a:solidFill>
                      <a:srgbClr val="FF0000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3.Ext Amount : </a:t>
                </a:r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ใส่จำนวนเงินมัดจำ เช่น รายการที่ 1 มียอดซื้อ 48,600.00 ต้องการจ่าย 70</a:t>
                </a:r>
                <a:r>
                  <a:rPr lang="en-US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%</a:t>
                </a:r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 เป็นเงิน 34,2000.00 (ยอดก่อน </a:t>
                </a:r>
                <a:r>
                  <a:rPr lang="en-US" sz="18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Vat)</a:t>
                </a:r>
                <a:endParaRPr lang="en-US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" panose="05000000000000000000" pitchFamily="2" charset="2"/>
                </a:endParaRPr>
              </a:p>
              <a:p>
                <a:endParaRPr lang="th-TH" sz="16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" panose="05000000000000000000" pitchFamily="2" charset="2"/>
                </a:endParaRPr>
              </a:p>
              <a:p>
                <a:r>
                  <a:rPr lang="th-TH" sz="1600" dirty="0">
                    <a:latin typeface="Angsana New" panose="02020603050405020304" pitchFamily="18" charset="-34"/>
                    <a:cs typeface="Angsana New" panose="02020603050405020304" pitchFamily="18" charset="-34"/>
                    <a:sym typeface="Wingdings" panose="05000000000000000000" pitchFamily="2" charset="2"/>
                  </a:rPr>
                  <a:t> </a:t>
                </a:r>
              </a:p>
              <a:p>
                <a:endParaRPr lang="th-TH" sz="16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" panose="05000000000000000000" pitchFamily="2" charset="2"/>
                </a:endParaRPr>
              </a:p>
              <a:p>
                <a:endParaRPr lang="th-TH" sz="16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" panose="05000000000000000000" pitchFamily="2" charset="2"/>
                </a:endParaRPr>
              </a:p>
              <a:p>
                <a:endParaRPr lang="th-TH" sz="16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" panose="05000000000000000000" pitchFamily="2" charset="2"/>
                </a:endParaRPr>
              </a:p>
              <a:p>
                <a:endParaRPr lang="th-TH" sz="16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" panose="05000000000000000000" pitchFamily="2" charset="2"/>
                </a:endParaRPr>
              </a:p>
              <a:p>
                <a:endParaRPr lang="th-TH" sz="16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" panose="05000000000000000000" pitchFamily="2" charset="2"/>
                </a:endParaRPr>
              </a:p>
              <a:p>
                <a:endParaRPr lang="th-TH" sz="16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" panose="05000000000000000000" pitchFamily="2" charset="2"/>
                </a:endParaRPr>
              </a:p>
              <a:p>
                <a:endParaRPr lang="th-TH" sz="16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" panose="05000000000000000000" pitchFamily="2" charset="2"/>
                </a:endParaRPr>
              </a:p>
              <a:p>
                <a:endParaRPr lang="th-TH" sz="16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" panose="05000000000000000000" pitchFamily="2" charset="2"/>
                </a:endParaRPr>
              </a:p>
              <a:p>
                <a:endParaRPr lang="th-TH" sz="16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" panose="05000000000000000000" pitchFamily="2" charset="2"/>
                </a:endParaRPr>
              </a:p>
              <a:p>
                <a:endParaRPr lang="th-TH" sz="16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C55FB468-7E61-4D2A-B978-1D9981763660}"/>
                  </a:ext>
                </a:extLst>
              </p:cNvPr>
              <p:cNvGrpSpPr/>
              <p:nvPr/>
            </p:nvGrpSpPr>
            <p:grpSpPr>
              <a:xfrm>
                <a:off x="333558" y="225186"/>
                <a:ext cx="7948530" cy="6424229"/>
                <a:chOff x="727787" y="153853"/>
                <a:chExt cx="7510376" cy="5606184"/>
              </a:xfrm>
            </p:grpSpPr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EAAD376B-B52C-48EC-9B9C-CB4C7D6C6924}"/>
                    </a:ext>
                  </a:extLst>
                </p:cNvPr>
                <p:cNvGrpSpPr/>
                <p:nvPr/>
              </p:nvGrpSpPr>
              <p:grpSpPr>
                <a:xfrm>
                  <a:off x="727787" y="153853"/>
                  <a:ext cx="7510376" cy="5606184"/>
                  <a:chOff x="2276669" y="209837"/>
                  <a:chExt cx="7510376" cy="5606184"/>
                </a:xfrm>
              </p:grpSpPr>
              <p:pic>
                <p:nvPicPr>
                  <p:cNvPr id="5" name="Picture 4">
                    <a:extLst>
                      <a:ext uri="{FF2B5EF4-FFF2-40B4-BE49-F238E27FC236}">
                        <a16:creationId xmlns:a16="http://schemas.microsoft.com/office/drawing/2014/main" id="{B6C4B314-2DC5-42DA-9BF0-0BA6641C0F7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r="124" b="11837"/>
                  <a:stretch/>
                </p:blipFill>
                <p:spPr>
                  <a:xfrm>
                    <a:off x="2276669" y="209837"/>
                    <a:ext cx="7510376" cy="5606184"/>
                  </a:xfrm>
                  <a:prstGeom prst="rect">
                    <a:avLst/>
                  </a:prstGeom>
                </p:spPr>
              </p:pic>
              <p:sp>
                <p:nvSpPr>
                  <p:cNvPr id="2" name="Rectangle 1">
                    <a:extLst>
                      <a:ext uri="{FF2B5EF4-FFF2-40B4-BE49-F238E27FC236}">
                        <a16:creationId xmlns:a16="http://schemas.microsoft.com/office/drawing/2014/main" id="{DD0B2A44-D9CD-4289-BB08-7296E5C248DF}"/>
                      </a:ext>
                    </a:extLst>
                  </p:cNvPr>
                  <p:cNvSpPr/>
                  <p:nvPr/>
                </p:nvSpPr>
                <p:spPr>
                  <a:xfrm>
                    <a:off x="5010539" y="914400"/>
                    <a:ext cx="466530" cy="233265"/>
                  </a:xfrm>
                  <a:prstGeom prst="rect">
                    <a:avLst/>
                  </a:prstGeom>
                  <a:noFill/>
                  <a:ln w="1905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h-TH"/>
                  </a:p>
                </p:txBody>
              </p:sp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4CB33B6A-66CC-4986-8FB2-E64A007E461B}"/>
                      </a:ext>
                    </a:extLst>
                  </p:cNvPr>
                  <p:cNvSpPr/>
                  <p:nvPr/>
                </p:nvSpPr>
                <p:spPr>
                  <a:xfrm>
                    <a:off x="3514532" y="1147665"/>
                    <a:ext cx="466530" cy="233265"/>
                  </a:xfrm>
                  <a:prstGeom prst="rect">
                    <a:avLst/>
                  </a:prstGeom>
                  <a:noFill/>
                  <a:ln w="1905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h-TH"/>
                  </a:p>
                </p:txBody>
              </p:sp>
              <p:sp>
                <p:nvSpPr>
                  <p:cNvPr id="7" name="Rectangle 6">
                    <a:extLst>
                      <a:ext uri="{FF2B5EF4-FFF2-40B4-BE49-F238E27FC236}">
                        <a16:creationId xmlns:a16="http://schemas.microsoft.com/office/drawing/2014/main" id="{A06E62DB-9B51-4D86-85A3-67E1518E15EA}"/>
                      </a:ext>
                    </a:extLst>
                  </p:cNvPr>
                  <p:cNvSpPr/>
                  <p:nvPr/>
                </p:nvSpPr>
                <p:spPr>
                  <a:xfrm>
                    <a:off x="4422710" y="2845833"/>
                    <a:ext cx="447870" cy="143071"/>
                  </a:xfrm>
                  <a:prstGeom prst="rect">
                    <a:avLst/>
                  </a:prstGeom>
                  <a:noFill/>
                  <a:ln w="1905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h-TH"/>
                  </a:p>
                </p:txBody>
              </p:sp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B9996C1E-9120-4D46-B695-017AA48DEDAF}"/>
                      </a:ext>
                    </a:extLst>
                  </p:cNvPr>
                  <p:cNvSpPr/>
                  <p:nvPr/>
                </p:nvSpPr>
                <p:spPr>
                  <a:xfrm>
                    <a:off x="4907904" y="2845833"/>
                    <a:ext cx="298578" cy="143071"/>
                  </a:xfrm>
                  <a:prstGeom prst="rect">
                    <a:avLst/>
                  </a:prstGeom>
                  <a:noFill/>
                  <a:ln w="1905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h-TH"/>
                  </a:p>
                </p:txBody>
              </p:sp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CB1ACA1A-8229-41B4-8A74-204B5696851B}"/>
                      </a:ext>
                    </a:extLst>
                  </p:cNvPr>
                  <p:cNvSpPr/>
                  <p:nvPr/>
                </p:nvSpPr>
                <p:spPr>
                  <a:xfrm>
                    <a:off x="8549951" y="3713583"/>
                    <a:ext cx="817984" cy="158621"/>
                  </a:xfrm>
                  <a:prstGeom prst="rect">
                    <a:avLst/>
                  </a:prstGeom>
                  <a:noFill/>
                  <a:ln w="1905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th-TH"/>
                  </a:p>
                </p:txBody>
              </p:sp>
            </p:grpSp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1758FC40-CEC3-4B2E-969D-A0AC34DF38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091671" y="153853"/>
                  <a:ext cx="3143838" cy="3431384"/>
                </a:xfrm>
                <a:prstGeom prst="rect">
                  <a:avLst/>
                </a:prstGeom>
              </p:spPr>
            </p:pic>
          </p:grpSp>
        </p:grpSp>
        <p:sp>
          <p:nvSpPr>
            <p:cNvPr id="17" name="Heptagon 16">
              <a:extLst>
                <a:ext uri="{FF2B5EF4-FFF2-40B4-BE49-F238E27FC236}">
                  <a16:creationId xmlns:a16="http://schemas.microsoft.com/office/drawing/2014/main" id="{102ADCB5-EC6A-4087-956B-2877C0CB9011}"/>
                </a:ext>
              </a:extLst>
            </p:cNvPr>
            <p:cNvSpPr/>
            <p:nvPr/>
          </p:nvSpPr>
          <p:spPr>
            <a:xfrm>
              <a:off x="1611040" y="3383453"/>
              <a:ext cx="315652" cy="267826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1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8" name="Heptagon 17">
              <a:extLst>
                <a:ext uri="{FF2B5EF4-FFF2-40B4-BE49-F238E27FC236}">
                  <a16:creationId xmlns:a16="http://schemas.microsoft.com/office/drawing/2014/main" id="{7CE59A98-736E-4F2D-8182-4CEE869FEF48}"/>
                </a:ext>
              </a:extLst>
            </p:cNvPr>
            <p:cNvSpPr/>
            <p:nvPr/>
          </p:nvSpPr>
          <p:spPr>
            <a:xfrm>
              <a:off x="3546887" y="3387056"/>
              <a:ext cx="315652" cy="267826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2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9" name="Heptagon 18">
              <a:extLst>
                <a:ext uri="{FF2B5EF4-FFF2-40B4-BE49-F238E27FC236}">
                  <a16:creationId xmlns:a16="http://schemas.microsoft.com/office/drawing/2014/main" id="{0A9A8DE4-FB63-4DD2-B465-3F23EF1629A7}"/>
                </a:ext>
              </a:extLst>
            </p:cNvPr>
            <p:cNvSpPr/>
            <p:nvPr/>
          </p:nvSpPr>
          <p:spPr>
            <a:xfrm>
              <a:off x="7801418" y="4323289"/>
              <a:ext cx="315652" cy="267826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3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5019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B4496843-4C2A-439B-ABC9-21082C794E10}"/>
              </a:ext>
            </a:extLst>
          </p:cNvPr>
          <p:cNvGrpSpPr/>
          <p:nvPr/>
        </p:nvGrpSpPr>
        <p:grpSpPr>
          <a:xfrm>
            <a:off x="487520" y="245173"/>
            <a:ext cx="11151643" cy="6367654"/>
            <a:chOff x="487520" y="245173"/>
            <a:chExt cx="11151643" cy="636765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982C96B-A2B6-4D5D-B662-F2D095E9CA67}"/>
                </a:ext>
              </a:extLst>
            </p:cNvPr>
            <p:cNvSpPr txBox="1"/>
            <p:nvPr/>
          </p:nvSpPr>
          <p:spPr>
            <a:xfrm>
              <a:off x="8085123" y="256752"/>
              <a:ext cx="3554040" cy="6309420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กรณีที่มีภาษีมูลค่าเพิ่ม</a:t>
              </a:r>
            </a:p>
            <a:p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ไปที่ </a:t>
              </a:r>
              <a:r>
                <a:rPr lang="en-US" sz="2000" dirty="0">
                  <a:solidFill>
                    <a:srgbClr val="00B0F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Header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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2000" dirty="0">
                  <a:solidFill>
                    <a:srgbClr val="00B0F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Tax</a:t>
              </a:r>
              <a:endParaRPr lang="th-TH" sz="2000" dirty="0">
                <a:solidFill>
                  <a:srgbClr val="00B0F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r>
                <a:rPr lang="en-US" sz="20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1.Tax </a:t>
              </a:r>
              <a:r>
                <a:rPr lang="en-US" sz="2000" dirty="0" err="1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Liabilty</a:t>
              </a:r>
              <a:r>
                <a:rPr lang="en-US" sz="20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: 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เลือกว่าเป็นภาษีซื้อหรือบริการ 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S,C,U 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หรือล้ง</a:t>
              </a:r>
              <a:endParaRPr lang="th-TH" sz="16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r>
                <a:rPr lang="en-US" sz="20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2.Tax Point : 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คลิกลูกศรด้านขวา เพื่อเลือกวัน/เดือน/ปี</a:t>
              </a:r>
            </a:p>
            <a:p>
              <a:r>
                <a:rPr lang="en-US" sz="20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3.Tax Rate Date : 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คลิกลูกศรด้านขวา เพื่อเลือกวัน/เดือน/ปี</a:t>
              </a:r>
            </a:p>
            <a:p>
              <a:r>
                <a:rPr lang="en-US" sz="20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4.Invoice Tax: 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จะ 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Default 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ค่าให้ตามยอดที่ระบุใน 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Po</a:t>
              </a:r>
            </a:p>
            <a:p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*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ถ้ายอดภาษีที่ระบบคำนวณให้ไม่ตรงกับที่ได้รับจริง     สามารถแก้ไขได้ </a:t>
              </a:r>
            </a:p>
            <a:p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โดย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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ที่ช่อง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Manual Tax Calculation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และแก้ไข  ตัวเลขให้ถูกต้องได้</a:t>
              </a:r>
              <a:endParaRPr lang="th-TH" sz="20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th-TH" sz="18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th-TH" sz="18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th-TH" sz="18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th-TH" sz="16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th-TH" sz="16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th-TH" sz="16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th-TH" sz="16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th-TH" sz="16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th-TH" sz="16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th-TH" sz="18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178D92D-1BC9-4DA2-8FF9-9C9906E3A2F3}"/>
                </a:ext>
              </a:extLst>
            </p:cNvPr>
            <p:cNvGrpSpPr/>
            <p:nvPr/>
          </p:nvGrpSpPr>
          <p:grpSpPr>
            <a:xfrm>
              <a:off x="487520" y="245173"/>
              <a:ext cx="7593429" cy="6367654"/>
              <a:chOff x="617510" y="394890"/>
              <a:chExt cx="7369493" cy="6231872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349E2CC2-2C01-4715-AC5F-77D30464F9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17510" y="394890"/>
                <a:ext cx="7369493" cy="6231872"/>
              </a:xfrm>
              <a:prstGeom prst="rect">
                <a:avLst/>
              </a:prstGeom>
            </p:spPr>
          </p:pic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9A7A559-DA56-4F05-82E6-2D241581EF2D}"/>
                  </a:ext>
                </a:extLst>
              </p:cNvPr>
              <p:cNvSpPr/>
              <p:nvPr/>
            </p:nvSpPr>
            <p:spPr>
              <a:xfrm>
                <a:off x="2855167" y="1129004"/>
                <a:ext cx="485192" cy="19594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10AE0D6-7535-4778-BA07-5D10E04FC29D}"/>
                  </a:ext>
                </a:extLst>
              </p:cNvPr>
              <p:cNvSpPr/>
              <p:nvPr/>
            </p:nvSpPr>
            <p:spPr>
              <a:xfrm>
                <a:off x="2217575" y="1324947"/>
                <a:ext cx="376335" cy="19594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02EEE4F-ECE9-4523-BD44-FD9B4223FBFB}"/>
                  </a:ext>
                </a:extLst>
              </p:cNvPr>
              <p:cNvSpPr/>
              <p:nvPr/>
            </p:nvSpPr>
            <p:spPr>
              <a:xfrm>
                <a:off x="3184847" y="1701283"/>
                <a:ext cx="1275183" cy="18661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D276940-3E08-471C-ACFE-8C91339B252E}"/>
                  </a:ext>
                </a:extLst>
              </p:cNvPr>
              <p:cNvSpPr/>
              <p:nvPr/>
            </p:nvSpPr>
            <p:spPr>
              <a:xfrm>
                <a:off x="6040017" y="1698172"/>
                <a:ext cx="1060580" cy="19594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38B2AEB-3BCE-4603-807F-05C70C81348F}"/>
                  </a:ext>
                </a:extLst>
              </p:cNvPr>
              <p:cNvSpPr/>
              <p:nvPr/>
            </p:nvSpPr>
            <p:spPr>
              <a:xfrm>
                <a:off x="6040018" y="1897226"/>
                <a:ext cx="1060580" cy="19594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708E38A-79D6-4F6C-8310-1654C200154F}"/>
                  </a:ext>
                </a:extLst>
              </p:cNvPr>
              <p:cNvSpPr/>
              <p:nvPr/>
            </p:nvSpPr>
            <p:spPr>
              <a:xfrm>
                <a:off x="3292148" y="2612677"/>
                <a:ext cx="1167883" cy="19594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6337A7B-0A43-4D9D-A4A6-F22FFF1FEDE7}"/>
                  </a:ext>
                </a:extLst>
              </p:cNvPr>
              <p:cNvSpPr/>
              <p:nvPr/>
            </p:nvSpPr>
            <p:spPr>
              <a:xfrm>
                <a:off x="2114934" y="3533403"/>
                <a:ext cx="5862738" cy="19594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12" name="Heptagon 11">
              <a:extLst>
                <a:ext uri="{FF2B5EF4-FFF2-40B4-BE49-F238E27FC236}">
                  <a16:creationId xmlns:a16="http://schemas.microsoft.com/office/drawing/2014/main" id="{2782E740-46C4-4D41-AB4F-7B1944FEB0CB}"/>
                </a:ext>
              </a:extLst>
            </p:cNvPr>
            <p:cNvSpPr/>
            <p:nvPr/>
          </p:nvSpPr>
          <p:spPr>
            <a:xfrm>
              <a:off x="2225232" y="1520332"/>
              <a:ext cx="315652" cy="267826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1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3" name="Heptagon 12">
              <a:extLst>
                <a:ext uri="{FF2B5EF4-FFF2-40B4-BE49-F238E27FC236}">
                  <a16:creationId xmlns:a16="http://schemas.microsoft.com/office/drawing/2014/main" id="{257CBBF6-5642-4A78-ABA6-0DA17633C2D0}"/>
                </a:ext>
              </a:extLst>
            </p:cNvPr>
            <p:cNvSpPr/>
            <p:nvPr/>
          </p:nvSpPr>
          <p:spPr>
            <a:xfrm>
              <a:off x="7167608" y="1461706"/>
              <a:ext cx="315652" cy="267826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2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4" name="Heptagon 13">
              <a:extLst>
                <a:ext uri="{FF2B5EF4-FFF2-40B4-BE49-F238E27FC236}">
                  <a16:creationId xmlns:a16="http://schemas.microsoft.com/office/drawing/2014/main" id="{D4B16B27-C4AC-487F-B196-DC60E033CE1F}"/>
                </a:ext>
              </a:extLst>
            </p:cNvPr>
            <p:cNvSpPr/>
            <p:nvPr/>
          </p:nvSpPr>
          <p:spPr>
            <a:xfrm>
              <a:off x="2330091" y="2448436"/>
              <a:ext cx="315652" cy="267826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4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5" name="Heptagon 14">
              <a:extLst>
                <a:ext uri="{FF2B5EF4-FFF2-40B4-BE49-F238E27FC236}">
                  <a16:creationId xmlns:a16="http://schemas.microsoft.com/office/drawing/2014/main" id="{0388F811-67E1-4ACC-9E03-E14A855AC188}"/>
                </a:ext>
              </a:extLst>
            </p:cNvPr>
            <p:cNvSpPr/>
            <p:nvPr/>
          </p:nvSpPr>
          <p:spPr>
            <a:xfrm>
              <a:off x="7167608" y="1746435"/>
              <a:ext cx="315652" cy="267826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3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659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55DBE33-D9A0-49FC-891F-2547FB3D6BAA}"/>
              </a:ext>
            </a:extLst>
          </p:cNvPr>
          <p:cNvGrpSpPr/>
          <p:nvPr/>
        </p:nvGrpSpPr>
        <p:grpSpPr>
          <a:xfrm>
            <a:off x="2586322" y="587828"/>
            <a:ext cx="7019356" cy="6060778"/>
            <a:chOff x="2379307" y="339792"/>
            <a:chExt cx="7015873" cy="640189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0DB1B9F-F352-4F96-8C56-AF4739F5F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79307" y="808841"/>
              <a:ext cx="7015873" cy="5932841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6A0C4BF-5E7C-4F47-8BE3-6DB2F34787F2}"/>
                </a:ext>
              </a:extLst>
            </p:cNvPr>
            <p:cNvSpPr txBox="1"/>
            <p:nvPr/>
          </p:nvSpPr>
          <p:spPr>
            <a:xfrm>
              <a:off x="2379308" y="339792"/>
              <a:ext cx="7015872" cy="682708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r>
                <a:rPr lang="th-TH" sz="1800" u="sng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ตรวจสอบการบันทึกบัญชี </a:t>
              </a:r>
            </a:p>
            <a:p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ไปที่ 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Actions 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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" panose="05000000000000000000" pitchFamily="2" charset="2"/>
                </a:rPr>
                <a:t>  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" panose="05000000000000000000" pitchFamily="2" charset="2"/>
                </a:rPr>
                <a:t>Group 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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" panose="05000000000000000000" pitchFamily="2" charset="2"/>
                </a:rPr>
                <a:t> Print Group Edit List </a:t>
              </a:r>
              <a:endParaRPr lang="th-TH" sz="18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0AAE66A-3AE4-44D2-A21A-D2974F03D147}"/>
                </a:ext>
              </a:extLst>
            </p:cNvPr>
            <p:cNvSpPr/>
            <p:nvPr/>
          </p:nvSpPr>
          <p:spPr>
            <a:xfrm>
              <a:off x="3107094" y="1004785"/>
              <a:ext cx="382555" cy="15221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72146C8-2047-4B25-B16B-8477C70BD0C3}"/>
                </a:ext>
              </a:extLst>
            </p:cNvPr>
            <p:cNvSpPr/>
            <p:nvPr/>
          </p:nvSpPr>
          <p:spPr>
            <a:xfrm>
              <a:off x="3116426" y="1334279"/>
              <a:ext cx="1474236" cy="15221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231FE24-F509-408E-97E3-49AFAC0B7E43}"/>
                </a:ext>
              </a:extLst>
            </p:cNvPr>
            <p:cNvSpPr/>
            <p:nvPr/>
          </p:nvSpPr>
          <p:spPr>
            <a:xfrm>
              <a:off x="4637314" y="1827340"/>
              <a:ext cx="1530220" cy="16008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2498126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DB5FA90-58CF-4139-8F77-45B1EC53B935}"/>
              </a:ext>
            </a:extLst>
          </p:cNvPr>
          <p:cNvGrpSpPr/>
          <p:nvPr/>
        </p:nvGrpSpPr>
        <p:grpSpPr>
          <a:xfrm>
            <a:off x="3374082" y="1120671"/>
            <a:ext cx="5443836" cy="4616658"/>
            <a:chOff x="3491779" y="815056"/>
            <a:chExt cx="5208441" cy="433344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8E90DC4-2D22-4314-AB33-BF13D5C77C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91779" y="1287625"/>
              <a:ext cx="5208441" cy="3860878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F1E5AED-D7ED-4502-A85B-A865AB0ADC7E}"/>
                </a:ext>
              </a:extLst>
            </p:cNvPr>
            <p:cNvSpPr/>
            <p:nvPr/>
          </p:nvSpPr>
          <p:spPr>
            <a:xfrm>
              <a:off x="4646645" y="1863431"/>
              <a:ext cx="317241" cy="22662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91CDD6B-29BC-4F8B-A4D9-20A5E858BE95}"/>
                </a:ext>
              </a:extLst>
            </p:cNvPr>
            <p:cNvSpPr/>
            <p:nvPr/>
          </p:nvSpPr>
          <p:spPr>
            <a:xfrm>
              <a:off x="4534677" y="2155373"/>
              <a:ext cx="1240972" cy="22662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D1FA270-B04F-490C-8B6B-82E4068BB00B}"/>
                </a:ext>
              </a:extLst>
            </p:cNvPr>
            <p:cNvSpPr txBox="1"/>
            <p:nvPr/>
          </p:nvSpPr>
          <p:spPr>
            <a:xfrm>
              <a:off x="3491779" y="815056"/>
              <a:ext cx="5208441" cy="369332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ไปที่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        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Print Preview 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เลือก 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Output Format :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PDF</a:t>
              </a:r>
              <a:endParaRPr lang="th-TH" sz="18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3644550-E239-4ECE-8F8C-FC6B4A3BFD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3027" t="14817" r="72263" b="79048"/>
            <a:stretch/>
          </p:blipFill>
          <p:spPr>
            <a:xfrm>
              <a:off x="3900197" y="852555"/>
              <a:ext cx="290560" cy="2805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4773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9B635823-A955-4821-A66E-694EF0430B60}"/>
              </a:ext>
            </a:extLst>
          </p:cNvPr>
          <p:cNvGrpSpPr/>
          <p:nvPr/>
        </p:nvGrpSpPr>
        <p:grpSpPr>
          <a:xfrm>
            <a:off x="782892" y="554379"/>
            <a:ext cx="10880373" cy="6217088"/>
            <a:chOff x="782892" y="554379"/>
            <a:chExt cx="10880373" cy="621708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6832491-349F-4CFF-84F4-DFC8FB791812}"/>
                </a:ext>
              </a:extLst>
            </p:cNvPr>
            <p:cNvGrpSpPr/>
            <p:nvPr/>
          </p:nvGrpSpPr>
          <p:grpSpPr>
            <a:xfrm>
              <a:off x="929756" y="554379"/>
              <a:ext cx="10733509" cy="6217088"/>
              <a:chOff x="791546" y="330444"/>
              <a:chExt cx="10733509" cy="6217088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87AA89F-60C2-402B-BC5A-E858A55FF2EF}"/>
                  </a:ext>
                </a:extLst>
              </p:cNvPr>
              <p:cNvSpPr txBox="1"/>
              <p:nvPr/>
            </p:nvSpPr>
            <p:spPr>
              <a:xfrm>
                <a:off x="8577165" y="330445"/>
                <a:ext cx="2947890" cy="6217087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txBody>
              <a:bodyPr wrap="square" rtlCol="0">
                <a:spAutoFit/>
              </a:bodyPr>
              <a:lstStyle/>
              <a:p>
                <a:pPr algn="ctr"/>
                <a:endParaRPr lang="th-TH" sz="1800" b="1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pPr algn="ctr"/>
                <a:r>
                  <a:rPr lang="th-TH" sz="2000" b="1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จุดตรวจสอบความถูกต้อง</a:t>
                </a:r>
              </a:p>
              <a:p>
                <a:pPr algn="ctr"/>
                <a:endParaRPr lang="th-TH" sz="1800" b="1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1.ชื่อ </a:t>
                </a:r>
                <a:r>
                  <a:rPr lang="en-US" sz="18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Supplier </a:t>
                </a:r>
              </a:p>
              <a:p>
                <a:r>
                  <a:rPr lang="en-US" sz="18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2.Invoice No.</a:t>
                </a:r>
              </a:p>
              <a:p>
                <a:r>
                  <a:rPr lang="en-US" sz="18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3.Invoice Date</a:t>
                </a:r>
              </a:p>
              <a:p>
                <a:r>
                  <a:rPr lang="en-US" sz="18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4.Po No.</a:t>
                </a:r>
              </a:p>
              <a:p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5.จำนวนเงินที่จ่าย</a:t>
                </a:r>
              </a:p>
              <a:p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6.บัญชีที่บันทึก</a:t>
                </a:r>
              </a:p>
              <a:p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7.ยอดเงิน </a:t>
                </a:r>
                <a:r>
                  <a:rPr lang="en-US" sz="18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Debit Credit Balance </a:t>
                </a:r>
                <a:r>
                  <a: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</a:rPr>
                  <a:t>หรือไม่</a:t>
                </a:r>
              </a:p>
              <a:p>
                <a:endPara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endPara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endPara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endPara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endPara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endPara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endPara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endPara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endPara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endPara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endPara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  <a:p>
                <a:endPara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BD33F26-4E4B-4FD6-B516-F72D27D23227}"/>
                  </a:ext>
                </a:extLst>
              </p:cNvPr>
              <p:cNvGrpSpPr/>
              <p:nvPr/>
            </p:nvGrpSpPr>
            <p:grpSpPr>
              <a:xfrm>
                <a:off x="791546" y="330444"/>
                <a:ext cx="7772401" cy="6197112"/>
                <a:chOff x="2209799" y="306326"/>
                <a:chExt cx="7772401" cy="6197112"/>
              </a:xfrm>
            </p:grpSpPr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1380BE8A-172B-440A-B41D-5106BCF9F8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18750" t="8532" r="17500" b="3588"/>
                <a:stretch/>
              </p:blipFill>
              <p:spPr>
                <a:xfrm>
                  <a:off x="2209800" y="699796"/>
                  <a:ext cx="7772400" cy="5803642"/>
                </a:xfrm>
                <a:prstGeom prst="rect">
                  <a:avLst/>
                </a:prstGeom>
              </p:spPr>
            </p:pic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A877F72B-9A65-49B5-91A5-A638F51933DE}"/>
                    </a:ext>
                  </a:extLst>
                </p:cNvPr>
                <p:cNvSpPr txBox="1"/>
                <p:nvPr/>
              </p:nvSpPr>
              <p:spPr>
                <a:xfrm>
                  <a:off x="2209799" y="306326"/>
                  <a:ext cx="7772399" cy="461665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th-TH" sz="2400" dirty="0"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ตัวอย่าง การบันทึกบัญชี </a:t>
                  </a:r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7E13DDE9-7B3A-40F5-ADD4-B34ED0B90CA0}"/>
                    </a:ext>
                  </a:extLst>
                </p:cNvPr>
                <p:cNvSpPr/>
                <p:nvPr/>
              </p:nvSpPr>
              <p:spPr>
                <a:xfrm>
                  <a:off x="2388637" y="1940767"/>
                  <a:ext cx="2435290" cy="214604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07C1CDE1-2050-40F8-8DC3-649BA4713881}"/>
                    </a:ext>
                  </a:extLst>
                </p:cNvPr>
                <p:cNvSpPr/>
                <p:nvPr/>
              </p:nvSpPr>
              <p:spPr>
                <a:xfrm>
                  <a:off x="3054221" y="3181738"/>
                  <a:ext cx="1620416" cy="214604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47301BB4-1C3E-4A1F-9DE1-3835DA0C3C52}"/>
                    </a:ext>
                  </a:extLst>
                </p:cNvPr>
                <p:cNvSpPr/>
                <p:nvPr/>
              </p:nvSpPr>
              <p:spPr>
                <a:xfrm>
                  <a:off x="8198500" y="3881534"/>
                  <a:ext cx="1384041" cy="208383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D4237D17-FC51-47E0-ACAB-97E030D1746A}"/>
                    </a:ext>
                  </a:extLst>
                </p:cNvPr>
                <p:cNvSpPr/>
                <p:nvPr/>
              </p:nvSpPr>
              <p:spPr>
                <a:xfrm>
                  <a:off x="3172408" y="5629468"/>
                  <a:ext cx="4917233" cy="603381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</p:grpSp>
        <p:sp>
          <p:nvSpPr>
            <p:cNvPr id="11" name="Heptagon 10">
              <a:extLst>
                <a:ext uri="{FF2B5EF4-FFF2-40B4-BE49-F238E27FC236}">
                  <a16:creationId xmlns:a16="http://schemas.microsoft.com/office/drawing/2014/main" id="{0F39C5F3-75B2-4C56-A5E4-D99F171A7796}"/>
                </a:ext>
              </a:extLst>
            </p:cNvPr>
            <p:cNvSpPr/>
            <p:nvPr/>
          </p:nvSpPr>
          <p:spPr>
            <a:xfrm>
              <a:off x="3601321" y="2171076"/>
              <a:ext cx="315652" cy="267826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1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2" name="Heptagon 11">
              <a:extLst>
                <a:ext uri="{FF2B5EF4-FFF2-40B4-BE49-F238E27FC236}">
                  <a16:creationId xmlns:a16="http://schemas.microsoft.com/office/drawing/2014/main" id="{2BE5A267-734F-4921-8FB3-1C49AD0BB762}"/>
                </a:ext>
              </a:extLst>
            </p:cNvPr>
            <p:cNvSpPr/>
            <p:nvPr/>
          </p:nvSpPr>
          <p:spPr>
            <a:xfrm>
              <a:off x="782892" y="2639580"/>
              <a:ext cx="315652" cy="267826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2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3" name="Heptagon 12">
              <a:extLst>
                <a:ext uri="{FF2B5EF4-FFF2-40B4-BE49-F238E27FC236}">
                  <a16:creationId xmlns:a16="http://schemas.microsoft.com/office/drawing/2014/main" id="{73AA7439-8F82-4698-8322-EFBE12FC135B}"/>
                </a:ext>
              </a:extLst>
            </p:cNvPr>
            <p:cNvSpPr/>
            <p:nvPr/>
          </p:nvSpPr>
          <p:spPr>
            <a:xfrm>
              <a:off x="1458526" y="3403180"/>
              <a:ext cx="315652" cy="267826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4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4" name="Heptagon 13">
              <a:extLst>
                <a:ext uri="{FF2B5EF4-FFF2-40B4-BE49-F238E27FC236}">
                  <a16:creationId xmlns:a16="http://schemas.microsoft.com/office/drawing/2014/main" id="{A31CB730-B085-44B2-9B18-85378FC5E0AA}"/>
                </a:ext>
              </a:extLst>
            </p:cNvPr>
            <p:cNvSpPr/>
            <p:nvPr/>
          </p:nvSpPr>
          <p:spPr>
            <a:xfrm>
              <a:off x="6589587" y="4099865"/>
              <a:ext cx="315652" cy="267826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5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5" name="Heptagon 14">
              <a:extLst>
                <a:ext uri="{FF2B5EF4-FFF2-40B4-BE49-F238E27FC236}">
                  <a16:creationId xmlns:a16="http://schemas.microsoft.com/office/drawing/2014/main" id="{8E60C266-4C81-4036-9DE5-AD5D6C1E7E1C}"/>
                </a:ext>
              </a:extLst>
            </p:cNvPr>
            <p:cNvSpPr/>
            <p:nvPr/>
          </p:nvSpPr>
          <p:spPr>
            <a:xfrm>
              <a:off x="1458526" y="5873549"/>
              <a:ext cx="315652" cy="267826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6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6" name="Heptagon 15">
              <a:extLst>
                <a:ext uri="{FF2B5EF4-FFF2-40B4-BE49-F238E27FC236}">
                  <a16:creationId xmlns:a16="http://schemas.microsoft.com/office/drawing/2014/main" id="{90513900-8579-44E6-86FA-C89EB9335A3C}"/>
                </a:ext>
              </a:extLst>
            </p:cNvPr>
            <p:cNvSpPr/>
            <p:nvPr/>
          </p:nvSpPr>
          <p:spPr>
            <a:xfrm>
              <a:off x="5727315" y="6213076"/>
              <a:ext cx="315652" cy="267826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7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7" name="Heptagon 16">
              <a:extLst>
                <a:ext uri="{FF2B5EF4-FFF2-40B4-BE49-F238E27FC236}">
                  <a16:creationId xmlns:a16="http://schemas.microsoft.com/office/drawing/2014/main" id="{3CD30166-F752-4FA9-BA4A-EA1D009A659F}"/>
                </a:ext>
              </a:extLst>
            </p:cNvPr>
            <p:cNvSpPr/>
            <p:nvPr/>
          </p:nvSpPr>
          <p:spPr>
            <a:xfrm>
              <a:off x="2268734" y="2648781"/>
              <a:ext cx="315652" cy="267826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3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0659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52EF1C48-55BE-4797-B8BB-FC71D57F12A6}"/>
              </a:ext>
            </a:extLst>
          </p:cNvPr>
          <p:cNvGrpSpPr/>
          <p:nvPr/>
        </p:nvGrpSpPr>
        <p:grpSpPr>
          <a:xfrm>
            <a:off x="1384332" y="538618"/>
            <a:ext cx="9423336" cy="6217087"/>
            <a:chOff x="1169437" y="529287"/>
            <a:chExt cx="9423336" cy="621708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732E2C-335A-4DCD-A73A-C1B01A419736}"/>
                </a:ext>
              </a:extLst>
            </p:cNvPr>
            <p:cNvGrpSpPr/>
            <p:nvPr/>
          </p:nvGrpSpPr>
          <p:grpSpPr>
            <a:xfrm>
              <a:off x="1169437" y="529287"/>
              <a:ext cx="6475446" cy="6142101"/>
              <a:chOff x="2858277" y="307910"/>
              <a:chExt cx="6475446" cy="6142101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09BD4448-698B-4A91-9185-3136F9AF68CF}"/>
                  </a:ext>
                </a:extLst>
              </p:cNvPr>
              <p:cNvGrpSpPr/>
              <p:nvPr/>
            </p:nvGrpSpPr>
            <p:grpSpPr>
              <a:xfrm>
                <a:off x="2858277" y="307910"/>
                <a:ext cx="6475446" cy="6142101"/>
                <a:chOff x="2939142" y="307910"/>
                <a:chExt cx="6475446" cy="6142101"/>
              </a:xfrm>
            </p:grpSpPr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58C96751-543D-43CF-8882-F35A413B2A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24108" t="8534" r="23341" b="4255"/>
                <a:stretch/>
              </p:blipFill>
              <p:spPr>
                <a:xfrm>
                  <a:off x="2939142" y="690466"/>
                  <a:ext cx="6407020" cy="5759545"/>
                </a:xfrm>
                <a:prstGeom prst="rect">
                  <a:avLst/>
                </a:prstGeom>
              </p:spPr>
            </p:pic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D1C89CD2-31E4-4132-A722-1398FA0E1DFE}"/>
                    </a:ext>
                  </a:extLst>
                </p:cNvPr>
                <p:cNvSpPr txBox="1"/>
                <p:nvPr/>
              </p:nvSpPr>
              <p:spPr>
                <a:xfrm>
                  <a:off x="2939142" y="307910"/>
                  <a:ext cx="6475446" cy="461665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th-TH" sz="2400" dirty="0"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ตัวอย่าง การบันทึกบัญชี (กรณีที่มี </a:t>
                  </a:r>
                  <a:r>
                    <a:rPr lang="en-US" sz="2400" dirty="0"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Vat)</a:t>
                  </a:r>
                  <a:endParaRPr lang="th-TH" sz="2400" dirty="0"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E4EDC04A-D184-4D60-A9ED-D9A98E2186B1}"/>
                    </a:ext>
                  </a:extLst>
                </p:cNvPr>
                <p:cNvSpPr/>
                <p:nvPr/>
              </p:nvSpPr>
              <p:spPr>
                <a:xfrm>
                  <a:off x="3718249" y="4748517"/>
                  <a:ext cx="4965440" cy="868512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7D354DF-40CD-4BA4-A918-D7D684E5AE1F}"/>
                  </a:ext>
                </a:extLst>
              </p:cNvPr>
              <p:cNvSpPr/>
              <p:nvPr/>
            </p:nvSpPr>
            <p:spPr>
              <a:xfrm>
                <a:off x="6792686" y="3517640"/>
                <a:ext cx="2202024" cy="16795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FF71D73-B440-4222-BADD-A0931E5032F8}"/>
                </a:ext>
              </a:extLst>
            </p:cNvPr>
            <p:cNvSpPr txBox="1"/>
            <p:nvPr/>
          </p:nvSpPr>
          <p:spPr>
            <a:xfrm>
              <a:off x="7644883" y="529287"/>
              <a:ext cx="2947890" cy="6217087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pPr algn="ctr"/>
              <a:endParaRPr lang="th-TH" sz="18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pPr algn="ctr"/>
              <a:r>
                <a:rPr lang="th-TH" sz="20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จุดตรวจสอบความถูกต้อง</a:t>
              </a:r>
            </a:p>
            <a:p>
              <a:pPr algn="ctr"/>
              <a:endParaRPr lang="th-TH" sz="18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1.ชื่อ 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Supplier </a:t>
              </a:r>
            </a:p>
            <a:p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2.Invoice No.</a:t>
              </a:r>
            </a:p>
            <a:p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3.Invoice Date</a:t>
              </a:r>
            </a:p>
            <a:p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4.Po No.</a:t>
              </a:r>
            </a:p>
            <a:p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5.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จำนวนภาษี (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Vat)</a:t>
              </a:r>
            </a:p>
            <a:p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6.จำนวนเงินที่จ่าย</a:t>
              </a:r>
            </a:p>
            <a:p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7.บัญชีที่บันทึก</a:t>
              </a:r>
            </a:p>
            <a:p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8.ยอดเงิน 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Debit Credit Balance 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หรือไม่</a:t>
              </a:r>
            </a:p>
            <a:p>
              <a:endParaRPr lang="th-TH" sz="18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th-TH" sz="18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th-TH" sz="18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th-TH" sz="18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th-TH" sz="18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th-TH" sz="18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th-TH" sz="18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th-TH" sz="18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th-TH" sz="18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th-TH" sz="18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th-TH" sz="18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1" name="Heptagon 10">
              <a:extLst>
                <a:ext uri="{FF2B5EF4-FFF2-40B4-BE49-F238E27FC236}">
                  <a16:creationId xmlns:a16="http://schemas.microsoft.com/office/drawing/2014/main" id="{D3B10E6D-0F1C-45B2-A829-358B67C64D53}"/>
                </a:ext>
              </a:extLst>
            </p:cNvPr>
            <p:cNvSpPr/>
            <p:nvPr/>
          </p:nvSpPr>
          <p:spPr>
            <a:xfrm>
              <a:off x="3498809" y="1888106"/>
              <a:ext cx="315652" cy="267826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1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2" name="Heptagon 11">
              <a:extLst>
                <a:ext uri="{FF2B5EF4-FFF2-40B4-BE49-F238E27FC236}">
                  <a16:creationId xmlns:a16="http://schemas.microsoft.com/office/drawing/2014/main" id="{0BDD0EFF-D3EE-49E1-8BEF-88823CF57AB5}"/>
                </a:ext>
              </a:extLst>
            </p:cNvPr>
            <p:cNvSpPr/>
            <p:nvPr/>
          </p:nvSpPr>
          <p:spPr>
            <a:xfrm>
              <a:off x="1901889" y="2311404"/>
              <a:ext cx="315652" cy="267826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2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3" name="Heptagon 12">
              <a:extLst>
                <a:ext uri="{FF2B5EF4-FFF2-40B4-BE49-F238E27FC236}">
                  <a16:creationId xmlns:a16="http://schemas.microsoft.com/office/drawing/2014/main" id="{59DA792F-FF58-4F05-91DD-BCF12FA7E79F}"/>
                </a:ext>
              </a:extLst>
            </p:cNvPr>
            <p:cNvSpPr/>
            <p:nvPr/>
          </p:nvSpPr>
          <p:spPr>
            <a:xfrm>
              <a:off x="1441401" y="2833026"/>
              <a:ext cx="315652" cy="267826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4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4" name="Heptagon 13">
              <a:extLst>
                <a:ext uri="{FF2B5EF4-FFF2-40B4-BE49-F238E27FC236}">
                  <a16:creationId xmlns:a16="http://schemas.microsoft.com/office/drawing/2014/main" id="{6E3A0108-87BD-46EF-8100-62433B83ECA5}"/>
                </a:ext>
              </a:extLst>
            </p:cNvPr>
            <p:cNvSpPr/>
            <p:nvPr/>
          </p:nvSpPr>
          <p:spPr>
            <a:xfrm>
              <a:off x="4616743" y="3657702"/>
              <a:ext cx="315652" cy="267826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5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5" name="Heptagon 14">
              <a:extLst>
                <a:ext uri="{FF2B5EF4-FFF2-40B4-BE49-F238E27FC236}">
                  <a16:creationId xmlns:a16="http://schemas.microsoft.com/office/drawing/2014/main" id="{56A1596E-FD8D-402B-B1DC-4D367C7E217D}"/>
                </a:ext>
              </a:extLst>
            </p:cNvPr>
            <p:cNvSpPr/>
            <p:nvPr/>
          </p:nvSpPr>
          <p:spPr>
            <a:xfrm>
              <a:off x="7295018" y="3893663"/>
              <a:ext cx="315652" cy="267826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6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6" name="Heptagon 15">
              <a:extLst>
                <a:ext uri="{FF2B5EF4-FFF2-40B4-BE49-F238E27FC236}">
                  <a16:creationId xmlns:a16="http://schemas.microsoft.com/office/drawing/2014/main" id="{BB1EFAFB-296A-4D75-99F7-6F62EE289012}"/>
                </a:ext>
              </a:extLst>
            </p:cNvPr>
            <p:cNvSpPr/>
            <p:nvPr/>
          </p:nvSpPr>
          <p:spPr>
            <a:xfrm>
              <a:off x="1598679" y="5065411"/>
              <a:ext cx="315652" cy="267826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7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7" name="Heptagon 16">
              <a:extLst>
                <a:ext uri="{FF2B5EF4-FFF2-40B4-BE49-F238E27FC236}">
                  <a16:creationId xmlns:a16="http://schemas.microsoft.com/office/drawing/2014/main" id="{6A645E0C-8E04-49BF-AC4A-97E51EEEAE37}"/>
                </a:ext>
              </a:extLst>
            </p:cNvPr>
            <p:cNvSpPr/>
            <p:nvPr/>
          </p:nvSpPr>
          <p:spPr>
            <a:xfrm>
              <a:off x="3108362" y="2311404"/>
              <a:ext cx="315652" cy="267826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3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20" name="Heptagon 19">
              <a:extLst>
                <a:ext uri="{FF2B5EF4-FFF2-40B4-BE49-F238E27FC236}">
                  <a16:creationId xmlns:a16="http://schemas.microsoft.com/office/drawing/2014/main" id="{994A97A7-0D29-4CE7-9083-649108531F67}"/>
                </a:ext>
              </a:extLst>
            </p:cNvPr>
            <p:cNvSpPr/>
            <p:nvPr/>
          </p:nvSpPr>
          <p:spPr>
            <a:xfrm>
              <a:off x="5224579" y="5570580"/>
              <a:ext cx="315652" cy="267826"/>
            </a:xfrm>
            <a:prstGeom prst="heptagon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AngsanaUPC" panose="02020603050405020304" pitchFamily="18" charset="-34"/>
                  <a:cs typeface="AngsanaUPC" panose="02020603050405020304" pitchFamily="18" charset="-34"/>
                </a:rPr>
                <a:t>8</a:t>
              </a:r>
              <a:endParaRPr lang="th-TH" sz="240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0352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6DC96A3-5F84-4AC3-AB16-502751FE0073}"/>
              </a:ext>
            </a:extLst>
          </p:cNvPr>
          <p:cNvGrpSpPr/>
          <p:nvPr/>
        </p:nvGrpSpPr>
        <p:grpSpPr>
          <a:xfrm>
            <a:off x="2452395" y="593157"/>
            <a:ext cx="7287210" cy="5928941"/>
            <a:chOff x="2043403" y="-197090"/>
            <a:chExt cx="7491736" cy="679371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D413F63-2F51-4104-AF9A-B9B0512740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43404" y="261378"/>
              <a:ext cx="7491735" cy="6335244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0B8A392-F80D-4F9F-A060-EB8772189D13}"/>
                </a:ext>
              </a:extLst>
            </p:cNvPr>
            <p:cNvSpPr/>
            <p:nvPr/>
          </p:nvSpPr>
          <p:spPr>
            <a:xfrm>
              <a:off x="2855167" y="494522"/>
              <a:ext cx="373225" cy="13996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6ADDEB2-98F6-4372-96E0-30D7DCFBDB8D}"/>
                </a:ext>
              </a:extLst>
            </p:cNvPr>
            <p:cNvSpPr/>
            <p:nvPr/>
          </p:nvSpPr>
          <p:spPr>
            <a:xfrm>
              <a:off x="2855167" y="789991"/>
              <a:ext cx="1576874" cy="2083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0677A43-BC75-4231-8DF4-547D81C7CA8F}"/>
                </a:ext>
              </a:extLst>
            </p:cNvPr>
            <p:cNvSpPr/>
            <p:nvPr/>
          </p:nvSpPr>
          <p:spPr>
            <a:xfrm>
              <a:off x="4432040" y="1679509"/>
              <a:ext cx="1663959" cy="2083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48EED57-F743-40BA-982B-D8B128F3E24B}"/>
                </a:ext>
              </a:extLst>
            </p:cNvPr>
            <p:cNvSpPr txBox="1"/>
            <p:nvPr/>
          </p:nvSpPr>
          <p:spPr>
            <a:xfrm>
              <a:off x="2043403" y="-197090"/>
              <a:ext cx="7491735" cy="458468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r>
                <a:rPr lang="th-TH" sz="2000" dirty="0">
                  <a:cs typeface="+mj-cs"/>
                </a:rPr>
                <a:t>เมื่อตรวจสอบการบันทึกบัญชีเรียบร้อยแล้ว ไปที่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Actions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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" panose="05000000000000000000" pitchFamily="2" charset="2"/>
                </a:rPr>
                <a:t>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" panose="05000000000000000000" pitchFamily="2" charset="2"/>
                </a:rPr>
                <a:t>Group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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" panose="05000000000000000000" pitchFamily="2" charset="2"/>
                </a:rPr>
                <a:t>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" panose="05000000000000000000" pitchFamily="2" charset="2"/>
                </a:rPr>
                <a:t>Post </a:t>
              </a:r>
              <a:endParaRPr lang="th-TH" sz="20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05993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 t="-15000" b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8358B01-1E15-4720-A264-09A7A2B5DB0F}"/>
              </a:ext>
            </a:extLst>
          </p:cNvPr>
          <p:cNvSpPr/>
          <p:nvPr/>
        </p:nvSpPr>
        <p:spPr>
          <a:xfrm>
            <a:off x="9010270" y="6177066"/>
            <a:ext cx="277428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Create by Arunee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990521-C9D0-4899-9CF1-8A29FFB68801}"/>
              </a:ext>
            </a:extLst>
          </p:cNvPr>
          <p:cNvSpPr/>
          <p:nvPr/>
        </p:nvSpPr>
        <p:spPr>
          <a:xfrm>
            <a:off x="4418917" y="2482143"/>
            <a:ext cx="3522118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THE END</a:t>
            </a:r>
            <a:endParaRPr lang="th-TH" sz="72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11368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1058</TotalTime>
  <Words>836</Words>
  <Application>Microsoft Office PowerPoint</Application>
  <PresentationFormat>Widescreen</PresentationFormat>
  <Paragraphs>159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Angsana New</vt:lpstr>
      <vt:lpstr>AngsanaUPC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APP030 การบันทึกตั้งหนี้การชำระค่าสินค้าล่วงหน้า</dc:title>
  <dc:creator>Arunee Songprasert</dc:creator>
  <cp:lastModifiedBy>Arunee Songprasert</cp:lastModifiedBy>
  <cp:revision>77</cp:revision>
  <dcterms:created xsi:type="dcterms:W3CDTF">2024-03-05T10:32:02Z</dcterms:created>
  <dcterms:modified xsi:type="dcterms:W3CDTF">2024-08-10T08:29:35Z</dcterms:modified>
</cp:coreProperties>
</file>