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257" r:id="rId4"/>
    <p:sldId id="260" r:id="rId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93024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57477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4107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9824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99298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16042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9205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5071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10733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56269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85605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3E8B4A-89F9-41E4-B142-A6C32C0C17AB}" type="datetimeFigureOut">
              <a:rPr lang="th-TH" smtClean="0"/>
              <a:t>23/10/68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02F421-527C-44DF-A184-F9A0FD6F063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73742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48496" y="2477936"/>
            <a:ext cx="9028090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Write off and Adjustment</a:t>
            </a:r>
            <a:endParaRPr lang="en-US" sz="54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778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387497E-9647-447A-9012-174D40552634}"/>
              </a:ext>
            </a:extLst>
          </p:cNvPr>
          <p:cNvSpPr txBox="1"/>
          <p:nvPr/>
        </p:nvSpPr>
        <p:spPr>
          <a:xfrm>
            <a:off x="1" y="0"/>
            <a:ext cx="1219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000" b="1" dirty="0" smtClean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r>
              <a:rPr lang="en-US" sz="2000" b="1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r>
              <a:rPr lang="en-US" sz="6000" b="1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     Write off and Adjustment</a:t>
            </a:r>
            <a:r>
              <a:rPr lang="en-US" sz="2000" b="1" dirty="0" smtClean="0">
                <a:latin typeface="Angsana New" panose="02020603050405020304" pitchFamily="18" charset="-34"/>
                <a:cs typeface="Angsana New" panose="02020603050405020304" pitchFamily="18" charset="-34"/>
              </a:rPr>
              <a:t>												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gsana New" panose="02020603050405020304" pitchFamily="18" charset="-34"/>
                <a:cs typeface="Angsana New" panose="02020603050405020304" pitchFamily="18" charset="-34"/>
              </a:rPr>
              <a:t>	</a:t>
            </a:r>
            <a:endParaRPr lang="en-US" sz="2000" b="1" u="sng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865209"/>
              </p:ext>
            </p:extLst>
          </p:nvPr>
        </p:nvGraphicFramePr>
        <p:xfrm>
          <a:off x="811369" y="1323438"/>
          <a:ext cx="10534918" cy="474541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550701">
                  <a:extLst>
                    <a:ext uri="{9D8B030D-6E8A-4147-A177-3AD203B41FA5}">
                      <a16:colId xmlns:a16="http://schemas.microsoft.com/office/drawing/2014/main" val="1307807167"/>
                    </a:ext>
                  </a:extLst>
                </a:gridCol>
                <a:gridCol w="7984217">
                  <a:extLst>
                    <a:ext uri="{9D8B030D-6E8A-4147-A177-3AD203B41FA5}">
                      <a16:colId xmlns:a16="http://schemas.microsoft.com/office/drawing/2014/main" val="2505344451"/>
                    </a:ext>
                  </a:extLst>
                </a:gridCol>
              </a:tblGrid>
              <a:tr h="592046"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1.กระบวนการ (</a:t>
                      </a:r>
                      <a:r>
                        <a:rPr lang="en-US" sz="1800" dirty="0" smtClean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Process</a:t>
                      </a:r>
                      <a:r>
                        <a:rPr lang="th-TH" sz="1800" dirty="0" smtClean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)</a:t>
                      </a:r>
                      <a:endParaRPr lang="th-TH" sz="1800" b="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 smtClean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Write off and Adjustment</a:t>
                      </a:r>
                      <a:endParaRPr lang="th-TH" sz="18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232022"/>
                  </a:ext>
                </a:extLst>
              </a:tr>
              <a:tr h="570139"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2.ขั้นตอนย่อย (</a:t>
                      </a:r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Sub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process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2.1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ใส่เลขที่ 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Invoice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961077"/>
                  </a:ext>
                </a:extLst>
              </a:tr>
              <a:tr h="592046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ข้อมูลที่ต้องใช้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Input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3.1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Invoice</a:t>
                      </a:r>
                    </a:p>
                    <a:p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3.2 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คู่บัญชี</a:t>
                      </a:r>
                    </a:p>
                    <a:p>
                      <a:endParaRPr lang="th-TH" sz="1800" dirty="0" smtClean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581544"/>
                  </a:ext>
                </a:extLst>
              </a:tr>
              <a:tr h="1480112"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4.ความเสี่ยง (</a:t>
                      </a:r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Risk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4.1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คีย์วันที่ผิด</a:t>
                      </a:r>
                    </a:p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4.2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เลือกคู่บัญผิด</a:t>
                      </a:r>
                    </a:p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4.3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ระบุเลขที่ 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Invoice 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ผิด</a:t>
                      </a:r>
                    </a:p>
                    <a:p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4.4 ระบุยอดเงินผิด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378054"/>
                  </a:ext>
                </a:extLst>
              </a:tr>
              <a:tr h="1036078">
                <a:tc>
                  <a:txBody>
                    <a:bodyPr/>
                    <a:lstStyle/>
                    <a:p>
                      <a:r>
                        <a:rPr lang="en-US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จุดควบคุม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Control Point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)</a:t>
                      </a:r>
                      <a:endParaRPr lang="th-TH" sz="18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5.1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Invoice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ให้ถูกต้อง </a:t>
                      </a:r>
                    </a:p>
                    <a:p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5.2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th-TH" sz="180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ตรวจสอบวันที่จะทำการ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</a:t>
                      </a:r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Write off</a:t>
                      </a:r>
                    </a:p>
                    <a:p>
                      <a:r>
                        <a:rPr lang="en-US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5.3 </a:t>
                      </a:r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ตรวจสอบคู่บัญชี</a:t>
                      </a:r>
                    </a:p>
                    <a:p>
                      <a:r>
                        <a:rPr lang="th-TH" sz="1800" baseline="0" dirty="0" smtClean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5.4 ตรวจสอบยอดเงิน</a:t>
                      </a:r>
                      <a:endParaRPr lang="th-TH" sz="1800" dirty="0" smtClean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0939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81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670" y="1833779"/>
            <a:ext cx="4919729" cy="2493522"/>
          </a:xfrm>
          <a:prstGeom prst="rect">
            <a:avLst/>
          </a:prstGeom>
        </p:spPr>
      </p:pic>
      <p:sp>
        <p:nvSpPr>
          <p:cNvPr id="3" name="Oval Callout 2"/>
          <p:cNvSpPr/>
          <p:nvPr/>
        </p:nvSpPr>
        <p:spPr>
          <a:xfrm>
            <a:off x="5486399" y="1156177"/>
            <a:ext cx="5666705" cy="1587023"/>
          </a:xfrm>
          <a:prstGeom prst="wedgeEllipseCallout">
            <a:avLst>
              <a:gd name="adj1" fmla="val -51742"/>
              <a:gd name="adj2" fmla="val 67580"/>
            </a:avLst>
          </a:prstGeom>
          <a:ln w="571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th-TH" sz="2400" dirty="0" smtClean="0">
                <a:solidFill>
                  <a:schemeClr val="bg2">
                    <a:lumMod val="10000"/>
                  </a:schemeClr>
                </a:solidFill>
              </a:rPr>
              <a:t>เข้าที่เมนู 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</a:rPr>
              <a:t>Write off and Adjustment</a:t>
            </a:r>
            <a:endParaRPr lang="th-TH" sz="2400" dirty="0">
              <a:solidFill>
                <a:schemeClr val="bg2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8962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89208" y="708339"/>
            <a:ext cx="7047320" cy="5370490"/>
          </a:xfrm>
          <a:prstGeom prst="rect">
            <a:avLst/>
          </a:prstGeo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3958" y="963498"/>
            <a:ext cx="4504945" cy="4713667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th-TH" sz="3200" b="1" dirty="0" smtClean="0"/>
              <a:t>1.ใส่เลขที่ </a:t>
            </a:r>
            <a:r>
              <a:rPr lang="en-US" sz="3200" b="1" dirty="0" smtClean="0"/>
              <a:t>Invoice </a:t>
            </a:r>
          </a:p>
          <a:p>
            <a:pPr marL="285750" indent="-285750">
              <a:buFontTx/>
              <a:buChar char="-"/>
            </a:pPr>
            <a:r>
              <a:rPr lang="th-TH" sz="3200" b="1" dirty="0" smtClean="0"/>
              <a:t>2.ใส่วันที่ ที่ต้องการ </a:t>
            </a:r>
            <a:r>
              <a:rPr lang="en-US" sz="3200" b="1" dirty="0" smtClean="0"/>
              <a:t>Write off</a:t>
            </a:r>
          </a:p>
          <a:p>
            <a:pPr marL="285750" indent="-285750">
              <a:buFontTx/>
              <a:buChar char="-"/>
            </a:pPr>
            <a:r>
              <a:rPr lang="th-TH" sz="3200" b="1" dirty="0" smtClean="0"/>
              <a:t>3.ใส่จำนวนเงินที่จะ </a:t>
            </a:r>
            <a:r>
              <a:rPr lang="en-US" sz="3200" b="1" dirty="0" smtClean="0"/>
              <a:t>Write off (</a:t>
            </a:r>
            <a:r>
              <a:rPr lang="th-TH" sz="3200" b="1" dirty="0" smtClean="0"/>
              <a:t>ต้องใส่ติดลบทุกครั้ง)</a:t>
            </a:r>
          </a:p>
          <a:p>
            <a:pPr marL="285750" indent="-285750">
              <a:buFontTx/>
              <a:buChar char="-"/>
            </a:pPr>
            <a:r>
              <a:rPr lang="th-TH" sz="3200" b="1" dirty="0" smtClean="0"/>
              <a:t>4.ใส่คู่บัญชีที่จะ </a:t>
            </a:r>
            <a:r>
              <a:rPr lang="en-US" sz="3200" b="1" dirty="0" smtClean="0"/>
              <a:t>Write off</a:t>
            </a:r>
          </a:p>
          <a:p>
            <a:pPr marL="285750" indent="-285750">
              <a:buFontTx/>
              <a:buChar char="-"/>
            </a:pPr>
            <a:r>
              <a:rPr lang="th-TH" sz="3200" b="1" dirty="0" smtClean="0"/>
              <a:t>5.ใส่คำอธิบาย เหมือนกันทั้ง 2 ช่อง</a:t>
            </a:r>
          </a:p>
          <a:p>
            <a:pPr marL="285750" indent="-285750">
              <a:buFontTx/>
              <a:buChar char="-"/>
            </a:pPr>
            <a:r>
              <a:rPr lang="th-TH" sz="3200" b="1" dirty="0" smtClean="0"/>
              <a:t>6.บันทึก</a:t>
            </a:r>
          </a:p>
          <a:p>
            <a:pPr marL="285750" indent="-285750">
              <a:buFontTx/>
              <a:buChar char="-"/>
            </a:pPr>
            <a:endParaRPr lang="en-US" sz="3200" b="1" dirty="0" smtClean="0"/>
          </a:p>
          <a:p>
            <a:pPr marL="285750" indent="-285750">
              <a:buFontTx/>
              <a:buChar char="-"/>
            </a:pPr>
            <a:endParaRPr lang="en-US" dirty="0" smtClean="0"/>
          </a:p>
          <a:p>
            <a:pPr marL="285750" indent="-285750">
              <a:buFontTx/>
              <a:buChar char="-"/>
            </a:pPr>
            <a:endParaRPr lang="th-TH" dirty="0" smtClean="0"/>
          </a:p>
          <a:p>
            <a:pPr marL="285750" indent="-285750">
              <a:buFontTx/>
              <a:buChar char="-"/>
            </a:pPr>
            <a:endParaRPr lang="th-TH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24745" t="1" b="3289"/>
          <a:stretch/>
        </p:blipFill>
        <p:spPr>
          <a:xfrm>
            <a:off x="1724632" y="4646493"/>
            <a:ext cx="731798" cy="51515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76842" y="1197736"/>
            <a:ext cx="1944709" cy="37348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360" y="2985117"/>
            <a:ext cx="1626044" cy="33521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74" y="3393584"/>
            <a:ext cx="1621677" cy="33530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8661" y="4056846"/>
            <a:ext cx="2208414" cy="463638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399874" y="4520484"/>
            <a:ext cx="3939875" cy="1558345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Oval 18"/>
          <p:cNvSpPr/>
          <p:nvPr/>
        </p:nvSpPr>
        <p:spPr>
          <a:xfrm>
            <a:off x="6355624" y="1139781"/>
            <a:ext cx="540913" cy="431441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00" b="1" dirty="0" smtClean="0">
                <a:solidFill>
                  <a:srgbClr val="FF0000"/>
                </a:solidFill>
              </a:rPr>
              <a:t>1</a:t>
            </a:r>
            <a:endParaRPr lang="th-TH" sz="4000" b="1" dirty="0">
              <a:solidFill>
                <a:srgbClr val="FF0000"/>
              </a:solidFill>
            </a:endParaRPr>
          </a:p>
        </p:txBody>
      </p:sp>
      <p:sp>
        <p:nvSpPr>
          <p:cNvPr id="21" name="Oval 20"/>
          <p:cNvSpPr/>
          <p:nvPr/>
        </p:nvSpPr>
        <p:spPr>
          <a:xfrm>
            <a:off x="6859476" y="2907845"/>
            <a:ext cx="540913" cy="431441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2" name="Oval 21"/>
          <p:cNvSpPr/>
          <p:nvPr/>
        </p:nvSpPr>
        <p:spPr>
          <a:xfrm>
            <a:off x="6858961" y="3393584"/>
            <a:ext cx="540913" cy="431441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00" b="1" dirty="0" smtClean="0">
                <a:solidFill>
                  <a:srgbClr val="FF0000"/>
                </a:solidFill>
              </a:rPr>
              <a:t>3</a:t>
            </a:r>
            <a:endParaRPr lang="th-TH" sz="4000" b="1" dirty="0">
              <a:solidFill>
                <a:srgbClr val="FF0000"/>
              </a:solidFill>
            </a:endParaRPr>
          </a:p>
        </p:txBody>
      </p:sp>
      <p:sp>
        <p:nvSpPr>
          <p:cNvPr id="23" name="Oval 22"/>
          <p:cNvSpPr/>
          <p:nvPr/>
        </p:nvSpPr>
        <p:spPr>
          <a:xfrm>
            <a:off x="6731748" y="4089043"/>
            <a:ext cx="540913" cy="431441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4" name="Oval 23"/>
          <p:cNvSpPr/>
          <p:nvPr/>
        </p:nvSpPr>
        <p:spPr>
          <a:xfrm>
            <a:off x="6799193" y="4730207"/>
            <a:ext cx="540913" cy="431441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00" b="1" dirty="0" smtClean="0">
                <a:solidFill>
                  <a:srgbClr val="FF0000"/>
                </a:solidFill>
              </a:rPr>
              <a:t>5</a:t>
            </a:r>
            <a:endParaRPr lang="th-TH" sz="4000" b="1" dirty="0">
              <a:solidFill>
                <a:srgbClr val="FF0000"/>
              </a:solidFill>
            </a:endParaRPr>
          </a:p>
        </p:txBody>
      </p:sp>
      <p:sp>
        <p:nvSpPr>
          <p:cNvPr id="25" name="Oval 24"/>
          <p:cNvSpPr/>
          <p:nvPr/>
        </p:nvSpPr>
        <p:spPr>
          <a:xfrm>
            <a:off x="4927846" y="276898"/>
            <a:ext cx="324970" cy="431441"/>
          </a:xfrm>
          <a:prstGeom prst="ellipse">
            <a:avLst/>
          </a:prstGeom>
          <a:solidFill>
            <a:srgbClr val="FFFF00"/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4000" b="1" dirty="0" smtClean="0">
                <a:solidFill>
                  <a:srgbClr val="FF0000"/>
                </a:solidFill>
              </a:rPr>
              <a:t>6</a:t>
            </a:r>
            <a:endParaRPr lang="th-TH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68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144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Angsana New</vt:lpstr>
      <vt:lpstr>Arial</vt:lpstr>
      <vt:lpstr>Calibri</vt:lpstr>
      <vt:lpstr>Calibri Light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ACC-10</dc:creator>
  <cp:lastModifiedBy>Areeya klamko</cp:lastModifiedBy>
  <cp:revision>10</cp:revision>
  <dcterms:created xsi:type="dcterms:W3CDTF">2025-10-23T03:13:51Z</dcterms:created>
  <dcterms:modified xsi:type="dcterms:W3CDTF">2025-10-23T03:58:19Z</dcterms:modified>
</cp:coreProperties>
</file>