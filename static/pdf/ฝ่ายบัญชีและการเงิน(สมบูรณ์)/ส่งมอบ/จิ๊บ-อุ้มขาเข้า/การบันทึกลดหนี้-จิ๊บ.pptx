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69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99FF99"/>
    <a:srgbClr val="66FF99"/>
    <a:srgbClr val="008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DA4B79-DCED-439D-A84E-CFC500B1A03D}" type="doc">
      <dgm:prSet loTypeId="urn:microsoft.com/office/officeart/2005/8/layout/vList2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E90DBA-B0BF-47B7-9744-91418E1244A7}">
      <dgm:prSet/>
      <dgm:spPr/>
      <dgm:t>
        <a:bodyPr/>
        <a:lstStyle/>
        <a:p>
          <a:pPr rtl="0"/>
          <a:r>
            <a:rPr lang="th-TH" dirty="0" smtClean="0"/>
            <a:t>7.เลือกโค้ด </a:t>
          </a:r>
          <a:r>
            <a:rPr lang="en-US" dirty="0" smtClean="0"/>
            <a:t>Supplier </a:t>
          </a:r>
          <a:r>
            <a:rPr lang="th-TH" dirty="0" smtClean="0"/>
            <a:t>ที่จะลดหนี้</a:t>
          </a:r>
          <a:endParaRPr lang="th-TH" dirty="0"/>
        </a:p>
      </dgm:t>
    </dgm:pt>
    <dgm:pt modelId="{1F8FE9D5-BE6A-4A17-A4F7-AC2430C0EA6F}" type="parTrans" cxnId="{C8C12C03-B75F-45C9-AB46-D623D61291FB}">
      <dgm:prSet/>
      <dgm:spPr/>
      <dgm:t>
        <a:bodyPr/>
        <a:lstStyle/>
        <a:p>
          <a:endParaRPr lang="en-US"/>
        </a:p>
      </dgm:t>
    </dgm:pt>
    <dgm:pt modelId="{A2434D74-6AC0-4119-BFAD-82F652814B8D}" type="sibTrans" cxnId="{C8C12C03-B75F-45C9-AB46-D623D61291FB}">
      <dgm:prSet/>
      <dgm:spPr/>
      <dgm:t>
        <a:bodyPr/>
        <a:lstStyle/>
        <a:p>
          <a:endParaRPr lang="en-US"/>
        </a:p>
      </dgm:t>
    </dgm:pt>
    <dgm:pt modelId="{FD2DE121-835B-4BCF-8EF8-2C52DE297237}">
      <dgm:prSet/>
      <dgm:spPr/>
      <dgm:t>
        <a:bodyPr/>
        <a:lstStyle/>
        <a:p>
          <a:pPr rtl="0"/>
          <a:r>
            <a:rPr lang="th-TH" dirty="0" smtClean="0"/>
            <a:t>8.ระบุเลข </a:t>
          </a:r>
          <a:r>
            <a:rPr lang="en-US" dirty="0" smtClean="0"/>
            <a:t>Invoice</a:t>
          </a:r>
          <a:endParaRPr lang="th-TH" dirty="0"/>
        </a:p>
      </dgm:t>
    </dgm:pt>
    <dgm:pt modelId="{395BEF66-5830-428E-BBCA-94F9AC4C1718}" type="parTrans" cxnId="{0BE5BCD1-3DC5-4EB0-B61B-C3AB98AD7C7E}">
      <dgm:prSet/>
      <dgm:spPr/>
      <dgm:t>
        <a:bodyPr/>
        <a:lstStyle/>
        <a:p>
          <a:endParaRPr lang="en-US"/>
        </a:p>
      </dgm:t>
    </dgm:pt>
    <dgm:pt modelId="{CFF60A4B-4625-4986-A544-E3F004AE5566}" type="sibTrans" cxnId="{0BE5BCD1-3DC5-4EB0-B61B-C3AB98AD7C7E}">
      <dgm:prSet/>
      <dgm:spPr/>
      <dgm:t>
        <a:bodyPr/>
        <a:lstStyle/>
        <a:p>
          <a:endParaRPr lang="en-US"/>
        </a:p>
      </dgm:t>
    </dgm:pt>
    <dgm:pt modelId="{4DC6BE50-35B1-4040-8494-CEA126C285A5}">
      <dgm:prSet/>
      <dgm:spPr/>
      <dgm:t>
        <a:bodyPr/>
        <a:lstStyle/>
        <a:p>
          <a:pPr rtl="0"/>
          <a:r>
            <a:rPr lang="th-TH" dirty="0" smtClean="0"/>
            <a:t>9. </a:t>
          </a:r>
          <a:r>
            <a:rPr lang="en-US" dirty="0" smtClean="0"/>
            <a:t>Document Type </a:t>
          </a:r>
          <a:r>
            <a:rPr lang="th-TH" dirty="0" smtClean="0"/>
            <a:t>   เลือก </a:t>
          </a:r>
          <a:r>
            <a:rPr lang="en-US" dirty="0" smtClean="0"/>
            <a:t>Debit Note/</a:t>
          </a:r>
          <a:r>
            <a:rPr lang="th-TH" dirty="0" smtClean="0"/>
            <a:t>ใบลดหนี้ซื้อ</a:t>
          </a:r>
          <a:endParaRPr lang="th-TH" dirty="0"/>
        </a:p>
      </dgm:t>
    </dgm:pt>
    <dgm:pt modelId="{15035482-88EB-4331-8B34-519721A3626F}" type="parTrans" cxnId="{1F1E63DF-12D4-414F-9C2B-54896FE1A352}">
      <dgm:prSet/>
      <dgm:spPr/>
      <dgm:t>
        <a:bodyPr/>
        <a:lstStyle/>
        <a:p>
          <a:endParaRPr lang="en-US"/>
        </a:p>
      </dgm:t>
    </dgm:pt>
    <dgm:pt modelId="{9D58AF88-3D59-4822-A11D-5878D091FC9A}" type="sibTrans" cxnId="{1F1E63DF-12D4-414F-9C2B-54896FE1A352}">
      <dgm:prSet/>
      <dgm:spPr/>
      <dgm:t>
        <a:bodyPr/>
        <a:lstStyle/>
        <a:p>
          <a:endParaRPr lang="en-US"/>
        </a:p>
      </dgm:t>
    </dgm:pt>
    <dgm:pt modelId="{F6ADF618-F68E-4254-9CF9-21E4FDFEE42F}">
      <dgm:prSet/>
      <dgm:spPr/>
      <dgm:t>
        <a:bodyPr/>
        <a:lstStyle/>
        <a:p>
          <a:pPr rtl="0"/>
          <a:r>
            <a:rPr lang="th-TH" dirty="0" smtClean="0"/>
            <a:t>10. </a:t>
          </a:r>
          <a:r>
            <a:rPr lang="en-US" dirty="0" smtClean="0"/>
            <a:t>Invoice Date </a:t>
          </a:r>
          <a:r>
            <a:rPr lang="th-TH" dirty="0" smtClean="0"/>
            <a:t>ใสวันที่ตามเอกสาร</a:t>
          </a:r>
          <a:endParaRPr lang="th-TH" dirty="0"/>
        </a:p>
      </dgm:t>
    </dgm:pt>
    <dgm:pt modelId="{00C83B36-2BB5-44FA-94EC-974D201334CF}" type="parTrans" cxnId="{B024CD53-B995-426D-82CC-B1D7F80C2107}">
      <dgm:prSet/>
      <dgm:spPr/>
      <dgm:t>
        <a:bodyPr/>
        <a:lstStyle/>
        <a:p>
          <a:endParaRPr lang="en-US"/>
        </a:p>
      </dgm:t>
    </dgm:pt>
    <dgm:pt modelId="{01E0F2E5-B921-4E3A-AC9C-3D6A22D8B01C}" type="sibTrans" cxnId="{B024CD53-B995-426D-82CC-B1D7F80C2107}">
      <dgm:prSet/>
      <dgm:spPr/>
      <dgm:t>
        <a:bodyPr/>
        <a:lstStyle/>
        <a:p>
          <a:endParaRPr lang="en-US"/>
        </a:p>
      </dgm:t>
    </dgm:pt>
    <dgm:pt modelId="{1D3CB6B9-7DBE-440C-AE0D-2247C7AF14D8}">
      <dgm:prSet/>
      <dgm:spPr/>
      <dgm:t>
        <a:bodyPr/>
        <a:lstStyle/>
        <a:p>
          <a:pPr rtl="0"/>
          <a:r>
            <a:rPr lang="th-TH" smtClean="0"/>
            <a:t>11. </a:t>
          </a:r>
          <a:r>
            <a:rPr lang="en-US" smtClean="0"/>
            <a:t>Apply Date </a:t>
          </a:r>
          <a:r>
            <a:rPr lang="th-TH" smtClean="0"/>
            <a:t>ใส่วันที่ตามเอกสาร</a:t>
          </a:r>
          <a:endParaRPr lang="th-TH"/>
        </a:p>
      </dgm:t>
    </dgm:pt>
    <dgm:pt modelId="{8A1E45B1-A99D-4896-8779-03603D9D953D}" type="parTrans" cxnId="{F6939D37-33BE-454D-A497-786B5341DCD1}">
      <dgm:prSet/>
      <dgm:spPr/>
      <dgm:t>
        <a:bodyPr/>
        <a:lstStyle/>
        <a:p>
          <a:endParaRPr lang="en-US"/>
        </a:p>
      </dgm:t>
    </dgm:pt>
    <dgm:pt modelId="{C59C54DA-C71C-464F-B946-89288AEC99E2}" type="sibTrans" cxnId="{F6939D37-33BE-454D-A497-786B5341DCD1}">
      <dgm:prSet/>
      <dgm:spPr/>
      <dgm:t>
        <a:bodyPr/>
        <a:lstStyle/>
        <a:p>
          <a:endParaRPr lang="en-US"/>
        </a:p>
      </dgm:t>
    </dgm:pt>
    <dgm:pt modelId="{CCD7CA2F-90BD-486A-B901-AE8B0BDE31BC}">
      <dgm:prSet/>
      <dgm:spPr/>
      <dgm:t>
        <a:bodyPr/>
        <a:lstStyle/>
        <a:p>
          <a:pPr rtl="0"/>
          <a:r>
            <a:rPr lang="th-TH" dirty="0" smtClean="0"/>
            <a:t>12. สามารถใส่รายละเอียดข้อมูลได้ในช่อง</a:t>
          </a:r>
          <a:r>
            <a:rPr lang="en-US" dirty="0" smtClean="0"/>
            <a:t>  Description</a:t>
          </a:r>
          <a:endParaRPr lang="th-TH" dirty="0"/>
        </a:p>
      </dgm:t>
    </dgm:pt>
    <dgm:pt modelId="{31074CFC-5F91-4F59-AA76-1EB9F2B4CABF}" type="parTrans" cxnId="{C4AD9DBE-3BA7-4575-97B9-ABEF503701BD}">
      <dgm:prSet/>
      <dgm:spPr/>
      <dgm:t>
        <a:bodyPr/>
        <a:lstStyle/>
        <a:p>
          <a:endParaRPr lang="en-US"/>
        </a:p>
      </dgm:t>
    </dgm:pt>
    <dgm:pt modelId="{C91F0241-E6C2-4034-B4FF-9F385D9DBDF9}" type="sibTrans" cxnId="{C4AD9DBE-3BA7-4575-97B9-ABEF503701BD}">
      <dgm:prSet/>
      <dgm:spPr/>
      <dgm:t>
        <a:bodyPr/>
        <a:lstStyle/>
        <a:p>
          <a:endParaRPr lang="en-US"/>
        </a:p>
      </dgm:t>
    </dgm:pt>
    <dgm:pt modelId="{EB6DF2CA-22B0-4225-99E3-BDCBC84CE4B3}">
      <dgm:prSet/>
      <dgm:spPr/>
      <dgm:t>
        <a:bodyPr/>
        <a:lstStyle/>
        <a:p>
          <a:pPr rtl="0"/>
          <a:r>
            <a:rPr lang="th-TH" dirty="0" smtClean="0"/>
            <a:t>13.ใส่ยอดที่จะลดหนี้ในช่อง </a:t>
          </a:r>
          <a:r>
            <a:rPr lang="en-US" dirty="0" smtClean="0"/>
            <a:t>Amount</a:t>
          </a:r>
          <a:endParaRPr lang="th-TH" dirty="0"/>
        </a:p>
      </dgm:t>
    </dgm:pt>
    <dgm:pt modelId="{5C313466-BD54-493E-912F-7A69978381D6}" type="parTrans" cxnId="{3BAA16AC-3433-4E8A-B6BA-1CB8F15D552A}">
      <dgm:prSet/>
      <dgm:spPr/>
      <dgm:t>
        <a:bodyPr/>
        <a:lstStyle/>
        <a:p>
          <a:endParaRPr lang="en-US"/>
        </a:p>
      </dgm:t>
    </dgm:pt>
    <dgm:pt modelId="{B018A089-E53A-41D1-9D1F-47CBEA3375B3}" type="sibTrans" cxnId="{3BAA16AC-3433-4E8A-B6BA-1CB8F15D552A}">
      <dgm:prSet/>
      <dgm:spPr/>
      <dgm:t>
        <a:bodyPr/>
        <a:lstStyle/>
        <a:p>
          <a:endParaRPr lang="en-US"/>
        </a:p>
      </dgm:t>
    </dgm:pt>
    <dgm:pt modelId="{77F0EE44-5B5E-47A4-AE41-89497CF78120}" type="pres">
      <dgm:prSet presAssocID="{2CDA4B79-DCED-439D-A84E-CFC500B1A03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0ADFEF-E5C7-4B90-A07B-FEB00CDA3086}" type="pres">
      <dgm:prSet presAssocID="{6BE90DBA-B0BF-47B7-9744-91418E1244A7}" presName="parentText" presStyleLbl="node1" presStyleIdx="0" presStyleCnt="7" custLinFactNeighborX="1818" custLinFactNeighborY="2086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79028B-8FFF-49FD-881C-2E8B6047F01E}" type="pres">
      <dgm:prSet presAssocID="{A2434D74-6AC0-4119-BFAD-82F652814B8D}" presName="spacer" presStyleCnt="0"/>
      <dgm:spPr/>
    </dgm:pt>
    <dgm:pt modelId="{ED9AD770-FAFF-4EA5-8A94-4540E453F014}" type="pres">
      <dgm:prSet presAssocID="{FD2DE121-835B-4BCF-8EF8-2C52DE297237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CB88AC-3F25-4521-A318-129F934F81DC}" type="pres">
      <dgm:prSet presAssocID="{CFF60A4B-4625-4986-A544-E3F004AE5566}" presName="spacer" presStyleCnt="0"/>
      <dgm:spPr/>
    </dgm:pt>
    <dgm:pt modelId="{C2319BF5-F3E0-47E4-A15C-4EA8EEC613BC}" type="pres">
      <dgm:prSet presAssocID="{4DC6BE50-35B1-4040-8494-CEA126C285A5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7D9353-D156-4BD9-8EBF-4FCA86476F32}" type="pres">
      <dgm:prSet presAssocID="{9D58AF88-3D59-4822-A11D-5878D091FC9A}" presName="spacer" presStyleCnt="0"/>
      <dgm:spPr/>
    </dgm:pt>
    <dgm:pt modelId="{0B55D540-A47F-4461-BCA4-AEEC7BC51CF6}" type="pres">
      <dgm:prSet presAssocID="{F6ADF618-F68E-4254-9CF9-21E4FDFEE42F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13D731-7197-42CF-AEC0-912A6DBCA979}" type="pres">
      <dgm:prSet presAssocID="{01E0F2E5-B921-4E3A-AC9C-3D6A22D8B01C}" presName="spacer" presStyleCnt="0"/>
      <dgm:spPr/>
    </dgm:pt>
    <dgm:pt modelId="{9D1917DA-FC73-4EFB-A25E-BED12D79272C}" type="pres">
      <dgm:prSet presAssocID="{1D3CB6B9-7DBE-440C-AE0D-2247C7AF14D8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FB83A1-945D-473F-A7EE-D4F8F96BDE35}" type="pres">
      <dgm:prSet presAssocID="{C59C54DA-C71C-464F-B946-89288AEC99E2}" presName="spacer" presStyleCnt="0"/>
      <dgm:spPr/>
    </dgm:pt>
    <dgm:pt modelId="{361FF28B-5FAF-4B17-9C78-48B4F5ED0071}" type="pres">
      <dgm:prSet presAssocID="{CCD7CA2F-90BD-486A-B901-AE8B0BDE31BC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729868-2A81-4933-8730-63E7B605410A}" type="pres">
      <dgm:prSet presAssocID="{C91F0241-E6C2-4034-B4FF-9F385D9DBDF9}" presName="spacer" presStyleCnt="0"/>
      <dgm:spPr/>
    </dgm:pt>
    <dgm:pt modelId="{6E957501-9A5F-4F4F-B87E-2FFD3C25411F}" type="pres">
      <dgm:prSet presAssocID="{EB6DF2CA-22B0-4225-99E3-BDCBC84CE4B3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A761219-98C0-4409-8FA4-7CEAA148ED40}" type="presOf" srcId="{FD2DE121-835B-4BCF-8EF8-2C52DE297237}" destId="{ED9AD770-FAFF-4EA5-8A94-4540E453F014}" srcOrd="0" destOrd="0" presId="urn:microsoft.com/office/officeart/2005/8/layout/vList2"/>
    <dgm:cxn modelId="{5D867C87-7002-40F7-8876-0545E84985C4}" type="presOf" srcId="{EB6DF2CA-22B0-4225-99E3-BDCBC84CE4B3}" destId="{6E957501-9A5F-4F4F-B87E-2FFD3C25411F}" srcOrd="0" destOrd="0" presId="urn:microsoft.com/office/officeart/2005/8/layout/vList2"/>
    <dgm:cxn modelId="{454C30B3-E963-494B-90FF-F5F3DC18360D}" type="presOf" srcId="{F6ADF618-F68E-4254-9CF9-21E4FDFEE42F}" destId="{0B55D540-A47F-4461-BCA4-AEEC7BC51CF6}" srcOrd="0" destOrd="0" presId="urn:microsoft.com/office/officeart/2005/8/layout/vList2"/>
    <dgm:cxn modelId="{F6939D37-33BE-454D-A497-786B5341DCD1}" srcId="{2CDA4B79-DCED-439D-A84E-CFC500B1A03D}" destId="{1D3CB6B9-7DBE-440C-AE0D-2247C7AF14D8}" srcOrd="4" destOrd="0" parTransId="{8A1E45B1-A99D-4896-8779-03603D9D953D}" sibTransId="{C59C54DA-C71C-464F-B946-89288AEC99E2}"/>
    <dgm:cxn modelId="{C4AD9DBE-3BA7-4575-97B9-ABEF503701BD}" srcId="{2CDA4B79-DCED-439D-A84E-CFC500B1A03D}" destId="{CCD7CA2F-90BD-486A-B901-AE8B0BDE31BC}" srcOrd="5" destOrd="0" parTransId="{31074CFC-5F91-4F59-AA76-1EB9F2B4CABF}" sibTransId="{C91F0241-E6C2-4034-B4FF-9F385D9DBDF9}"/>
    <dgm:cxn modelId="{5DE5C1B4-1099-4A41-87BB-36409B6B4884}" type="presOf" srcId="{6BE90DBA-B0BF-47B7-9744-91418E1244A7}" destId="{EA0ADFEF-E5C7-4B90-A07B-FEB00CDA3086}" srcOrd="0" destOrd="0" presId="urn:microsoft.com/office/officeart/2005/8/layout/vList2"/>
    <dgm:cxn modelId="{5C6B7B10-D95C-4CA0-B141-AE32DA3C41FC}" type="presOf" srcId="{4DC6BE50-35B1-4040-8494-CEA126C285A5}" destId="{C2319BF5-F3E0-47E4-A15C-4EA8EEC613BC}" srcOrd="0" destOrd="0" presId="urn:microsoft.com/office/officeart/2005/8/layout/vList2"/>
    <dgm:cxn modelId="{53C19624-24C9-4F66-ACEF-E85D906EAD13}" type="presOf" srcId="{CCD7CA2F-90BD-486A-B901-AE8B0BDE31BC}" destId="{361FF28B-5FAF-4B17-9C78-48B4F5ED0071}" srcOrd="0" destOrd="0" presId="urn:microsoft.com/office/officeart/2005/8/layout/vList2"/>
    <dgm:cxn modelId="{C8C12C03-B75F-45C9-AB46-D623D61291FB}" srcId="{2CDA4B79-DCED-439D-A84E-CFC500B1A03D}" destId="{6BE90DBA-B0BF-47B7-9744-91418E1244A7}" srcOrd="0" destOrd="0" parTransId="{1F8FE9D5-BE6A-4A17-A4F7-AC2430C0EA6F}" sibTransId="{A2434D74-6AC0-4119-BFAD-82F652814B8D}"/>
    <dgm:cxn modelId="{0BE5BCD1-3DC5-4EB0-B61B-C3AB98AD7C7E}" srcId="{2CDA4B79-DCED-439D-A84E-CFC500B1A03D}" destId="{FD2DE121-835B-4BCF-8EF8-2C52DE297237}" srcOrd="1" destOrd="0" parTransId="{395BEF66-5830-428E-BBCA-94F9AC4C1718}" sibTransId="{CFF60A4B-4625-4986-A544-E3F004AE5566}"/>
    <dgm:cxn modelId="{3BAA16AC-3433-4E8A-B6BA-1CB8F15D552A}" srcId="{2CDA4B79-DCED-439D-A84E-CFC500B1A03D}" destId="{EB6DF2CA-22B0-4225-99E3-BDCBC84CE4B3}" srcOrd="6" destOrd="0" parTransId="{5C313466-BD54-493E-912F-7A69978381D6}" sibTransId="{B018A089-E53A-41D1-9D1F-47CBEA3375B3}"/>
    <dgm:cxn modelId="{1F1E63DF-12D4-414F-9C2B-54896FE1A352}" srcId="{2CDA4B79-DCED-439D-A84E-CFC500B1A03D}" destId="{4DC6BE50-35B1-4040-8494-CEA126C285A5}" srcOrd="2" destOrd="0" parTransId="{15035482-88EB-4331-8B34-519721A3626F}" sibTransId="{9D58AF88-3D59-4822-A11D-5878D091FC9A}"/>
    <dgm:cxn modelId="{35C4FB01-F4EB-4EA0-9018-B961BD9F8B71}" type="presOf" srcId="{1D3CB6B9-7DBE-440C-AE0D-2247C7AF14D8}" destId="{9D1917DA-FC73-4EFB-A25E-BED12D79272C}" srcOrd="0" destOrd="0" presId="urn:microsoft.com/office/officeart/2005/8/layout/vList2"/>
    <dgm:cxn modelId="{B024CD53-B995-426D-82CC-B1D7F80C2107}" srcId="{2CDA4B79-DCED-439D-A84E-CFC500B1A03D}" destId="{F6ADF618-F68E-4254-9CF9-21E4FDFEE42F}" srcOrd="3" destOrd="0" parTransId="{00C83B36-2BB5-44FA-94EC-974D201334CF}" sibTransId="{01E0F2E5-B921-4E3A-AC9C-3D6A22D8B01C}"/>
    <dgm:cxn modelId="{3021BEA1-898D-434B-8FFE-1DDC4572693F}" type="presOf" srcId="{2CDA4B79-DCED-439D-A84E-CFC500B1A03D}" destId="{77F0EE44-5B5E-47A4-AE41-89497CF78120}" srcOrd="0" destOrd="0" presId="urn:microsoft.com/office/officeart/2005/8/layout/vList2"/>
    <dgm:cxn modelId="{2BCC6DA1-F235-4AE6-94D0-33EAB5D41B80}" type="presParOf" srcId="{77F0EE44-5B5E-47A4-AE41-89497CF78120}" destId="{EA0ADFEF-E5C7-4B90-A07B-FEB00CDA3086}" srcOrd="0" destOrd="0" presId="urn:microsoft.com/office/officeart/2005/8/layout/vList2"/>
    <dgm:cxn modelId="{96873933-3489-4F37-A231-ED7667E57195}" type="presParOf" srcId="{77F0EE44-5B5E-47A4-AE41-89497CF78120}" destId="{A279028B-8FFF-49FD-881C-2E8B6047F01E}" srcOrd="1" destOrd="0" presId="urn:microsoft.com/office/officeart/2005/8/layout/vList2"/>
    <dgm:cxn modelId="{3565509F-8B2E-42E6-A4F0-14C53D55DE03}" type="presParOf" srcId="{77F0EE44-5B5E-47A4-AE41-89497CF78120}" destId="{ED9AD770-FAFF-4EA5-8A94-4540E453F014}" srcOrd="2" destOrd="0" presId="urn:microsoft.com/office/officeart/2005/8/layout/vList2"/>
    <dgm:cxn modelId="{8685FD02-BF92-4364-9B62-B835AAA1269A}" type="presParOf" srcId="{77F0EE44-5B5E-47A4-AE41-89497CF78120}" destId="{28CB88AC-3F25-4521-A318-129F934F81DC}" srcOrd="3" destOrd="0" presId="urn:microsoft.com/office/officeart/2005/8/layout/vList2"/>
    <dgm:cxn modelId="{34463F70-7FA9-41FE-AD53-ADF6660EBE3E}" type="presParOf" srcId="{77F0EE44-5B5E-47A4-AE41-89497CF78120}" destId="{C2319BF5-F3E0-47E4-A15C-4EA8EEC613BC}" srcOrd="4" destOrd="0" presId="urn:microsoft.com/office/officeart/2005/8/layout/vList2"/>
    <dgm:cxn modelId="{21BEDFEA-9CC6-4731-BFC8-AC3C70F47D8D}" type="presParOf" srcId="{77F0EE44-5B5E-47A4-AE41-89497CF78120}" destId="{CA7D9353-D156-4BD9-8EBF-4FCA86476F32}" srcOrd="5" destOrd="0" presId="urn:microsoft.com/office/officeart/2005/8/layout/vList2"/>
    <dgm:cxn modelId="{FA8DDE33-9F91-4E8D-81B0-E4007C9436C7}" type="presParOf" srcId="{77F0EE44-5B5E-47A4-AE41-89497CF78120}" destId="{0B55D540-A47F-4461-BCA4-AEEC7BC51CF6}" srcOrd="6" destOrd="0" presId="urn:microsoft.com/office/officeart/2005/8/layout/vList2"/>
    <dgm:cxn modelId="{F595A011-38C6-475B-B1AC-E43C801E06E7}" type="presParOf" srcId="{77F0EE44-5B5E-47A4-AE41-89497CF78120}" destId="{EC13D731-7197-42CF-AEC0-912A6DBCA979}" srcOrd="7" destOrd="0" presId="urn:microsoft.com/office/officeart/2005/8/layout/vList2"/>
    <dgm:cxn modelId="{692A1290-D6E2-47B6-965E-A2D71A6E6507}" type="presParOf" srcId="{77F0EE44-5B5E-47A4-AE41-89497CF78120}" destId="{9D1917DA-FC73-4EFB-A25E-BED12D79272C}" srcOrd="8" destOrd="0" presId="urn:microsoft.com/office/officeart/2005/8/layout/vList2"/>
    <dgm:cxn modelId="{2506E7D0-61DF-46F3-8966-52092B426FD7}" type="presParOf" srcId="{77F0EE44-5B5E-47A4-AE41-89497CF78120}" destId="{50FB83A1-945D-473F-A7EE-D4F8F96BDE35}" srcOrd="9" destOrd="0" presId="urn:microsoft.com/office/officeart/2005/8/layout/vList2"/>
    <dgm:cxn modelId="{EFAF6EAD-DA3A-4082-AF95-179E729CABD7}" type="presParOf" srcId="{77F0EE44-5B5E-47A4-AE41-89497CF78120}" destId="{361FF28B-5FAF-4B17-9C78-48B4F5ED0071}" srcOrd="10" destOrd="0" presId="urn:microsoft.com/office/officeart/2005/8/layout/vList2"/>
    <dgm:cxn modelId="{DFBD4E27-916D-4F17-8E4A-D5E2AE92F46D}" type="presParOf" srcId="{77F0EE44-5B5E-47A4-AE41-89497CF78120}" destId="{D1729868-2A81-4933-8730-63E7B605410A}" srcOrd="11" destOrd="0" presId="urn:microsoft.com/office/officeart/2005/8/layout/vList2"/>
    <dgm:cxn modelId="{7CBE9E27-6A09-4713-A740-A4B9C1DF1BC7}" type="presParOf" srcId="{77F0EE44-5B5E-47A4-AE41-89497CF78120}" destId="{6E957501-9A5F-4F4F-B87E-2FFD3C25411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ADFEF-E5C7-4B90-A07B-FEB00CDA3086}">
      <dsp:nvSpPr>
        <dsp:cNvPr id="0" name=""/>
        <dsp:cNvSpPr/>
      </dsp:nvSpPr>
      <dsp:spPr>
        <a:xfrm>
          <a:off x="0" y="63623"/>
          <a:ext cx="3592285" cy="7473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700" kern="1200" dirty="0" smtClean="0"/>
            <a:t>7.เลือกโค้ด </a:t>
          </a:r>
          <a:r>
            <a:rPr lang="en-US" sz="1700" kern="1200" dirty="0" smtClean="0"/>
            <a:t>Supplier </a:t>
          </a:r>
          <a:r>
            <a:rPr lang="th-TH" sz="1700" kern="1200" dirty="0" smtClean="0"/>
            <a:t>ที่จะลดหนี้</a:t>
          </a:r>
          <a:endParaRPr lang="th-TH" sz="1700" kern="1200" dirty="0"/>
        </a:p>
      </dsp:txBody>
      <dsp:txXfrm>
        <a:off x="36485" y="100108"/>
        <a:ext cx="3519315" cy="674420"/>
      </dsp:txXfrm>
    </dsp:sp>
    <dsp:sp modelId="{ED9AD770-FAFF-4EA5-8A94-4540E453F014}">
      <dsp:nvSpPr>
        <dsp:cNvPr id="0" name=""/>
        <dsp:cNvSpPr/>
      </dsp:nvSpPr>
      <dsp:spPr>
        <a:xfrm>
          <a:off x="0" y="849760"/>
          <a:ext cx="3592285" cy="74739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700" kern="1200" dirty="0" smtClean="0"/>
            <a:t>8.ระบุเลข </a:t>
          </a:r>
          <a:r>
            <a:rPr lang="en-US" sz="1700" kern="1200" dirty="0" smtClean="0"/>
            <a:t>Invoice</a:t>
          </a:r>
          <a:endParaRPr lang="th-TH" sz="1700" kern="1200" dirty="0"/>
        </a:p>
      </dsp:txBody>
      <dsp:txXfrm>
        <a:off x="36485" y="886245"/>
        <a:ext cx="3519315" cy="674420"/>
      </dsp:txXfrm>
    </dsp:sp>
    <dsp:sp modelId="{C2319BF5-F3E0-47E4-A15C-4EA8EEC613BC}">
      <dsp:nvSpPr>
        <dsp:cNvPr id="0" name=""/>
        <dsp:cNvSpPr/>
      </dsp:nvSpPr>
      <dsp:spPr>
        <a:xfrm>
          <a:off x="0" y="1646110"/>
          <a:ext cx="3592285" cy="74739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700" kern="1200" dirty="0" smtClean="0"/>
            <a:t>9. </a:t>
          </a:r>
          <a:r>
            <a:rPr lang="en-US" sz="1700" kern="1200" dirty="0" smtClean="0"/>
            <a:t>Document Type </a:t>
          </a:r>
          <a:r>
            <a:rPr lang="th-TH" sz="1700" kern="1200" dirty="0" smtClean="0"/>
            <a:t>   เลือก </a:t>
          </a:r>
          <a:r>
            <a:rPr lang="en-US" sz="1700" kern="1200" dirty="0" smtClean="0"/>
            <a:t>Debit Note/</a:t>
          </a:r>
          <a:r>
            <a:rPr lang="th-TH" sz="1700" kern="1200" dirty="0" smtClean="0"/>
            <a:t>ใบลดหนี้ซื้อ</a:t>
          </a:r>
          <a:endParaRPr lang="th-TH" sz="1700" kern="1200" dirty="0"/>
        </a:p>
      </dsp:txBody>
      <dsp:txXfrm>
        <a:off x="36485" y="1682595"/>
        <a:ext cx="3519315" cy="674420"/>
      </dsp:txXfrm>
    </dsp:sp>
    <dsp:sp modelId="{0B55D540-A47F-4461-BCA4-AEEC7BC51CF6}">
      <dsp:nvSpPr>
        <dsp:cNvPr id="0" name=""/>
        <dsp:cNvSpPr/>
      </dsp:nvSpPr>
      <dsp:spPr>
        <a:xfrm>
          <a:off x="0" y="2442460"/>
          <a:ext cx="3592285" cy="7473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700" kern="1200" dirty="0" smtClean="0"/>
            <a:t>10. </a:t>
          </a:r>
          <a:r>
            <a:rPr lang="en-US" sz="1700" kern="1200" dirty="0" smtClean="0"/>
            <a:t>Invoice Date </a:t>
          </a:r>
          <a:r>
            <a:rPr lang="th-TH" sz="1700" kern="1200" dirty="0" smtClean="0"/>
            <a:t>ใสวันที่ตามเอกสาร</a:t>
          </a:r>
          <a:endParaRPr lang="th-TH" sz="1700" kern="1200" dirty="0"/>
        </a:p>
      </dsp:txBody>
      <dsp:txXfrm>
        <a:off x="36485" y="2478945"/>
        <a:ext cx="3519315" cy="674420"/>
      </dsp:txXfrm>
    </dsp:sp>
    <dsp:sp modelId="{9D1917DA-FC73-4EFB-A25E-BED12D79272C}">
      <dsp:nvSpPr>
        <dsp:cNvPr id="0" name=""/>
        <dsp:cNvSpPr/>
      </dsp:nvSpPr>
      <dsp:spPr>
        <a:xfrm>
          <a:off x="0" y="3238810"/>
          <a:ext cx="3592285" cy="74739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700" kern="1200" smtClean="0"/>
            <a:t>11. </a:t>
          </a:r>
          <a:r>
            <a:rPr lang="en-US" sz="1700" kern="1200" smtClean="0"/>
            <a:t>Apply Date </a:t>
          </a:r>
          <a:r>
            <a:rPr lang="th-TH" sz="1700" kern="1200" smtClean="0"/>
            <a:t>ใส่วันที่ตามเอกสาร</a:t>
          </a:r>
          <a:endParaRPr lang="th-TH" sz="1700" kern="1200"/>
        </a:p>
      </dsp:txBody>
      <dsp:txXfrm>
        <a:off x="36485" y="3275295"/>
        <a:ext cx="3519315" cy="674420"/>
      </dsp:txXfrm>
    </dsp:sp>
    <dsp:sp modelId="{361FF28B-5FAF-4B17-9C78-48B4F5ED0071}">
      <dsp:nvSpPr>
        <dsp:cNvPr id="0" name=""/>
        <dsp:cNvSpPr/>
      </dsp:nvSpPr>
      <dsp:spPr>
        <a:xfrm>
          <a:off x="0" y="4035160"/>
          <a:ext cx="3592285" cy="7473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700" kern="1200" dirty="0" smtClean="0"/>
            <a:t>12. สามารถใส่รายละเอียดข้อมูลได้ในช่อง</a:t>
          </a:r>
          <a:r>
            <a:rPr lang="en-US" sz="1700" kern="1200" dirty="0" smtClean="0"/>
            <a:t>  Description</a:t>
          </a:r>
          <a:endParaRPr lang="th-TH" sz="1700" kern="1200" dirty="0"/>
        </a:p>
      </dsp:txBody>
      <dsp:txXfrm>
        <a:off x="36485" y="4071645"/>
        <a:ext cx="3519315" cy="674420"/>
      </dsp:txXfrm>
    </dsp:sp>
    <dsp:sp modelId="{6E957501-9A5F-4F4F-B87E-2FFD3C25411F}">
      <dsp:nvSpPr>
        <dsp:cNvPr id="0" name=""/>
        <dsp:cNvSpPr/>
      </dsp:nvSpPr>
      <dsp:spPr>
        <a:xfrm>
          <a:off x="0" y="4831510"/>
          <a:ext cx="3592285" cy="74739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1700" kern="1200" dirty="0" smtClean="0"/>
            <a:t>13.ใส่ยอดที่จะลดหนี้ในช่อง </a:t>
          </a:r>
          <a:r>
            <a:rPr lang="en-US" sz="1700" kern="1200" dirty="0" smtClean="0"/>
            <a:t>Amount</a:t>
          </a:r>
          <a:endParaRPr lang="th-TH" sz="1700" kern="1200" dirty="0"/>
        </a:p>
      </dsp:txBody>
      <dsp:txXfrm>
        <a:off x="36485" y="4867995"/>
        <a:ext cx="3519315" cy="674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5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415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59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35075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06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51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38136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52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4918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4570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94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843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24699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22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749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695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54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EA57750-776C-4650-9126-26C26F34812E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EA7AC9-E823-4FE3-87B3-5D78F234A0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4116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477107" y="2588456"/>
            <a:ext cx="9158068" cy="3756073"/>
          </a:xfrm>
          <a:prstGeom prst="rect">
            <a:avLst/>
          </a:prstGeom>
          <a:noFill/>
        </p:spPr>
        <p:txBody>
          <a:bodyPr wrap="none" rtlCol="0">
            <a:prstTxWarp prst="textButton">
              <a:avLst>
                <a:gd name="adj" fmla="val 11125333"/>
              </a:avLst>
            </a:prstTxWarp>
            <a:spAutoFit/>
          </a:bodyPr>
          <a:lstStyle/>
          <a:p>
            <a:pPr algn="ctr"/>
            <a:r>
              <a:rPr lang="th-TH" sz="9600" b="1" dirty="0">
                <a:ln w="12700">
                  <a:solidFill>
                    <a:srgbClr val="003300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ngsana New" panose="02020603050405020304" pitchFamily="18" charset="-34"/>
              </a:rPr>
              <a:t>การบันทึกลดหนี้</a:t>
            </a:r>
            <a:r>
              <a:rPr lang="th-TH" sz="8800" b="1" dirty="0">
                <a:ln w="12700">
                  <a:solidFill>
                    <a:srgbClr val="003300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ngsana New" panose="02020603050405020304" pitchFamily="18" charset="-34"/>
              </a:rPr>
              <a:t/>
            </a:r>
            <a:br>
              <a:rPr lang="th-TH" sz="8800" b="1" dirty="0">
                <a:ln w="12700">
                  <a:solidFill>
                    <a:srgbClr val="003300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ngsana New" panose="02020603050405020304" pitchFamily="18" charset="-34"/>
              </a:rPr>
            </a:br>
            <a:r>
              <a:rPr lang="en-US" sz="8000" b="1" dirty="0" smtClean="0">
                <a:ln w="12700">
                  <a:solidFill>
                    <a:srgbClr val="003300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AP </a:t>
            </a:r>
            <a:r>
              <a:rPr lang="en-US" sz="8000" b="1" dirty="0">
                <a:ln w="12700">
                  <a:solidFill>
                    <a:srgbClr val="003300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Invoice Entry : Debit </a:t>
            </a:r>
            <a:r>
              <a:rPr lang="en-US" sz="8000" b="1" dirty="0" smtClean="0">
                <a:ln w="12700">
                  <a:solidFill>
                    <a:srgbClr val="003300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Memo</a:t>
            </a:r>
            <a:r>
              <a:rPr lang="th-TH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Angsana New" panose="02020603050405020304" pitchFamily="18" charset="-34"/>
              </a:rPr>
              <a:t/>
            </a:r>
            <a:br>
              <a:rPr lang="th-TH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Angsana New" panose="02020603050405020304" pitchFamily="18" charset="-34"/>
              </a:rPr>
            </a:br>
            <a:endParaRPr lang="th-TH" dirty="0"/>
          </a:p>
        </p:txBody>
      </p:sp>
      <p:sp>
        <p:nvSpPr>
          <p:cNvPr id="2" name="TextBox 1"/>
          <p:cNvSpPr txBox="1"/>
          <p:nvPr/>
        </p:nvSpPr>
        <p:spPr>
          <a:xfrm>
            <a:off x="9495082" y="5499464"/>
            <a:ext cx="1874231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4000" b="1" dirty="0" smtClean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APP060</a:t>
            </a:r>
            <a:endParaRPr lang="th-TH" sz="40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5-Point Star 2"/>
          <p:cNvSpPr/>
          <p:nvPr/>
        </p:nvSpPr>
        <p:spPr>
          <a:xfrm>
            <a:off x="8864639" y="5499464"/>
            <a:ext cx="547025" cy="56170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8153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965832"/>
              </p:ext>
            </p:extLst>
          </p:nvPr>
        </p:nvGraphicFramePr>
        <p:xfrm>
          <a:off x="1367773" y="605624"/>
          <a:ext cx="9382958" cy="56598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50969">
                  <a:extLst>
                    <a:ext uri="{9D8B030D-6E8A-4147-A177-3AD203B41FA5}">
                      <a16:colId xmlns:a16="http://schemas.microsoft.com/office/drawing/2014/main" val="4245423789"/>
                    </a:ext>
                  </a:extLst>
                </a:gridCol>
                <a:gridCol w="7331989">
                  <a:extLst>
                    <a:ext uri="{9D8B030D-6E8A-4147-A177-3AD203B41FA5}">
                      <a16:colId xmlns:a16="http://schemas.microsoft.com/office/drawing/2014/main" val="1308314181"/>
                    </a:ext>
                  </a:extLst>
                </a:gridCol>
              </a:tblGrid>
              <a:tr h="960214">
                <a:tc>
                  <a:txBody>
                    <a:bodyPr/>
                    <a:lstStyle/>
                    <a:p>
                      <a:r>
                        <a:rPr lang="th-TH" sz="2400" b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.</a:t>
                      </a:r>
                      <a:r>
                        <a:rPr lang="th-TH" sz="2400" b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 กระบวนการ</a:t>
                      </a:r>
                      <a:r>
                        <a:rPr lang="th-TH" sz="2400" b="1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 </a:t>
                      </a:r>
                    </a:p>
                    <a:p>
                      <a:r>
                        <a:rPr lang="en-US" sz="2400" b="1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(process)</a:t>
                      </a:r>
                      <a:endParaRPr lang="th-TH" sz="24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APP060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 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การบันทึกลดหนี้</a:t>
                      </a:r>
                      <a:endParaRPr lang="en-US" sz="2000" b="1" baseline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cs typeface="+mn-cs"/>
                      </a:endParaRPr>
                    </a:p>
                    <a:p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( AP Invoice Entry : Debit Memo)</a:t>
                      </a:r>
                      <a:endParaRPr lang="th-TH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697450"/>
                  </a:ext>
                </a:extLst>
              </a:tr>
              <a:tr h="879212">
                <a:tc>
                  <a:txBody>
                    <a:bodyPr/>
                    <a:lstStyle/>
                    <a:p>
                      <a:r>
                        <a:rPr lang="th-TH" sz="2400" b="1" dirty="0" smtClean="0"/>
                        <a:t>2. ข้อมูลที่ต้องใช้</a:t>
                      </a:r>
                    </a:p>
                    <a:p>
                      <a:r>
                        <a:rPr lang="en-US" sz="2400" b="1" dirty="0" smtClean="0"/>
                        <a:t>(Input)</a:t>
                      </a:r>
                      <a:endParaRPr lang="th-TH" sz="2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. </a:t>
                      </a:r>
                      <a:r>
                        <a:rPr lang="th-TH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เอกสารการลดหนี้</a:t>
                      </a:r>
                      <a:r>
                        <a:rPr lang="th-TH" sz="24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 </a:t>
                      </a:r>
                      <a:r>
                        <a:rPr lang="en-US" sz="24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PO </a:t>
                      </a:r>
                      <a:r>
                        <a:rPr lang="th-TH" sz="24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มะพร้าวลูก</a:t>
                      </a:r>
                      <a:r>
                        <a:rPr lang="en-US" sz="24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, </a:t>
                      </a:r>
                      <a:r>
                        <a:rPr lang="th-TH" sz="24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ใบวางบิล บริษัทฮูดา</a:t>
                      </a:r>
                      <a:endParaRPr lang="th-TH" b="1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26680"/>
                  </a:ext>
                </a:extLst>
              </a:tr>
              <a:tr h="1590355">
                <a:tc>
                  <a:txBody>
                    <a:bodyPr/>
                    <a:lstStyle/>
                    <a:p>
                      <a:r>
                        <a:rPr lang="th-TH" sz="2400" b="1" dirty="0" smtClean="0">
                          <a:cs typeface="+mn-cs"/>
                        </a:rPr>
                        <a:t>3. ขั้นตอนย่อย</a:t>
                      </a:r>
                    </a:p>
                    <a:p>
                      <a:r>
                        <a:rPr lang="en-US" sz="2400" b="1" dirty="0" smtClean="0">
                          <a:cs typeface="+mn-cs"/>
                        </a:rPr>
                        <a:t>(sub</a:t>
                      </a:r>
                      <a:r>
                        <a:rPr lang="en-US" sz="2400" b="1" baseline="0" dirty="0" smtClean="0">
                          <a:cs typeface="+mn-cs"/>
                        </a:rPr>
                        <a:t> process)</a:t>
                      </a:r>
                      <a:endParaRPr lang="th-TH" sz="2400" b="1" dirty="0"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1. สร้าง </a:t>
                      </a:r>
                      <a:r>
                        <a:rPr lang="en-US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Group</a:t>
                      </a:r>
                    </a:p>
                    <a:p>
                      <a:r>
                        <a:rPr lang="th-TH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2.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เลือก 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New Debit Memo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3. ใส่ข้อมูลตามเอกสาร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4.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New </a:t>
                      </a:r>
                      <a:r>
                        <a:rPr lang="en-US" sz="2000" b="1" baseline="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Misc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Line 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ใส่รายละเอียดตามบิล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5. ตรวจสอบคู่บัญชี</a:t>
                      </a:r>
                      <a:endParaRPr lang="en-US" sz="2000" b="1" baseline="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764905"/>
                  </a:ext>
                </a:extLst>
              </a:tr>
              <a:tr h="1290288">
                <a:tc>
                  <a:txBody>
                    <a:bodyPr/>
                    <a:lstStyle/>
                    <a:p>
                      <a:r>
                        <a:rPr lang="th-TH" sz="2400" b="1" dirty="0" smtClean="0"/>
                        <a:t>4</a:t>
                      </a:r>
                      <a:r>
                        <a:rPr lang="en-US" sz="2400" b="1" dirty="0" smtClean="0"/>
                        <a:t>.</a:t>
                      </a:r>
                      <a:r>
                        <a:rPr lang="th-TH" sz="2400" b="1" baseline="0" dirty="0" smtClean="0"/>
                        <a:t> </a:t>
                      </a:r>
                      <a:r>
                        <a:rPr lang="th-TH" sz="2400" b="1" dirty="0" smtClean="0"/>
                        <a:t>ความเสี่ยง</a:t>
                      </a:r>
                    </a:p>
                    <a:p>
                      <a:r>
                        <a:rPr lang="en-US" sz="2400" b="1" dirty="0" smtClean="0"/>
                        <a:t>(Risk)</a:t>
                      </a:r>
                      <a:endParaRPr lang="th-TH" sz="2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1.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 เลือก 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Supplier 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2. ระบุวันที่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3. ระบุ 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Part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4. ยอดเงินที่ลดหนี้</a:t>
                      </a:r>
                      <a:endParaRPr lang="th-TH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18766"/>
                  </a:ext>
                </a:extLst>
              </a:tr>
              <a:tr h="879212">
                <a:tc>
                  <a:txBody>
                    <a:bodyPr/>
                    <a:lstStyle/>
                    <a:p>
                      <a:r>
                        <a:rPr lang="th-TH" sz="2400" b="1" dirty="0" smtClean="0"/>
                        <a:t>5. จุดควบคุม</a:t>
                      </a:r>
                    </a:p>
                    <a:p>
                      <a:r>
                        <a:rPr lang="en-US" sz="2000" b="1" dirty="0" smtClean="0"/>
                        <a:t>(Control</a:t>
                      </a:r>
                      <a:r>
                        <a:rPr lang="en-US" sz="2000" b="1" baseline="0" dirty="0" smtClean="0"/>
                        <a:t> point)</a:t>
                      </a:r>
                      <a:endParaRPr lang="th-TH" sz="20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1. ตรวจสอบข้อมูลและยอดเงินเอกสารกับเอกสารยอดแรกที่ตั้ง</a:t>
                      </a:r>
                      <a:r>
                        <a:rPr lang="th-TH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หนี้ เช่น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PO 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มะพร้าว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PO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ค่าชิปปิ้ง</a:t>
                      </a:r>
                      <a:endParaRPr lang="th-TH" sz="20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39238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29510" y="0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603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402821"/>
            <a:ext cx="9601196" cy="1303867"/>
          </a:xfrm>
        </p:spPr>
        <p:txBody>
          <a:bodyPr>
            <a:normAutofit/>
          </a:bodyPr>
          <a:lstStyle/>
          <a:p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cs"/>
              </a:rPr>
              <a:t>1.เข้าหน้าโปรแกรม </a:t>
            </a:r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cs"/>
              </a:rPr>
              <a:t>Epicor </a:t>
            </a:r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cs"/>
              </a:rPr>
              <a:t>คลิกที่จุดสี่เหลี่ยมซ้ายมือ</a:t>
            </a:r>
            <a:endParaRPr lang="th-TH" sz="32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cs"/>
            </a:endParaRPr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 rotWithShape="1">
          <a:blip r:embed="rId2"/>
          <a:srcRect l="-72" t="1574" r="1503" b="5062"/>
          <a:stretch/>
        </p:blipFill>
        <p:spPr>
          <a:xfrm>
            <a:off x="1802675" y="1520079"/>
            <a:ext cx="8490855" cy="44805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12" name="Down Arrow 11"/>
          <p:cNvSpPr/>
          <p:nvPr/>
        </p:nvSpPr>
        <p:spPr>
          <a:xfrm rot="17723855">
            <a:off x="873664" y="1386843"/>
            <a:ext cx="666207" cy="1003018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Rectangle 12"/>
          <p:cNvSpPr/>
          <p:nvPr/>
        </p:nvSpPr>
        <p:spPr>
          <a:xfrm>
            <a:off x="1802675" y="1888351"/>
            <a:ext cx="339634" cy="33434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512949" y="22383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773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964"/>
          <a:stretch/>
        </p:blipFill>
        <p:spPr>
          <a:xfrm>
            <a:off x="1703740" y="1449977"/>
            <a:ext cx="8772671" cy="4752481"/>
          </a:xfrm>
          <a:prstGeom prst="rect">
            <a:avLst/>
          </a:prstGeom>
          <a:noFill/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6" name="TextBox 5"/>
          <p:cNvSpPr txBox="1"/>
          <p:nvPr/>
        </p:nvSpPr>
        <p:spPr>
          <a:xfrm>
            <a:off x="1625363" y="734573"/>
            <a:ext cx="52487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2.พิมพ์ชื่อเมนู </a:t>
            </a:r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– Invoice Entry </a:t>
            </a:r>
            <a:endParaRPr lang="th-TH" sz="32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6994" y="1998617"/>
            <a:ext cx="1881052" cy="32657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2076994" y="2586446"/>
            <a:ext cx="1881052" cy="82296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5058127" y="2634786"/>
            <a:ext cx="2299027" cy="5232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 smtClean="0"/>
              <a:t>คลิกเข้าไปตามชื่อเมนู</a:t>
            </a:r>
            <a:endParaRPr lang="th-TH" dirty="0"/>
          </a:p>
        </p:txBody>
      </p:sp>
      <p:sp>
        <p:nvSpPr>
          <p:cNvPr id="10" name="Down Arrow 9"/>
          <p:cNvSpPr/>
          <p:nvPr/>
        </p:nvSpPr>
        <p:spPr>
          <a:xfrm rot="5400000">
            <a:off x="4220117" y="2375455"/>
            <a:ext cx="399002" cy="1041883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542573" y="2347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422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-1746" r="59071" b="54238"/>
          <a:stretch/>
        </p:blipFill>
        <p:spPr>
          <a:xfrm>
            <a:off x="807918" y="1683453"/>
            <a:ext cx="5089302" cy="3321276"/>
          </a:xfrm>
          <a:prstGeom prst="rect">
            <a:avLst/>
          </a:prstGeom>
          <a:noFill/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5" name="TextBox 4"/>
          <p:cNvSpPr txBox="1"/>
          <p:nvPr/>
        </p:nvSpPr>
        <p:spPr>
          <a:xfrm>
            <a:off x="713999" y="778645"/>
            <a:ext cx="5165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3.คลิกที่ </a:t>
            </a:r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 – New –New Group</a:t>
            </a:r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th-TH" sz="32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3744" y="1260690"/>
            <a:ext cx="5014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cs typeface="+mj-cs"/>
              </a:rPr>
              <a:t> </a:t>
            </a:r>
            <a:r>
              <a:rPr lang="en-US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New Group </a:t>
            </a:r>
            <a:r>
              <a:rPr lang="th-TH" sz="24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เป็นการจัดกลุ่มข้อมูล การแยกข้อมูลได้</a:t>
            </a:r>
            <a:endParaRPr lang="th-TH" sz="2400" dirty="0">
              <a:solidFill>
                <a:schemeClr val="accent1">
                  <a:lumMod val="50000"/>
                </a:schemeClr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2277" y="1984963"/>
            <a:ext cx="381321" cy="2086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790531" y="2204400"/>
            <a:ext cx="3600137" cy="2594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6557510" y="807656"/>
            <a:ext cx="50423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4.ระบุ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ชื่อ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Group 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และใส่วันที่ จากนั้นคลิกที่ </a:t>
            </a:r>
            <a:endParaRPr lang="en-US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  <a:p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File 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กด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SAVE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487" r="66030" b="40613"/>
          <a:stretch/>
        </p:blipFill>
        <p:spPr>
          <a:xfrm>
            <a:off x="6399840" y="1729372"/>
            <a:ext cx="4148417" cy="4245428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8085909" y="3122023"/>
            <a:ext cx="1985554" cy="74458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r="87349" b="76583"/>
          <a:stretch/>
        </p:blipFill>
        <p:spPr>
          <a:xfrm>
            <a:off x="9806126" y="4487620"/>
            <a:ext cx="1806498" cy="1879857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9806126" y="5163275"/>
            <a:ext cx="1711234" cy="27432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Oval 15"/>
          <p:cNvSpPr/>
          <p:nvPr/>
        </p:nvSpPr>
        <p:spPr>
          <a:xfrm>
            <a:off x="305298" y="1842700"/>
            <a:ext cx="486979" cy="4680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th-TH" dirty="0"/>
          </a:p>
        </p:txBody>
      </p:sp>
      <p:sp>
        <p:nvSpPr>
          <p:cNvPr id="17" name="Oval 16"/>
          <p:cNvSpPr/>
          <p:nvPr/>
        </p:nvSpPr>
        <p:spPr>
          <a:xfrm>
            <a:off x="7583289" y="3122023"/>
            <a:ext cx="502619" cy="44413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th-TH" dirty="0"/>
          </a:p>
        </p:txBody>
      </p:sp>
      <p:sp>
        <p:nvSpPr>
          <p:cNvPr id="14" name="Rectangle 13"/>
          <p:cNvSpPr/>
          <p:nvPr/>
        </p:nvSpPr>
        <p:spPr>
          <a:xfrm>
            <a:off x="548787" y="0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5884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201" t="89" r="91130" b="76874"/>
          <a:stretch/>
        </p:blipFill>
        <p:spPr>
          <a:xfrm>
            <a:off x="713829" y="1280866"/>
            <a:ext cx="1950992" cy="2812637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81792" b="60804"/>
          <a:stretch/>
        </p:blipFill>
        <p:spPr>
          <a:xfrm>
            <a:off x="2908390" y="1280866"/>
            <a:ext cx="3113587" cy="376849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7140" y="640080"/>
            <a:ext cx="5428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คลิกที่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</a:t>
            </a:r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เลือก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Debit Memo  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-803" t="5268" r="52196" b="16696"/>
          <a:stretch/>
        </p:blipFill>
        <p:spPr>
          <a:xfrm>
            <a:off x="6774995" y="1646626"/>
            <a:ext cx="4720319" cy="4260553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13829" y="1946366"/>
            <a:ext cx="461828" cy="41801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/>
          <p:cNvSpPr/>
          <p:nvPr/>
        </p:nvSpPr>
        <p:spPr>
          <a:xfrm>
            <a:off x="2926080" y="3357154"/>
            <a:ext cx="2926080" cy="27432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Oval 10"/>
          <p:cNvSpPr/>
          <p:nvPr/>
        </p:nvSpPr>
        <p:spPr>
          <a:xfrm>
            <a:off x="2351314" y="3200400"/>
            <a:ext cx="557076" cy="53557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th-TH" dirty="0"/>
          </a:p>
        </p:txBody>
      </p:sp>
      <p:sp>
        <p:nvSpPr>
          <p:cNvPr id="12" name="TextBox 11"/>
          <p:cNvSpPr txBox="1"/>
          <p:nvPr/>
        </p:nvSpPr>
        <p:spPr>
          <a:xfrm>
            <a:off x="6774995" y="1019256"/>
            <a:ext cx="2605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6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.</a:t>
            </a:r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 คลิกที่แถบ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Header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39497" y="1946366"/>
            <a:ext cx="548640" cy="31350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Rectangle 13"/>
          <p:cNvSpPr/>
          <p:nvPr/>
        </p:nvSpPr>
        <p:spPr>
          <a:xfrm>
            <a:off x="529509" y="-32518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363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847920267"/>
              </p:ext>
            </p:extLst>
          </p:nvPr>
        </p:nvGraphicFramePr>
        <p:xfrm>
          <a:off x="7759337" y="610146"/>
          <a:ext cx="3592285" cy="5632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/>
          <a:srcRect t="3318" r="45279" b="12260"/>
          <a:stretch/>
        </p:blipFill>
        <p:spPr>
          <a:xfrm>
            <a:off x="743977" y="673769"/>
            <a:ext cx="6653028" cy="55363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8" name="Oval 7"/>
          <p:cNvSpPr/>
          <p:nvPr/>
        </p:nvSpPr>
        <p:spPr>
          <a:xfrm>
            <a:off x="4262511" y="2056813"/>
            <a:ext cx="351692" cy="334695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7</a:t>
            </a:r>
            <a:endParaRPr lang="th-TH" dirty="0"/>
          </a:p>
        </p:txBody>
      </p:sp>
      <p:sp>
        <p:nvSpPr>
          <p:cNvPr id="22" name="Oval 21"/>
          <p:cNvSpPr/>
          <p:nvPr/>
        </p:nvSpPr>
        <p:spPr>
          <a:xfrm>
            <a:off x="4919003" y="4491303"/>
            <a:ext cx="351692" cy="334695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3" name="Oval 22"/>
          <p:cNvSpPr/>
          <p:nvPr/>
        </p:nvSpPr>
        <p:spPr>
          <a:xfrm>
            <a:off x="4743157" y="5015994"/>
            <a:ext cx="351692" cy="334695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Oval 23"/>
          <p:cNvSpPr/>
          <p:nvPr/>
        </p:nvSpPr>
        <p:spPr>
          <a:xfrm>
            <a:off x="4262511" y="3107227"/>
            <a:ext cx="351692" cy="334695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8</a:t>
            </a:r>
            <a:endParaRPr lang="th-TH" dirty="0"/>
          </a:p>
        </p:txBody>
      </p:sp>
      <p:sp>
        <p:nvSpPr>
          <p:cNvPr id="25" name="Oval 24"/>
          <p:cNvSpPr/>
          <p:nvPr/>
        </p:nvSpPr>
        <p:spPr>
          <a:xfrm>
            <a:off x="4953424" y="3303612"/>
            <a:ext cx="351692" cy="334695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9</a:t>
            </a:r>
          </a:p>
        </p:txBody>
      </p:sp>
      <p:sp>
        <p:nvSpPr>
          <p:cNvPr id="26" name="Oval 25"/>
          <p:cNvSpPr/>
          <p:nvPr/>
        </p:nvSpPr>
        <p:spPr>
          <a:xfrm>
            <a:off x="4352109" y="3660955"/>
            <a:ext cx="890205" cy="334695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4438357" y="3549223"/>
            <a:ext cx="737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/>
                </a:solidFill>
              </a:rPr>
              <a:t>10</a:t>
            </a:r>
            <a:r>
              <a:rPr lang="en-US" dirty="0" smtClean="0">
                <a:solidFill>
                  <a:schemeClr val="bg1"/>
                </a:solidFill>
              </a:rPr>
              <a:t>,</a:t>
            </a:r>
            <a:r>
              <a:rPr lang="th-TH" dirty="0" smtClean="0">
                <a:solidFill>
                  <a:schemeClr val="bg1"/>
                </a:solidFill>
              </a:rPr>
              <a:t>11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83894" y="4377879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/>
                </a:solidFill>
              </a:rPr>
              <a:t>12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7360" y="4918046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/>
                </a:solidFill>
              </a:rPr>
              <a:t>13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9510" y="0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579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82239" b="47411"/>
          <a:stretch/>
        </p:blipFill>
        <p:spPr>
          <a:xfrm>
            <a:off x="901820" y="2065084"/>
            <a:ext cx="2395129" cy="384701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sp>
        <p:nvSpPr>
          <p:cNvPr id="6" name="TextBox 5"/>
          <p:cNvSpPr txBox="1"/>
          <p:nvPr/>
        </p:nvSpPr>
        <p:spPr>
          <a:xfrm>
            <a:off x="667006" y="962094"/>
            <a:ext cx="286475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14. คลิกที่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</a:t>
            </a:r>
            <a:endParaRPr lang="th-TH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เลือก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</a:t>
            </a:r>
            <a:r>
              <a:rPr lang="en-US" dirty="0" err="1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Misc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Line</a:t>
            </a:r>
          </a:p>
          <a:p>
            <a:endParaRPr lang="th-TH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6088" y="4082127"/>
            <a:ext cx="2194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15.ระบุเลขที่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Part </a:t>
            </a:r>
          </a:p>
          <a:p>
            <a:endParaRPr lang="en-US" dirty="0"/>
          </a:p>
          <a:p>
            <a:endParaRPr lang="th-TH" dirty="0"/>
          </a:p>
        </p:txBody>
      </p:sp>
      <p:sp>
        <p:nvSpPr>
          <p:cNvPr id="8" name="TextBox 7"/>
          <p:cNvSpPr txBox="1"/>
          <p:nvPr/>
        </p:nvSpPr>
        <p:spPr>
          <a:xfrm>
            <a:off x="6755803" y="4140905"/>
            <a:ext cx="49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16.ใส่ยอดเงินที่ลดหนี้ในช่อง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Ext Amount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sp>
        <p:nvSpPr>
          <p:cNvPr id="2" name="Oval 1"/>
          <p:cNvSpPr/>
          <p:nvPr/>
        </p:nvSpPr>
        <p:spPr>
          <a:xfrm>
            <a:off x="2532185" y="4825220"/>
            <a:ext cx="407964" cy="422030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3" name="TextBox 2"/>
          <p:cNvSpPr txBox="1"/>
          <p:nvPr/>
        </p:nvSpPr>
        <p:spPr>
          <a:xfrm>
            <a:off x="2518239" y="4774625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/>
                </a:solidFill>
              </a:rPr>
              <a:t>14</a:t>
            </a:r>
            <a:endParaRPr lang="th-TH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2432" t="50982" r="25454" b="13304"/>
          <a:stretch/>
        </p:blipFill>
        <p:spPr>
          <a:xfrm>
            <a:off x="3455895" y="1376019"/>
            <a:ext cx="8081682" cy="26125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13" name="TextBox 12"/>
          <p:cNvSpPr txBox="1"/>
          <p:nvPr/>
        </p:nvSpPr>
        <p:spPr>
          <a:xfrm>
            <a:off x="8095129" y="5804519"/>
            <a:ext cx="28680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ใส่ข้อมูลเสร็จแล้วกด </a:t>
            </a:r>
            <a:r>
              <a:rPr lang="en-US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SAVE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Angsana New" panose="02020603050405020304" pitchFamily="18" charset="-34"/>
            </a:endParaRPr>
          </a:p>
          <a:p>
            <a:endParaRPr lang="th-TH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2144" t="5267" r="95575" b="91194"/>
          <a:stretch/>
        </p:blipFill>
        <p:spPr>
          <a:xfrm>
            <a:off x="10963222" y="5804519"/>
            <a:ext cx="457200" cy="398675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721531" y="1685109"/>
            <a:ext cx="364307" cy="379975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7" name="TextBox 16"/>
          <p:cNvSpPr txBox="1"/>
          <p:nvPr/>
        </p:nvSpPr>
        <p:spPr>
          <a:xfrm>
            <a:off x="5692729" y="1613486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/>
                </a:solidFill>
              </a:rPr>
              <a:t>15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056115" y="1464603"/>
            <a:ext cx="364307" cy="379975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0" name="TextBox 19"/>
          <p:cNvSpPr txBox="1"/>
          <p:nvPr/>
        </p:nvSpPr>
        <p:spPr>
          <a:xfrm>
            <a:off x="11027313" y="1392980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/>
                </a:solidFill>
              </a:rPr>
              <a:t>16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7369" y="-13063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934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2026" y="653144"/>
            <a:ext cx="6864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17. เช็คยอดที่แถบ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Header </a:t>
            </a:r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แล้วดูที่ช่อง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Variance </a:t>
            </a:r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ต้องเท่ากับ 0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3304" r="12618" b="18728"/>
          <a:stretch/>
        </p:blipFill>
        <p:spPr>
          <a:xfrm>
            <a:off x="1079592" y="1176364"/>
            <a:ext cx="9971587" cy="50023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3" name="Rectangle 2"/>
          <p:cNvSpPr/>
          <p:nvPr/>
        </p:nvSpPr>
        <p:spPr>
          <a:xfrm>
            <a:off x="7341326" y="3749040"/>
            <a:ext cx="1711234" cy="28738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529510" y="0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465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56392" b="51518"/>
          <a:stretch/>
        </p:blipFill>
        <p:spPr>
          <a:xfrm>
            <a:off x="882435" y="1174591"/>
            <a:ext cx="5673906" cy="354656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5" name="TextBox 4"/>
          <p:cNvSpPr txBox="1"/>
          <p:nvPr/>
        </p:nvSpPr>
        <p:spPr>
          <a:xfrm>
            <a:off x="882435" y="651371"/>
            <a:ext cx="8624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18. ตรวจคู่บัญชี โดยคลิกที่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Actions – Group – Print Group Edit List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2062" t="26340" r="32196" b="27410"/>
          <a:stretch/>
        </p:blipFill>
        <p:spPr>
          <a:xfrm>
            <a:off x="6746676" y="1499270"/>
            <a:ext cx="4650377" cy="33832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7" name="TextBox 6"/>
          <p:cNvSpPr txBox="1"/>
          <p:nvPr/>
        </p:nvSpPr>
        <p:spPr>
          <a:xfrm>
            <a:off x="6107775" y="5117082"/>
            <a:ext cx="5087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19. เมื่อขึ้นหน้าต่างนี้มาคลิกที่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Print Preview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39990" t="31724" r="57561" b="63967"/>
          <a:stretch/>
        </p:blipFill>
        <p:spPr>
          <a:xfrm>
            <a:off x="11034586" y="5014218"/>
            <a:ext cx="534196" cy="52851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15737" y="1384663"/>
            <a:ext cx="457200" cy="2090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Rectangle 2"/>
          <p:cNvSpPr/>
          <p:nvPr/>
        </p:nvSpPr>
        <p:spPr>
          <a:xfrm>
            <a:off x="1841863" y="1789611"/>
            <a:ext cx="1985554" cy="27432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3827417" y="2521131"/>
            <a:ext cx="2037806" cy="2090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/>
          <p:cNvSpPr/>
          <p:nvPr/>
        </p:nvSpPr>
        <p:spPr>
          <a:xfrm>
            <a:off x="568698" y="0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035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08069" y="639373"/>
            <a:ext cx="3605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20. ตรวจสอบความถูกต้องดูคู่บัญชี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7544" t="24553" r="25771" b="13125"/>
          <a:stretch/>
        </p:blipFill>
        <p:spPr>
          <a:xfrm>
            <a:off x="2508069" y="1162593"/>
            <a:ext cx="6874844" cy="51598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29509" y="0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639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54785" b="55089"/>
          <a:stretch/>
        </p:blipFill>
        <p:spPr>
          <a:xfrm>
            <a:off x="2529567" y="1508760"/>
            <a:ext cx="6654824" cy="371638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5" name="TextBox 4"/>
          <p:cNvSpPr txBox="1"/>
          <p:nvPr/>
        </p:nvSpPr>
        <p:spPr>
          <a:xfrm>
            <a:off x="1275533" y="862148"/>
            <a:ext cx="8588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21.เมื่อบันทึกข้อมูลครบถ้วนถูกต้องแล้ว ให้คลิกที่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Actions – Group – Post 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9510" y="0"/>
            <a:ext cx="3258719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APP060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th-TH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</a:t>
            </a:r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บันทึกลดหนี้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885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1559</TotalTime>
  <Words>446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Angsana New</vt:lpstr>
      <vt:lpstr>Arial</vt:lpstr>
      <vt:lpstr>Cordia New</vt:lpstr>
      <vt:lpstr>Garamond</vt:lpstr>
      <vt:lpstr>Organic</vt:lpstr>
      <vt:lpstr>PowerPoint Presentation</vt:lpstr>
      <vt:lpstr>PowerPoint Presentation</vt:lpstr>
      <vt:lpstr>1.เข้าหน้าโปรแกรม Epicor คลิกที่จุดสี่เหลี่ยมซ้ายมือ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การบันทึกลดหนี้ (AP Invoice Entry : Debit Memo)</dc:title>
  <dc:creator>Windows User</dc:creator>
  <cp:lastModifiedBy>Windows User</cp:lastModifiedBy>
  <cp:revision>59</cp:revision>
  <dcterms:created xsi:type="dcterms:W3CDTF">2024-02-28T09:25:03Z</dcterms:created>
  <dcterms:modified xsi:type="dcterms:W3CDTF">2024-08-15T02:15:07Z</dcterms:modified>
</cp:coreProperties>
</file>