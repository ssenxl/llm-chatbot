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68" r:id="rId13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runee Songprasert" initials="AS" lastIdx="1" clrIdx="0">
    <p:extLst>
      <p:ext uri="{19B8F6BF-5375-455C-9EA6-DF929625EA0E}">
        <p15:presenceInfo xmlns:p15="http://schemas.microsoft.com/office/powerpoint/2012/main" userId="S-1-5-21-4059006370-2331511250-3142268630-152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6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62C4EF-DC36-487A-9735-9AD506FFCD96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687A0-070F-41C0-AA33-BC32451778F6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89629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87A0-070F-41C0-AA33-BC32451778F6}" type="slidenum">
              <a:rPr lang="th-TH" smtClean="0"/>
              <a:t>2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95555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687A0-070F-41C0-AA33-BC32451778F6}" type="slidenum">
              <a:rPr lang="th-TH" smtClean="0"/>
              <a:t>8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33027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B373-D849-41E3-BC36-AA1EE79EF7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E32EE-348D-4C2D-AAC4-FBA29B7CF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E1F11-D2D8-4E07-8D3C-2F4F65A50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9CAA2-A248-4ADE-9948-67FEDF3D5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AE32B-D7C7-4CBB-903C-74E643EB3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15412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6783D-16C7-4F26-8487-4ED9ECA3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01570-5C23-42E8-A71E-75E9BE0BD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894BC-7434-413F-80E5-88898B9B0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CC6F-3A42-40AD-8C35-DA58980DD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15A51-EAD3-4057-98CF-AA994DA7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9801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B212-4D81-45F5-8B74-6CB92D4AA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0D31B-AFFF-4117-A61B-FA29958DAE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C5B04-CFBA-4C4B-97BB-2FFA00F8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B66EA-5CF3-430D-BE14-2E0083B87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398DE-CD15-4434-A7C9-C01DFB86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4943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8CD1E-450E-413D-AACE-D77FF56D4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61BFF-6A31-46B7-A9A9-C86AC53F1C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8EE9-4137-4FA1-B81A-502FAAAFF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F8687C-832D-48E6-95BE-15BC2424C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CCBA6-A1E6-4F1C-9753-CFD40B9ED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33B5C1-F7A0-4537-8483-5CC7B054D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805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0592-C477-4508-B6AA-A9B4C7B56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31E2F-E076-4D32-A1B6-C013CE2D9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7DB48-B62C-471C-B9DC-6DA19AB680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9BF16-C298-4771-B500-A2F1F45006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8633F4-05BD-46D6-942A-D0EF974819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50052A-E399-42FC-A98D-14196C08C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20786A-2C8E-426C-B388-2FD49498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84649C-9D9E-4AD8-B34C-569846B6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39612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A3B35-8A4A-4990-9059-73822B35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AC8B54-0E84-40E7-A101-0BB05ABF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01EC2-63BD-41B1-93CE-33A6267CB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EE7B3-DE96-4F79-98A9-C22990A7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6737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2916CC-DA6E-40BE-8E40-62F0814E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13B5CE-9328-4406-A67D-4E8D29FBE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4160B-91AD-4B7F-AF14-8037DA788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6050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9C0E-83CB-4A76-B022-D01896F04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DD19B-297B-40E8-B505-ABB66A3EE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5352C2-76F4-4B01-9CB3-9C7DCB667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26C9D-F57B-4AAB-A08F-5F5FDB6C0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85AA89-B544-4157-9871-D4729117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9E560-8493-4C74-AEE5-06F9CDEB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2428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537BD-8B56-4DAB-B4B5-25B94CAB5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9A88B3-CC1E-41A0-A4E1-E5ED747E9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3C92D-4224-4CF0-B5B6-A44E8057A7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E66A0-8161-490F-ABB1-8F63B0AD5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A611CC-4296-4F4B-A666-DEDA2031D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72238-6386-4DFB-8EF7-A8D296EE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21545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4A88-FDF1-4345-93CE-D017DC84A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2FE08-D7E7-4804-B32E-47BD8AF3F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33286-B070-4321-BBA7-D55CB6135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1D961-A32B-4852-A547-1159006BA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81678-F636-4DF7-9F27-9A9BDFCE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50123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8037C5-28B4-40EC-A3A4-B2EA80F7DA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ED464-A002-4DBF-BB2D-CB38635B2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4B75B-45F8-437B-9597-BD387987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E01AD-BDEF-4699-9A12-C690F924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2032A-E436-484F-9714-F28636840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35546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A8C111-E99C-430D-8C36-363E87124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35546-3FCA-4DF2-863A-F4F15A80D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2AE59-97AE-4DE3-AB54-A40E50F085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FFB504-768C-4A1E-ACE6-D17320C15061}" type="datetimeFigureOut">
              <a:rPr lang="th-TH" smtClean="0"/>
              <a:t>14/08/67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06C8FA-6C51-4987-82B8-DF8F1D31FC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84366-37EC-4CCE-88E2-B8C731940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E8A362-86F5-4199-B843-27AB601936FD}" type="slidenum">
              <a:rPr lang="th-TH" smtClean="0"/>
              <a:t>‹#›</a:t>
            </a:fld>
            <a:endParaRPr lang="th-T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E9EDC7-BF10-48C0-8A41-84BF7CF9C422}"/>
              </a:ext>
            </a:extLst>
          </p:cNvPr>
          <p:cNvSpPr txBox="1"/>
          <p:nvPr userDrawn="1"/>
        </p:nvSpPr>
        <p:spPr>
          <a:xfrm>
            <a:off x="0" y="0"/>
            <a:ext cx="12192000" cy="52322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2800" kern="1200" dirty="0">
                <a:ln>
                  <a:noFill/>
                </a:ln>
                <a:solidFill>
                  <a:schemeClr val="lt1"/>
                </a:solidFill>
                <a:latin typeface="+mn-lt"/>
                <a:ea typeface="+mn-ea"/>
                <a:cs typeface="+mn-cs"/>
              </a:rPr>
              <a:t>การคำนวณ กำไร-ขาดทุนจากอัตราแลกเปลี่ยน</a:t>
            </a:r>
            <a:r>
              <a:rPr lang="en-US" sz="2800" kern="1200" dirty="0">
                <a:ln>
                  <a:noFill/>
                </a:ln>
                <a:solidFill>
                  <a:schemeClr val="lt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>
                <a:ln>
                  <a:noFill/>
                </a:ln>
              </a:rPr>
              <a:t>Currency Revaluation Process</a:t>
            </a:r>
            <a:endParaRPr lang="th-TH" dirty="0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55087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alphaModFix amt="33000"/>
            <a:lum/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E82D62-539A-4044-8AB6-836AE6EB2A29}"/>
              </a:ext>
            </a:extLst>
          </p:cNvPr>
          <p:cNvSpPr/>
          <p:nvPr/>
        </p:nvSpPr>
        <p:spPr>
          <a:xfrm>
            <a:off x="363950" y="2118249"/>
            <a:ext cx="11464100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Currency Revaluation Process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7EAF88-10CA-4300-A1AF-56FD8A8C4699}"/>
              </a:ext>
            </a:extLst>
          </p:cNvPr>
          <p:cNvSpPr/>
          <p:nvPr/>
        </p:nvSpPr>
        <p:spPr>
          <a:xfrm>
            <a:off x="497689" y="3429000"/>
            <a:ext cx="11464100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th-TH" sz="60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การคำนวณ กำไร-ขาดทุนจากอัตราแลกเปลี่ยน</a:t>
            </a:r>
            <a:endParaRPr lang="en-US" sz="60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  <a:p>
            <a:pPr algn="ctr"/>
            <a:endParaRPr lang="en-US" sz="7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5488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A43353E-2E3F-43AE-8C5F-8CFA61C3574B}"/>
              </a:ext>
            </a:extLst>
          </p:cNvPr>
          <p:cNvGrpSpPr/>
          <p:nvPr/>
        </p:nvGrpSpPr>
        <p:grpSpPr>
          <a:xfrm>
            <a:off x="905069" y="569167"/>
            <a:ext cx="10478278" cy="5980922"/>
            <a:chOff x="923731" y="494526"/>
            <a:chExt cx="10459616" cy="6055563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4FDF01F-F930-438D-877C-BC5BD375883B}"/>
                </a:ext>
              </a:extLst>
            </p:cNvPr>
            <p:cNvGrpSpPr/>
            <p:nvPr/>
          </p:nvGrpSpPr>
          <p:grpSpPr>
            <a:xfrm>
              <a:off x="923731" y="894636"/>
              <a:ext cx="10459616" cy="5655453"/>
              <a:chOff x="1110343" y="629570"/>
              <a:chExt cx="10198359" cy="5911189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C96B023-4F3E-4702-8308-75B2B0EFA2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152" b="4182"/>
              <a:stretch/>
            </p:blipFill>
            <p:spPr>
              <a:xfrm>
                <a:off x="1110343" y="629570"/>
                <a:ext cx="10198359" cy="5505061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87C24F02-FF09-4BC0-A231-D7B35C4D2E9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r="80472" b="33379"/>
              <a:stretch/>
            </p:blipFill>
            <p:spPr>
              <a:xfrm>
                <a:off x="1110343" y="650229"/>
                <a:ext cx="3069771" cy="5890530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318506C8-2E12-4DC1-A360-FBF467939C26}"/>
                  </a:ext>
                </a:extLst>
              </p:cNvPr>
              <p:cNvSpPr/>
              <p:nvPr/>
            </p:nvSpPr>
            <p:spPr>
              <a:xfrm>
                <a:off x="1530222" y="3452316"/>
                <a:ext cx="2528593" cy="80243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 sz="3600">
                  <a:latin typeface="Angsana New" panose="02020603050405020304" pitchFamily="18" charset="-34"/>
                  <a:cs typeface="Angsana New" panose="02020603050405020304" pitchFamily="18" charset="-34"/>
                </a:endParaRP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97BDE1B-D5B6-427E-B906-D4C78B43F657}"/>
                </a:ext>
              </a:extLst>
            </p:cNvPr>
            <p:cNvSpPr txBox="1"/>
            <p:nvPr/>
          </p:nvSpPr>
          <p:spPr>
            <a:xfrm>
              <a:off x="923731" y="494526"/>
              <a:ext cx="10459616" cy="40011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Menu :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Currency Revaluation Process</a:t>
              </a:r>
              <a:endParaRPr lang="th-TH" sz="2000" b="1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385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B648F9E-54D2-4FA6-A34C-CC23204E4863}"/>
              </a:ext>
            </a:extLst>
          </p:cNvPr>
          <p:cNvGrpSpPr/>
          <p:nvPr/>
        </p:nvGrpSpPr>
        <p:grpSpPr>
          <a:xfrm>
            <a:off x="320733" y="662474"/>
            <a:ext cx="11550533" cy="5975895"/>
            <a:chOff x="266112" y="331734"/>
            <a:chExt cx="11741621" cy="6278643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68B3DA2-8AFB-44A5-A121-7385EA6F3DF6}"/>
                </a:ext>
              </a:extLst>
            </p:cNvPr>
            <p:cNvSpPr txBox="1"/>
            <p:nvPr/>
          </p:nvSpPr>
          <p:spPr>
            <a:xfrm>
              <a:off x="8676705" y="331735"/>
              <a:ext cx="3331028" cy="627864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b="1" u="sng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การปรับ</a:t>
              </a:r>
              <a:r>
                <a:rPr lang="en-US" sz="1600" b="1" u="sng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A/R Invoice </a:t>
              </a:r>
            </a:p>
            <a:p>
              <a:r>
                <a:rPr lang="th-TH" sz="16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1800" u="sng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Revalue</a:t>
              </a:r>
            </a:p>
            <a:p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r>
                <a: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 Revalue Date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เลือกวันที่ สิ้นเดือน</a:t>
              </a:r>
            </a:p>
            <a:p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r>
                <a: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 Override Exchange Rate Date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</a:t>
              </a:r>
            </a:p>
            <a:p>
              <a:r>
                <a:rPr lang="th-TH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th-TH" sz="16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</a:t>
              </a:r>
              <a:r>
                <a: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Exchange Date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เลือกวันที่สิ้นเดือน</a:t>
              </a:r>
            </a:p>
            <a:p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 A/R Invoices : </a:t>
              </a:r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</a:t>
              </a:r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</a:t>
              </a:r>
            </a:p>
            <a:p>
              <a:r>
                <a: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- Legal/Corporate Substitution Rate Type </a:t>
              </a:r>
            </a:p>
            <a:p>
              <a:r>
                <a: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  (only Immediate Reverse use)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เลือก </a:t>
              </a:r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Selling Rate </a:t>
              </a:r>
            </a:p>
            <a:p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  (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ตาม </a:t>
              </a:r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Bank)</a:t>
              </a: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r>
                <a:rPr lang="th-TH" sz="1600" i="1" dirty="0">
                  <a:solidFill>
                    <a:schemeClr val="accent1">
                      <a:lumMod val="50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การปรับอัตราแลกเปลี่ยนทำได้</a:t>
              </a:r>
              <a:r>
                <a:rPr lang="en-US" sz="1600" i="1" dirty="0">
                  <a:solidFill>
                    <a:schemeClr val="accent1">
                      <a:lumMod val="50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1600" i="1" dirty="0">
                  <a:solidFill>
                    <a:schemeClr val="accent1">
                      <a:lumMod val="50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ณ วันสิ้นรอบบัญชีเท่านั้น</a:t>
              </a:r>
            </a:p>
            <a:p>
              <a:r>
                <a:rPr lang="th-TH" sz="1600" i="1" dirty="0">
                  <a:solidFill>
                    <a:schemeClr val="accent1">
                      <a:lumMod val="50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โดยต้องแยกปรับที่ละหัวข้อ </a:t>
              </a:r>
              <a:r>
                <a:rPr lang="en-US" sz="1600" i="1" dirty="0">
                  <a:solidFill>
                    <a:schemeClr val="accent1">
                      <a:lumMod val="50000"/>
                    </a:schemeClr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A/R Invoices /A/P Invoices/ Bank Accounts</a:t>
              </a:r>
              <a:endParaRPr lang="th-TH" sz="1600" i="1" dirty="0">
                <a:solidFill>
                  <a:schemeClr val="accent1">
                    <a:lumMod val="50000"/>
                  </a:schemeClr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th-TH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th-TH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57626F1-0389-4038-9674-897278BB938A}"/>
                </a:ext>
              </a:extLst>
            </p:cNvPr>
            <p:cNvGrpSpPr/>
            <p:nvPr/>
          </p:nvGrpSpPr>
          <p:grpSpPr>
            <a:xfrm>
              <a:off x="266112" y="331734"/>
              <a:ext cx="8410593" cy="6001643"/>
              <a:chOff x="2055145" y="1045029"/>
              <a:chExt cx="8081710" cy="5591538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05B9B02-6219-4066-B1FB-558B5EA41E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055145" y="1045029"/>
                <a:ext cx="8081710" cy="5591538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17446B-179C-41E8-BEA4-007E7A8FD870}"/>
                  </a:ext>
                </a:extLst>
              </p:cNvPr>
              <p:cNvSpPr/>
              <p:nvPr/>
            </p:nvSpPr>
            <p:spPr>
              <a:xfrm>
                <a:off x="4554022" y="2074515"/>
                <a:ext cx="989459" cy="1422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F5A0DF4-882B-4B76-8B13-9A69B5436712}"/>
                  </a:ext>
                </a:extLst>
              </p:cNvPr>
              <p:cNvSpPr/>
              <p:nvPr/>
            </p:nvSpPr>
            <p:spPr>
              <a:xfrm>
                <a:off x="4554022" y="2506538"/>
                <a:ext cx="989459" cy="1422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62309269-512E-43E6-8BCB-F983C2768702}"/>
                  </a:ext>
                </a:extLst>
              </p:cNvPr>
              <p:cNvSpPr/>
              <p:nvPr/>
            </p:nvSpPr>
            <p:spPr>
              <a:xfrm>
                <a:off x="4554022" y="3059220"/>
                <a:ext cx="1158597" cy="1422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3DD35245-82DC-4DA6-8167-A47CD3A8E7B1}"/>
                  </a:ext>
                </a:extLst>
              </p:cNvPr>
              <p:cNvSpPr/>
              <p:nvPr/>
            </p:nvSpPr>
            <p:spPr>
              <a:xfrm>
                <a:off x="8700729" y="4903213"/>
                <a:ext cx="1240348" cy="18228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2114440-58DA-4A50-BAB1-3D043E18E83E}"/>
                  </a:ext>
                </a:extLst>
              </p:cNvPr>
              <p:cNvSpPr/>
              <p:nvPr/>
            </p:nvSpPr>
            <p:spPr>
              <a:xfrm>
                <a:off x="2080517" y="1744068"/>
                <a:ext cx="621442" cy="17881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231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52C095C-C478-4995-9AB8-C492B8914C2D}"/>
              </a:ext>
            </a:extLst>
          </p:cNvPr>
          <p:cNvGrpSpPr/>
          <p:nvPr/>
        </p:nvGrpSpPr>
        <p:grpSpPr>
          <a:xfrm>
            <a:off x="420669" y="681133"/>
            <a:ext cx="11350662" cy="5915119"/>
            <a:chOff x="244099" y="276529"/>
            <a:chExt cx="11610416" cy="6217088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6D94ACC-2E5F-4247-AF5A-0D826DB8D3B3}"/>
                </a:ext>
              </a:extLst>
            </p:cNvPr>
            <p:cNvGrpSpPr/>
            <p:nvPr/>
          </p:nvGrpSpPr>
          <p:grpSpPr>
            <a:xfrm>
              <a:off x="244099" y="276529"/>
              <a:ext cx="8109326" cy="6001643"/>
              <a:chOff x="1632854" y="130780"/>
              <a:chExt cx="8917200" cy="6602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E5913C7-2028-4AF0-BDD2-AD9F3256B62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32854" y="130780"/>
                <a:ext cx="8917200" cy="6602158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25B6E85-9406-4294-874E-57D676194BFD}"/>
                  </a:ext>
                </a:extLst>
              </p:cNvPr>
              <p:cNvSpPr/>
              <p:nvPr/>
            </p:nvSpPr>
            <p:spPr>
              <a:xfrm>
                <a:off x="4394718" y="1343608"/>
                <a:ext cx="1091682" cy="1679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C689DA20-82AC-4466-8E0D-33AAF2AAF2F4}"/>
                  </a:ext>
                </a:extLst>
              </p:cNvPr>
              <p:cNvSpPr/>
              <p:nvPr/>
            </p:nvSpPr>
            <p:spPr>
              <a:xfrm>
                <a:off x="4394718" y="1853683"/>
                <a:ext cx="1091682" cy="1679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A1CAE3F-ACDB-4F2E-B27A-AD7AFDC2019C}"/>
                  </a:ext>
                </a:extLst>
              </p:cNvPr>
              <p:cNvSpPr/>
              <p:nvPr/>
            </p:nvSpPr>
            <p:spPr>
              <a:xfrm>
                <a:off x="8960501" y="4674028"/>
                <a:ext cx="1368490" cy="21521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8FB6AF9-788F-4502-9898-CF4A190D42B0}"/>
                  </a:ext>
                </a:extLst>
              </p:cNvPr>
              <p:cNvSpPr/>
              <p:nvPr/>
            </p:nvSpPr>
            <p:spPr>
              <a:xfrm>
                <a:off x="4394718" y="2760827"/>
                <a:ext cx="1278294" cy="1679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21F6C4E-0975-447C-B4E1-961A27655D00}"/>
                  </a:ext>
                </a:extLst>
              </p:cNvPr>
              <p:cNvSpPr/>
              <p:nvPr/>
            </p:nvSpPr>
            <p:spPr>
              <a:xfrm>
                <a:off x="1665671" y="962790"/>
                <a:ext cx="685644" cy="21112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25483AB-52E0-45AC-9D59-102E6C4AE815}"/>
                </a:ext>
              </a:extLst>
            </p:cNvPr>
            <p:cNvSpPr txBox="1"/>
            <p:nvPr/>
          </p:nvSpPr>
          <p:spPr>
            <a:xfrm>
              <a:off x="8364829" y="276530"/>
              <a:ext cx="3489686" cy="621708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600" b="1" u="sng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การปรับ</a:t>
              </a:r>
              <a:r>
                <a:rPr lang="en-US" sz="1600" b="1" u="sng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A/P Invoice</a:t>
              </a:r>
            </a:p>
            <a:p>
              <a:r>
                <a:rPr lang="th-TH" sz="16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1800" u="sng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Revalue</a:t>
              </a:r>
              <a:endParaRPr lang="en-US" sz="1600" u="sng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 Revalue Date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เลือกวันที่ สิ้นเดือน</a:t>
              </a:r>
            </a:p>
            <a:p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- Override Exchange Rate Date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</a:t>
              </a:r>
            </a:p>
            <a:p>
              <a:r>
                <a:rPr lang="th-TH" sz="16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th-TH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Exchange Date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เลือกวันที่สิ้นเดือน</a:t>
              </a:r>
            </a:p>
            <a:p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 A/P Invoices : </a:t>
              </a:r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</a:t>
              </a:r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</a:t>
              </a:r>
            </a:p>
            <a:p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 Legal/Corporate Substitution Rate Type </a:t>
              </a:r>
            </a:p>
            <a:p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  (only Immediate Reverse use)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เลือก </a:t>
              </a:r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Buying Rate </a:t>
              </a:r>
            </a:p>
            <a:p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  (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ตาม </a:t>
              </a:r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Bank)</a:t>
              </a: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719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E57CA7-2EC5-4887-B842-FECA0A6ADEDE}"/>
              </a:ext>
            </a:extLst>
          </p:cNvPr>
          <p:cNvGrpSpPr/>
          <p:nvPr/>
        </p:nvGrpSpPr>
        <p:grpSpPr>
          <a:xfrm>
            <a:off x="277392" y="755780"/>
            <a:ext cx="11637216" cy="5587210"/>
            <a:chOff x="219076" y="266701"/>
            <a:chExt cx="11763373" cy="600164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8E96499-0AAA-4D96-8E88-8878BD2140ED}"/>
                </a:ext>
              </a:extLst>
            </p:cNvPr>
            <p:cNvGrpSpPr/>
            <p:nvPr/>
          </p:nvGrpSpPr>
          <p:grpSpPr>
            <a:xfrm>
              <a:off x="219076" y="266701"/>
              <a:ext cx="8539444" cy="6001643"/>
              <a:chOff x="1595538" y="153803"/>
              <a:chExt cx="8917528" cy="660240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59A42A5-7A81-4AD5-8E28-8310B30152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595538" y="153803"/>
                <a:ext cx="8917528" cy="6602400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B9944F3-EAEB-4D46-9BDD-30E825886B17}"/>
                  </a:ext>
                </a:extLst>
              </p:cNvPr>
              <p:cNvSpPr/>
              <p:nvPr/>
            </p:nvSpPr>
            <p:spPr>
              <a:xfrm>
                <a:off x="4357394" y="1380932"/>
                <a:ext cx="1091682" cy="1679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5B3FDA6F-389F-4229-88FE-C3CACD3DBD69}"/>
                  </a:ext>
                </a:extLst>
              </p:cNvPr>
              <p:cNvSpPr/>
              <p:nvPr/>
            </p:nvSpPr>
            <p:spPr>
              <a:xfrm>
                <a:off x="4357394" y="1853683"/>
                <a:ext cx="1091682" cy="1679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F8040F2-3C92-49AA-95EF-CB0D95408621}"/>
                  </a:ext>
                </a:extLst>
              </p:cNvPr>
              <p:cNvSpPr/>
              <p:nvPr/>
            </p:nvSpPr>
            <p:spPr>
              <a:xfrm>
                <a:off x="4357394" y="3000738"/>
                <a:ext cx="1278294" cy="16795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D6C9633-727E-4303-B8B9-AA55D694B843}"/>
                  </a:ext>
                </a:extLst>
              </p:cNvPr>
              <p:cNvSpPr/>
              <p:nvPr/>
            </p:nvSpPr>
            <p:spPr>
              <a:xfrm>
                <a:off x="8923178" y="4702018"/>
                <a:ext cx="1368490" cy="21521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AFDE2BD-F249-4C84-9596-5A3DB99F6232}"/>
                  </a:ext>
                </a:extLst>
              </p:cNvPr>
              <p:cNvSpPr/>
              <p:nvPr/>
            </p:nvSpPr>
            <p:spPr>
              <a:xfrm>
                <a:off x="1595538" y="982826"/>
                <a:ext cx="718454" cy="21149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6E53748-7835-43B6-AECF-D1F24C6B715D}"/>
                  </a:ext>
                </a:extLst>
              </p:cNvPr>
              <p:cNvSpPr/>
              <p:nvPr/>
            </p:nvSpPr>
            <p:spPr>
              <a:xfrm>
                <a:off x="8689908" y="3000738"/>
                <a:ext cx="1601759" cy="21521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FF712B1-57F2-4A69-B63E-8F81E6222651}"/>
                </a:ext>
              </a:extLst>
            </p:cNvPr>
            <p:cNvSpPr txBox="1"/>
            <p:nvPr/>
          </p:nvSpPr>
          <p:spPr>
            <a:xfrm>
              <a:off x="8768045" y="266702"/>
              <a:ext cx="3214404" cy="600164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1800" b="1" u="sng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การปรับ</a:t>
              </a:r>
              <a:r>
                <a:rPr lang="en-US" sz="1800" b="1" u="sng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Bank Accounts</a:t>
              </a:r>
            </a:p>
            <a:p>
              <a:r>
                <a:rPr lang="th-TH" sz="16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 </a:t>
              </a:r>
              <a:r>
                <a:rPr lang="en-US" sz="1800" u="sng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Revalue</a:t>
              </a:r>
              <a:endParaRPr lang="en-US" sz="1600" u="sng" dirty="0">
                <a:solidFill>
                  <a:srgbClr val="00B0F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r>
                <a:rPr lang="en-US" sz="16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 Revalue Date</a:t>
              </a:r>
              <a:r>
                <a:rPr lang="en-US" sz="16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เลือกวันที่ สิ้นเดือน</a:t>
              </a:r>
              <a:endParaRPr lang="th-TH" sz="18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- Override Exchange Rate Date : </a:t>
              </a:r>
              <a:r>
                <a:rPr lang="th-TH" sz="18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</a:t>
              </a:r>
            </a:p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th-TH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</a:t>
              </a:r>
              <a:r>
                <a:rPr lang="en-US" sz="1800" b="1" dirty="0" err="1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Exchang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Date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เลือกวันที่สิ้นเดือน</a:t>
              </a:r>
              <a:endParaRPr lang="th-TH" sz="18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 Bank Accounts : </a:t>
              </a:r>
              <a:r>
                <a:rPr lang="en-US" sz="18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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</a:t>
              </a:r>
            </a:p>
            <a:p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 Recognize As Unrealized : </a:t>
              </a:r>
              <a:r>
                <a:rPr lang="en-US" sz="18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</a:t>
              </a:r>
            </a:p>
            <a:p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</a:t>
              </a:r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- Legal/Corporate Substitution Rate Type </a:t>
              </a:r>
            </a:p>
            <a:p>
              <a:r>
                <a:rPr lang="en-US" sz="1800" b="1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    (only Immediate Reverse use) : </a:t>
              </a:r>
              <a:r>
                <a:rPr lang="th-TH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เลือก </a:t>
              </a:r>
              <a:r>
                <a:rPr lang="en-US" sz="1600" dirty="0">
                  <a:solidFill>
                    <a:srgbClr val="FF0000"/>
                  </a:solidFill>
                  <a:latin typeface="Angsana New" panose="02020603050405020304" pitchFamily="18" charset="-34"/>
                  <a:cs typeface="Angsana New" panose="02020603050405020304" pitchFamily="18" charset="-34"/>
                  <a:sym typeface="Wingdings 2" panose="05020102010507070707" pitchFamily="18" charset="2"/>
                </a:rPr>
                <a:t>Rate Bank </a:t>
              </a:r>
            </a:p>
            <a:p>
              <a:endParaRPr lang="en-US" sz="14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en-US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  <a:sym typeface="Wingdings 2" panose="05020102010507070707" pitchFamily="18" charset="2"/>
              </a:endParaRPr>
            </a:p>
            <a:p>
              <a:endParaRPr lang="th-TH" sz="1600" dirty="0">
                <a:solidFill>
                  <a:srgbClr val="FF0000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337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9049C23-950B-426D-A3C6-F08FA3F5E4F7}"/>
              </a:ext>
            </a:extLst>
          </p:cNvPr>
          <p:cNvGrpSpPr/>
          <p:nvPr/>
        </p:nvGrpSpPr>
        <p:grpSpPr>
          <a:xfrm>
            <a:off x="2424986" y="755332"/>
            <a:ext cx="7342027" cy="5347335"/>
            <a:chOff x="2109886" y="681135"/>
            <a:chExt cx="7342027" cy="5347335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36586B0-B410-46CC-BFE5-AD4934BEC902}"/>
                </a:ext>
              </a:extLst>
            </p:cNvPr>
            <p:cNvGrpSpPr/>
            <p:nvPr/>
          </p:nvGrpSpPr>
          <p:grpSpPr>
            <a:xfrm>
              <a:off x="2109886" y="1007706"/>
              <a:ext cx="7342026" cy="5020764"/>
              <a:chOff x="1710612" y="211775"/>
              <a:chExt cx="8917527" cy="660240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A0C4081E-94F8-47DC-B705-50758952E0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710612" y="211775"/>
                <a:ext cx="8917527" cy="6602400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E3541DDF-8366-449D-97B0-78CFF9BA45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2728" y="1407656"/>
                <a:ext cx="4629796" cy="4210638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F65BF38-CA0B-4DF2-AA6C-9F9D4609D307}"/>
                  </a:ext>
                </a:extLst>
              </p:cNvPr>
              <p:cNvSpPr/>
              <p:nvPr/>
            </p:nvSpPr>
            <p:spPr>
              <a:xfrm>
                <a:off x="1726163" y="5271796"/>
                <a:ext cx="1110343" cy="20527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C9373E8-1098-4560-9BB4-3E78EB670E32}"/>
                  </a:ext>
                </a:extLst>
              </p:cNvPr>
              <p:cNvSpPr/>
              <p:nvPr/>
            </p:nvSpPr>
            <p:spPr>
              <a:xfrm>
                <a:off x="3680721" y="3685591"/>
                <a:ext cx="4558211" cy="107302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35B99D-F307-4A23-AB66-64BA5BD9B5A6}"/>
                  </a:ext>
                </a:extLst>
              </p:cNvPr>
              <p:cNvSpPr/>
              <p:nvPr/>
            </p:nvSpPr>
            <p:spPr>
              <a:xfrm>
                <a:off x="7187682" y="2248677"/>
                <a:ext cx="957942" cy="231702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47DB67F-12C0-4CDC-BE79-EB07363298CB}"/>
                  </a:ext>
                </a:extLst>
              </p:cNvPr>
              <p:cNvSpPr/>
              <p:nvPr/>
            </p:nvSpPr>
            <p:spPr>
              <a:xfrm>
                <a:off x="3642056" y="5321555"/>
                <a:ext cx="976598" cy="205273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E107F0-57BA-46AD-A9DC-1C3ACB10DD8D}"/>
                </a:ext>
              </a:extLst>
            </p:cNvPr>
            <p:cNvSpPr txBox="1"/>
            <p:nvPr/>
          </p:nvSpPr>
          <p:spPr>
            <a:xfrm>
              <a:off x="2122691" y="681135"/>
              <a:ext cx="7329222" cy="369332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กด          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                   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Search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เลือก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Currency ID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 ทั้งหมด กด </a:t>
              </a:r>
              <a:r>
                <a:rPr lang="en-US" sz="18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OK</a:t>
              </a:r>
              <a:r>
                <a:rPr lang="th-TH" sz="18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endParaRPr lang="en-US" sz="18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5E40961-35CB-4A5C-BB58-8FB28736FBF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62" t="76402" r="87360" b="20447"/>
            <a:stretch/>
          </p:blipFill>
          <p:spPr>
            <a:xfrm>
              <a:off x="2523798" y="758093"/>
              <a:ext cx="1034824" cy="184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96979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FF62E2-5EBB-4BE4-8627-10787F3E6E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935" b="32403"/>
          <a:stretch/>
        </p:blipFill>
        <p:spPr>
          <a:xfrm>
            <a:off x="1604865" y="600590"/>
            <a:ext cx="8752115" cy="563416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91CCB87-F437-4A74-AA23-22D6C0E19378}"/>
              </a:ext>
            </a:extLst>
          </p:cNvPr>
          <p:cNvSpPr/>
          <p:nvPr/>
        </p:nvSpPr>
        <p:spPr>
          <a:xfrm>
            <a:off x="1604864" y="4971247"/>
            <a:ext cx="8752115" cy="101900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5606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8AD850-6B67-4557-9337-FF101A759F0B}"/>
              </a:ext>
            </a:extLst>
          </p:cNvPr>
          <p:cNvGrpSpPr/>
          <p:nvPr/>
        </p:nvGrpSpPr>
        <p:grpSpPr>
          <a:xfrm>
            <a:off x="1549270" y="811763"/>
            <a:ext cx="9093459" cy="5715411"/>
            <a:chOff x="485192" y="298378"/>
            <a:chExt cx="9559212" cy="615902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7605C10-E52A-4A4A-BDF3-BAB6B58E07AA}"/>
                </a:ext>
              </a:extLst>
            </p:cNvPr>
            <p:cNvGrpSpPr/>
            <p:nvPr/>
          </p:nvGrpSpPr>
          <p:grpSpPr>
            <a:xfrm>
              <a:off x="485192" y="298378"/>
              <a:ext cx="9559212" cy="6159027"/>
              <a:chOff x="629816" y="83976"/>
              <a:chExt cx="9993086" cy="6232849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55CA662-A15B-48CD-91DA-4354E57ACA6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r="18035" b="9116"/>
              <a:stretch/>
            </p:blipFill>
            <p:spPr>
              <a:xfrm>
                <a:off x="629816" y="83976"/>
                <a:ext cx="9993086" cy="6232849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A5AC66C0-D538-4348-89FA-9CE5089BAD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7141" y="1114314"/>
                <a:ext cx="4208147" cy="4995684"/>
              </a:xfrm>
              <a:prstGeom prst="rect">
                <a:avLst/>
              </a:prstGeom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4135344-2BA8-421B-B6B2-07122CF7E18E}"/>
                  </a:ext>
                </a:extLst>
              </p:cNvPr>
              <p:cNvSpPr/>
              <p:nvPr/>
            </p:nvSpPr>
            <p:spPr>
              <a:xfrm>
                <a:off x="1063693" y="699799"/>
                <a:ext cx="326571" cy="13995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11645A3B-8C61-4D20-8C91-D07FE848982A}"/>
                  </a:ext>
                </a:extLst>
              </p:cNvPr>
              <p:cNvSpPr/>
              <p:nvPr/>
            </p:nvSpPr>
            <p:spPr>
              <a:xfrm>
                <a:off x="2755645" y="839759"/>
                <a:ext cx="659360" cy="195948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FB6931F-1D1B-4E4A-B4C7-A35DF10FBC0D}"/>
                  </a:ext>
                </a:extLst>
              </p:cNvPr>
              <p:cNvSpPr/>
              <p:nvPr/>
            </p:nvSpPr>
            <p:spPr>
              <a:xfrm>
                <a:off x="5526379" y="1906572"/>
                <a:ext cx="780329" cy="20773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2A4FEB0B-27CF-4C14-810E-7B8AC67E22C4}"/>
                  </a:ext>
                </a:extLst>
              </p:cNvPr>
              <p:cNvSpPr/>
              <p:nvPr/>
            </p:nvSpPr>
            <p:spPr>
              <a:xfrm>
                <a:off x="2269522" y="5764026"/>
                <a:ext cx="798008" cy="189011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AC4214-13F0-4A9F-8ACE-FDF9AF15F649}"/>
                </a:ext>
              </a:extLst>
            </p:cNvPr>
            <p:cNvSpPr/>
            <p:nvPr/>
          </p:nvSpPr>
          <p:spPr>
            <a:xfrm>
              <a:off x="551003" y="1292161"/>
              <a:ext cx="661621" cy="138301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F81149C-EA0D-4CFE-BE38-BED03836E5FD}"/>
                </a:ext>
              </a:extLst>
            </p:cNvPr>
            <p:cNvSpPr txBox="1"/>
            <p:nvPr/>
          </p:nvSpPr>
          <p:spPr>
            <a:xfrm>
              <a:off x="7335098" y="298378"/>
              <a:ext cx="2709306" cy="5954650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เลือกบัญชีที่ต้องการปรับปรุง</a:t>
              </a:r>
            </a:p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-ไปที่ </a:t>
              </a:r>
              <a:r>
                <a:rPr lang="en-US" sz="2000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Filter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 </a:t>
              </a:r>
              <a:r>
                <a:rPr lang="en-US" sz="2000" dirty="0">
                  <a:solidFill>
                    <a:srgbClr val="00B0F0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Bank Account</a:t>
              </a:r>
            </a:p>
            <a:p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คลิก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Bank Account</a:t>
              </a:r>
            </a:p>
            <a:p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คลิก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Search </a:t>
              </a:r>
            </a:p>
            <a:p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เลือก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เลขที่บัญชี </a:t>
              </a:r>
            </a:p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-คลิก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OK</a:t>
              </a: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en-US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  <a:p>
              <a:endParaRPr lang="th-TH" sz="16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036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7B10AB9-8B94-4FF3-A893-7944AF83DFE2}"/>
              </a:ext>
            </a:extLst>
          </p:cNvPr>
          <p:cNvGrpSpPr/>
          <p:nvPr/>
        </p:nvGrpSpPr>
        <p:grpSpPr>
          <a:xfrm>
            <a:off x="1641410" y="727788"/>
            <a:ext cx="8909179" cy="5836830"/>
            <a:chOff x="998374" y="334835"/>
            <a:chExt cx="9144000" cy="631789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497C9C2-10BC-4613-9E5A-9EA1262EFCD8}"/>
                </a:ext>
              </a:extLst>
            </p:cNvPr>
            <p:cNvGrpSpPr/>
            <p:nvPr/>
          </p:nvGrpSpPr>
          <p:grpSpPr>
            <a:xfrm>
              <a:off x="998374" y="739158"/>
              <a:ext cx="9134669" cy="5913569"/>
              <a:chOff x="1315615" y="514527"/>
              <a:chExt cx="9274629" cy="582894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6A123730-D4C4-4C73-91CB-305763B88723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/>
              <a:srcRect l="1" r="36196" b="28713"/>
              <a:stretch/>
            </p:blipFill>
            <p:spPr>
              <a:xfrm>
                <a:off x="1315615" y="514527"/>
                <a:ext cx="9274629" cy="5828946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DAF07721-5E55-40EA-BC8B-EFF87FADC9A3}"/>
                  </a:ext>
                </a:extLst>
              </p:cNvPr>
              <p:cNvSpPr/>
              <p:nvPr/>
            </p:nvSpPr>
            <p:spPr>
              <a:xfrm>
                <a:off x="2121163" y="681139"/>
                <a:ext cx="426094" cy="14928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0541F24-6FF8-45B2-B863-EDF14E6BD0E4}"/>
                  </a:ext>
                </a:extLst>
              </p:cNvPr>
              <p:cNvSpPr/>
              <p:nvPr/>
            </p:nvSpPr>
            <p:spPr>
              <a:xfrm>
                <a:off x="2121163" y="1045031"/>
                <a:ext cx="1293841" cy="149285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D938180-38AD-4DA9-9A94-CF6194C3B484}"/>
                </a:ext>
              </a:extLst>
            </p:cNvPr>
            <p:cNvSpPr txBox="1"/>
            <p:nvPr/>
          </p:nvSpPr>
          <p:spPr>
            <a:xfrm>
              <a:off x="1007705" y="334835"/>
              <a:ext cx="9134669" cy="40011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cs typeface="+mj-cs"/>
                </a:rPr>
                <a:t>ไปที่</a:t>
              </a:r>
              <a:r>
                <a:rPr lang="en-US" sz="2000" dirty="0">
                  <a:cs typeface="+mj-cs"/>
                </a:rPr>
                <a:t> Actions </a:t>
              </a:r>
              <a:r>
                <a:rPr lang="th-TH" sz="2000" dirty="0">
                  <a:cs typeface="+mj-cs"/>
                </a:rPr>
                <a:t>เลือก </a:t>
              </a:r>
              <a:r>
                <a:rPr lang="en-US" sz="2000" dirty="0">
                  <a:cs typeface="+mj-cs"/>
                </a:rPr>
                <a:t>Revaluation Report (</a:t>
              </a:r>
              <a:r>
                <a:rPr lang="th-TH" sz="2000" dirty="0">
                  <a:cs typeface="+mj-cs"/>
                </a:rPr>
                <a:t>เพื่อดู </a:t>
              </a:r>
              <a:r>
                <a:rPr lang="en-US" sz="2000" dirty="0">
                  <a:cs typeface="+mj-cs"/>
                </a:rPr>
                <a:t>Report)</a:t>
              </a:r>
              <a:endParaRPr lang="th-TH" sz="2000" dirty="0"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5849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67ABCD2-CA0F-4DFA-B56A-48F4ABF14115}"/>
              </a:ext>
            </a:extLst>
          </p:cNvPr>
          <p:cNvGrpSpPr/>
          <p:nvPr/>
        </p:nvGrpSpPr>
        <p:grpSpPr>
          <a:xfrm>
            <a:off x="2784032" y="615820"/>
            <a:ext cx="6623936" cy="6033034"/>
            <a:chOff x="2918969" y="171684"/>
            <a:chExt cx="6354063" cy="608187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F964B92-009A-4665-BF54-82125ADA66BE}"/>
                </a:ext>
              </a:extLst>
            </p:cNvPr>
            <p:cNvGrpSpPr/>
            <p:nvPr/>
          </p:nvGrpSpPr>
          <p:grpSpPr>
            <a:xfrm>
              <a:off x="2918969" y="604443"/>
              <a:ext cx="6354062" cy="5649113"/>
              <a:chOff x="2918969" y="604443"/>
              <a:chExt cx="6354062" cy="564911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5B097E4-78F8-4B73-B45E-DB7FABA238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18969" y="604443"/>
                <a:ext cx="6354062" cy="5649113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38915E4-30B0-479C-9E37-69AB79FAEA7A}"/>
                  </a:ext>
                </a:extLst>
              </p:cNvPr>
              <p:cNvSpPr/>
              <p:nvPr/>
            </p:nvSpPr>
            <p:spPr>
              <a:xfrm>
                <a:off x="3996617" y="1129007"/>
                <a:ext cx="192828" cy="186609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C9BD20D-1B3F-448F-849C-7880059F317B}"/>
                </a:ext>
              </a:extLst>
            </p:cNvPr>
            <p:cNvSpPr txBox="1"/>
            <p:nvPr/>
          </p:nvSpPr>
          <p:spPr>
            <a:xfrm>
              <a:off x="2918970" y="171684"/>
              <a:ext cx="6354062" cy="427343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 wrap="square" rtlCol="0">
              <a:spAutoFit/>
            </a:bodyPr>
            <a:lstStyle/>
            <a:p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ไปที่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       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Print Preview 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  <a:sym typeface="Wingdings 3" panose="05040102010807070707" pitchFamily="18" charset="2"/>
                </a:rPr>
                <a:t>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Output </a:t>
              </a:r>
              <a:r>
                <a:rPr lang="en-US" sz="24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Format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:</a:t>
              </a:r>
              <a:r>
                <a:rPr lang="th-TH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 </a:t>
              </a:r>
              <a:r>
                <a:rPr lang="en-US" sz="2000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PDF</a:t>
              </a:r>
              <a:endParaRPr lang="th-TH" sz="2000" dirty="0"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7FC1B7-93D3-4F08-8F39-68BC748EBC4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23027" t="14817" r="72263" b="79048"/>
            <a:stretch/>
          </p:blipFill>
          <p:spPr>
            <a:xfrm>
              <a:off x="3371916" y="273828"/>
              <a:ext cx="235919" cy="216862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9E0144-F0D6-4F07-B030-4478DD478F6D}"/>
                </a:ext>
              </a:extLst>
            </p:cNvPr>
            <p:cNvSpPr/>
            <p:nvPr/>
          </p:nvSpPr>
          <p:spPr>
            <a:xfrm>
              <a:off x="3853549" y="1393374"/>
              <a:ext cx="1073013" cy="186609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</p:spTree>
    <p:extLst>
      <p:ext uri="{BB962C8B-B14F-4D97-AF65-F5344CB8AC3E}">
        <p14:creationId xmlns:p14="http://schemas.microsoft.com/office/powerpoint/2010/main" val="4086676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28F5BB9-1BC0-4CC0-9464-6ACFBA56C054}"/>
              </a:ext>
            </a:extLst>
          </p:cNvPr>
          <p:cNvGrpSpPr/>
          <p:nvPr/>
        </p:nvGrpSpPr>
        <p:grpSpPr>
          <a:xfrm>
            <a:off x="3096986" y="552662"/>
            <a:ext cx="5998028" cy="5752675"/>
            <a:chOff x="3004456" y="288543"/>
            <a:chExt cx="6410131" cy="628953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AB8E19-2D23-4291-9C3D-2ED1123639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4413" t="8707" r="23010" b="7211"/>
            <a:stretch/>
          </p:blipFill>
          <p:spPr>
            <a:xfrm>
              <a:off x="3004456" y="811763"/>
              <a:ext cx="6410131" cy="5766319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52C5598-9E4D-4AC1-A7DF-53406D4867FC}"/>
                </a:ext>
              </a:extLst>
            </p:cNvPr>
            <p:cNvSpPr txBox="1"/>
            <p:nvPr/>
          </p:nvSpPr>
          <p:spPr>
            <a:xfrm>
              <a:off x="5188540" y="288543"/>
              <a:ext cx="1817984" cy="5720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b="1" u="sng" dirty="0">
                  <a:cs typeface="+mj-cs"/>
                </a:rPr>
                <a:t>ตัวอย่างรายงาน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8111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87D98C2-D986-48D9-860F-C5986CE1CE99}"/>
              </a:ext>
            </a:extLst>
          </p:cNvPr>
          <p:cNvGrpSpPr/>
          <p:nvPr/>
        </p:nvGrpSpPr>
        <p:grpSpPr>
          <a:xfrm>
            <a:off x="2905729" y="643812"/>
            <a:ext cx="6380541" cy="5907788"/>
            <a:chOff x="3208218" y="491805"/>
            <a:chExt cx="6354062" cy="600381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64669F2-3E13-40FA-9279-88B84EF9FE3A}"/>
                </a:ext>
              </a:extLst>
            </p:cNvPr>
            <p:cNvGrpSpPr/>
            <p:nvPr/>
          </p:nvGrpSpPr>
          <p:grpSpPr>
            <a:xfrm>
              <a:off x="3208218" y="846504"/>
              <a:ext cx="6354062" cy="5649113"/>
              <a:chOff x="2918969" y="604443"/>
              <a:chExt cx="6354062" cy="5649113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E4F85F3-D6DF-48CC-9B27-C95543B4C9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918969" y="604443"/>
                <a:ext cx="6354062" cy="5649113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524817A-1DC8-443C-9643-40968BD098B4}"/>
                  </a:ext>
                </a:extLst>
              </p:cNvPr>
              <p:cNvSpPr/>
              <p:nvPr/>
            </p:nvSpPr>
            <p:spPr>
              <a:xfrm>
                <a:off x="3946849" y="923731"/>
                <a:ext cx="522514" cy="158620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C9CFA32-D49C-49D1-A4ED-511B6624FB56}"/>
                  </a:ext>
                </a:extLst>
              </p:cNvPr>
              <p:cNvSpPr/>
              <p:nvPr/>
            </p:nvSpPr>
            <p:spPr>
              <a:xfrm>
                <a:off x="3946849" y="1322329"/>
                <a:ext cx="1520890" cy="254544"/>
              </a:xfrm>
              <a:prstGeom prst="rect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th-TH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8EAF25B-7247-4B7F-9FDC-4191B01C390A}"/>
                    </a:ext>
                  </a:extLst>
                </p:cNvPr>
                <p:cNvSpPr txBox="1"/>
                <p:nvPr/>
              </p:nvSpPr>
              <p:spPr>
                <a:xfrm>
                  <a:off x="3208218" y="491805"/>
                  <a:ext cx="6354062" cy="369332"/>
                </a:xfrm>
                <a:prstGeom prst="rect">
                  <a:avLst/>
                </a:prstGeom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th-TH" sz="18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บันทึกบัญชี  -ไปที่ </a:t>
                  </a:r>
                  <a:r>
                    <a:rPr lang="en-US" sz="18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Actions </a:t>
                  </a:r>
                  <a14:m>
                    <m:oMath xmlns:m="http://schemas.openxmlformats.org/officeDocument/2006/math">
                      <m:r>
                        <a:rPr lang="th-TH" sz="1800" i="1" dirty="0" smtClean="0">
                          <a:latin typeface="Cambria Math" panose="02040503050406030204" pitchFamily="18" charset="0"/>
                          <a:cs typeface="Angsana New" panose="02020603050405020304" pitchFamily="18" charset="-34"/>
                          <a:sym typeface="Wingdings 3" panose="05040102010807070707" pitchFamily="18" charset="2"/>
                        </a:rPr>
                        <m:t></m:t>
                      </m:r>
                    </m:oMath>
                  </a14:m>
                  <a:r>
                    <a:rPr lang="th-TH" sz="18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 </a:t>
                  </a:r>
                  <a:r>
                    <a:rPr lang="en-US" sz="1800" dirty="0">
                      <a:latin typeface="Angsana New" panose="02020603050405020304" pitchFamily="18" charset="-34"/>
                      <a:cs typeface="Angsana New" panose="02020603050405020304" pitchFamily="18" charset="-34"/>
                    </a:rPr>
                    <a:t>Get Defaults</a:t>
                  </a:r>
                  <a:endParaRPr lang="th-TH" sz="1800" dirty="0">
                    <a:latin typeface="Angsana New" panose="02020603050405020304" pitchFamily="18" charset="-34"/>
                    <a:cs typeface="Angsana New" panose="02020603050405020304" pitchFamily="18" charset="-34"/>
                  </a:endParaRP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8EAF25B-7247-4B7F-9FDC-4191B01C39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8218" y="491805"/>
                  <a:ext cx="6354062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860" t="-6667" b="-30000"/>
                  </a:stretch>
                </a:blipFill>
              </p:spPr>
              <p:txBody>
                <a:bodyPr/>
                <a:lstStyle/>
                <a:p>
                  <a:r>
                    <a:rPr lang="th-TH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69802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</TotalTime>
  <Words>318</Words>
  <Application>Microsoft Office PowerPoint</Application>
  <PresentationFormat>Widescreen</PresentationFormat>
  <Paragraphs>91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Angsana New</vt:lpstr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Currency Revaluation Process</dc:title>
  <dc:creator>Arunee Songprasert</dc:creator>
  <cp:lastModifiedBy>Arunee Songprasert</cp:lastModifiedBy>
  <cp:revision>28</cp:revision>
  <dcterms:created xsi:type="dcterms:W3CDTF">2024-02-29T04:29:37Z</dcterms:created>
  <dcterms:modified xsi:type="dcterms:W3CDTF">2024-08-14T01:13:20Z</dcterms:modified>
</cp:coreProperties>
</file>