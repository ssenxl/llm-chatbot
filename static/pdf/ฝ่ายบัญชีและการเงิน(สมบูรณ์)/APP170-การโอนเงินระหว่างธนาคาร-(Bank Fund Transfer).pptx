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57" r:id="rId4"/>
    <p:sldId id="258" r:id="rId5"/>
    <p:sldId id="259" r:id="rId6"/>
    <p:sldId id="260" r:id="rId7"/>
    <p:sldId id="261" r:id="rId8"/>
    <p:sldId id="274" r:id="rId9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8E0CE-175C-4003-8B31-A96E59EB4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047C5-A1F9-4A8E-9899-0A868BA34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09D20-1F24-452B-ABCF-C3820BDE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759E-516E-4344-B33B-89192C3BF2BD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9229F-182C-4135-BCF3-7EA69E79A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45369-47C2-42B3-A03F-BA0A8E17F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6607-8339-442B-A570-20D266F583E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36519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C10BC-7F6B-4B42-934C-2F66F8DC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C543C-5FAE-4F25-87F8-2CCD1D066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12290-AE7B-41CD-8ABA-700BF722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759E-516E-4344-B33B-89192C3BF2BD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E4B45-11D7-4902-BCB2-BD8018317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D0573-6A22-4199-84D9-D81D3F595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6607-8339-442B-A570-20D266F583E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36738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4A894-7EE3-4289-9706-837CD4B81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6E139-160A-43DE-8A59-1366A9FB5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339B4-2CDA-41E5-BBD8-5488D9E3E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759E-516E-4344-B33B-89192C3BF2BD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1B8CB-F7CF-4442-B140-64C64051B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7F90A-FED3-4888-8B21-DB0C4D755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6607-8339-442B-A570-20D266F583E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80259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6C59A-7FBE-4750-A8C3-86FFF0D21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A044C-6101-441B-B19C-83F96E2C88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73C11-4B75-4C06-96EF-BAC80E29C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7B0FB-A454-4FA4-B832-E9D2918CB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759E-516E-4344-B33B-89192C3BF2BD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4C487-4935-4491-B78E-F2707EB73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4DECE-EC71-4243-89C7-C7D7460C8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6607-8339-442B-A570-20D266F583E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9389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A8346-4A1F-44B0-9C0C-C49FA0164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C0A4A-1229-4DD6-B109-EA8B5695A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B38CF-7318-4F8D-88F5-2C7A981AC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300663-AA74-4506-8F73-D6007EE79F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77A856-8BBE-4E58-A1B4-C07FC6A097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102C44-C987-47C8-89C2-256CD197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759E-516E-4344-B33B-89192C3BF2BD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CF6871-917A-443D-BE82-1E7272F4A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35DA65-5DC9-4F96-813E-AC9AEA72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6607-8339-442B-A570-20D266F583E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87223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2EAF4-A8D9-4E5C-BB10-E21C75219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AC346-3DF3-42F9-BA21-10AEF1CDB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759E-516E-4344-B33B-89192C3BF2BD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BA656-D0D9-49B5-BC08-C3EA7C4A0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3C3CB-3DA0-4195-AF6E-FFD816A92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6607-8339-442B-A570-20D266F583E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9281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41041F-C950-464A-8EA7-295FD5108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759E-516E-4344-B33B-89192C3BF2BD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65F3E8-6773-47B3-9532-6DB2B959E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9CB3D-75B3-4641-A570-8145F7A45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6607-8339-442B-A570-20D266F583E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04649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709FA-E9E9-4096-A650-D052F5E41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591F9-3987-42B0-AF8D-C18FDEFFF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024D3-A8C8-4D28-87C5-40C59B58C4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0A8CC9-2305-4C01-A6D7-D57434E84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759E-516E-4344-B33B-89192C3BF2BD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75FC5-8FCB-4ED8-8580-795CFBDF5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03DF5-214F-4510-8CA3-212D0AC4F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6607-8339-442B-A570-20D266F583E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6773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8A0DB-F77C-434B-B014-362AEF3FB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0E9291-AAFB-4DE3-A91F-FC1B2EAE86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EDE152-3C06-49E4-BAE6-94471C176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B9BF7-67B5-4117-964D-0066E77C1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759E-516E-4344-B33B-89192C3BF2BD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4199A-C033-4CEF-8CC8-E1CC4374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E6B00-A878-4073-A874-DECA5CCB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6607-8339-442B-A570-20D266F583E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46966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8FE5F-0A60-4EA9-BDD3-58FF68473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72C58D-DE55-4DED-A0AC-ECDC32BF4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81825-0B42-410F-9F03-1BDD57F29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759E-516E-4344-B33B-89192C3BF2BD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0A107-BFF6-4BAE-9CB9-3DF4CE02D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98CF-83F9-407B-9E15-55FD439FA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6607-8339-442B-A570-20D266F583E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83176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ADA28C-A942-4A2B-9647-ACB65E73DE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97A7A-28D8-4A78-9CCB-55FDE7404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6C533-BA7F-49E2-888A-6CB0A7A4E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759E-516E-4344-B33B-89192C3BF2BD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28585-98A8-474B-AACB-C6F9239DC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6DA05-BC06-4E7E-9F9A-B655239A8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6607-8339-442B-A570-20D266F583E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06022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C55A67-DBA6-47F2-9942-EB3882E60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9CD4C-0908-4FF4-8D95-F4C34C519A63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3BD9F7-8EE1-4D6B-A1CF-C8D4F4F9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318FA-B12C-47D3-B948-51B31728A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91DC-FADD-48DE-8B2D-E3C99C8862BF}" type="slidenum">
              <a:rPr lang="th-TH" smtClean="0"/>
              <a:t>‹#›</a:t>
            </a:fld>
            <a:endParaRPr lang="th-TH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89B51B-21CF-4869-85E1-736CDDCBBC9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8200" y="1033145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41611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50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9D4FE4-1732-4431-AD86-9C72996D5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EC9D6-0542-4926-9BC6-09BDD15A4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07395-72A3-4292-86E4-A509DE73F8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4759E-516E-4344-B33B-89192C3BF2BD}" type="datetimeFigureOut">
              <a:rPr lang="th-TH" smtClean="0"/>
              <a:t>09/08/67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C264A-A488-427D-8E0E-205624A317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76CA1-976D-48B2-BF94-BCDEF31ABC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A6607-8339-442B-A570-20D266F583E5}" type="slidenum">
              <a:rPr lang="th-TH" smtClean="0"/>
              <a:t>‹#›</a:t>
            </a:fld>
            <a:endParaRPr lang="th-T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53594C-0FE4-4BC2-8EC5-938119A80B25}"/>
              </a:ext>
            </a:extLst>
          </p:cNvPr>
          <p:cNvSpPr txBox="1"/>
          <p:nvPr userDrawn="1"/>
        </p:nvSpPr>
        <p:spPr>
          <a:xfrm>
            <a:off x="0" y="0"/>
            <a:ext cx="12192000" cy="52322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APP170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การโอนเงินระหว่างธนาคาร (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Bank Fund Transfer)</a:t>
            </a:r>
            <a:endParaRPr lang="th-TH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66118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6DBF25-69FA-4D90-9F5F-812B8F736230}"/>
              </a:ext>
            </a:extLst>
          </p:cNvPr>
          <p:cNvSpPr txBox="1"/>
          <p:nvPr/>
        </p:nvSpPr>
        <p:spPr>
          <a:xfrm>
            <a:off x="200802" y="2413337"/>
            <a:ext cx="117903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APP170</a:t>
            </a:r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7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การโอนเงินระหว่างธนาคาร</a:t>
            </a:r>
          </a:p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(Bank Fund Transfer)</a:t>
            </a:r>
            <a:endParaRPr lang="th-TH" sz="4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9671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82BA034-0CFB-4B94-9896-835CC1EC3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277696"/>
              </p:ext>
            </p:extLst>
          </p:nvPr>
        </p:nvGraphicFramePr>
        <p:xfrm>
          <a:off x="1047360" y="771901"/>
          <a:ext cx="10531930" cy="565703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02039">
                  <a:extLst>
                    <a:ext uri="{9D8B030D-6E8A-4147-A177-3AD203B41FA5}">
                      <a16:colId xmlns:a16="http://schemas.microsoft.com/office/drawing/2014/main" val="3983567285"/>
                    </a:ext>
                  </a:extLst>
                </a:gridCol>
                <a:gridCol w="7529891">
                  <a:extLst>
                    <a:ext uri="{9D8B030D-6E8A-4147-A177-3AD203B41FA5}">
                      <a16:colId xmlns:a16="http://schemas.microsoft.com/office/drawing/2014/main" val="2876745004"/>
                    </a:ext>
                  </a:extLst>
                </a:gridCol>
              </a:tblGrid>
              <a:tr h="395623">
                <a:tc>
                  <a:txBody>
                    <a:bodyPr/>
                    <a:lstStyle/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1.กระบวนการ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(process)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APP</a:t>
                      </a:r>
                      <a:r>
                        <a:rPr lang="th-TH" sz="1800" b="1" kern="1200" dirty="0">
                          <a:solidFill>
                            <a:schemeClr val="lt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170 การโอนเงินระหว่างธนาคาร (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Bank Fund Transfer)</a:t>
                      </a:r>
                      <a:endParaRPr lang="th-TH" sz="1800" b="1" kern="1200" dirty="0">
                        <a:solidFill>
                          <a:schemeClr val="lt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06753"/>
                  </a:ext>
                </a:extLst>
              </a:tr>
              <a:tr h="68285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2.ขั้นตอนย่อย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(sub process)</a:t>
                      </a:r>
                      <a:endParaRPr lang="th-TH" sz="18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 สร้าง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New Bank Fund Transfer</a:t>
                      </a:r>
                    </a:p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 ใส่ข้อมูล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Transfer From /Transfer To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endParaRPr lang="en-US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235589"/>
                  </a:ext>
                </a:extLst>
              </a:tr>
              <a:tr h="39562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3.ข้อมูลที่ต้องใช้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(Input)</a:t>
                      </a:r>
                      <a:endParaRPr lang="th-TH" sz="18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Statement/Book Bank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indent="0">
                        <a:buNone/>
                      </a:pP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423079"/>
                  </a:ext>
                </a:extLst>
              </a:tr>
              <a:tr h="156081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4.ความเสี่ยง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(Risk)</a:t>
                      </a:r>
                      <a:endParaRPr lang="th-TH" sz="18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R1.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เลือก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bank account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ที่จะใช้ในการโอนเงินผิด</a:t>
                      </a:r>
                    </a:p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R2.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ระบุสกุลเงินที่จะโอนผิด</a:t>
                      </a:r>
                    </a:p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R3.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ระบุวันที่โอนเงินผิด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545159"/>
                  </a:ext>
                </a:extLst>
              </a:tr>
              <a:tr h="214611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5.จุดควบคุม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(Control point)</a:t>
                      </a:r>
                      <a:endParaRPr lang="th-TH" sz="18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1.1 ตรวจสอบกับเอกสาร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Statement/Book Bank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2.1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ตรวจสอบกับเอกสาร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Statement/Book Bank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3.1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ตรวจสอบกับเอกสาร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Statement/Book Bank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306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938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CC830CB-0169-4A30-A98C-1BFAE9C085F6}"/>
              </a:ext>
            </a:extLst>
          </p:cNvPr>
          <p:cNvGrpSpPr/>
          <p:nvPr/>
        </p:nvGrpSpPr>
        <p:grpSpPr>
          <a:xfrm>
            <a:off x="699796" y="1017036"/>
            <a:ext cx="10625721" cy="5747657"/>
            <a:chOff x="595894" y="939657"/>
            <a:chExt cx="11000211" cy="59183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E58438D-E464-424E-96EE-BFDF2E38B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5894" y="939657"/>
              <a:ext cx="11000211" cy="5918343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3C0A48-FB13-48C1-A75F-92B775E5A2C7}"/>
                </a:ext>
              </a:extLst>
            </p:cNvPr>
            <p:cNvSpPr/>
            <p:nvPr/>
          </p:nvSpPr>
          <p:spPr>
            <a:xfrm>
              <a:off x="1193740" y="2640799"/>
              <a:ext cx="2837084" cy="90483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46FD973-48AA-40F9-9086-E7AC20A0335F}"/>
              </a:ext>
            </a:extLst>
          </p:cNvPr>
          <p:cNvSpPr txBox="1"/>
          <p:nvPr/>
        </p:nvSpPr>
        <p:spPr>
          <a:xfrm>
            <a:off x="699796" y="597160"/>
            <a:ext cx="10625721" cy="40011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th-TH" sz="2000" dirty="0">
                <a:latin typeface="Angsana New" panose="02020603050405020304" pitchFamily="18" charset="-34"/>
                <a:cs typeface="Angsana New" panose="02020603050405020304" pitchFamily="18" charset="-34"/>
              </a:rPr>
              <a:t>ไปที่ </a:t>
            </a:r>
            <a:r>
              <a:rPr lang="en-US" sz="2000" dirty="0">
                <a:latin typeface="Angsana New" panose="02020603050405020304" pitchFamily="18" charset="-34"/>
                <a:cs typeface="Angsana New" panose="02020603050405020304" pitchFamily="18" charset="-34"/>
              </a:rPr>
              <a:t>Menu </a:t>
            </a:r>
            <a:r>
              <a:rPr lang="th-TH" sz="20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sz="2000" dirty="0">
                <a:latin typeface="Angsana New" panose="02020603050405020304" pitchFamily="18" charset="-34"/>
                <a:cs typeface="Angsana New" panose="02020603050405020304" pitchFamily="18" charset="-34"/>
              </a:rPr>
              <a:t>Bank Funds Transfer</a:t>
            </a:r>
            <a:endParaRPr lang="th-TH" sz="2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55014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B68DB31-7EB2-44FD-AF89-80606155B2ED}"/>
              </a:ext>
            </a:extLst>
          </p:cNvPr>
          <p:cNvGrpSpPr/>
          <p:nvPr/>
        </p:nvGrpSpPr>
        <p:grpSpPr>
          <a:xfrm>
            <a:off x="1081736" y="620115"/>
            <a:ext cx="10028527" cy="5561784"/>
            <a:chOff x="984245" y="381816"/>
            <a:chExt cx="10028527" cy="556178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D91515D-AC28-4068-BA61-D5A9DA91606E}"/>
                </a:ext>
              </a:extLst>
            </p:cNvPr>
            <p:cNvGrpSpPr/>
            <p:nvPr/>
          </p:nvGrpSpPr>
          <p:grpSpPr>
            <a:xfrm>
              <a:off x="984245" y="381816"/>
              <a:ext cx="10028527" cy="5561784"/>
              <a:chOff x="685665" y="279179"/>
              <a:chExt cx="10028527" cy="5561784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59B9798-8528-42E0-B422-1FB84333C8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85665" y="650405"/>
                <a:ext cx="10023870" cy="5190558"/>
              </a:xfrm>
              <a:prstGeom prst="rect">
                <a:avLst/>
              </a:prstGeom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B6FB516-C460-4BAC-9E52-9EEC5FE3F9E0}"/>
                  </a:ext>
                </a:extLst>
              </p:cNvPr>
              <p:cNvSpPr/>
              <p:nvPr/>
            </p:nvSpPr>
            <p:spPr>
              <a:xfrm>
                <a:off x="699669" y="998289"/>
                <a:ext cx="295403" cy="26458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80150E-343C-4429-B5E2-31C89A9AA8F1}"/>
                  </a:ext>
                </a:extLst>
              </p:cNvPr>
              <p:cNvSpPr txBox="1"/>
              <p:nvPr/>
            </p:nvSpPr>
            <p:spPr>
              <a:xfrm>
                <a:off x="685665" y="279179"/>
                <a:ext cx="10028527" cy="40011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 rtlCol="0">
                <a:spAutoFit/>
              </a:bodyPr>
              <a:lstStyle/>
              <a:p>
                <a:r>
                  <a:rPr lang="th-TH" sz="20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เลือก         </a:t>
                </a:r>
                <a:r>
                  <a:rPr lang="en-US" sz="20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New</a:t>
                </a:r>
                <a:endPara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BE1C8BF-889A-48B0-8329-E475CE1B6B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81" t="6073" r="97748" b="91119"/>
            <a:stretch/>
          </p:blipFill>
          <p:spPr>
            <a:xfrm>
              <a:off x="1481125" y="442766"/>
              <a:ext cx="231692" cy="2548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2642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2F9CAD2-956D-4ED6-9F83-D75549673469}"/>
              </a:ext>
            </a:extLst>
          </p:cNvPr>
          <p:cNvGrpSpPr/>
          <p:nvPr/>
        </p:nvGrpSpPr>
        <p:grpSpPr>
          <a:xfrm>
            <a:off x="225836" y="1028343"/>
            <a:ext cx="11740328" cy="4777453"/>
            <a:chOff x="221037" y="1043731"/>
            <a:chExt cx="11740328" cy="477745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4122584-B47C-4773-B175-8A8AC64BA6CC}"/>
                </a:ext>
              </a:extLst>
            </p:cNvPr>
            <p:cNvGrpSpPr/>
            <p:nvPr/>
          </p:nvGrpSpPr>
          <p:grpSpPr>
            <a:xfrm>
              <a:off x="221037" y="1043731"/>
              <a:ext cx="11740328" cy="4777453"/>
              <a:chOff x="221038" y="718455"/>
              <a:chExt cx="11740328" cy="4777453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78021A-E6BC-459C-A2FF-40E0FBEE6261}"/>
                  </a:ext>
                </a:extLst>
              </p:cNvPr>
              <p:cNvSpPr txBox="1"/>
              <p:nvPr/>
            </p:nvSpPr>
            <p:spPr>
              <a:xfrm>
                <a:off x="9384072" y="718455"/>
                <a:ext cx="2577294" cy="4770537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 rtlCol="0">
                <a:spAutoFit/>
              </a:bodyPr>
              <a:lstStyle/>
              <a:p>
                <a:r>
                  <a:rPr lang="en-US" sz="1800" b="1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1. Apply Date :</a:t>
                </a:r>
                <a:r>
                  <a:rPr lang="th-TH" sz="1800" b="1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th-TH" sz="16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ใส่วันที่ต้องการให้บันทึกบัญชี</a:t>
                </a:r>
              </a:p>
              <a:p>
                <a:r>
                  <a:rPr lang="en-US" sz="1800" b="1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2. Document Type : </a:t>
                </a:r>
                <a:r>
                  <a:rPr lang="th-TH" sz="16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เลือก </a:t>
                </a:r>
                <a:r>
                  <a:rPr lang="en-US" sz="16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Bank Funds Transfer</a:t>
                </a:r>
              </a:p>
              <a:p>
                <a:endParaRPr lang="en-US" sz="16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r>
                  <a:rPr lang="en-US" sz="1800" b="1" dirty="0">
                    <a:solidFill>
                      <a:srgbClr val="0000FF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ingdings 3" panose="05040102010807070707" pitchFamily="18" charset="2"/>
                  </a:rPr>
                  <a:t> T</a:t>
                </a:r>
                <a:r>
                  <a:rPr lang="en-US" sz="1800" b="1" dirty="0">
                    <a:solidFill>
                      <a:srgbClr val="0000FF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ransfer Form :</a:t>
                </a:r>
              </a:p>
              <a:p>
                <a:r>
                  <a:rPr lang="en-US" sz="1800" b="1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3. Bank :</a:t>
                </a:r>
                <a:r>
                  <a:rPr lang="th-TH" sz="1800" b="1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th-TH" sz="16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เลือกบัญชีที่ต้องการโอนเงินออก</a:t>
                </a:r>
                <a:endPara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r>
                  <a:rPr lang="en-US" sz="1800" b="1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4. Amount :</a:t>
                </a:r>
                <a:r>
                  <a:rPr lang="th-TH" sz="1800" b="1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th-TH" sz="16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ใส่จำนวนเงินที่ต้องการโอนออก</a:t>
                </a:r>
              </a:p>
              <a:p>
                <a:r>
                  <a:rPr lang="en-US" sz="1800" dirty="0">
                    <a:solidFill>
                      <a:srgbClr val="0000FF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ingdings 3" panose="05040102010807070707" pitchFamily="18" charset="2"/>
                  </a:rPr>
                  <a:t></a:t>
                </a:r>
                <a:r>
                  <a:rPr lang="en-US" sz="1800" b="1" dirty="0">
                    <a:solidFill>
                      <a:srgbClr val="0000FF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Transfer to :</a:t>
                </a:r>
              </a:p>
              <a:p>
                <a:r>
                  <a:rPr lang="en-US" sz="1800" b="1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5. Bank :</a:t>
                </a:r>
                <a:r>
                  <a:rPr lang="th-TH" sz="1800" b="1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th-TH" sz="16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เลือกบัญชีที่ต้องการโอนเงินเข้า</a:t>
                </a:r>
                <a:endPara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r>
                  <a:rPr lang="en-US" sz="1800" b="1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6. Rate Type :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th-TH" sz="16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เลือก </a:t>
                </a:r>
                <a:r>
                  <a:rPr lang="en-US" sz="16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Main Rate Type </a:t>
                </a:r>
                <a:r>
                  <a:rPr lang="th-TH" sz="16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เสมอ</a:t>
                </a:r>
              </a:p>
              <a:p>
                <a:endParaRPr lang="en-US" sz="16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r>
                  <a:rPr lang="th-TH" sz="16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**</a:t>
                </a:r>
                <a:r>
                  <a:rPr lang="en-US" sz="16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Current Balance :</a:t>
                </a:r>
                <a:r>
                  <a:rPr lang="th-TH" sz="16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จะแสดงยอดเงินคงเหลือในบัญชี</a:t>
                </a:r>
              </a:p>
              <a:p>
                <a:endParaRPr lang="th-TH" sz="16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endParaRPr lang="th-TH" sz="16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C62D0331-8487-4949-A84E-CFA07296108F}"/>
                  </a:ext>
                </a:extLst>
              </p:cNvPr>
              <p:cNvGrpSpPr/>
              <p:nvPr/>
            </p:nvGrpSpPr>
            <p:grpSpPr>
              <a:xfrm>
                <a:off x="221038" y="725371"/>
                <a:ext cx="9155957" cy="4770537"/>
                <a:chOff x="640990" y="669293"/>
                <a:chExt cx="9088118" cy="4706007"/>
              </a:xfrm>
            </p:grpSpPr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A308419E-A00F-4EE7-8520-3EF84DB56D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40990" y="669293"/>
                  <a:ext cx="9088118" cy="4706007"/>
                </a:xfrm>
                <a:prstGeom prst="rect">
                  <a:avLst/>
                </a:prstGeom>
              </p:spPr>
            </p:pic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D9CF1A33-CB8A-4647-B863-1E8FDB973AA8}"/>
                    </a:ext>
                  </a:extLst>
                </p:cNvPr>
                <p:cNvSpPr/>
                <p:nvPr/>
              </p:nvSpPr>
              <p:spPr>
                <a:xfrm>
                  <a:off x="7549275" y="2377752"/>
                  <a:ext cx="1911966" cy="202294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A772DB1F-E337-4423-9A84-FF54FAE8158F}"/>
                    </a:ext>
                  </a:extLst>
                </p:cNvPr>
                <p:cNvSpPr/>
                <p:nvPr/>
              </p:nvSpPr>
              <p:spPr>
                <a:xfrm>
                  <a:off x="4529136" y="1607326"/>
                  <a:ext cx="1311828" cy="202294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193625C7-8580-4C6A-81EB-321137FE8057}"/>
                    </a:ext>
                  </a:extLst>
                </p:cNvPr>
                <p:cNvSpPr/>
                <p:nvPr/>
              </p:nvSpPr>
              <p:spPr>
                <a:xfrm>
                  <a:off x="4081693" y="2377752"/>
                  <a:ext cx="1939382" cy="202294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997BBE32-9B7A-4023-A4B6-77E8085CAE19}"/>
                    </a:ext>
                  </a:extLst>
                </p:cNvPr>
                <p:cNvSpPr/>
                <p:nvPr/>
              </p:nvSpPr>
              <p:spPr>
                <a:xfrm>
                  <a:off x="4081693" y="2813181"/>
                  <a:ext cx="1414037" cy="202294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FFE7EA9-BD19-4D44-934E-506A085E57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2894" t="14024" r="41591" b="57992"/>
            <a:stretch/>
          </p:blipFill>
          <p:spPr>
            <a:xfrm>
              <a:off x="3166762" y="1874549"/>
              <a:ext cx="214533" cy="33206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FE640A0-E79E-4D21-B8F4-C7B919030B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9840" t="15037" r="23666" b="59706"/>
            <a:stretch/>
          </p:blipFill>
          <p:spPr>
            <a:xfrm>
              <a:off x="2843821" y="2151685"/>
              <a:ext cx="231052" cy="30361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FE4761F-7D72-403E-9E9F-4DEDEB0E0D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7926" t="14443" r="7773" b="60559"/>
            <a:stretch/>
          </p:blipFill>
          <p:spPr>
            <a:xfrm>
              <a:off x="3074182" y="2667097"/>
              <a:ext cx="214533" cy="3218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D84B58-1BE6-4E6D-B6C5-03331760EB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4547" t="42165" r="57105" b="31737"/>
            <a:stretch/>
          </p:blipFill>
          <p:spPr>
            <a:xfrm>
              <a:off x="2906923" y="3153897"/>
              <a:ext cx="231052" cy="282019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B8B1CFF-0B9C-40BF-A4A5-227BC5F863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1238" t="41484" r="40999" b="32889"/>
            <a:stretch/>
          </p:blipFill>
          <p:spPr>
            <a:xfrm>
              <a:off x="6538777" y="2703562"/>
              <a:ext cx="214533" cy="26558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A3D3C69-275F-42AA-864B-2B9EE2B9C5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0228" t="41463" r="23508" b="34965"/>
            <a:stretch/>
          </p:blipFill>
          <p:spPr>
            <a:xfrm>
              <a:off x="6307383" y="3662153"/>
              <a:ext cx="187925" cy="233722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98A31BB-7702-4C6C-B7B4-DDAC1A0E9267}"/>
                </a:ext>
              </a:extLst>
            </p:cNvPr>
            <p:cNvSpPr/>
            <p:nvPr/>
          </p:nvSpPr>
          <p:spPr>
            <a:xfrm>
              <a:off x="7180889" y="3664561"/>
              <a:ext cx="1390844" cy="23131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3658242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A823CE1-6127-40C1-9968-F18AB4683092}"/>
              </a:ext>
            </a:extLst>
          </p:cNvPr>
          <p:cNvGrpSpPr/>
          <p:nvPr/>
        </p:nvGrpSpPr>
        <p:grpSpPr>
          <a:xfrm>
            <a:off x="1038808" y="578498"/>
            <a:ext cx="10114383" cy="5701003"/>
            <a:chOff x="937616" y="918291"/>
            <a:chExt cx="9764596" cy="537987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6DBC3B8-00DB-47DC-BAAF-53EF9FBCC2B7}"/>
                </a:ext>
              </a:extLst>
            </p:cNvPr>
            <p:cNvGrpSpPr/>
            <p:nvPr/>
          </p:nvGrpSpPr>
          <p:grpSpPr>
            <a:xfrm>
              <a:off x="937616" y="1287623"/>
              <a:ext cx="9764596" cy="5010539"/>
              <a:chOff x="695020" y="849085"/>
              <a:chExt cx="8934755" cy="4602348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8A1904EA-DE68-4F49-A7B1-34EE8CC972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27398" t="32148" r="22830" b="20200"/>
              <a:stretch/>
            </p:blipFill>
            <p:spPr>
              <a:xfrm>
                <a:off x="695020" y="849085"/>
                <a:ext cx="8934755" cy="4602348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BFD5175-37C6-4B17-8A2C-3CD3397C548A}"/>
                  </a:ext>
                </a:extLst>
              </p:cNvPr>
              <p:cNvSpPr/>
              <p:nvPr/>
            </p:nvSpPr>
            <p:spPr>
              <a:xfrm>
                <a:off x="2783464" y="4071081"/>
                <a:ext cx="699525" cy="20059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72968F6-EDEE-4A26-A9FF-A0F234A8F453}"/>
                  </a:ext>
                </a:extLst>
              </p:cNvPr>
              <p:cNvSpPr/>
              <p:nvPr/>
            </p:nvSpPr>
            <p:spPr>
              <a:xfrm>
                <a:off x="6058139" y="3928068"/>
                <a:ext cx="815167" cy="20059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49E3BF7-F74C-4CF4-9B8F-64F3011BA3FE}"/>
                </a:ext>
              </a:extLst>
            </p:cNvPr>
            <p:cNvSpPr txBox="1"/>
            <p:nvPr/>
          </p:nvSpPr>
          <p:spPr>
            <a:xfrm>
              <a:off x="937616" y="918291"/>
              <a:ext cx="9764596" cy="377572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กด                      ระบบจะขึ้น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Warning :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Confirm transfer?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 YES</a:t>
              </a:r>
              <a:endParaRPr lang="en-US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356700F-B92E-45C3-A358-9C72FF8E2E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8954" t="65473" r="57147" b="32576"/>
            <a:stretch/>
          </p:blipFill>
          <p:spPr>
            <a:xfrm>
              <a:off x="1251269" y="1007497"/>
              <a:ext cx="718458" cy="1934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7768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5DFC058-6BFF-400D-9685-D8BF73355DA4}"/>
              </a:ext>
            </a:extLst>
          </p:cNvPr>
          <p:cNvGrpSpPr/>
          <p:nvPr/>
        </p:nvGrpSpPr>
        <p:grpSpPr>
          <a:xfrm>
            <a:off x="1236104" y="696058"/>
            <a:ext cx="9719792" cy="5437890"/>
            <a:chOff x="755778" y="665249"/>
            <a:chExt cx="9719792" cy="543789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22CE571-5ABF-4F5A-87CD-3F2545A0E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5779" y="1070039"/>
              <a:ext cx="9719791" cy="50331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0277930-8F2E-4ABB-BB82-4BDFB245E41E}"/>
                </a:ext>
              </a:extLst>
            </p:cNvPr>
            <p:cNvGrpSpPr/>
            <p:nvPr/>
          </p:nvGrpSpPr>
          <p:grpSpPr>
            <a:xfrm>
              <a:off x="4472473" y="3166130"/>
              <a:ext cx="3247053" cy="1530220"/>
              <a:chOff x="4442098" y="2765810"/>
              <a:chExt cx="3247053" cy="153022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F63A0E42-84B4-441E-A350-A40F58A915A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2745" t="36890" r="31527" b="32860"/>
              <a:stretch/>
            </p:blipFill>
            <p:spPr>
              <a:xfrm>
                <a:off x="4442098" y="2765810"/>
                <a:ext cx="3247053" cy="1530220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ADEF9D7-1F14-41F9-A788-F3A8B7D7EEBA}"/>
                  </a:ext>
                </a:extLst>
              </p:cNvPr>
              <p:cNvSpPr/>
              <p:nvPr/>
            </p:nvSpPr>
            <p:spPr>
              <a:xfrm>
                <a:off x="6681006" y="3933702"/>
                <a:ext cx="824693" cy="26682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6730DD5-0AA2-458F-85E4-9B0144221E29}"/>
                </a:ext>
              </a:extLst>
            </p:cNvPr>
            <p:cNvSpPr txBox="1"/>
            <p:nvPr/>
          </p:nvSpPr>
          <p:spPr>
            <a:xfrm>
              <a:off x="755778" y="665249"/>
              <a:ext cx="9719791" cy="40011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โปรแกรมจะขึ้น แจ้งเตือน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Warning : Transfer posting process has been submitted.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OK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(ระบบทำการบันทึกบัญชีเรียบร้อยแล้ว)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0193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358B01-1E15-4720-A264-09A7A2B5DB0F}"/>
              </a:ext>
            </a:extLst>
          </p:cNvPr>
          <p:cNvSpPr/>
          <p:nvPr/>
        </p:nvSpPr>
        <p:spPr>
          <a:xfrm>
            <a:off x="9010270" y="6177066"/>
            <a:ext cx="277428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Create by Arunee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990521-C9D0-4899-9CF1-8A29FFB68801}"/>
              </a:ext>
            </a:extLst>
          </p:cNvPr>
          <p:cNvSpPr/>
          <p:nvPr/>
        </p:nvSpPr>
        <p:spPr>
          <a:xfrm>
            <a:off x="4418917" y="2482143"/>
            <a:ext cx="3522118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THE END</a:t>
            </a:r>
            <a:endParaRPr lang="th-TH" sz="72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1368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261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Angsana New</vt:lpstr>
      <vt:lpstr>AngsanaUPC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Arunee Songprasert</dc:creator>
  <cp:lastModifiedBy>Arunee Songprasert</cp:lastModifiedBy>
  <cp:revision>24</cp:revision>
  <dcterms:created xsi:type="dcterms:W3CDTF">2024-02-26T10:13:54Z</dcterms:created>
  <dcterms:modified xsi:type="dcterms:W3CDTF">2024-08-09T02:25:37Z</dcterms:modified>
</cp:coreProperties>
</file>