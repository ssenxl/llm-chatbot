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61A8F-77BA-40B6-94A3-C69BA906B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F19016-3CF7-4D33-B3B3-D139F1EA8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1F874-A33F-47FF-B28F-933315F0E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B956A-1F7B-4BA1-90DD-D5D7FA579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9B50A-55CC-4E4E-AA4A-9B7E60A2C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80292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0EDD3-B9B8-46B1-A577-41BAE20E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AE524-E16C-4D0D-95C8-DFFCFA847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DF065-281A-4E2A-B3BB-8DAC214D7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A0833-3EAB-4FD9-865C-CDB54F49E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5B9C8-11D1-41DC-86DB-FFFDC8AE2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11084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CE552-A744-4649-9E37-BBF81EF20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A005C-A352-4203-84A5-607FCBE98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C44BE-B379-44C3-BEB0-3A01271D2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262A7-8C17-4A2D-9EB3-940D1A2CD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C9926-BB53-4E11-B0E8-A523D58DA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6714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2C052-8D9F-48E2-BEC2-D8284FC4B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C1378-200E-4511-B6D2-5D7CE0DD45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82AB7-3650-44AE-AFEC-DEEA7F835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E3D6B-87B7-483F-9614-36DE269F7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9B6BA-65A4-45C1-85DD-D36A891B0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5EE74-7ADC-4FAD-BDF6-C39DD223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24061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A834D-DB40-48AA-9DD4-625CAEDED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6D117-F503-49B5-8D87-A311AE5DA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22285-32C0-45FA-B5D7-DDDB5ED0D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F4288-F7A3-4BB7-8994-6AAD914354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9E6EDA-2874-4131-9F24-6F5AEB55DE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FA9F78-8EBB-4BDD-AEA5-8D4F95186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63A57F-9EA4-449B-BF7C-C8A383C89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D5BB06-3D71-4E63-914F-CA7E555F7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54526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A79C9-58CA-4151-A5FE-04C9EFD00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08BFFB-6DCE-409C-8583-38C6E06BC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D0DD83-B282-453A-ACC1-81C852B3A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1771A4-F1E0-4044-8B25-2690C515B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50714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E77572-A98B-4682-A6F6-F8456133E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A4E14-8B75-4C7C-AA6F-C47A92625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60C90-3CF7-4B77-9684-CD869A067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74941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19547-83D2-4F56-BD3B-249F773E1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6948E-2FA0-45E9-8A05-0A0138075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F6B34-7432-4020-83DE-B5C17EF30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DE22E-19D8-4E41-9490-C31CD5292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9A9CC-094C-44A3-BC97-91798AF88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C23AB-B7B4-4418-9743-D10FCEC4F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60680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29676-1F53-4379-9462-9756A6A32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8B3519-92F6-4364-97F8-024EA1C2D9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4CA5B-1BCB-441A-ADCB-986FB3280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C8B28-2C19-4B21-B69B-15A538C3D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022DF-8F39-4525-BB45-852FA7AF6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B7C06-F693-479D-A9EA-F4F241EA9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45059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451C8-FDAF-414F-8001-46C1E70F5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E4089-1EFC-4003-BC52-7C8F51ECC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597D6-093A-4BC2-AD39-30DF6F36B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18218-4263-4D1B-9C8B-973AED8A9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86CB6-5929-42A7-922D-C80E0CD9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85179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6C3C1B-81E9-4EC3-96C9-E19F4CFB87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4C75D2-3AD8-4A47-9A9C-1748E584A1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9D058-8A37-401C-8005-DE27977AF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68DE5-2B26-40A5-9827-B5FA565BD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4877B-CB8B-41B0-AE35-F75DDE4FD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08330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4DF43C-73F7-4AC9-99DE-586F2106F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6F9D9-B392-4968-B0EF-AB54F54D8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9727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50044-441E-4B1C-964D-E59A444193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133C9-D8E3-455D-B4A4-3DE59B1B2F80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186F7-3F02-4EF7-93CF-024D7A931B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6DEA5-7326-42F6-A830-28448A9BA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761449-1030-460F-A257-FDA04A4522F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09726" y="189470"/>
            <a:ext cx="905602" cy="90560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5EFC24-B35A-4543-B8EC-6495ABB4B0AE}"/>
              </a:ext>
            </a:extLst>
          </p:cNvPr>
          <p:cNvSpPr txBox="1"/>
          <p:nvPr userDrawn="1"/>
        </p:nvSpPr>
        <p:spPr>
          <a:xfrm>
            <a:off x="1345735" y="258535"/>
            <a:ext cx="9375396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latin typeface="AngsanaUPC" panose="02020603050405020304" pitchFamily="18" charset="-34"/>
                <a:cs typeface="AngsanaUPC" panose="02020603050405020304" pitchFamily="18" charset="-34"/>
              </a:rPr>
              <a:t>APP</a:t>
            </a:r>
            <a:r>
              <a:rPr lang="th-TH" sz="2500" dirty="0">
                <a:latin typeface="AngsanaUPC" panose="02020603050405020304" pitchFamily="18" charset="-34"/>
                <a:cs typeface="AngsanaUPC" panose="02020603050405020304" pitchFamily="18" charset="-34"/>
              </a:rPr>
              <a:t>150 การปรับปรุงยอดใบแจ้งหนี้ที่ยังเปิดอยู่ (</a:t>
            </a:r>
            <a:r>
              <a:rPr lang="en-US" sz="2500" dirty="0">
                <a:latin typeface="AngsanaUPC" panose="02020603050405020304" pitchFamily="18" charset="-34"/>
                <a:cs typeface="AngsanaUPC" panose="02020603050405020304" pitchFamily="18" charset="-34"/>
              </a:rPr>
              <a:t>ADJUST AN OPEN INVOICE)</a:t>
            </a:r>
            <a:endParaRPr lang="th-TH" sz="25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r>
              <a:rPr lang="th-TH" u="sng" dirty="0"/>
              <a:t>										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AFF8DF-DF70-49ED-9AA1-567D9CA3F3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l="1967" t="33395" r="296" b="29786"/>
          <a:stretch/>
        </p:blipFill>
        <p:spPr>
          <a:xfrm>
            <a:off x="9617789" y="-38544"/>
            <a:ext cx="2456951" cy="74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69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92F3F0-D0F2-4762-B0ED-3E6F6AADE654}"/>
              </a:ext>
            </a:extLst>
          </p:cNvPr>
          <p:cNvSpPr txBox="1"/>
          <p:nvPr/>
        </p:nvSpPr>
        <p:spPr>
          <a:xfrm>
            <a:off x="1270000" y="2548467"/>
            <a:ext cx="9829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APP150 </a:t>
            </a:r>
            <a:r>
              <a:rPr lang="th-TH" sz="60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การปรับปรุงยอดใบแจ้งหนี้ที่ยังเปิดอยู่ </a:t>
            </a:r>
            <a:r>
              <a:rPr lang="en-US" sz="60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(ADJUST AN OPEN INVOICE)</a:t>
            </a:r>
            <a:endParaRPr lang="th-TH" sz="60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71605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5E0259-2E2B-465E-9B52-0D09AFF9E6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735" b="34357"/>
          <a:stretch/>
        </p:blipFill>
        <p:spPr>
          <a:xfrm>
            <a:off x="1966679" y="1359798"/>
            <a:ext cx="9586401" cy="488013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0D09E31-FBB0-4391-AAEF-634E5BC5FE99}"/>
              </a:ext>
            </a:extLst>
          </p:cNvPr>
          <p:cNvSpPr/>
          <p:nvPr/>
        </p:nvSpPr>
        <p:spPr>
          <a:xfrm>
            <a:off x="3606754" y="1921933"/>
            <a:ext cx="1498646" cy="37485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37CF35-6D65-419D-A180-EC494DCDC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70" y="2333806"/>
            <a:ext cx="2738065" cy="38181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42772A8-344A-4273-92CE-D84A545362F0}"/>
              </a:ext>
            </a:extLst>
          </p:cNvPr>
          <p:cNvSpPr/>
          <p:nvPr/>
        </p:nvSpPr>
        <p:spPr>
          <a:xfrm>
            <a:off x="1170698" y="5514822"/>
            <a:ext cx="1081826" cy="32717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ounded Rectangular Callout 11">
            <a:extLst>
              <a:ext uri="{FF2B5EF4-FFF2-40B4-BE49-F238E27FC236}">
                <a16:creationId xmlns:a16="http://schemas.microsoft.com/office/drawing/2014/main" id="{13AC5BE7-EB81-4476-94E9-2A62A27D3093}"/>
              </a:ext>
            </a:extLst>
          </p:cNvPr>
          <p:cNvSpPr/>
          <p:nvPr/>
        </p:nvSpPr>
        <p:spPr>
          <a:xfrm>
            <a:off x="2252524" y="5012775"/>
            <a:ext cx="1180770" cy="406044"/>
          </a:xfrm>
          <a:prstGeom prst="wedgeRoundRectCallout">
            <a:avLst>
              <a:gd name="adj1" fmla="val -37738"/>
              <a:gd name="adj2" fmla="val 66025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1.Adjustment</a:t>
            </a:r>
            <a:endParaRPr lang="th-TH" sz="1200" dirty="0">
              <a:solidFill>
                <a:schemeClr val="tx1"/>
              </a:solidFill>
            </a:endParaRPr>
          </a:p>
        </p:txBody>
      </p:sp>
      <p:sp>
        <p:nvSpPr>
          <p:cNvPr id="7" name="Rounded Rectangular Callout 12">
            <a:extLst>
              <a:ext uri="{FF2B5EF4-FFF2-40B4-BE49-F238E27FC236}">
                <a16:creationId xmlns:a16="http://schemas.microsoft.com/office/drawing/2014/main" id="{BCF9E02D-B597-43F9-ACBC-3A5E203FD140}"/>
              </a:ext>
            </a:extLst>
          </p:cNvPr>
          <p:cNvSpPr/>
          <p:nvPr/>
        </p:nvSpPr>
        <p:spPr>
          <a:xfrm>
            <a:off x="4900921" y="1362642"/>
            <a:ext cx="1498646" cy="307119"/>
          </a:xfrm>
          <a:prstGeom prst="wedgeRoundRectCallout">
            <a:avLst>
              <a:gd name="adj1" fmla="val -45476"/>
              <a:gd name="adj2" fmla="val 9048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2.Supplier</a:t>
            </a:r>
            <a:endParaRPr lang="th-TH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35376D-2DD3-45E4-8DB7-CCE25A0FC065}"/>
              </a:ext>
            </a:extLst>
          </p:cNvPr>
          <p:cNvSpPr/>
          <p:nvPr/>
        </p:nvSpPr>
        <p:spPr>
          <a:xfrm>
            <a:off x="7448603" y="1921933"/>
            <a:ext cx="4071027" cy="136313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ounded Rectangle 16">
            <a:extLst>
              <a:ext uri="{FF2B5EF4-FFF2-40B4-BE49-F238E27FC236}">
                <a16:creationId xmlns:a16="http://schemas.microsoft.com/office/drawing/2014/main" id="{77F7AC9D-D63D-435E-9DC5-3FE75EEB0C63}"/>
              </a:ext>
            </a:extLst>
          </p:cNvPr>
          <p:cNvSpPr/>
          <p:nvPr/>
        </p:nvSpPr>
        <p:spPr>
          <a:xfrm>
            <a:off x="7620789" y="3741012"/>
            <a:ext cx="3318143" cy="1998134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th-TH" sz="2400" dirty="0">
              <a:cs typeface="+mj-cs"/>
            </a:endParaRPr>
          </a:p>
          <a:p>
            <a:r>
              <a:rPr lang="th-TH" sz="2200" dirty="0">
                <a:cs typeface="+mj-cs"/>
              </a:rPr>
              <a:t>1.เข้ามาที่ </a:t>
            </a:r>
            <a:r>
              <a:rPr lang="en-US" sz="2200" dirty="0">
                <a:cs typeface="+mj-cs"/>
              </a:rPr>
              <a:t>Menu </a:t>
            </a:r>
            <a:r>
              <a:rPr lang="en-US" sz="2200" u="sng" dirty="0">
                <a:solidFill>
                  <a:srgbClr val="00B0F0"/>
                </a:solidFill>
                <a:cs typeface="+mj-cs"/>
              </a:rPr>
              <a:t>Adjustment</a:t>
            </a:r>
          </a:p>
          <a:p>
            <a:r>
              <a:rPr lang="th-TH" sz="2200" dirty="0">
                <a:cs typeface="+mj-cs"/>
              </a:rPr>
              <a:t>2.คลิกที่ช่อง </a:t>
            </a:r>
            <a:r>
              <a:rPr lang="en-US" sz="2200" u="sng" dirty="0">
                <a:solidFill>
                  <a:srgbClr val="00B0F0"/>
                </a:solidFill>
                <a:cs typeface="+mj-cs"/>
              </a:rPr>
              <a:t>Supplier</a:t>
            </a:r>
            <a:r>
              <a:rPr lang="en-US" sz="2200" dirty="0">
                <a:cs typeface="+mj-cs"/>
              </a:rPr>
              <a:t> </a:t>
            </a:r>
            <a:r>
              <a:rPr lang="th-TH" sz="2200" dirty="0">
                <a:cs typeface="+mj-cs"/>
              </a:rPr>
              <a:t>เพื่อค้นหา (กรณีที่ทราบสามารถระบุรหัสเจ้าหนี้ได้เลยค่ะ)</a:t>
            </a:r>
          </a:p>
          <a:p>
            <a:r>
              <a:rPr lang="th-TH" sz="2200" dirty="0">
                <a:cs typeface="+mj-cs"/>
              </a:rPr>
              <a:t>3.ข้อมูลที่เราค้นหาจะโชว์ขึ้นมา</a:t>
            </a:r>
          </a:p>
          <a:p>
            <a:pPr algn="ctr"/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192064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8210CA-EFBB-496B-A1A5-AFE34800AE51}"/>
              </a:ext>
            </a:extLst>
          </p:cNvPr>
          <p:cNvPicPr/>
          <p:nvPr/>
        </p:nvPicPr>
        <p:blipFill rotWithShape="1">
          <a:blip r:embed="rId2"/>
          <a:srcRect l="17833" t="9046" r="5618" b="29910"/>
          <a:stretch/>
        </p:blipFill>
        <p:spPr bwMode="auto">
          <a:xfrm>
            <a:off x="1918953" y="1368380"/>
            <a:ext cx="7750977" cy="41869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7AF82CF-DB37-4853-B82E-7D64165C12C6}"/>
              </a:ext>
            </a:extLst>
          </p:cNvPr>
          <p:cNvSpPr/>
          <p:nvPr/>
        </p:nvSpPr>
        <p:spPr>
          <a:xfrm>
            <a:off x="3745227" y="3354861"/>
            <a:ext cx="5450305" cy="85424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2818D5-738F-491E-977F-2050BD005EFE}"/>
              </a:ext>
            </a:extLst>
          </p:cNvPr>
          <p:cNvSpPr/>
          <p:nvPr/>
        </p:nvSpPr>
        <p:spPr>
          <a:xfrm>
            <a:off x="2253804" y="1803041"/>
            <a:ext cx="1352281" cy="29621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ounded Rectangular Callout 5">
            <a:extLst>
              <a:ext uri="{FF2B5EF4-FFF2-40B4-BE49-F238E27FC236}">
                <a16:creationId xmlns:a16="http://schemas.microsoft.com/office/drawing/2014/main" id="{90C3FF1C-E9D6-488C-853A-1C3A5D99485B}"/>
              </a:ext>
            </a:extLst>
          </p:cNvPr>
          <p:cNvSpPr/>
          <p:nvPr/>
        </p:nvSpPr>
        <p:spPr>
          <a:xfrm>
            <a:off x="618610" y="1500388"/>
            <a:ext cx="1416676" cy="450760"/>
          </a:xfrm>
          <a:prstGeom prst="wedgeRoundRectCallout">
            <a:avLst>
              <a:gd name="adj1" fmla="val 59326"/>
              <a:gd name="adj2" fmla="val 65357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4.Invoice</a:t>
            </a:r>
            <a:endParaRPr lang="th-TH" sz="1400" dirty="0">
              <a:solidFill>
                <a:srgbClr val="0070C0"/>
              </a:solidFill>
            </a:endParaRPr>
          </a:p>
        </p:txBody>
      </p:sp>
      <p:sp>
        <p:nvSpPr>
          <p:cNvPr id="6" name="Rounded Rectangular Callout 8">
            <a:extLst>
              <a:ext uri="{FF2B5EF4-FFF2-40B4-BE49-F238E27FC236}">
                <a16:creationId xmlns:a16="http://schemas.microsoft.com/office/drawing/2014/main" id="{2CC4521A-E7CF-4C74-97A9-689F9ABD6BEC}"/>
              </a:ext>
            </a:extLst>
          </p:cNvPr>
          <p:cNvSpPr/>
          <p:nvPr/>
        </p:nvSpPr>
        <p:spPr>
          <a:xfrm>
            <a:off x="2675798" y="2989764"/>
            <a:ext cx="850006" cy="296214"/>
          </a:xfrm>
          <a:prstGeom prst="wedgeRoundRectCallout">
            <a:avLst>
              <a:gd name="adj1" fmla="val 65531"/>
              <a:gd name="adj2" fmla="val 105978"/>
              <a:gd name="adj3" fmla="val 16667"/>
            </a:avLst>
          </a:prstGeom>
          <a:solidFill>
            <a:srgbClr val="FFFFCC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0070C0"/>
                </a:solidFill>
              </a:rPr>
              <a:t>5.</a:t>
            </a:r>
            <a:endParaRPr lang="th-TH" sz="1800" dirty="0">
              <a:solidFill>
                <a:srgbClr val="0070C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C58085-6CFD-4FEB-9315-39E672EB8EE8}"/>
              </a:ext>
            </a:extLst>
          </p:cNvPr>
          <p:cNvSpPr/>
          <p:nvPr/>
        </p:nvSpPr>
        <p:spPr>
          <a:xfrm>
            <a:off x="3587690" y="5183746"/>
            <a:ext cx="746974" cy="25757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ounded Rectangular Callout 10">
            <a:extLst>
              <a:ext uri="{FF2B5EF4-FFF2-40B4-BE49-F238E27FC236}">
                <a16:creationId xmlns:a16="http://schemas.microsoft.com/office/drawing/2014/main" id="{F51DA43A-80DD-4383-BF8D-795944924E82}"/>
              </a:ext>
            </a:extLst>
          </p:cNvPr>
          <p:cNvSpPr/>
          <p:nvPr/>
        </p:nvSpPr>
        <p:spPr>
          <a:xfrm>
            <a:off x="2399327" y="4726546"/>
            <a:ext cx="701474" cy="296214"/>
          </a:xfrm>
          <a:prstGeom prst="wedgeRoundRectCallout">
            <a:avLst>
              <a:gd name="adj1" fmla="val 108704"/>
              <a:gd name="adj2" fmla="val 119022"/>
              <a:gd name="adj3" fmla="val 16667"/>
            </a:avLst>
          </a:prstGeom>
          <a:solidFill>
            <a:srgbClr val="FFFFCC"/>
          </a:solidFill>
          <a:ln>
            <a:solidFill>
              <a:srgbClr val="0070C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6.OK</a:t>
            </a:r>
            <a:endParaRPr lang="th-TH" sz="1600" dirty="0">
              <a:solidFill>
                <a:srgbClr val="0070C0"/>
              </a:solidFill>
            </a:endParaRPr>
          </a:p>
        </p:txBody>
      </p:sp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ED52565E-AF6D-4780-A9C6-05E3920381A5}"/>
              </a:ext>
            </a:extLst>
          </p:cNvPr>
          <p:cNvSpPr/>
          <p:nvPr/>
        </p:nvSpPr>
        <p:spPr>
          <a:xfrm>
            <a:off x="8244952" y="4121238"/>
            <a:ext cx="3554569" cy="2640169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35000">
                <a:schemeClr val="accent6">
                  <a:lumMod val="0"/>
                  <a:lumOff val="100000"/>
                  <a:alpha val="6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dirty="0">
                <a:solidFill>
                  <a:schemeClr val="tx1"/>
                </a:solidFill>
              </a:rPr>
              <a:t>4.คลิกที่ช่อง </a:t>
            </a:r>
            <a:r>
              <a:rPr lang="en-US" u="sng" dirty="0">
                <a:solidFill>
                  <a:schemeClr val="tx1"/>
                </a:solidFill>
              </a:rPr>
              <a:t>Invoice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r>
              <a:rPr lang="th-TH" dirty="0">
                <a:solidFill>
                  <a:schemeClr val="tx1"/>
                </a:solidFill>
              </a:rPr>
              <a:t>5.เลขที่ </a:t>
            </a:r>
            <a:r>
              <a:rPr lang="en-US" dirty="0">
                <a:solidFill>
                  <a:schemeClr val="tx1"/>
                </a:solidFill>
              </a:rPr>
              <a:t>Invoice </a:t>
            </a:r>
            <a:r>
              <a:rPr lang="th-TH" dirty="0">
                <a:solidFill>
                  <a:schemeClr val="tx1"/>
                </a:solidFill>
              </a:rPr>
              <a:t>ทั้งหมดจะโชว์ขึ้นมา ให้เราเลือก</a:t>
            </a:r>
          </a:p>
          <a:p>
            <a:r>
              <a:rPr lang="th-TH" dirty="0">
                <a:solidFill>
                  <a:schemeClr val="tx1"/>
                </a:solidFill>
              </a:rPr>
              <a:t>6. เลือก </a:t>
            </a:r>
            <a:r>
              <a:rPr lang="en-US" dirty="0">
                <a:solidFill>
                  <a:schemeClr val="tx1"/>
                </a:solidFill>
              </a:rPr>
              <a:t>Invoice </a:t>
            </a:r>
            <a:r>
              <a:rPr lang="th-TH" dirty="0">
                <a:solidFill>
                  <a:schemeClr val="tx1"/>
                </a:solidFill>
              </a:rPr>
              <a:t>ที่ต้องการแล้ว กด </a:t>
            </a:r>
            <a:r>
              <a:rPr lang="en-US" u="sng" dirty="0">
                <a:solidFill>
                  <a:schemeClr val="tx1"/>
                </a:solidFill>
              </a:rPr>
              <a:t>OK</a:t>
            </a:r>
            <a:endParaRPr lang="th-TH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6292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386FB8-8D87-4D14-A8B1-5042545ABB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4313" b="10561"/>
          <a:stretch/>
        </p:blipFill>
        <p:spPr>
          <a:xfrm>
            <a:off x="643284" y="1490805"/>
            <a:ext cx="7403302" cy="419018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C54B590-33AA-4D71-AE5C-F24C6A71B160}"/>
              </a:ext>
            </a:extLst>
          </p:cNvPr>
          <p:cNvSpPr/>
          <p:nvPr/>
        </p:nvSpPr>
        <p:spPr>
          <a:xfrm>
            <a:off x="2404960" y="3327229"/>
            <a:ext cx="1732547" cy="21656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29E3E3-EAE5-45EA-90B0-B3B20ECF7ECA}"/>
              </a:ext>
            </a:extLst>
          </p:cNvPr>
          <p:cNvSpPr/>
          <p:nvPr/>
        </p:nvSpPr>
        <p:spPr>
          <a:xfrm>
            <a:off x="2404960" y="2986882"/>
            <a:ext cx="1732547" cy="21894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ounded Rectangular Callout 2">
            <a:extLst>
              <a:ext uri="{FF2B5EF4-FFF2-40B4-BE49-F238E27FC236}">
                <a16:creationId xmlns:a16="http://schemas.microsoft.com/office/drawing/2014/main" id="{BE7EA151-6C71-4472-AE05-0DC6799E60D4}"/>
              </a:ext>
            </a:extLst>
          </p:cNvPr>
          <p:cNvSpPr/>
          <p:nvPr/>
        </p:nvSpPr>
        <p:spPr>
          <a:xfrm>
            <a:off x="1094704" y="2543920"/>
            <a:ext cx="1159099" cy="321973"/>
          </a:xfrm>
          <a:prstGeom prst="wedgeRoundRectCallout">
            <a:avLst>
              <a:gd name="adj1" fmla="val 59167"/>
              <a:gd name="adj2" fmla="val 119643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7.Apply Date</a:t>
            </a:r>
            <a:endParaRPr lang="th-TH" sz="1400" dirty="0">
              <a:solidFill>
                <a:schemeClr val="tx1"/>
              </a:solidFill>
            </a:endParaRP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B1231933-6100-49D2-A0E8-27A1BEFE772E}"/>
              </a:ext>
            </a:extLst>
          </p:cNvPr>
          <p:cNvSpPr/>
          <p:nvPr/>
        </p:nvSpPr>
        <p:spPr>
          <a:xfrm>
            <a:off x="527375" y="3035771"/>
            <a:ext cx="1468191" cy="340103"/>
          </a:xfrm>
          <a:prstGeom prst="wedgeRoundRectCallout">
            <a:avLst>
              <a:gd name="adj1" fmla="val 69927"/>
              <a:gd name="adj2" fmla="val 75449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8.Adjustment</a:t>
            </a:r>
            <a:endParaRPr lang="th-TH" sz="1600" dirty="0"/>
          </a:p>
        </p:txBody>
      </p:sp>
      <p:sp>
        <p:nvSpPr>
          <p:cNvPr id="7" name="Rounded Rectangle 14">
            <a:extLst>
              <a:ext uri="{FF2B5EF4-FFF2-40B4-BE49-F238E27FC236}">
                <a16:creationId xmlns:a16="http://schemas.microsoft.com/office/drawing/2014/main" id="{82BD3534-0D65-4456-817C-ADFF36E84758}"/>
              </a:ext>
            </a:extLst>
          </p:cNvPr>
          <p:cNvSpPr/>
          <p:nvPr/>
        </p:nvSpPr>
        <p:spPr>
          <a:xfrm>
            <a:off x="8162495" y="1614206"/>
            <a:ext cx="3782096" cy="3642613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0070C0"/>
                </a:solidFill>
              </a:rPr>
              <a:t>7.</a:t>
            </a:r>
            <a:r>
              <a:rPr lang="th-TH" sz="2400" dirty="0">
                <a:solidFill>
                  <a:srgbClr val="0070C0"/>
                </a:solidFill>
              </a:rPr>
              <a:t>ระบุวันที่ปรับปรุงที่ </a:t>
            </a:r>
            <a:r>
              <a:rPr lang="en-US" sz="2400" u="sng" dirty="0">
                <a:solidFill>
                  <a:srgbClr val="0070C0"/>
                </a:solidFill>
              </a:rPr>
              <a:t>Apply Date </a:t>
            </a:r>
            <a:r>
              <a:rPr lang="th-TH" sz="2400" b="1" dirty="0">
                <a:solidFill>
                  <a:srgbClr val="0070C0"/>
                </a:solidFill>
              </a:rPr>
              <a:t>(จะใช้วันที่ตัดจ่ายชำระหรือสิ้นเดือนก็ได้)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8.</a:t>
            </a:r>
            <a:r>
              <a:rPr lang="th-TH" sz="2400" dirty="0">
                <a:solidFill>
                  <a:srgbClr val="0070C0"/>
                </a:solidFill>
              </a:rPr>
              <a:t>ระบุส่วนต่างที่จะปรับออก(จำนวนเงิน) ที่ </a:t>
            </a:r>
            <a:r>
              <a:rPr lang="en-US" sz="2400" u="sng" dirty="0">
                <a:solidFill>
                  <a:srgbClr val="0070C0"/>
                </a:solidFill>
              </a:rPr>
              <a:t>Adjustment</a:t>
            </a:r>
            <a:endParaRPr lang="th-TH" sz="2400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872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C702F6-9427-44A3-9529-A4EB863892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7216" b="-2314"/>
          <a:stretch/>
        </p:blipFill>
        <p:spPr>
          <a:xfrm>
            <a:off x="861808" y="1551760"/>
            <a:ext cx="7187318" cy="441774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6E1E54C-29F8-4610-BC5E-7898434ABE7B}"/>
              </a:ext>
            </a:extLst>
          </p:cNvPr>
          <p:cNvSpPr/>
          <p:nvPr/>
        </p:nvSpPr>
        <p:spPr>
          <a:xfrm>
            <a:off x="2537138" y="3844343"/>
            <a:ext cx="592428" cy="21894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78E7349A-EC2A-49AF-BB24-691383877AAB}"/>
              </a:ext>
            </a:extLst>
          </p:cNvPr>
          <p:cNvSpPr/>
          <p:nvPr/>
        </p:nvSpPr>
        <p:spPr>
          <a:xfrm>
            <a:off x="821827" y="3504142"/>
            <a:ext cx="1320623" cy="321972"/>
          </a:xfrm>
          <a:prstGeom prst="wedgeRoundRectCallout">
            <a:avLst>
              <a:gd name="adj1" fmla="val 77834"/>
              <a:gd name="adj2" fmla="val 90500"/>
              <a:gd name="adj3" fmla="val 16667"/>
            </a:avLst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9.GL Account</a:t>
            </a:r>
            <a:endParaRPr lang="th-TH" sz="1600" dirty="0">
              <a:solidFill>
                <a:schemeClr val="tx1"/>
              </a:solidFill>
            </a:endParaRPr>
          </a:p>
        </p:txBody>
      </p:sp>
      <p:sp>
        <p:nvSpPr>
          <p:cNvPr id="5" name="Snip and Round Single Corner Rectangle 4">
            <a:extLst>
              <a:ext uri="{FF2B5EF4-FFF2-40B4-BE49-F238E27FC236}">
                <a16:creationId xmlns:a16="http://schemas.microsoft.com/office/drawing/2014/main" id="{BE607BFB-64D9-4687-B67E-60252F163999}"/>
              </a:ext>
            </a:extLst>
          </p:cNvPr>
          <p:cNvSpPr/>
          <p:nvPr/>
        </p:nvSpPr>
        <p:spPr>
          <a:xfrm>
            <a:off x="7563663" y="3245476"/>
            <a:ext cx="4082602" cy="2653049"/>
          </a:xfrm>
          <a:prstGeom prst="snipRoundRect">
            <a:avLst/>
          </a:prstGeom>
          <a:solidFill>
            <a:srgbClr val="FF66FF">
              <a:alpha val="61176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9.</a:t>
            </a:r>
            <a:r>
              <a:rPr lang="th-TH" sz="2400" dirty="0">
                <a:solidFill>
                  <a:schemeClr val="tx1"/>
                </a:solidFill>
              </a:rPr>
              <a:t>คลิกขวาที่ </a:t>
            </a:r>
            <a:r>
              <a:rPr lang="en-US" sz="2400" u="sng" dirty="0">
                <a:solidFill>
                  <a:schemeClr val="tx1"/>
                </a:solidFill>
              </a:rPr>
              <a:t>GL Account </a:t>
            </a:r>
            <a:r>
              <a:rPr lang="th-TH" sz="2400" dirty="0">
                <a:solidFill>
                  <a:schemeClr val="tx1"/>
                </a:solidFill>
              </a:rPr>
              <a:t>แล้วคลิก </a:t>
            </a:r>
            <a:r>
              <a:rPr lang="en-US" sz="2400" dirty="0">
                <a:solidFill>
                  <a:schemeClr val="tx1"/>
                </a:solidFill>
              </a:rPr>
              <a:t>Open With </a:t>
            </a:r>
            <a:r>
              <a:rPr lang="th-TH" sz="2400" dirty="0">
                <a:solidFill>
                  <a:schemeClr val="tx1"/>
                </a:solidFill>
              </a:rPr>
              <a:t>และคลิกไปที่ </a:t>
            </a:r>
            <a:r>
              <a:rPr lang="en-US" sz="2400" dirty="0">
                <a:solidFill>
                  <a:schemeClr val="tx1"/>
                </a:solidFill>
              </a:rPr>
              <a:t>General Ledger Search </a:t>
            </a:r>
            <a:r>
              <a:rPr lang="th-TH" sz="2400" dirty="0">
                <a:solidFill>
                  <a:schemeClr val="tx1"/>
                </a:solidFill>
              </a:rPr>
              <a:t>เพื่อเลือกคู่บัญชี หรือถ้าทราบเลขที่บัญชีก็สามารถกรอกข้อมูลได้เลย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F2A270-96D9-4F90-9479-F4DEFFD6B818}"/>
              </a:ext>
            </a:extLst>
          </p:cNvPr>
          <p:cNvSpPr/>
          <p:nvPr/>
        </p:nvSpPr>
        <p:spPr>
          <a:xfrm>
            <a:off x="3129566" y="3762928"/>
            <a:ext cx="2459865" cy="38636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00681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6090EB3-C4D7-4B1E-892C-9B6922910A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633" r="33246" b="26572"/>
          <a:stretch/>
        </p:blipFill>
        <p:spPr>
          <a:xfrm>
            <a:off x="735943" y="1680121"/>
            <a:ext cx="4417454" cy="407897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2DE9332-EC7D-484B-8C6D-FA2A8D14E59D}"/>
              </a:ext>
            </a:extLst>
          </p:cNvPr>
          <p:cNvSpPr/>
          <p:nvPr/>
        </p:nvSpPr>
        <p:spPr>
          <a:xfrm>
            <a:off x="2876044" y="2813462"/>
            <a:ext cx="1416675" cy="77735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72721F-FD6F-44C8-A3E5-C5922E52177F}"/>
              </a:ext>
            </a:extLst>
          </p:cNvPr>
          <p:cNvSpPr/>
          <p:nvPr/>
        </p:nvSpPr>
        <p:spPr>
          <a:xfrm>
            <a:off x="854062" y="5425727"/>
            <a:ext cx="656822" cy="18030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42E0AC-E4AA-4A0B-8A31-69D77EA99852}"/>
              </a:ext>
            </a:extLst>
          </p:cNvPr>
          <p:cNvSpPr/>
          <p:nvPr/>
        </p:nvSpPr>
        <p:spPr>
          <a:xfrm>
            <a:off x="4344234" y="2594521"/>
            <a:ext cx="722321" cy="21894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18AE94-37ED-43EA-89E9-66EC77A0A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167" y="1733449"/>
            <a:ext cx="4537113" cy="4105402"/>
          </a:xfrm>
          <a:prstGeom prst="rect">
            <a:avLst/>
          </a:prstGeom>
        </p:spPr>
      </p:pic>
      <p:sp>
        <p:nvSpPr>
          <p:cNvPr id="7" name="Rectangular Callout 15">
            <a:extLst>
              <a:ext uri="{FF2B5EF4-FFF2-40B4-BE49-F238E27FC236}">
                <a16:creationId xmlns:a16="http://schemas.microsoft.com/office/drawing/2014/main" id="{296C5901-473E-4249-BB6A-2922C9814EF7}"/>
              </a:ext>
            </a:extLst>
          </p:cNvPr>
          <p:cNvSpPr/>
          <p:nvPr/>
        </p:nvSpPr>
        <p:spPr>
          <a:xfrm>
            <a:off x="222996" y="2402819"/>
            <a:ext cx="2653049" cy="410643"/>
          </a:xfrm>
          <a:prstGeom prst="wedgeRectCallout">
            <a:avLst>
              <a:gd name="adj1" fmla="val 46079"/>
              <a:gd name="adj2" fmla="val 9022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Where Description Contains</a:t>
            </a:r>
            <a:endParaRPr lang="th-TH" sz="16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893C37-3257-45DB-991B-D88EB2CFABE9}"/>
              </a:ext>
            </a:extLst>
          </p:cNvPr>
          <p:cNvSpPr/>
          <p:nvPr/>
        </p:nvSpPr>
        <p:spPr>
          <a:xfrm>
            <a:off x="854062" y="4257714"/>
            <a:ext cx="4212493" cy="1033117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Chevron 18">
            <a:extLst>
              <a:ext uri="{FF2B5EF4-FFF2-40B4-BE49-F238E27FC236}">
                <a16:creationId xmlns:a16="http://schemas.microsoft.com/office/drawing/2014/main" id="{E8B038C5-9E32-4EF9-8D45-E3AA21BC4567}"/>
              </a:ext>
            </a:extLst>
          </p:cNvPr>
          <p:cNvSpPr/>
          <p:nvPr/>
        </p:nvSpPr>
        <p:spPr>
          <a:xfrm>
            <a:off x="581396" y="4144612"/>
            <a:ext cx="272666" cy="206062"/>
          </a:xfrm>
          <a:prstGeom prst="chevron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schemeClr val="tx1"/>
              </a:solidFill>
            </a:endParaRPr>
          </a:p>
        </p:txBody>
      </p:sp>
      <p:sp>
        <p:nvSpPr>
          <p:cNvPr id="10" name="Rectangular Callout 19">
            <a:extLst>
              <a:ext uri="{FF2B5EF4-FFF2-40B4-BE49-F238E27FC236}">
                <a16:creationId xmlns:a16="http://schemas.microsoft.com/office/drawing/2014/main" id="{7CFDA6C0-4695-4E2F-B7F9-787C1B763364}"/>
              </a:ext>
            </a:extLst>
          </p:cNvPr>
          <p:cNvSpPr/>
          <p:nvPr/>
        </p:nvSpPr>
        <p:spPr>
          <a:xfrm>
            <a:off x="95724" y="5004688"/>
            <a:ext cx="688008" cy="296213"/>
          </a:xfrm>
          <a:prstGeom prst="wedgeRectCallout">
            <a:avLst>
              <a:gd name="adj1" fmla="val 52053"/>
              <a:gd name="adj2" fmla="val 116402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OK.</a:t>
            </a:r>
            <a:endParaRPr lang="th-TH" sz="18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D73D47-4CFD-4D94-A82C-C4DEC49CA19E}"/>
              </a:ext>
            </a:extLst>
          </p:cNvPr>
          <p:cNvSpPr/>
          <p:nvPr/>
        </p:nvSpPr>
        <p:spPr>
          <a:xfrm>
            <a:off x="6646242" y="5515879"/>
            <a:ext cx="656822" cy="18030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Rectangular Callout 23">
            <a:extLst>
              <a:ext uri="{FF2B5EF4-FFF2-40B4-BE49-F238E27FC236}">
                <a16:creationId xmlns:a16="http://schemas.microsoft.com/office/drawing/2014/main" id="{78CC00ED-49AB-422F-8870-914773B98661}"/>
              </a:ext>
            </a:extLst>
          </p:cNvPr>
          <p:cNvSpPr/>
          <p:nvPr/>
        </p:nvSpPr>
        <p:spPr>
          <a:xfrm>
            <a:off x="5943599" y="5173133"/>
            <a:ext cx="663567" cy="279504"/>
          </a:xfrm>
          <a:prstGeom prst="wedgeRectCallout">
            <a:avLst>
              <a:gd name="adj1" fmla="val 52053"/>
              <a:gd name="adj2" fmla="val 116402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OK.</a:t>
            </a:r>
            <a:endParaRPr lang="th-TH" sz="1800" dirty="0">
              <a:solidFill>
                <a:schemeClr val="tx1"/>
              </a:solidFill>
            </a:endParaRPr>
          </a:p>
        </p:txBody>
      </p:sp>
      <p:sp>
        <p:nvSpPr>
          <p:cNvPr id="13" name="Chevron 24">
            <a:extLst>
              <a:ext uri="{FF2B5EF4-FFF2-40B4-BE49-F238E27FC236}">
                <a16:creationId xmlns:a16="http://schemas.microsoft.com/office/drawing/2014/main" id="{EDD881F5-F317-453F-8BD1-1FC7E62AAE9C}"/>
              </a:ext>
            </a:extLst>
          </p:cNvPr>
          <p:cNvSpPr/>
          <p:nvPr/>
        </p:nvSpPr>
        <p:spPr>
          <a:xfrm>
            <a:off x="6372471" y="3719608"/>
            <a:ext cx="272666" cy="206062"/>
          </a:xfrm>
          <a:prstGeom prst="chevron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650A14-DF96-4C78-BBE6-0902017BE66C}"/>
              </a:ext>
            </a:extLst>
          </p:cNvPr>
          <p:cNvSpPr/>
          <p:nvPr/>
        </p:nvSpPr>
        <p:spPr>
          <a:xfrm>
            <a:off x="6646242" y="3771124"/>
            <a:ext cx="4498038" cy="165460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FF5FA5-BF59-47CC-8815-4436D63A47AB}"/>
              </a:ext>
            </a:extLst>
          </p:cNvPr>
          <p:cNvSpPr/>
          <p:nvPr/>
        </p:nvSpPr>
        <p:spPr>
          <a:xfrm>
            <a:off x="10318928" y="2316794"/>
            <a:ext cx="722321" cy="17205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6D34A8-1601-4032-820E-413F04E6A2AF}"/>
              </a:ext>
            </a:extLst>
          </p:cNvPr>
          <p:cNvSpPr/>
          <p:nvPr/>
        </p:nvSpPr>
        <p:spPr>
          <a:xfrm>
            <a:off x="6987532" y="2257146"/>
            <a:ext cx="1555216" cy="29134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7" name="Rectangular Callout 28">
            <a:extLst>
              <a:ext uri="{FF2B5EF4-FFF2-40B4-BE49-F238E27FC236}">
                <a16:creationId xmlns:a16="http://schemas.microsoft.com/office/drawing/2014/main" id="{401C2269-DFE1-47DE-947C-11AD036310FF}"/>
              </a:ext>
            </a:extLst>
          </p:cNvPr>
          <p:cNvSpPr/>
          <p:nvPr/>
        </p:nvSpPr>
        <p:spPr>
          <a:xfrm>
            <a:off x="4436410" y="1758503"/>
            <a:ext cx="2653049" cy="410643"/>
          </a:xfrm>
          <a:prstGeom prst="wedgeRectCallout">
            <a:avLst>
              <a:gd name="adj1" fmla="val 46079"/>
              <a:gd name="adj2" fmla="val 9022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Natural Accounts Starting At</a:t>
            </a:r>
            <a:endParaRPr lang="th-TH" sz="1600" dirty="0">
              <a:solidFill>
                <a:schemeClr val="tx1"/>
              </a:solidFill>
            </a:endParaRPr>
          </a:p>
        </p:txBody>
      </p:sp>
      <p:sp>
        <p:nvSpPr>
          <p:cNvPr id="18" name="Oval Callout 29">
            <a:extLst>
              <a:ext uri="{FF2B5EF4-FFF2-40B4-BE49-F238E27FC236}">
                <a16:creationId xmlns:a16="http://schemas.microsoft.com/office/drawing/2014/main" id="{B982891C-0170-4BD3-AFF4-29704E2F520B}"/>
              </a:ext>
            </a:extLst>
          </p:cNvPr>
          <p:cNvSpPr/>
          <p:nvPr/>
        </p:nvSpPr>
        <p:spPr>
          <a:xfrm>
            <a:off x="5153397" y="2266451"/>
            <a:ext cx="1109766" cy="496668"/>
          </a:xfrm>
          <a:prstGeom prst="wedgeEllipseCallout">
            <a:avLst>
              <a:gd name="adj1" fmla="val -54488"/>
              <a:gd name="adj2" fmla="val 41756"/>
            </a:avLst>
          </a:prstGeom>
          <a:solidFill>
            <a:srgbClr val="A0EE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Search</a:t>
            </a:r>
            <a:endParaRPr lang="th-TH" sz="1600" dirty="0">
              <a:solidFill>
                <a:schemeClr val="tx1"/>
              </a:solidFill>
            </a:endParaRPr>
          </a:p>
        </p:txBody>
      </p:sp>
      <p:sp>
        <p:nvSpPr>
          <p:cNvPr id="19" name="Oval Callout 30">
            <a:extLst>
              <a:ext uri="{FF2B5EF4-FFF2-40B4-BE49-F238E27FC236}">
                <a16:creationId xmlns:a16="http://schemas.microsoft.com/office/drawing/2014/main" id="{B3920E13-8B71-4BFB-AED4-12E60A42AD56}"/>
              </a:ext>
            </a:extLst>
          </p:cNvPr>
          <p:cNvSpPr/>
          <p:nvPr/>
        </p:nvSpPr>
        <p:spPr>
          <a:xfrm>
            <a:off x="10877781" y="1820126"/>
            <a:ext cx="1109766" cy="496668"/>
          </a:xfrm>
          <a:prstGeom prst="wedgeEllipseCallout">
            <a:avLst>
              <a:gd name="adj1" fmla="val -54488"/>
              <a:gd name="adj2" fmla="val 41756"/>
            </a:avLst>
          </a:prstGeom>
          <a:solidFill>
            <a:srgbClr val="A0EE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Search</a:t>
            </a:r>
            <a:endParaRPr lang="th-TH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076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43CDBE6-8961-4204-88CE-1A14131CC6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161" b="23045"/>
          <a:stretch/>
        </p:blipFill>
        <p:spPr>
          <a:xfrm>
            <a:off x="729460" y="1482869"/>
            <a:ext cx="7442154" cy="401630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6442D2F-4668-4928-84B2-FA3D7E5BE3FA}"/>
              </a:ext>
            </a:extLst>
          </p:cNvPr>
          <p:cNvSpPr/>
          <p:nvPr/>
        </p:nvSpPr>
        <p:spPr>
          <a:xfrm>
            <a:off x="735959" y="1666139"/>
            <a:ext cx="326608" cy="257577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CE757D-1493-4D7C-9346-0FFB68D76693}"/>
              </a:ext>
            </a:extLst>
          </p:cNvPr>
          <p:cNvSpPr/>
          <p:nvPr/>
        </p:nvSpPr>
        <p:spPr>
          <a:xfrm>
            <a:off x="2668848" y="4234374"/>
            <a:ext cx="4790941" cy="20368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849D26-453C-4662-A27D-731758BE0A24}"/>
              </a:ext>
            </a:extLst>
          </p:cNvPr>
          <p:cNvSpPr/>
          <p:nvPr/>
        </p:nvSpPr>
        <p:spPr>
          <a:xfrm>
            <a:off x="2668848" y="4430278"/>
            <a:ext cx="4790941" cy="34773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ular Callout 11">
            <a:extLst>
              <a:ext uri="{FF2B5EF4-FFF2-40B4-BE49-F238E27FC236}">
                <a16:creationId xmlns:a16="http://schemas.microsoft.com/office/drawing/2014/main" id="{B99C9860-1FF7-4290-818D-ACF0CD5E72FA}"/>
              </a:ext>
            </a:extLst>
          </p:cNvPr>
          <p:cNvSpPr/>
          <p:nvPr/>
        </p:nvSpPr>
        <p:spPr>
          <a:xfrm>
            <a:off x="729460" y="3703472"/>
            <a:ext cx="1674253" cy="426697"/>
          </a:xfrm>
          <a:prstGeom prst="wedgeRectCallout">
            <a:avLst>
              <a:gd name="adj1" fmla="val 56859"/>
              <a:gd name="adj2" fmla="val 89366"/>
            </a:avLst>
          </a:prstGeom>
          <a:solidFill>
            <a:srgbClr val="A0EE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2060"/>
                </a:solidFill>
              </a:rPr>
              <a:t>11.Description</a:t>
            </a:r>
            <a:endParaRPr lang="th-TH" sz="1600" dirty="0">
              <a:solidFill>
                <a:srgbClr val="002060"/>
              </a:solidFill>
            </a:endParaRPr>
          </a:p>
        </p:txBody>
      </p:sp>
      <p:sp>
        <p:nvSpPr>
          <p:cNvPr id="7" name="Rectangular Callout 12">
            <a:extLst>
              <a:ext uri="{FF2B5EF4-FFF2-40B4-BE49-F238E27FC236}">
                <a16:creationId xmlns:a16="http://schemas.microsoft.com/office/drawing/2014/main" id="{2C636B27-A476-41B7-8101-47DF65206C63}"/>
              </a:ext>
            </a:extLst>
          </p:cNvPr>
          <p:cNvSpPr/>
          <p:nvPr/>
        </p:nvSpPr>
        <p:spPr>
          <a:xfrm>
            <a:off x="625983" y="4387683"/>
            <a:ext cx="1621578" cy="425004"/>
          </a:xfrm>
          <a:prstGeom prst="wedgeRectCallout">
            <a:avLst>
              <a:gd name="adj1" fmla="val 69860"/>
              <a:gd name="adj2" fmla="val -16693"/>
            </a:avLst>
          </a:prstGeom>
          <a:solidFill>
            <a:srgbClr val="A0EE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2060"/>
                </a:solidFill>
              </a:rPr>
              <a:t>12.Comment</a:t>
            </a:r>
            <a:endParaRPr lang="th-TH" sz="1600" dirty="0">
              <a:solidFill>
                <a:srgbClr val="002060"/>
              </a:solidFill>
            </a:endParaRPr>
          </a:p>
        </p:txBody>
      </p:sp>
      <p:sp>
        <p:nvSpPr>
          <p:cNvPr id="8" name="Rectangular Callout 13">
            <a:extLst>
              <a:ext uri="{FF2B5EF4-FFF2-40B4-BE49-F238E27FC236}">
                <a16:creationId xmlns:a16="http://schemas.microsoft.com/office/drawing/2014/main" id="{300B69CB-761C-4B67-A5A0-1C8A8F454F8B}"/>
              </a:ext>
            </a:extLst>
          </p:cNvPr>
          <p:cNvSpPr/>
          <p:nvPr/>
        </p:nvSpPr>
        <p:spPr>
          <a:xfrm>
            <a:off x="1436772" y="1394537"/>
            <a:ext cx="1047825" cy="400390"/>
          </a:xfrm>
          <a:prstGeom prst="wedgeRectCallout">
            <a:avLst>
              <a:gd name="adj1" fmla="val -86385"/>
              <a:gd name="adj2" fmla="val 35520"/>
            </a:avLst>
          </a:prstGeom>
          <a:solidFill>
            <a:srgbClr val="A0EE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2060"/>
                </a:solidFill>
              </a:rPr>
              <a:t>13.Save</a:t>
            </a:r>
            <a:endParaRPr lang="th-TH" sz="1600" dirty="0">
              <a:solidFill>
                <a:srgbClr val="002060"/>
              </a:solidFill>
            </a:endParaRPr>
          </a:p>
        </p:txBody>
      </p:sp>
      <p:sp>
        <p:nvSpPr>
          <p:cNvPr id="9" name="Rounded Rectangle 14">
            <a:extLst>
              <a:ext uri="{FF2B5EF4-FFF2-40B4-BE49-F238E27FC236}">
                <a16:creationId xmlns:a16="http://schemas.microsoft.com/office/drawing/2014/main" id="{2900F086-90A8-4DDB-9997-E83A9A85FAF8}"/>
              </a:ext>
            </a:extLst>
          </p:cNvPr>
          <p:cNvSpPr/>
          <p:nvPr/>
        </p:nvSpPr>
        <p:spPr>
          <a:xfrm>
            <a:off x="8362767" y="3429000"/>
            <a:ext cx="3496469" cy="1369003"/>
          </a:xfrm>
          <a:prstGeom prst="roundRect">
            <a:avLst/>
          </a:prstGeom>
          <a:gradFill flip="none" rotWithShape="1">
            <a:gsLst>
              <a:gs pos="0">
                <a:srgbClr val="00B0F0">
                  <a:alpha val="65000"/>
                </a:srgbClr>
              </a:gs>
              <a:gs pos="68000">
                <a:schemeClr val="accent3">
                  <a:lumMod val="45000"/>
                  <a:lumOff val="55000"/>
                </a:schemeClr>
              </a:gs>
              <a:gs pos="92000">
                <a:schemeClr val="accent3">
                  <a:lumMod val="45000"/>
                  <a:lumOff val="55000"/>
                </a:schemeClr>
              </a:gs>
              <a:gs pos="99000">
                <a:schemeClr val="accent6">
                  <a:lumMod val="40000"/>
                  <a:lumOff val="60000"/>
                </a:schemeClr>
              </a:gs>
            </a:gsLst>
            <a:lin ang="6000000" scaled="0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6666FF"/>
                </a:solidFill>
              </a:rPr>
              <a:t>11.</a:t>
            </a:r>
            <a:r>
              <a:rPr lang="th-TH" sz="2400" dirty="0">
                <a:solidFill>
                  <a:srgbClr val="6666FF"/>
                </a:solidFill>
              </a:rPr>
              <a:t>ใส่เหตุผลที่ช่อง </a:t>
            </a:r>
            <a:r>
              <a:rPr lang="en-US" sz="2400" dirty="0">
                <a:solidFill>
                  <a:srgbClr val="6666FF"/>
                </a:solidFill>
              </a:rPr>
              <a:t>Description</a:t>
            </a:r>
          </a:p>
          <a:p>
            <a:r>
              <a:rPr lang="en-US" sz="2400" dirty="0">
                <a:solidFill>
                  <a:srgbClr val="6666FF"/>
                </a:solidFill>
              </a:rPr>
              <a:t>12.</a:t>
            </a:r>
            <a:r>
              <a:rPr lang="th-TH" sz="2400" dirty="0">
                <a:solidFill>
                  <a:srgbClr val="6666FF"/>
                </a:solidFill>
              </a:rPr>
              <a:t>ใส่เหตุผลที่ช่อง </a:t>
            </a:r>
            <a:r>
              <a:rPr lang="en-US" sz="2400" dirty="0">
                <a:solidFill>
                  <a:srgbClr val="6666FF"/>
                </a:solidFill>
              </a:rPr>
              <a:t>Comment</a:t>
            </a:r>
          </a:p>
          <a:p>
            <a:r>
              <a:rPr lang="en-US" sz="2400" dirty="0">
                <a:solidFill>
                  <a:srgbClr val="6666FF"/>
                </a:solidFill>
              </a:rPr>
              <a:t>13.</a:t>
            </a:r>
            <a:r>
              <a:rPr lang="th-TH" sz="2400" dirty="0">
                <a:solidFill>
                  <a:srgbClr val="6666FF"/>
                </a:solidFill>
              </a:rPr>
              <a:t>กด </a:t>
            </a:r>
            <a:r>
              <a:rPr lang="en-US" sz="2400" dirty="0">
                <a:solidFill>
                  <a:srgbClr val="6666FF"/>
                </a:solidFill>
              </a:rPr>
              <a:t>Save</a:t>
            </a:r>
            <a:endParaRPr lang="th-TH" sz="2400" dirty="0">
              <a:solidFill>
                <a:srgbClr val="66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735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4025C3-CDEC-471D-A30B-8EA963E6B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61" y="1450632"/>
            <a:ext cx="8229602" cy="500891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EC54ED3-580A-4B75-9D32-D7DDE41A155F}"/>
              </a:ext>
            </a:extLst>
          </p:cNvPr>
          <p:cNvSpPr/>
          <p:nvPr/>
        </p:nvSpPr>
        <p:spPr>
          <a:xfrm>
            <a:off x="2391904" y="1955499"/>
            <a:ext cx="3896751" cy="29542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37963E-F9A5-4DCB-A476-C20C4614DC2E}"/>
              </a:ext>
            </a:extLst>
          </p:cNvPr>
          <p:cNvSpPr/>
          <p:nvPr/>
        </p:nvSpPr>
        <p:spPr>
          <a:xfrm>
            <a:off x="3472738" y="2333759"/>
            <a:ext cx="3910818" cy="42202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ular Callout 18">
            <a:extLst>
              <a:ext uri="{FF2B5EF4-FFF2-40B4-BE49-F238E27FC236}">
                <a16:creationId xmlns:a16="http://schemas.microsoft.com/office/drawing/2014/main" id="{E8175D90-7BFF-4570-BCDE-A0B686839A68}"/>
              </a:ext>
            </a:extLst>
          </p:cNvPr>
          <p:cNvSpPr/>
          <p:nvPr/>
        </p:nvSpPr>
        <p:spPr>
          <a:xfrm>
            <a:off x="798490" y="1267932"/>
            <a:ext cx="1184858" cy="560868"/>
          </a:xfrm>
          <a:prstGeom prst="wedgeRectCallout">
            <a:avLst>
              <a:gd name="adj1" fmla="val 76282"/>
              <a:gd name="adj2" fmla="val 10824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1. Supplier</a:t>
            </a:r>
            <a:endParaRPr lang="th-TH" sz="1800" dirty="0"/>
          </a:p>
        </p:txBody>
      </p:sp>
      <p:sp>
        <p:nvSpPr>
          <p:cNvPr id="6" name="Rounded Rectangular Callout 19">
            <a:extLst>
              <a:ext uri="{FF2B5EF4-FFF2-40B4-BE49-F238E27FC236}">
                <a16:creationId xmlns:a16="http://schemas.microsoft.com/office/drawing/2014/main" id="{A4BA9CC6-3381-42D5-A758-69DD237CC7E6}"/>
              </a:ext>
            </a:extLst>
          </p:cNvPr>
          <p:cNvSpPr/>
          <p:nvPr/>
        </p:nvSpPr>
        <p:spPr>
          <a:xfrm>
            <a:off x="1390919" y="2713546"/>
            <a:ext cx="1973438" cy="422029"/>
          </a:xfrm>
          <a:prstGeom prst="wedgeRoundRectCallout">
            <a:avLst>
              <a:gd name="adj1" fmla="val 48747"/>
              <a:gd name="adj2" fmla="val -74472"/>
              <a:gd name="adj3" fmla="val 16667"/>
            </a:avLst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2.</a:t>
            </a:r>
            <a:r>
              <a:rPr lang="th-TH" dirty="0">
                <a:solidFill>
                  <a:srgbClr val="002060"/>
                </a:solidFill>
              </a:rPr>
              <a:t> คลิกขวาตรงนี้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C66E89-5C10-4702-9528-EED3F7B7520D}"/>
              </a:ext>
            </a:extLst>
          </p:cNvPr>
          <p:cNvSpPr/>
          <p:nvPr/>
        </p:nvSpPr>
        <p:spPr>
          <a:xfrm>
            <a:off x="7683337" y="2410545"/>
            <a:ext cx="785413" cy="33592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th-TH" sz="3200" b="1" dirty="0">
                <a:solidFill>
                  <a:srgbClr val="FF0000"/>
                </a:solidFill>
              </a:rPr>
              <a:t>3.</a:t>
            </a:r>
          </a:p>
        </p:txBody>
      </p:sp>
      <p:sp>
        <p:nvSpPr>
          <p:cNvPr id="8" name="Left Arrow 21">
            <a:extLst>
              <a:ext uri="{FF2B5EF4-FFF2-40B4-BE49-F238E27FC236}">
                <a16:creationId xmlns:a16="http://schemas.microsoft.com/office/drawing/2014/main" id="{FA98E633-0B5C-4773-9E95-C08B6625F4AA}"/>
              </a:ext>
            </a:extLst>
          </p:cNvPr>
          <p:cNvSpPr/>
          <p:nvPr/>
        </p:nvSpPr>
        <p:spPr>
          <a:xfrm>
            <a:off x="7491937" y="2482361"/>
            <a:ext cx="349315" cy="168773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ounded Rectangle 22">
            <a:extLst>
              <a:ext uri="{FF2B5EF4-FFF2-40B4-BE49-F238E27FC236}">
                <a16:creationId xmlns:a16="http://schemas.microsoft.com/office/drawing/2014/main" id="{E4215A92-E1F2-4478-AF6F-DB699D0A9984}"/>
              </a:ext>
            </a:extLst>
          </p:cNvPr>
          <p:cNvSpPr/>
          <p:nvPr/>
        </p:nvSpPr>
        <p:spPr>
          <a:xfrm>
            <a:off x="7298267" y="4013200"/>
            <a:ext cx="4159868" cy="2328333"/>
          </a:xfrm>
          <a:prstGeom prst="roundRect">
            <a:avLst/>
          </a:prstGeom>
          <a:gradFill flip="none" rotWithShape="1">
            <a:gsLst>
              <a:gs pos="0">
                <a:srgbClr val="CCFFFF"/>
              </a:gs>
              <a:gs pos="93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dirty="0">
                <a:solidFill>
                  <a:schemeClr val="tx1"/>
                </a:solidFill>
              </a:rPr>
              <a:t>1.ใส่รหัส </a:t>
            </a:r>
            <a:r>
              <a:rPr lang="en-US" dirty="0">
                <a:solidFill>
                  <a:schemeClr val="tx1"/>
                </a:solidFill>
              </a:rPr>
              <a:t>Supplier </a:t>
            </a:r>
            <a:r>
              <a:rPr lang="th-TH" dirty="0">
                <a:solidFill>
                  <a:schemeClr val="tx1"/>
                </a:solidFill>
              </a:rPr>
              <a:t>ที่ปรับปรุงยอด</a:t>
            </a:r>
          </a:p>
          <a:p>
            <a:r>
              <a:rPr lang="th-TH" dirty="0">
                <a:solidFill>
                  <a:schemeClr val="tx1"/>
                </a:solidFill>
              </a:rPr>
              <a:t>2.คลิกขวาตรงช่องว่าง จะมีเครื่องมือให้เลือกเมนู</a:t>
            </a:r>
          </a:p>
          <a:p>
            <a:r>
              <a:rPr lang="th-TH" dirty="0">
                <a:solidFill>
                  <a:schemeClr val="tx1"/>
                </a:solidFill>
              </a:rPr>
              <a:t>3.เลือก </a:t>
            </a:r>
            <a:r>
              <a:rPr lang="en-US" dirty="0">
                <a:solidFill>
                  <a:schemeClr val="tx1"/>
                </a:solidFill>
              </a:rPr>
              <a:t>Open With </a:t>
            </a:r>
            <a:r>
              <a:rPr lang="th-TH" dirty="0">
                <a:solidFill>
                  <a:schemeClr val="tx1"/>
                </a:solidFill>
              </a:rPr>
              <a:t>และ </a:t>
            </a:r>
            <a:r>
              <a:rPr lang="en-US" dirty="0">
                <a:solidFill>
                  <a:schemeClr val="tx1"/>
                </a:solidFill>
              </a:rPr>
              <a:t>AP Invoice Tracker </a:t>
            </a:r>
            <a:r>
              <a:rPr lang="th-TH" dirty="0">
                <a:solidFill>
                  <a:schemeClr val="tx1"/>
                </a:solidFill>
              </a:rPr>
              <a:t>เพื่อเข้าไปที่เมนู</a:t>
            </a:r>
          </a:p>
        </p:txBody>
      </p:sp>
    </p:spTree>
    <p:extLst>
      <p:ext uri="{BB962C8B-B14F-4D97-AF65-F5344CB8AC3E}">
        <p14:creationId xmlns:p14="http://schemas.microsoft.com/office/powerpoint/2010/main" val="2161632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C2DA5E-8F22-4036-8E24-2EF7CCABD769}"/>
              </a:ext>
            </a:extLst>
          </p:cNvPr>
          <p:cNvSpPr/>
          <p:nvPr/>
        </p:nvSpPr>
        <p:spPr>
          <a:xfrm>
            <a:off x="2804408" y="945211"/>
            <a:ext cx="6322136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th-TH" sz="6000" b="1" i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ตรวจสอบความถูกต้อง</a:t>
            </a:r>
            <a:endParaRPr lang="en-US" sz="6000" b="1" i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2E9198-F943-4B4B-A69C-98A7B31B3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786" y="2045994"/>
            <a:ext cx="7107572" cy="367079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874B2B5-2A77-48D6-9288-954CD35281F1}"/>
              </a:ext>
            </a:extLst>
          </p:cNvPr>
          <p:cNvSpPr/>
          <p:nvPr/>
        </p:nvSpPr>
        <p:spPr>
          <a:xfrm>
            <a:off x="2292043" y="2429846"/>
            <a:ext cx="2176529" cy="25611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7CF7C3-304C-4597-8DE5-48E4642098CF}"/>
              </a:ext>
            </a:extLst>
          </p:cNvPr>
          <p:cNvSpPr/>
          <p:nvPr/>
        </p:nvSpPr>
        <p:spPr>
          <a:xfrm>
            <a:off x="6362162" y="4064001"/>
            <a:ext cx="1909771" cy="28438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ounded Rectangular Callout 8">
            <a:extLst>
              <a:ext uri="{FF2B5EF4-FFF2-40B4-BE49-F238E27FC236}">
                <a16:creationId xmlns:a16="http://schemas.microsoft.com/office/drawing/2014/main" id="{59308EE3-D136-4CB4-8A67-F8CA5057D332}"/>
              </a:ext>
            </a:extLst>
          </p:cNvPr>
          <p:cNvSpPr/>
          <p:nvPr/>
        </p:nvSpPr>
        <p:spPr>
          <a:xfrm>
            <a:off x="592429" y="1642774"/>
            <a:ext cx="1532190" cy="403220"/>
          </a:xfrm>
          <a:prstGeom prst="wedgeRoundRectCallout">
            <a:avLst>
              <a:gd name="adj1" fmla="val 57928"/>
              <a:gd name="adj2" fmla="val 19351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3.Invoice</a:t>
            </a:r>
            <a:endParaRPr lang="th-TH" sz="2000" b="1" dirty="0"/>
          </a:p>
        </p:txBody>
      </p:sp>
      <p:sp>
        <p:nvSpPr>
          <p:cNvPr id="7" name="Rounded Rectangular Callout 10">
            <a:extLst>
              <a:ext uri="{FF2B5EF4-FFF2-40B4-BE49-F238E27FC236}">
                <a16:creationId xmlns:a16="http://schemas.microsoft.com/office/drawing/2014/main" id="{C992C221-7097-4254-918F-68D367BFFBC5}"/>
              </a:ext>
            </a:extLst>
          </p:cNvPr>
          <p:cNvSpPr/>
          <p:nvPr/>
        </p:nvSpPr>
        <p:spPr>
          <a:xfrm>
            <a:off x="8203841" y="3304148"/>
            <a:ext cx="1596981" cy="476518"/>
          </a:xfrm>
          <a:prstGeom prst="wedgeRoundRectCallout">
            <a:avLst>
              <a:gd name="adj1" fmla="val -75378"/>
              <a:gd name="adj2" fmla="val 7464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4.Balance</a:t>
            </a:r>
            <a:endParaRPr lang="th-TH" sz="2000" dirty="0"/>
          </a:p>
        </p:txBody>
      </p: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FC62E76D-C1CB-44EF-AC07-E5F400FE299B}"/>
              </a:ext>
            </a:extLst>
          </p:cNvPr>
          <p:cNvSpPr/>
          <p:nvPr/>
        </p:nvSpPr>
        <p:spPr>
          <a:xfrm>
            <a:off x="8542867" y="4218546"/>
            <a:ext cx="3166533" cy="1513388"/>
          </a:xfrm>
          <a:prstGeom prst="roundRect">
            <a:avLst/>
          </a:prstGeom>
          <a:solidFill>
            <a:srgbClr val="FFFFCC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60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3.</a:t>
            </a:r>
            <a:r>
              <a:rPr lang="th-TH" sz="2400" dirty="0">
                <a:solidFill>
                  <a:schemeClr val="tx1"/>
                </a:solidFill>
              </a:rPr>
              <a:t>ใส่เลขที่ </a:t>
            </a:r>
            <a:r>
              <a:rPr lang="en-US" sz="2400" u="sng" dirty="0">
                <a:solidFill>
                  <a:schemeClr val="tx1"/>
                </a:solidFill>
              </a:rPr>
              <a:t>Invoice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th-TH" sz="2400" dirty="0">
                <a:solidFill>
                  <a:schemeClr val="tx1"/>
                </a:solidFill>
              </a:rPr>
              <a:t>ที่ปรับปรุงยอด</a:t>
            </a:r>
          </a:p>
          <a:p>
            <a:r>
              <a:rPr lang="en-US" sz="2400" dirty="0">
                <a:solidFill>
                  <a:schemeClr val="tx1"/>
                </a:solidFill>
              </a:rPr>
              <a:t>4.</a:t>
            </a:r>
            <a:r>
              <a:rPr lang="th-TH" sz="2400" dirty="0">
                <a:solidFill>
                  <a:schemeClr val="tx1"/>
                </a:solidFill>
              </a:rPr>
              <a:t>ยอดที่ช่อง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u="sng" dirty="0">
                <a:solidFill>
                  <a:schemeClr val="tx1"/>
                </a:solidFill>
              </a:rPr>
              <a:t>Balance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th-TH" sz="2400" dirty="0">
                <a:solidFill>
                  <a:schemeClr val="tx1"/>
                </a:solidFill>
              </a:rPr>
              <a:t>ต้องเป็น </a:t>
            </a:r>
            <a:r>
              <a:rPr lang="th-TH" sz="2400" dirty="0">
                <a:solidFill>
                  <a:srgbClr val="FF0000"/>
                </a:solidFill>
              </a:rPr>
              <a:t>0.00 </a:t>
            </a:r>
          </a:p>
        </p:txBody>
      </p:sp>
    </p:spTree>
    <p:extLst>
      <p:ext uri="{BB962C8B-B14F-4D97-AF65-F5344CB8AC3E}">
        <p14:creationId xmlns:p14="http://schemas.microsoft.com/office/powerpoint/2010/main" val="3477465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268</Words>
  <Application>Microsoft Office PowerPoint</Application>
  <PresentationFormat>Widescreen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AngsanaUPC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Tanida Chorthongdee</dc:creator>
  <cp:lastModifiedBy>Tanida Chorthongdee</cp:lastModifiedBy>
  <cp:revision>20</cp:revision>
  <dcterms:created xsi:type="dcterms:W3CDTF">2024-08-07T03:39:51Z</dcterms:created>
  <dcterms:modified xsi:type="dcterms:W3CDTF">2024-08-10T11:12:32Z</dcterms:modified>
</cp:coreProperties>
</file>