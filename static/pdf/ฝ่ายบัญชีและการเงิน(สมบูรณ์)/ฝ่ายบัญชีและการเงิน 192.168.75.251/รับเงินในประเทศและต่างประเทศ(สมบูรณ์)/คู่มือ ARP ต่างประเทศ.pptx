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1" r:id="rId2"/>
    <p:sldId id="316" r:id="rId3"/>
    <p:sldId id="310" r:id="rId4"/>
    <p:sldId id="257" r:id="rId5"/>
    <p:sldId id="258" r:id="rId6"/>
    <p:sldId id="259" r:id="rId7"/>
    <p:sldId id="260" r:id="rId8"/>
    <p:sldId id="261" r:id="rId9"/>
    <p:sldId id="262" r:id="rId10"/>
    <p:sldId id="263" r:id="rId11"/>
    <p:sldId id="264" r:id="rId12"/>
    <p:sldId id="265" r:id="rId13"/>
    <p:sldId id="266" r:id="rId14"/>
    <p:sldId id="268" r:id="rId15"/>
    <p:sldId id="272" r:id="rId16"/>
    <p:sldId id="273" r:id="rId17"/>
    <p:sldId id="277" r:id="rId18"/>
    <p:sldId id="312" r:id="rId19"/>
    <p:sldId id="314" r:id="rId20"/>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13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374" autoAdjust="0"/>
  </p:normalViewPr>
  <p:slideViewPr>
    <p:cSldViewPr snapToGrid="0">
      <p:cViewPr varScale="1">
        <p:scale>
          <a:sx n="74" d="100"/>
          <a:sy n="74" d="100"/>
        </p:scale>
        <p:origin x="55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p:cNvSpPr>
            <a:spLocks noGrp="1"/>
          </p:cNvSpPr>
          <p:nvPr>
            <p:ph type="dt" sz="half" idx="10"/>
          </p:nvPr>
        </p:nvSpPr>
        <p:spPr/>
        <p:txBody>
          <a:bodyPr/>
          <a:lstStyle/>
          <a:p>
            <a:fld id="{3DFD7C67-7486-4F97-9808-25DF95BDEB0C}" type="datetimeFigureOut">
              <a:rPr lang="th-TH" smtClean="0"/>
              <a:t>23/10/68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2554320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p:cNvSpPr>
            <a:spLocks noGrp="1"/>
          </p:cNvSpPr>
          <p:nvPr>
            <p:ph type="dt" sz="half" idx="10"/>
          </p:nvPr>
        </p:nvSpPr>
        <p:spPr/>
        <p:txBody>
          <a:bodyPr/>
          <a:lstStyle/>
          <a:p>
            <a:fld id="{3DFD7C67-7486-4F97-9808-25DF95BDEB0C}" type="datetimeFigureOut">
              <a:rPr lang="th-TH" smtClean="0"/>
              <a:t>23/10/68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1369438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DFD7C67-7486-4F97-9808-25DF95BDEB0C}" type="datetimeFigureOut">
              <a:rPr lang="th-TH" smtClean="0"/>
              <a:t>23/10/68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3865879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p:cNvSpPr>
            <a:spLocks noGrp="1"/>
          </p:cNvSpPr>
          <p:nvPr>
            <p:ph type="dt" sz="half" idx="10"/>
          </p:nvPr>
        </p:nvSpPr>
        <p:spPr/>
        <p:txBody>
          <a:bodyPr/>
          <a:lstStyle/>
          <a:p>
            <a:fld id="{3DFD7C67-7486-4F97-9808-25DF95BDEB0C}" type="datetimeFigureOut">
              <a:rPr lang="th-TH" smtClean="0"/>
              <a:t>23/10/68</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2625099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p:cNvSpPr>
            <a:spLocks noGrp="1"/>
          </p:cNvSpPr>
          <p:nvPr>
            <p:ph type="dt" sz="half" idx="10"/>
          </p:nvPr>
        </p:nvSpPr>
        <p:spPr/>
        <p:txBody>
          <a:bodyPr/>
          <a:lstStyle/>
          <a:p>
            <a:fld id="{3DFD7C67-7486-4F97-9808-25DF95BDEB0C}" type="datetimeFigureOut">
              <a:rPr lang="th-TH" smtClean="0"/>
              <a:t>23/10/68</a:t>
            </a:fld>
            <a:endParaRPr lang="th-TH"/>
          </a:p>
        </p:txBody>
      </p:sp>
      <p:sp>
        <p:nvSpPr>
          <p:cNvPr id="8" name="Footer Placeholder 7"/>
          <p:cNvSpPr>
            <a:spLocks noGrp="1"/>
          </p:cNvSpPr>
          <p:nvPr>
            <p:ph type="ftr" sz="quarter" idx="11"/>
          </p:nvPr>
        </p:nvSpPr>
        <p:spPr/>
        <p:txBody>
          <a:bodyPr/>
          <a:lstStyle/>
          <a:p>
            <a:endParaRPr lang="th-TH"/>
          </a:p>
        </p:txBody>
      </p:sp>
      <p:sp>
        <p:nvSpPr>
          <p:cNvPr id="9" name="Slide Number Placeholder 8"/>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3121209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Date Placeholder 2"/>
          <p:cNvSpPr>
            <a:spLocks noGrp="1"/>
          </p:cNvSpPr>
          <p:nvPr>
            <p:ph type="dt" sz="half" idx="10"/>
          </p:nvPr>
        </p:nvSpPr>
        <p:spPr/>
        <p:txBody>
          <a:bodyPr/>
          <a:lstStyle/>
          <a:p>
            <a:fld id="{3DFD7C67-7486-4F97-9808-25DF95BDEB0C}" type="datetimeFigureOut">
              <a:rPr lang="th-TH" smtClean="0"/>
              <a:t>23/10/68</a:t>
            </a:fld>
            <a:endParaRPr lang="th-TH"/>
          </a:p>
        </p:txBody>
      </p:sp>
      <p:sp>
        <p:nvSpPr>
          <p:cNvPr id="4" name="Footer Placeholder 3"/>
          <p:cNvSpPr>
            <a:spLocks noGrp="1"/>
          </p:cNvSpPr>
          <p:nvPr>
            <p:ph type="ftr" sz="quarter" idx="11"/>
          </p:nvPr>
        </p:nvSpPr>
        <p:spPr/>
        <p:txBody>
          <a:bodyPr/>
          <a:lstStyle/>
          <a:p>
            <a:endParaRPr lang="th-TH"/>
          </a:p>
        </p:txBody>
      </p:sp>
      <p:sp>
        <p:nvSpPr>
          <p:cNvPr id="5" name="Slide Number Placeholder 4"/>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2191098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FD7C67-7486-4F97-9808-25DF95BDEB0C}" type="datetimeFigureOut">
              <a:rPr lang="th-TH" smtClean="0"/>
              <a:t>23/10/68</a:t>
            </a:fld>
            <a:endParaRPr lang="th-TH"/>
          </a:p>
        </p:txBody>
      </p:sp>
      <p:sp>
        <p:nvSpPr>
          <p:cNvPr id="3" name="Footer Placeholder 2"/>
          <p:cNvSpPr>
            <a:spLocks noGrp="1"/>
          </p:cNvSpPr>
          <p:nvPr>
            <p:ph type="ftr" sz="quarter" idx="11"/>
          </p:nvPr>
        </p:nvSpPr>
        <p:spPr/>
        <p:txBody>
          <a:bodyPr/>
          <a:lstStyle/>
          <a:p>
            <a:endParaRPr lang="th-TH"/>
          </a:p>
        </p:txBody>
      </p:sp>
      <p:sp>
        <p:nvSpPr>
          <p:cNvPr id="4" name="Slide Number Placeholder 3"/>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3926828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DFD7C67-7486-4F97-9808-25DF95BDEB0C}" type="datetimeFigureOut">
              <a:rPr lang="th-TH" smtClean="0"/>
              <a:t>23/10/68</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1659562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DFD7C67-7486-4F97-9808-25DF95BDEB0C}" type="datetimeFigureOut">
              <a:rPr lang="th-TH" smtClean="0"/>
              <a:t>23/10/68</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178030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h-TH"/>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p:cNvSpPr>
            <a:spLocks noGrp="1"/>
          </p:cNvSpPr>
          <p:nvPr>
            <p:ph type="dt" sz="half" idx="10"/>
          </p:nvPr>
        </p:nvSpPr>
        <p:spPr/>
        <p:txBody>
          <a:bodyPr/>
          <a:lstStyle/>
          <a:p>
            <a:fld id="{3DFD7C67-7486-4F97-9808-25DF95BDEB0C}" type="datetimeFigureOut">
              <a:rPr lang="th-TH" smtClean="0"/>
              <a:t>23/10/68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183217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p:cNvSpPr>
            <a:spLocks noGrp="1"/>
          </p:cNvSpPr>
          <p:nvPr>
            <p:ph type="dt" sz="half" idx="10"/>
          </p:nvPr>
        </p:nvSpPr>
        <p:spPr/>
        <p:txBody>
          <a:bodyPr/>
          <a:lstStyle/>
          <a:p>
            <a:fld id="{3DFD7C67-7486-4F97-9808-25DF95BDEB0C}" type="datetimeFigureOut">
              <a:rPr lang="th-TH" smtClean="0"/>
              <a:t>23/10/68</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66D1420F-0C8D-4F55-A5D2-4C35BA4B41A6}" type="slidenum">
              <a:rPr lang="th-TH" smtClean="0"/>
              <a:t>‹#›</a:t>
            </a:fld>
            <a:endParaRPr lang="th-TH"/>
          </a:p>
        </p:txBody>
      </p:sp>
    </p:spTree>
    <p:extLst>
      <p:ext uri="{BB962C8B-B14F-4D97-AF65-F5344CB8AC3E}">
        <p14:creationId xmlns:p14="http://schemas.microsoft.com/office/powerpoint/2010/main" val="1674776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FD7C67-7486-4F97-9808-25DF95BDEB0C}" type="datetimeFigureOut">
              <a:rPr lang="th-TH" smtClean="0"/>
              <a:t>23/10/68</a:t>
            </a:fld>
            <a:endParaRPr lang="th-T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1420F-0C8D-4F55-A5D2-4C35BA4B41A6}" type="slidenum">
              <a:rPr lang="th-TH" smtClean="0"/>
              <a:t>‹#›</a:t>
            </a:fld>
            <a:endParaRPr lang="th-TH"/>
          </a:p>
        </p:txBody>
      </p:sp>
    </p:spTree>
    <p:extLst>
      <p:ext uri="{BB962C8B-B14F-4D97-AF65-F5344CB8AC3E}">
        <p14:creationId xmlns:p14="http://schemas.microsoft.com/office/powerpoint/2010/main" val="306162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383" y="2541655"/>
            <a:ext cx="10515600" cy="1325563"/>
          </a:xfrm>
        </p:spPr>
        <p:txBody>
          <a:bodyPr>
            <a:normAutofit/>
          </a:bodyPr>
          <a:lstStyle/>
          <a:p>
            <a:pPr algn="ctr"/>
            <a:r>
              <a:rPr lang="th-TH" b="1" dirty="0" smtClean="0"/>
              <a:t>คู่มือ-</a:t>
            </a:r>
            <a:r>
              <a:rPr lang="en-US" b="1" dirty="0" smtClean="0"/>
              <a:t>Cash Receipt </a:t>
            </a:r>
            <a:br>
              <a:rPr lang="en-US" b="1" dirty="0" smtClean="0"/>
            </a:br>
            <a:r>
              <a:rPr lang="th-TH" b="1" dirty="0" smtClean="0"/>
              <a:t>(รับชำระเงิน-ต่างประเทศ)</a:t>
            </a:r>
            <a:endParaRPr lang="th-TH" b="1" dirty="0"/>
          </a:p>
        </p:txBody>
      </p:sp>
      <p:sp>
        <p:nvSpPr>
          <p:cNvPr id="4" name="Rectangle 3"/>
          <p:cNvSpPr/>
          <p:nvPr/>
        </p:nvSpPr>
        <p:spPr>
          <a:xfrm>
            <a:off x="3621045" y="2541654"/>
            <a:ext cx="5336276" cy="1325563"/>
          </a:xfrm>
          <a:prstGeom prst="rect">
            <a:avLst/>
          </a:prstGeom>
          <a:noFill/>
          <a:ln w="5715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1421924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87497E-9647-447A-9012-174D40552634}"/>
              </a:ext>
            </a:extLst>
          </p:cNvPr>
          <p:cNvSpPr txBox="1"/>
          <p:nvPr/>
        </p:nvSpPr>
        <p:spPr>
          <a:xfrm>
            <a:off x="1" y="0"/>
            <a:ext cx="12192000" cy="1323439"/>
          </a:xfrm>
          <a:prstGeom prst="rect">
            <a:avLst/>
          </a:prstGeom>
          <a:noFill/>
        </p:spPr>
        <p:txBody>
          <a:bodyPr wrap="square">
            <a:spAutoFit/>
          </a:bodyPr>
          <a:lstStyle/>
          <a:p>
            <a:endParaRPr lang="en-US" sz="2000" b="1" dirty="0" smtClean="0">
              <a:latin typeface="Angsana New" panose="02020603050405020304" pitchFamily="18" charset="-34"/>
              <a:cs typeface="Angsana New" panose="02020603050405020304" pitchFamily="18" charset="-34"/>
            </a:endParaRPr>
          </a:p>
          <a:p>
            <a:r>
              <a:rPr lang="en-US" sz="2000" b="1" dirty="0">
                <a:latin typeface="Angsana New" panose="02020603050405020304" pitchFamily="18" charset="-34"/>
                <a:cs typeface="Angsana New" panose="02020603050405020304" pitchFamily="18" charset="-34"/>
              </a:rPr>
              <a:t>	</a:t>
            </a:r>
            <a:r>
              <a:rPr lang="en-US" sz="2000" b="1" dirty="0" smtClean="0">
                <a:latin typeface="Angsana New" panose="02020603050405020304" pitchFamily="18" charset="-34"/>
                <a:cs typeface="Angsana New" panose="02020603050405020304" pitchFamily="18" charset="-34"/>
              </a:rPr>
              <a:t>    </a:t>
            </a:r>
            <a:r>
              <a:rPr lang="th-TH" sz="2000" b="1" dirty="0" smtClean="0">
                <a:latin typeface="Angsana New" panose="02020603050405020304" pitchFamily="18" charset="-34"/>
                <a:cs typeface="Angsana New" panose="02020603050405020304" pitchFamily="18" charset="-34"/>
              </a:rPr>
              <a:t>การ</a:t>
            </a:r>
            <a:r>
              <a:rPr lang="th-TH" sz="2000" b="1" dirty="0" smtClean="0">
                <a:latin typeface="Angsana New" panose="02020603050405020304" pitchFamily="18" charset="-34"/>
                <a:cs typeface="Angsana New" panose="02020603050405020304" pitchFamily="18" charset="-34"/>
              </a:rPr>
              <a:t>รับชำระหนี้ตามใบแจ้ง</a:t>
            </a:r>
            <a:r>
              <a:rPr lang="th-TH" sz="2000" b="1" dirty="0" smtClean="0">
                <a:latin typeface="Angsana New" panose="02020603050405020304" pitchFamily="18" charset="-34"/>
                <a:cs typeface="Angsana New" panose="02020603050405020304" pitchFamily="18" charset="-34"/>
              </a:rPr>
              <a:t>หนี้ (ต่างประเทศ)</a:t>
            </a:r>
            <a:r>
              <a:rPr lang="th-TH" sz="2000" b="1" dirty="0">
                <a:latin typeface="Angsana New" panose="02020603050405020304" pitchFamily="18" charset="-34"/>
                <a:cs typeface="Angsana New" panose="02020603050405020304" pitchFamily="18" charset="-34"/>
              </a:rPr>
              <a:t>	</a:t>
            </a:r>
            <a:endParaRPr lang="th-TH" sz="2000" b="1" dirty="0" smtClean="0">
              <a:latin typeface="Angsana New" panose="02020603050405020304" pitchFamily="18" charset="-34"/>
              <a:cs typeface="Angsana New" panose="02020603050405020304" pitchFamily="18" charset="-34"/>
            </a:endParaRPr>
          </a:p>
          <a:p>
            <a:r>
              <a:rPr lang="th-TH" sz="2000" b="1" dirty="0">
                <a:latin typeface="Angsana New" panose="02020603050405020304" pitchFamily="18" charset="-34"/>
                <a:cs typeface="Angsana New" panose="02020603050405020304" pitchFamily="18" charset="-34"/>
              </a:rPr>
              <a:t>	 </a:t>
            </a:r>
            <a:r>
              <a:rPr lang="th-TH" sz="2000" b="1" dirty="0" smtClean="0">
                <a:latin typeface="Angsana New" panose="02020603050405020304" pitchFamily="18" charset="-34"/>
                <a:cs typeface="Angsana New" panose="02020603050405020304" pitchFamily="18" charset="-34"/>
              </a:rPr>
              <a:t>    (</a:t>
            </a:r>
            <a:r>
              <a:rPr lang="en-US" sz="2000" b="1" dirty="0" smtClean="0">
                <a:latin typeface="Angsana New" panose="02020603050405020304" pitchFamily="18" charset="-34"/>
                <a:cs typeface="Angsana New" panose="02020603050405020304" pitchFamily="18" charset="-34"/>
              </a:rPr>
              <a:t>Cash Receipt Entry: Invoice Payment)</a:t>
            </a:r>
            <a:endParaRPr lang="th-TH" sz="2000" b="1" dirty="0" smtClean="0">
              <a:latin typeface="Angsana New" panose="02020603050405020304" pitchFamily="18" charset="-34"/>
              <a:cs typeface="Angsana New" panose="02020603050405020304" pitchFamily="18" charset="-34"/>
            </a:endParaRPr>
          </a:p>
          <a:p>
            <a:r>
              <a:rPr lang="th-TH" sz="2000" b="1" dirty="0" smtClean="0">
                <a:latin typeface="Angsana New" panose="02020603050405020304" pitchFamily="18" charset="-34"/>
                <a:cs typeface="Angsana New" panose="02020603050405020304" pitchFamily="18" charset="-34"/>
              </a:rPr>
              <a:t>     </a:t>
            </a:r>
            <a:r>
              <a:rPr lang="en-US" sz="1400" b="1" dirty="0">
                <a:latin typeface="Angsana New" panose="02020603050405020304" pitchFamily="18" charset="-34"/>
                <a:cs typeface="Angsana New" panose="02020603050405020304" pitchFamily="18" charset="-34"/>
              </a:rPr>
              <a:t>	</a:t>
            </a:r>
            <a:r>
              <a:rPr lang="en-US" sz="2000" b="1" u="sng" dirty="0" smtClean="0">
                <a:effectLst>
                  <a:outerShdw blurRad="38100" dist="38100" dir="2700000" algn="tl">
                    <a:srgbClr val="000000">
                      <a:alpha val="43137"/>
                    </a:srgbClr>
                  </a:outerShdw>
                </a:effectLst>
                <a:latin typeface="Angsana New" panose="02020603050405020304" pitchFamily="18" charset="-34"/>
                <a:cs typeface="Angsana New" panose="02020603050405020304" pitchFamily="18" charset="-34"/>
              </a:rPr>
              <a:t>												</a:t>
            </a:r>
          </a:p>
        </p:txBody>
      </p:sp>
      <p:graphicFrame>
        <p:nvGraphicFramePr>
          <p:cNvPr id="3" name="Table 2"/>
          <p:cNvGraphicFramePr>
            <a:graphicFrameLocks noGrp="1"/>
          </p:cNvGraphicFramePr>
          <p:nvPr>
            <p:extLst>
              <p:ext uri="{D42A27DB-BD31-4B8C-83A1-F6EECF244321}">
                <p14:modId xmlns:p14="http://schemas.microsoft.com/office/powerpoint/2010/main" val="482832189"/>
              </p:ext>
            </p:extLst>
          </p:nvPr>
        </p:nvGraphicFramePr>
        <p:xfrm>
          <a:off x="811369" y="1323438"/>
          <a:ext cx="10534918" cy="5261922"/>
        </p:xfrm>
        <a:graphic>
          <a:graphicData uri="http://schemas.openxmlformats.org/drawingml/2006/table">
            <a:tbl>
              <a:tblPr firstRow="1" bandRow="1">
                <a:tableStyleId>{F5AB1C69-6EDB-4FF4-983F-18BD219EF322}</a:tableStyleId>
              </a:tblPr>
              <a:tblGrid>
                <a:gridCol w="2550701">
                  <a:extLst>
                    <a:ext uri="{9D8B030D-6E8A-4147-A177-3AD203B41FA5}">
                      <a16:colId xmlns:a16="http://schemas.microsoft.com/office/drawing/2014/main" val="1307807167"/>
                    </a:ext>
                  </a:extLst>
                </a:gridCol>
                <a:gridCol w="7984217">
                  <a:extLst>
                    <a:ext uri="{9D8B030D-6E8A-4147-A177-3AD203B41FA5}">
                      <a16:colId xmlns:a16="http://schemas.microsoft.com/office/drawing/2014/main" val="2505344451"/>
                    </a:ext>
                  </a:extLst>
                </a:gridCol>
              </a:tblGrid>
              <a:tr h="540633">
                <a:tc>
                  <a:txBody>
                    <a:bodyPr/>
                    <a:lstStyle/>
                    <a:p>
                      <a:r>
                        <a:rPr lang="th-TH" sz="1800" dirty="0" smtClean="0">
                          <a:solidFill>
                            <a:schemeClr val="tx1"/>
                          </a:solidFill>
                          <a:latin typeface="Angsana New" panose="02020603050405020304" pitchFamily="18" charset="-34"/>
                          <a:cs typeface="Angsana New" panose="02020603050405020304" pitchFamily="18" charset="-34"/>
                        </a:rPr>
                        <a:t>1.กระบวนการ (</a:t>
                      </a:r>
                      <a:r>
                        <a:rPr lang="en-US" sz="1800" dirty="0" smtClean="0">
                          <a:solidFill>
                            <a:schemeClr val="tx1"/>
                          </a:solidFill>
                          <a:latin typeface="Angsana New" panose="02020603050405020304" pitchFamily="18" charset="-34"/>
                          <a:cs typeface="Angsana New" panose="02020603050405020304" pitchFamily="18" charset="-34"/>
                        </a:rPr>
                        <a:t>Process</a:t>
                      </a:r>
                      <a:r>
                        <a:rPr lang="th-TH" sz="1800" dirty="0" smtClean="0">
                          <a:solidFill>
                            <a:schemeClr val="tx1"/>
                          </a:solidFill>
                          <a:latin typeface="Angsana New" panose="02020603050405020304" pitchFamily="18" charset="-34"/>
                          <a:cs typeface="Angsana New" panose="02020603050405020304" pitchFamily="18" charset="-34"/>
                        </a:rPr>
                        <a:t>)</a:t>
                      </a:r>
                      <a:endParaRPr lang="th-TH" sz="1800" b="0" dirty="0">
                        <a:solidFill>
                          <a:schemeClr val="tx1"/>
                        </a:solidFill>
                        <a:latin typeface="Angsana New" panose="02020603050405020304" pitchFamily="18" charset="-34"/>
                        <a:cs typeface="Angsana New" panose="02020603050405020304" pitchFamily="18" charset="-34"/>
                      </a:endParaRPr>
                    </a:p>
                  </a:txBody>
                  <a:tcPr/>
                </a:tc>
                <a:tc>
                  <a:txBody>
                    <a:bodyPr/>
                    <a:lstStyle/>
                    <a:p>
                      <a:pPr algn="l"/>
                      <a:r>
                        <a:rPr lang="en-US" sz="1800" b="1" dirty="0" smtClean="0">
                          <a:solidFill>
                            <a:schemeClr val="tx1"/>
                          </a:solidFill>
                          <a:latin typeface="Angsana New" panose="02020603050405020304" pitchFamily="18" charset="-34"/>
                          <a:cs typeface="Angsana New" panose="02020603050405020304" pitchFamily="18" charset="-34"/>
                        </a:rPr>
                        <a:t>ARP100 </a:t>
                      </a:r>
                      <a:r>
                        <a:rPr lang="th-TH" sz="1800" b="1" dirty="0" smtClean="0">
                          <a:solidFill>
                            <a:schemeClr val="tx1"/>
                          </a:solidFill>
                          <a:latin typeface="Angsana New" panose="02020603050405020304" pitchFamily="18" charset="-34"/>
                          <a:cs typeface="Angsana New" panose="02020603050405020304" pitchFamily="18" charset="-34"/>
                        </a:rPr>
                        <a:t>การรับชำระหนี้ตามใบแจ้งหนี้</a:t>
                      </a:r>
                      <a:endParaRPr lang="th-TH" sz="1800" b="1" dirty="0">
                        <a:solidFill>
                          <a:schemeClr val="tx1"/>
                        </a:solidFill>
                        <a:latin typeface="Angsana New" panose="02020603050405020304" pitchFamily="18" charset="-34"/>
                        <a:cs typeface="Angsana New" panose="02020603050405020304" pitchFamily="18" charset="-34"/>
                      </a:endParaRPr>
                    </a:p>
                  </a:txBody>
                  <a:tcPr/>
                </a:tc>
                <a:extLst>
                  <a:ext uri="{0D108BD9-81ED-4DB2-BD59-A6C34878D82A}">
                    <a16:rowId xmlns:a16="http://schemas.microsoft.com/office/drawing/2014/main" val="852232022"/>
                  </a:ext>
                </a:extLst>
              </a:tr>
              <a:tr h="1397744">
                <a:tc>
                  <a:txBody>
                    <a:bodyPr/>
                    <a:lstStyle/>
                    <a:p>
                      <a:r>
                        <a:rPr lang="th-TH" sz="1800" dirty="0" smtClean="0">
                          <a:latin typeface="Angsana New" panose="02020603050405020304" pitchFamily="18" charset="-34"/>
                          <a:cs typeface="Angsana New" panose="02020603050405020304" pitchFamily="18" charset="-34"/>
                        </a:rPr>
                        <a:t>2.ขั้นตอนย่อย (</a:t>
                      </a:r>
                      <a:r>
                        <a:rPr lang="en-US" sz="1800" dirty="0" smtClean="0">
                          <a:latin typeface="Angsana New" panose="02020603050405020304" pitchFamily="18" charset="-34"/>
                          <a:cs typeface="Angsana New" panose="02020603050405020304" pitchFamily="18" charset="-34"/>
                        </a:rPr>
                        <a:t>Sub</a:t>
                      </a:r>
                      <a:r>
                        <a:rPr lang="en-US" sz="1800" baseline="0" dirty="0" smtClean="0">
                          <a:latin typeface="Angsana New" panose="02020603050405020304" pitchFamily="18" charset="-34"/>
                          <a:cs typeface="Angsana New" panose="02020603050405020304" pitchFamily="18" charset="-34"/>
                        </a:rPr>
                        <a:t> process</a:t>
                      </a:r>
                      <a:r>
                        <a:rPr lang="th-TH" sz="1800" dirty="0" smtClean="0">
                          <a:latin typeface="Angsana New" panose="02020603050405020304" pitchFamily="18" charset="-34"/>
                          <a:cs typeface="Angsana New" panose="02020603050405020304" pitchFamily="18" charset="-34"/>
                        </a:rPr>
                        <a:t>)</a:t>
                      </a:r>
                      <a:endParaRPr lang="th-TH" sz="1800" dirty="0">
                        <a:latin typeface="Angsana New" panose="02020603050405020304" pitchFamily="18" charset="-34"/>
                        <a:cs typeface="Angsana New" panose="02020603050405020304" pitchFamily="18" charset="-34"/>
                      </a:endParaRPr>
                    </a:p>
                  </a:txBody>
                  <a:tcPr/>
                </a:tc>
                <a:tc>
                  <a:txBody>
                    <a:bodyPr/>
                    <a:lstStyle/>
                    <a:p>
                      <a:r>
                        <a:rPr lang="th-TH" sz="1800" dirty="0" smtClean="0">
                          <a:latin typeface="Angsana New" panose="02020603050405020304" pitchFamily="18" charset="-34"/>
                          <a:cs typeface="Angsana New" panose="02020603050405020304" pitchFamily="18" charset="-34"/>
                        </a:rPr>
                        <a:t>2.1</a:t>
                      </a:r>
                      <a:r>
                        <a:rPr lang="th-TH" sz="1800" baseline="0" dirty="0" smtClean="0">
                          <a:latin typeface="Angsana New" panose="02020603050405020304" pitchFamily="18" charset="-34"/>
                          <a:cs typeface="Angsana New" panose="02020603050405020304" pitchFamily="18" charset="-34"/>
                        </a:rPr>
                        <a:t> </a:t>
                      </a:r>
                      <a:r>
                        <a:rPr lang="th-TH" sz="1800" dirty="0" smtClean="0">
                          <a:latin typeface="Angsana New" panose="02020603050405020304" pitchFamily="18" charset="-34"/>
                          <a:cs typeface="Angsana New" panose="02020603050405020304" pitchFamily="18" charset="-34"/>
                        </a:rPr>
                        <a:t>สร้าง </a:t>
                      </a:r>
                      <a:r>
                        <a:rPr lang="en-US" sz="1800" dirty="0" smtClean="0">
                          <a:latin typeface="Angsana New" panose="02020603050405020304" pitchFamily="18" charset="-34"/>
                          <a:cs typeface="Angsana New" panose="02020603050405020304" pitchFamily="18" charset="-34"/>
                        </a:rPr>
                        <a:t>New Group</a:t>
                      </a:r>
                      <a:r>
                        <a:rPr lang="th-TH" sz="1800" dirty="0" smtClean="0">
                          <a:latin typeface="Angsana New" panose="02020603050405020304" pitchFamily="18" charset="-34"/>
                          <a:cs typeface="Angsana New" panose="02020603050405020304" pitchFamily="18" charset="-34"/>
                        </a:rPr>
                        <a:t> / </a:t>
                      </a:r>
                      <a:r>
                        <a:rPr lang="en-US" sz="1800" dirty="0" smtClean="0">
                          <a:latin typeface="Angsana New" panose="02020603050405020304" pitchFamily="18" charset="-34"/>
                          <a:cs typeface="Angsana New" panose="02020603050405020304" pitchFamily="18" charset="-34"/>
                        </a:rPr>
                        <a:t>Group</a:t>
                      </a:r>
                      <a:r>
                        <a:rPr lang="en-US" sz="1800" baseline="0" dirty="0" smtClean="0">
                          <a:latin typeface="Angsana New" panose="02020603050405020304" pitchFamily="18" charset="-34"/>
                          <a:cs typeface="Angsana New" panose="02020603050405020304" pitchFamily="18" charset="-34"/>
                        </a:rPr>
                        <a:t> ID</a:t>
                      </a:r>
                      <a:endParaRPr lang="th-TH" sz="1800" dirty="0" smtClean="0">
                        <a:latin typeface="Angsana New" panose="02020603050405020304" pitchFamily="18" charset="-34"/>
                        <a:cs typeface="Angsana New" panose="02020603050405020304" pitchFamily="18" charset="-34"/>
                      </a:endParaRPr>
                    </a:p>
                    <a:p>
                      <a:r>
                        <a:rPr lang="th-TH" sz="1800" dirty="0" smtClean="0">
                          <a:latin typeface="Angsana New" panose="02020603050405020304" pitchFamily="18" charset="-34"/>
                          <a:cs typeface="Angsana New" panose="02020603050405020304" pitchFamily="18" charset="-34"/>
                        </a:rPr>
                        <a:t>2.2</a:t>
                      </a:r>
                      <a:r>
                        <a:rPr lang="th-TH" sz="1800" baseline="0" dirty="0" smtClean="0">
                          <a:latin typeface="Angsana New" panose="02020603050405020304" pitchFamily="18" charset="-34"/>
                          <a:cs typeface="Angsana New" panose="02020603050405020304" pitchFamily="18" charset="-34"/>
                        </a:rPr>
                        <a:t> </a:t>
                      </a:r>
                      <a:r>
                        <a:rPr lang="th-TH" sz="1800" dirty="0" smtClean="0">
                          <a:latin typeface="Angsana New" panose="02020603050405020304" pitchFamily="18" charset="-34"/>
                          <a:cs typeface="Angsana New" panose="02020603050405020304" pitchFamily="18" charset="-34"/>
                        </a:rPr>
                        <a:t>สร้าง</a:t>
                      </a:r>
                      <a:r>
                        <a:rPr lang="th-TH" sz="1800" baseline="0" dirty="0" smtClean="0">
                          <a:latin typeface="Angsana New" panose="02020603050405020304" pitchFamily="18" charset="-34"/>
                          <a:cs typeface="Angsana New" panose="02020603050405020304" pitchFamily="18" charset="-34"/>
                        </a:rPr>
                        <a:t> </a:t>
                      </a:r>
                      <a:r>
                        <a:rPr lang="en-US" sz="1800" baseline="0" dirty="0" smtClean="0">
                          <a:latin typeface="Angsana New" panose="02020603050405020304" pitchFamily="18" charset="-34"/>
                          <a:cs typeface="Angsana New" panose="02020603050405020304" pitchFamily="18" charset="-34"/>
                        </a:rPr>
                        <a:t>New Invoice Payment</a:t>
                      </a:r>
                    </a:p>
                    <a:p>
                      <a:r>
                        <a:rPr lang="en-US" sz="1800" baseline="0" dirty="0" smtClean="0">
                          <a:latin typeface="Angsana New" panose="02020603050405020304" pitchFamily="18" charset="-34"/>
                          <a:cs typeface="Angsana New" panose="02020603050405020304" pitchFamily="18" charset="-34"/>
                        </a:rPr>
                        <a:t>2.3 </a:t>
                      </a:r>
                      <a:r>
                        <a:rPr lang="th-TH" sz="1800" baseline="0" dirty="0" smtClean="0">
                          <a:latin typeface="Angsana New" panose="02020603050405020304" pitchFamily="18" charset="-34"/>
                          <a:cs typeface="Angsana New" panose="02020603050405020304" pitchFamily="18" charset="-34"/>
                        </a:rPr>
                        <a:t>สร้าง </a:t>
                      </a:r>
                      <a:r>
                        <a:rPr lang="en-US" sz="1800" baseline="0" dirty="0" smtClean="0">
                          <a:latin typeface="Angsana New" panose="02020603050405020304" pitchFamily="18" charset="-34"/>
                          <a:cs typeface="Angsana New" panose="02020603050405020304" pitchFamily="18" charset="-34"/>
                        </a:rPr>
                        <a:t>New Bank Free</a:t>
                      </a:r>
                    </a:p>
                    <a:p>
                      <a:endParaRPr lang="en-US" sz="1800" baseline="0" dirty="0" smtClean="0">
                        <a:latin typeface="Angsana New" panose="02020603050405020304" pitchFamily="18" charset="-34"/>
                        <a:cs typeface="Angsana New" panose="02020603050405020304" pitchFamily="18" charset="-34"/>
                      </a:endParaRPr>
                    </a:p>
                  </a:txBody>
                  <a:tcPr/>
                </a:tc>
                <a:extLst>
                  <a:ext uri="{0D108BD9-81ED-4DB2-BD59-A6C34878D82A}">
                    <a16:rowId xmlns:a16="http://schemas.microsoft.com/office/drawing/2014/main" val="1354961077"/>
                  </a:ext>
                </a:extLst>
              </a:tr>
              <a:tr h="834993">
                <a:tc>
                  <a:txBody>
                    <a:bodyPr/>
                    <a:lstStyle/>
                    <a:p>
                      <a:r>
                        <a:rPr lang="en-US" sz="1800" dirty="0" smtClean="0">
                          <a:latin typeface="Angsana New" panose="02020603050405020304" pitchFamily="18" charset="-34"/>
                          <a:cs typeface="Angsana New" panose="02020603050405020304" pitchFamily="18" charset="-34"/>
                        </a:rPr>
                        <a:t>3.</a:t>
                      </a:r>
                      <a:r>
                        <a:rPr lang="th-TH" sz="1800" dirty="0" smtClean="0">
                          <a:latin typeface="Angsana New" panose="02020603050405020304" pitchFamily="18" charset="-34"/>
                          <a:cs typeface="Angsana New" panose="02020603050405020304" pitchFamily="18" charset="-34"/>
                        </a:rPr>
                        <a:t>ข้อมูลที่ต้องใช้</a:t>
                      </a:r>
                      <a:r>
                        <a:rPr lang="th-TH" sz="1800" baseline="0" dirty="0" smtClean="0">
                          <a:latin typeface="Angsana New" panose="02020603050405020304" pitchFamily="18" charset="-34"/>
                          <a:cs typeface="Angsana New" panose="02020603050405020304" pitchFamily="18" charset="-34"/>
                        </a:rPr>
                        <a:t> (</a:t>
                      </a:r>
                      <a:r>
                        <a:rPr lang="en-US" sz="1800" baseline="0" dirty="0" smtClean="0">
                          <a:latin typeface="Angsana New" panose="02020603050405020304" pitchFamily="18" charset="-34"/>
                          <a:cs typeface="Angsana New" panose="02020603050405020304" pitchFamily="18" charset="-34"/>
                        </a:rPr>
                        <a:t>Input</a:t>
                      </a:r>
                      <a:r>
                        <a:rPr lang="th-TH" sz="1800" baseline="0" dirty="0" smtClean="0">
                          <a:latin typeface="Angsana New" panose="02020603050405020304" pitchFamily="18" charset="-34"/>
                          <a:cs typeface="Angsana New" panose="02020603050405020304" pitchFamily="18" charset="-34"/>
                        </a:rPr>
                        <a:t>)</a:t>
                      </a:r>
                      <a:endParaRPr lang="th-TH" sz="1800" dirty="0">
                        <a:latin typeface="Angsana New" panose="02020603050405020304" pitchFamily="18" charset="-34"/>
                        <a:cs typeface="Angsana New" panose="02020603050405020304" pitchFamily="18" charset="-34"/>
                      </a:endParaRPr>
                    </a:p>
                  </a:txBody>
                  <a:tcPr/>
                </a:tc>
                <a:tc>
                  <a:txBody>
                    <a:bodyPr/>
                    <a:lstStyle/>
                    <a:p>
                      <a:r>
                        <a:rPr lang="th-TH" sz="1800" dirty="0" smtClean="0">
                          <a:latin typeface="Angsana New" panose="02020603050405020304" pitchFamily="18" charset="-34"/>
                          <a:cs typeface="Angsana New" panose="02020603050405020304" pitchFamily="18" charset="-34"/>
                        </a:rPr>
                        <a:t>3.1 เอกสารการรับเงิน เช่น ใบกำกับภาษี,ชุด </a:t>
                      </a:r>
                      <a:r>
                        <a:rPr lang="en-US" sz="1800" dirty="0" smtClean="0">
                          <a:latin typeface="Angsana New" panose="02020603050405020304" pitchFamily="18" charset="-34"/>
                          <a:cs typeface="Angsana New" panose="02020603050405020304" pitchFamily="18" charset="-34"/>
                        </a:rPr>
                        <a:t>INV.</a:t>
                      </a:r>
                    </a:p>
                    <a:p>
                      <a:r>
                        <a:rPr lang="en-US" sz="1800" dirty="0" smtClean="0">
                          <a:latin typeface="Angsana New" panose="02020603050405020304" pitchFamily="18" charset="-34"/>
                          <a:cs typeface="Angsana New" panose="02020603050405020304" pitchFamily="18" charset="-34"/>
                        </a:rPr>
                        <a:t>3.2</a:t>
                      </a:r>
                      <a:r>
                        <a:rPr lang="en-US" sz="1800" baseline="0" dirty="0" smtClean="0">
                          <a:latin typeface="Angsana New" panose="02020603050405020304" pitchFamily="18" charset="-34"/>
                          <a:cs typeface="Angsana New" panose="02020603050405020304" pitchFamily="18" charset="-34"/>
                        </a:rPr>
                        <a:t> </a:t>
                      </a:r>
                      <a:r>
                        <a:rPr lang="th-TH" sz="1800" baseline="0" dirty="0" smtClean="0">
                          <a:latin typeface="Angsana New" panose="02020603050405020304" pitchFamily="18" charset="-34"/>
                          <a:cs typeface="Angsana New" panose="02020603050405020304" pitchFamily="18" charset="-34"/>
                        </a:rPr>
                        <a:t>หลักฐานการโอน</a:t>
                      </a:r>
                    </a:p>
                    <a:p>
                      <a:r>
                        <a:rPr lang="th-TH" sz="1800" baseline="0" dirty="0" smtClean="0">
                          <a:latin typeface="Angsana New" panose="02020603050405020304" pitchFamily="18" charset="-34"/>
                          <a:cs typeface="Angsana New" panose="02020603050405020304" pitchFamily="18" charset="-34"/>
                        </a:rPr>
                        <a:t>3.3 ยอดเงินเข้าจากทาง </a:t>
                      </a:r>
                      <a:r>
                        <a:rPr lang="en-US" sz="1800" baseline="0" dirty="0" smtClean="0">
                          <a:latin typeface="Angsana New" panose="02020603050405020304" pitchFamily="18" charset="-34"/>
                          <a:cs typeface="Angsana New" panose="02020603050405020304" pitchFamily="18" charset="-34"/>
                        </a:rPr>
                        <a:t>statement</a:t>
                      </a:r>
                      <a:endParaRPr lang="en-US" sz="1800" dirty="0" smtClean="0">
                        <a:latin typeface="Angsana New" panose="02020603050405020304" pitchFamily="18" charset="-34"/>
                        <a:cs typeface="Angsana New" panose="02020603050405020304" pitchFamily="18" charset="-34"/>
                      </a:endParaRPr>
                    </a:p>
                    <a:p>
                      <a:endParaRPr lang="th-TH" sz="1800" dirty="0" smtClean="0">
                        <a:latin typeface="Angsana New" panose="02020603050405020304" pitchFamily="18" charset="-34"/>
                        <a:cs typeface="Angsana New" panose="02020603050405020304" pitchFamily="18" charset="-34"/>
                      </a:endParaRPr>
                    </a:p>
                  </a:txBody>
                  <a:tcPr/>
                </a:tc>
                <a:extLst>
                  <a:ext uri="{0D108BD9-81ED-4DB2-BD59-A6C34878D82A}">
                    <a16:rowId xmlns:a16="http://schemas.microsoft.com/office/drawing/2014/main" val="272581544"/>
                  </a:ext>
                </a:extLst>
              </a:tr>
              <a:tr h="705987">
                <a:tc>
                  <a:txBody>
                    <a:bodyPr/>
                    <a:lstStyle/>
                    <a:p>
                      <a:r>
                        <a:rPr lang="th-TH" sz="1800" dirty="0" smtClean="0">
                          <a:latin typeface="Angsana New" panose="02020603050405020304" pitchFamily="18" charset="-34"/>
                          <a:cs typeface="Angsana New" panose="02020603050405020304" pitchFamily="18" charset="-34"/>
                        </a:rPr>
                        <a:t>4.ความเสี่ยง (</a:t>
                      </a:r>
                      <a:r>
                        <a:rPr lang="en-US" sz="1800" dirty="0" smtClean="0">
                          <a:latin typeface="Angsana New" panose="02020603050405020304" pitchFamily="18" charset="-34"/>
                          <a:cs typeface="Angsana New" panose="02020603050405020304" pitchFamily="18" charset="-34"/>
                        </a:rPr>
                        <a:t>Risk</a:t>
                      </a:r>
                      <a:r>
                        <a:rPr lang="th-TH" sz="1800" dirty="0" smtClean="0">
                          <a:latin typeface="Angsana New" panose="02020603050405020304" pitchFamily="18" charset="-34"/>
                          <a:cs typeface="Angsana New" panose="02020603050405020304" pitchFamily="18" charset="-34"/>
                        </a:rPr>
                        <a:t>)</a:t>
                      </a:r>
                      <a:endParaRPr lang="th-TH" sz="1800" dirty="0">
                        <a:latin typeface="Angsana New" panose="02020603050405020304" pitchFamily="18" charset="-34"/>
                        <a:cs typeface="Angsana New" panose="02020603050405020304" pitchFamily="18" charset="-34"/>
                      </a:endParaRPr>
                    </a:p>
                  </a:txBody>
                  <a:tcPr/>
                </a:tc>
                <a:tc>
                  <a:txBody>
                    <a:bodyPr/>
                    <a:lstStyle/>
                    <a:p>
                      <a:r>
                        <a:rPr lang="th-TH" sz="1800" dirty="0" smtClean="0">
                          <a:latin typeface="Angsana New" panose="02020603050405020304" pitchFamily="18" charset="-34"/>
                          <a:cs typeface="Angsana New" panose="02020603050405020304" pitchFamily="18" charset="-34"/>
                        </a:rPr>
                        <a:t>4.1</a:t>
                      </a:r>
                      <a:r>
                        <a:rPr lang="th-TH" sz="1800" baseline="0" dirty="0" smtClean="0">
                          <a:latin typeface="Angsana New" panose="02020603050405020304" pitchFamily="18" charset="-34"/>
                          <a:cs typeface="Angsana New" panose="02020603050405020304" pitchFamily="18" charset="-34"/>
                        </a:rPr>
                        <a:t> เลือก </a:t>
                      </a:r>
                      <a:r>
                        <a:rPr lang="en-US" sz="1800" baseline="0" dirty="0" smtClean="0">
                          <a:latin typeface="Angsana New" panose="02020603050405020304" pitchFamily="18" charset="-34"/>
                          <a:cs typeface="Angsana New" panose="02020603050405020304" pitchFamily="18" charset="-34"/>
                        </a:rPr>
                        <a:t>Bank Account</a:t>
                      </a:r>
                    </a:p>
                    <a:p>
                      <a:r>
                        <a:rPr lang="en-US" sz="1800" baseline="0" dirty="0" smtClean="0">
                          <a:latin typeface="Angsana New" panose="02020603050405020304" pitchFamily="18" charset="-34"/>
                          <a:cs typeface="Angsana New" panose="02020603050405020304" pitchFamily="18" charset="-34"/>
                        </a:rPr>
                        <a:t>4.2 </a:t>
                      </a:r>
                      <a:r>
                        <a:rPr lang="th-TH" sz="1800" baseline="0" dirty="0" smtClean="0">
                          <a:latin typeface="Angsana New" panose="02020603050405020304" pitchFamily="18" charset="-34"/>
                          <a:cs typeface="Angsana New" panose="02020603050405020304" pitchFamily="18" charset="-34"/>
                        </a:rPr>
                        <a:t>รูปแบบการรับชำระ (เช็ค,โอน)</a:t>
                      </a:r>
                    </a:p>
                    <a:p>
                      <a:r>
                        <a:rPr lang="th-TH" sz="1800" baseline="0" dirty="0" smtClean="0">
                          <a:latin typeface="Angsana New" panose="02020603050405020304" pitchFamily="18" charset="-34"/>
                          <a:cs typeface="Angsana New" panose="02020603050405020304" pitchFamily="18" charset="-34"/>
                        </a:rPr>
                        <a:t>4.3 ระบุวันที่รับเงิน</a:t>
                      </a:r>
                    </a:p>
                    <a:p>
                      <a:r>
                        <a:rPr lang="th-TH" sz="1800" baseline="0" dirty="0" smtClean="0">
                          <a:latin typeface="Angsana New" panose="02020603050405020304" pitchFamily="18" charset="-34"/>
                          <a:cs typeface="Angsana New" panose="02020603050405020304" pitchFamily="18" charset="-34"/>
                        </a:rPr>
                        <a:t>4.4 เลือก </a:t>
                      </a:r>
                      <a:r>
                        <a:rPr lang="en-US" sz="1800" baseline="0" dirty="0" smtClean="0">
                          <a:latin typeface="Angsana New" panose="02020603050405020304" pitchFamily="18" charset="-34"/>
                          <a:cs typeface="Angsana New" panose="02020603050405020304" pitchFamily="18" charset="-34"/>
                        </a:rPr>
                        <a:t>Document Type</a:t>
                      </a:r>
                      <a:endParaRPr lang="en-US" sz="1800" dirty="0" smtClean="0">
                        <a:latin typeface="Angsana New" panose="02020603050405020304" pitchFamily="18" charset="-34"/>
                        <a:cs typeface="Angsana New" panose="02020603050405020304" pitchFamily="18" charset="-34"/>
                      </a:endParaRPr>
                    </a:p>
                  </a:txBody>
                  <a:tcPr/>
                </a:tc>
                <a:extLst>
                  <a:ext uri="{0D108BD9-81ED-4DB2-BD59-A6C34878D82A}">
                    <a16:rowId xmlns:a16="http://schemas.microsoft.com/office/drawing/2014/main" val="3944378054"/>
                  </a:ext>
                </a:extLst>
              </a:tr>
              <a:tr h="946105">
                <a:tc>
                  <a:txBody>
                    <a:bodyPr/>
                    <a:lstStyle/>
                    <a:p>
                      <a:r>
                        <a:rPr lang="en-US" sz="1800" dirty="0" smtClean="0">
                          <a:latin typeface="Angsana New" panose="02020603050405020304" pitchFamily="18" charset="-34"/>
                          <a:cs typeface="Angsana New" panose="02020603050405020304" pitchFamily="18" charset="-34"/>
                        </a:rPr>
                        <a:t>5.</a:t>
                      </a:r>
                      <a:r>
                        <a:rPr lang="th-TH" sz="1800" dirty="0" smtClean="0">
                          <a:latin typeface="Angsana New" panose="02020603050405020304" pitchFamily="18" charset="-34"/>
                          <a:cs typeface="Angsana New" panose="02020603050405020304" pitchFamily="18" charset="-34"/>
                        </a:rPr>
                        <a:t>จุดควบคุม</a:t>
                      </a:r>
                      <a:r>
                        <a:rPr lang="th-TH" sz="1800" baseline="0" dirty="0" smtClean="0">
                          <a:latin typeface="Angsana New" panose="02020603050405020304" pitchFamily="18" charset="-34"/>
                          <a:cs typeface="Angsana New" panose="02020603050405020304" pitchFamily="18" charset="-34"/>
                        </a:rPr>
                        <a:t> (</a:t>
                      </a:r>
                      <a:r>
                        <a:rPr lang="en-US" sz="1800" baseline="0" dirty="0" smtClean="0">
                          <a:latin typeface="Angsana New" panose="02020603050405020304" pitchFamily="18" charset="-34"/>
                          <a:cs typeface="Angsana New" panose="02020603050405020304" pitchFamily="18" charset="-34"/>
                        </a:rPr>
                        <a:t>Control Point</a:t>
                      </a:r>
                      <a:r>
                        <a:rPr lang="th-TH" sz="1800" baseline="0" dirty="0" smtClean="0">
                          <a:latin typeface="Angsana New" panose="02020603050405020304" pitchFamily="18" charset="-34"/>
                          <a:cs typeface="Angsana New" panose="02020603050405020304" pitchFamily="18" charset="-34"/>
                        </a:rPr>
                        <a:t>)</a:t>
                      </a:r>
                      <a:endParaRPr lang="th-TH" sz="1800" dirty="0">
                        <a:latin typeface="Angsana New" panose="02020603050405020304" pitchFamily="18" charset="-34"/>
                        <a:cs typeface="Angsana New" panose="02020603050405020304" pitchFamily="18" charset="-34"/>
                      </a:endParaRPr>
                    </a:p>
                  </a:txBody>
                  <a:tcPr/>
                </a:tc>
                <a:tc>
                  <a:txBody>
                    <a:bodyPr/>
                    <a:lstStyle/>
                    <a:p>
                      <a:r>
                        <a:rPr lang="th-TH" sz="1800" dirty="0" smtClean="0">
                          <a:latin typeface="Angsana New" panose="02020603050405020304" pitchFamily="18" charset="-34"/>
                          <a:cs typeface="Angsana New" panose="02020603050405020304" pitchFamily="18" charset="-34"/>
                        </a:rPr>
                        <a:t>5.1</a:t>
                      </a:r>
                      <a:r>
                        <a:rPr lang="th-TH" sz="1800" baseline="0" dirty="0" smtClean="0">
                          <a:latin typeface="Angsana New" panose="02020603050405020304" pitchFamily="18" charset="-34"/>
                          <a:cs typeface="Angsana New" panose="02020603050405020304" pitchFamily="18" charset="-34"/>
                        </a:rPr>
                        <a:t> ตรวจสอบข้อมูลกับเอกสาร </a:t>
                      </a:r>
                      <a:r>
                        <a:rPr lang="en-US" sz="1800" baseline="0" dirty="0" smtClean="0">
                          <a:latin typeface="Angsana New" panose="02020603050405020304" pitchFamily="18" charset="-34"/>
                          <a:cs typeface="Angsana New" panose="02020603050405020304" pitchFamily="18" charset="-34"/>
                        </a:rPr>
                        <a:t>INV.</a:t>
                      </a:r>
                    </a:p>
                    <a:p>
                      <a:r>
                        <a:rPr lang="en-US" sz="1800" baseline="0" dirty="0" smtClean="0">
                          <a:latin typeface="Angsana New" panose="02020603050405020304" pitchFamily="18" charset="-34"/>
                          <a:cs typeface="Angsana New" panose="02020603050405020304" pitchFamily="18" charset="-34"/>
                        </a:rPr>
                        <a:t>5.2 </a:t>
                      </a:r>
                      <a:r>
                        <a:rPr lang="th-TH" sz="1800" baseline="0" dirty="0" smtClean="0">
                          <a:latin typeface="Angsana New" panose="02020603050405020304" pitchFamily="18" charset="-34"/>
                          <a:cs typeface="Angsana New" panose="02020603050405020304" pitchFamily="18" charset="-34"/>
                        </a:rPr>
                        <a:t>ตรวจสอบยอดเงินเข้าบัญชี</a:t>
                      </a:r>
                    </a:p>
                    <a:p>
                      <a:endParaRPr lang="th-TH" sz="1800" baseline="0" dirty="0" smtClean="0">
                        <a:latin typeface="Angsana New" panose="02020603050405020304" pitchFamily="18" charset="-34"/>
                        <a:cs typeface="Angsana New" panose="02020603050405020304" pitchFamily="18" charset="-34"/>
                      </a:endParaRPr>
                    </a:p>
                  </a:txBody>
                  <a:tcPr/>
                </a:tc>
                <a:extLst>
                  <a:ext uri="{0D108BD9-81ED-4DB2-BD59-A6C34878D82A}">
                    <a16:rowId xmlns:a16="http://schemas.microsoft.com/office/drawing/2014/main" val="2760939267"/>
                  </a:ext>
                </a:extLst>
              </a:tr>
            </a:tbl>
          </a:graphicData>
        </a:graphic>
      </p:graphicFrame>
    </p:spTree>
    <p:extLst>
      <p:ext uri="{BB962C8B-B14F-4D97-AF65-F5344CB8AC3E}">
        <p14:creationId xmlns:p14="http://schemas.microsoft.com/office/powerpoint/2010/main" val="26993600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4736" y="177422"/>
            <a:ext cx="9144000" cy="668740"/>
          </a:xfrm>
        </p:spPr>
        <p:txBody>
          <a:bodyPr>
            <a:normAutofit/>
          </a:bodyPr>
          <a:lstStyle/>
          <a:p>
            <a:pPr algn="l"/>
            <a:r>
              <a:rPr lang="th-TH" sz="2000" dirty="0" smtClean="0"/>
              <a:t>เข้าเมนู </a:t>
            </a:r>
            <a:r>
              <a:rPr lang="en-US" sz="2000" dirty="0" smtClean="0"/>
              <a:t>Cash Receipt Entry</a:t>
            </a:r>
            <a:endParaRPr lang="th-TH" sz="2000" dirty="0"/>
          </a:p>
        </p:txBody>
      </p:sp>
      <p:pic>
        <p:nvPicPr>
          <p:cNvPr id="4" name="Picture 3"/>
          <p:cNvPicPr>
            <a:picLocks noChangeAspect="1"/>
          </p:cNvPicPr>
          <p:nvPr/>
        </p:nvPicPr>
        <p:blipFill rotWithShape="1">
          <a:blip r:embed="rId2"/>
          <a:srcRect t="2769" r="54408" b="5634"/>
          <a:stretch/>
        </p:blipFill>
        <p:spPr>
          <a:xfrm>
            <a:off x="1250836" y="941697"/>
            <a:ext cx="6883229" cy="5756052"/>
          </a:xfrm>
          <a:prstGeom prst="rect">
            <a:avLst/>
          </a:prstGeom>
        </p:spPr>
      </p:pic>
      <p:sp>
        <p:nvSpPr>
          <p:cNvPr id="6" name="Rectangle 5"/>
          <p:cNvSpPr/>
          <p:nvPr/>
        </p:nvSpPr>
        <p:spPr>
          <a:xfrm>
            <a:off x="1564736" y="54592"/>
            <a:ext cx="3034560" cy="791570"/>
          </a:xfrm>
          <a:prstGeom prst="rect">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3133616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th-TH" sz="1600" dirty="0" smtClean="0"/>
                  <a:t>1.คลิกตรง </a:t>
                </a:r>
                <a14:m>
                  <m:oMath xmlns:m="http://schemas.openxmlformats.org/officeDocument/2006/math">
                    <m:r>
                      <a:rPr lang="th-TH" sz="1600" i="1" smtClean="0">
                        <a:latin typeface="Cambria Math" panose="02040503050406030204" pitchFamily="18" charset="0"/>
                        <a:ea typeface="Cambria Math" panose="02040503050406030204" pitchFamily="18" charset="0"/>
                      </a:rPr>
                      <m:t>𝛻</m:t>
                    </m:r>
                    <m:r>
                      <a:rPr lang="th-TH" sz="1600" b="0" i="1" smtClean="0">
                        <a:latin typeface="Cambria Math" panose="02040503050406030204" pitchFamily="18" charset="0"/>
                        <a:ea typeface="Cambria Math" panose="02040503050406030204" pitchFamily="18" charset="0"/>
                      </a:rPr>
                      <m:t> </m:t>
                    </m:r>
                  </m:oMath>
                </a14:m>
                <a:r>
                  <a:rPr lang="en-US" sz="1600" dirty="0" smtClean="0"/>
                  <a:t>New Group </a:t>
                </a:r>
                <a:br>
                  <a:rPr lang="en-US" sz="1600" dirty="0" smtClean="0"/>
                </a:br>
                <a:endParaRPr lang="th-TH" sz="16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348"/>
                </a:stretch>
              </a:blipFill>
            </p:spPr>
            <p:txBody>
              <a:bodyPr/>
              <a:lstStyle/>
              <a:p>
                <a:r>
                  <a:rPr lang="th-TH">
                    <a:noFill/>
                  </a:rPr>
                  <a:t> </a:t>
                </a:r>
              </a:p>
            </p:txBody>
          </p:sp>
        </mc:Fallback>
      </mc:AlternateContent>
      <p:pic>
        <p:nvPicPr>
          <p:cNvPr id="4" name="Picture 3"/>
          <p:cNvPicPr>
            <a:picLocks noChangeAspect="1"/>
          </p:cNvPicPr>
          <p:nvPr/>
        </p:nvPicPr>
        <p:blipFill rotWithShape="1">
          <a:blip r:embed="rId3"/>
          <a:srcRect l="9263" t="-206" r="10015" b="30357"/>
          <a:stretch/>
        </p:blipFill>
        <p:spPr>
          <a:xfrm>
            <a:off x="658703" y="1297856"/>
            <a:ext cx="11212103" cy="5457786"/>
          </a:xfrm>
          <a:prstGeom prst="rect">
            <a:avLst/>
          </a:prstGeom>
        </p:spPr>
      </p:pic>
      <p:sp>
        <p:nvSpPr>
          <p:cNvPr id="5" name="Rectangle 4"/>
          <p:cNvSpPr/>
          <p:nvPr/>
        </p:nvSpPr>
        <p:spPr>
          <a:xfrm>
            <a:off x="838200" y="374290"/>
            <a:ext cx="2355376" cy="914400"/>
          </a:xfrm>
          <a:prstGeom prst="rect">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8182263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320" y="201352"/>
            <a:ext cx="10862481" cy="1325563"/>
          </a:xfrm>
        </p:spPr>
        <p:txBody>
          <a:bodyPr>
            <a:normAutofit/>
          </a:bodyPr>
          <a:lstStyle/>
          <a:p>
            <a:r>
              <a:rPr lang="en-US" sz="2000" b="1" dirty="0" smtClean="0">
                <a:latin typeface="Angsana New" panose="02020603050405020304" pitchFamily="18" charset="-34"/>
                <a:cs typeface="Angsana New" panose="02020603050405020304" pitchFamily="18" charset="-34"/>
              </a:rPr>
              <a:t>1.Group </a:t>
            </a:r>
            <a:r>
              <a:rPr lang="th-TH" sz="2000" b="1" dirty="0" smtClean="0">
                <a:latin typeface="Angsana New" panose="02020603050405020304" pitchFamily="18" charset="-34"/>
                <a:cs typeface="Angsana New" panose="02020603050405020304" pitchFamily="18" charset="-34"/>
              </a:rPr>
              <a:t>ตั้งเอง รันเลขเอง</a:t>
            </a:r>
            <a:br>
              <a:rPr lang="th-TH" sz="2000" b="1" dirty="0" smtClean="0">
                <a:latin typeface="Angsana New" panose="02020603050405020304" pitchFamily="18" charset="-34"/>
                <a:cs typeface="Angsana New" panose="02020603050405020304" pitchFamily="18" charset="-34"/>
              </a:rPr>
            </a:br>
            <a:r>
              <a:rPr lang="th-TH" sz="2000" b="1" dirty="0" smtClean="0">
                <a:latin typeface="Angsana New" panose="02020603050405020304" pitchFamily="18" charset="-34"/>
                <a:cs typeface="Angsana New" panose="02020603050405020304" pitchFamily="18" charset="-34"/>
              </a:rPr>
              <a:t>2.</a:t>
            </a:r>
            <a:r>
              <a:rPr lang="en-US" sz="2000" b="1" dirty="0" smtClean="0">
                <a:latin typeface="Angsana New" panose="02020603050405020304" pitchFamily="18" charset="-34"/>
                <a:cs typeface="Angsana New" panose="02020603050405020304" pitchFamily="18" charset="-34"/>
              </a:rPr>
              <a:t>Bank Account </a:t>
            </a:r>
            <a:r>
              <a:rPr lang="th-TH" sz="2000" b="1" dirty="0" smtClean="0">
                <a:latin typeface="Angsana New" panose="02020603050405020304" pitchFamily="18" charset="-34"/>
                <a:cs typeface="Angsana New" panose="02020603050405020304" pitchFamily="18" charset="-34"/>
              </a:rPr>
              <a:t>เลือก </a:t>
            </a:r>
            <a:r>
              <a:rPr lang="en-US" sz="2000" b="1" dirty="0" smtClean="0">
                <a:latin typeface="Angsana New" panose="02020603050405020304" pitchFamily="18" charset="-34"/>
                <a:cs typeface="Angsana New" panose="02020603050405020304" pitchFamily="18" charset="-34"/>
              </a:rPr>
              <a:t>Bank </a:t>
            </a:r>
            <a:r>
              <a:rPr lang="th-TH" sz="2000" b="1" dirty="0" smtClean="0">
                <a:latin typeface="Angsana New" panose="02020603050405020304" pitchFamily="18" charset="-34"/>
                <a:cs typeface="Angsana New" panose="02020603050405020304" pitchFamily="18" charset="-34"/>
              </a:rPr>
              <a:t>ที่เงินเข้า</a:t>
            </a:r>
            <a:br>
              <a:rPr lang="th-TH" sz="2000" b="1" dirty="0" smtClean="0">
                <a:latin typeface="Angsana New" panose="02020603050405020304" pitchFamily="18" charset="-34"/>
                <a:cs typeface="Angsana New" panose="02020603050405020304" pitchFamily="18" charset="-34"/>
              </a:rPr>
            </a:br>
            <a:r>
              <a:rPr lang="th-TH" sz="2000" b="1" dirty="0" smtClean="0">
                <a:latin typeface="Angsana New" panose="02020603050405020304" pitchFamily="18" charset="-34"/>
                <a:cs typeface="Angsana New" panose="02020603050405020304" pitchFamily="18" charset="-34"/>
              </a:rPr>
              <a:t>3.</a:t>
            </a:r>
            <a:r>
              <a:rPr lang="en-US" sz="2000" b="1" dirty="0" smtClean="0">
                <a:latin typeface="Angsana New" panose="02020603050405020304" pitchFamily="18" charset="-34"/>
                <a:cs typeface="Angsana New" panose="02020603050405020304" pitchFamily="18" charset="-34"/>
              </a:rPr>
              <a:t>Payment Method </a:t>
            </a:r>
            <a:r>
              <a:rPr lang="th-TH" sz="2000" b="1" dirty="0" smtClean="0">
                <a:latin typeface="Angsana New" panose="02020603050405020304" pitchFamily="18" charset="-34"/>
                <a:cs typeface="Angsana New" panose="02020603050405020304" pitchFamily="18" charset="-34"/>
              </a:rPr>
              <a:t>เลือก </a:t>
            </a:r>
            <a:r>
              <a:rPr lang="en-US" sz="2000" b="1" dirty="0" err="1" smtClean="0">
                <a:latin typeface="Angsana New" panose="02020603050405020304" pitchFamily="18" charset="-34"/>
                <a:cs typeface="Angsana New" panose="02020603050405020304" pitchFamily="18" charset="-34"/>
              </a:rPr>
              <a:t>Tranfer</a:t>
            </a:r>
            <a:r>
              <a:rPr lang="en-US" sz="2000" b="1" dirty="0" smtClean="0">
                <a:latin typeface="Angsana New" panose="02020603050405020304" pitchFamily="18" charset="-34"/>
                <a:cs typeface="Angsana New" panose="02020603050405020304" pitchFamily="18" charset="-34"/>
              </a:rPr>
              <a:t> AR</a:t>
            </a:r>
            <a:br>
              <a:rPr lang="en-US" sz="2000" b="1" dirty="0" smtClean="0">
                <a:latin typeface="Angsana New" panose="02020603050405020304" pitchFamily="18" charset="-34"/>
                <a:cs typeface="Angsana New" panose="02020603050405020304" pitchFamily="18" charset="-34"/>
              </a:rPr>
            </a:br>
            <a:r>
              <a:rPr lang="en-US" sz="2000" b="1" dirty="0" smtClean="0">
                <a:latin typeface="Angsana New" panose="02020603050405020304" pitchFamily="18" charset="-34"/>
                <a:cs typeface="Angsana New" panose="02020603050405020304" pitchFamily="18" charset="-34"/>
              </a:rPr>
              <a:t>4.Transaction Apply Date </a:t>
            </a:r>
            <a:r>
              <a:rPr lang="th-TH" sz="2000" b="1" dirty="0" smtClean="0">
                <a:latin typeface="Angsana New" panose="02020603050405020304" pitchFamily="18" charset="-34"/>
                <a:cs typeface="Angsana New" panose="02020603050405020304" pitchFamily="18" charset="-34"/>
              </a:rPr>
              <a:t>วันที่ตามธนาคารได้รับเงิน </a:t>
            </a:r>
            <a:r>
              <a:rPr lang="en-US" sz="2000" dirty="0"/>
              <a:t>save</a:t>
            </a:r>
            <a:endParaRPr lang="th-TH" sz="2000" b="1" dirty="0">
              <a:latin typeface="Angsana New" panose="02020603050405020304" pitchFamily="18" charset="-34"/>
              <a:cs typeface="Angsana New" panose="02020603050405020304" pitchFamily="18" charset="-34"/>
            </a:endParaRPr>
          </a:p>
        </p:txBody>
      </p:sp>
      <p:pic>
        <p:nvPicPr>
          <p:cNvPr id="5" name="Picture 4">
            <a:extLst>
              <a:ext uri="{FF2B5EF4-FFF2-40B4-BE49-F238E27FC236}">
                <a16:creationId xmlns:a16="http://schemas.microsoft.com/office/drawing/2014/main" id="{CE06AAB1-B434-4C1D-9B0F-C7C1713FA560}"/>
              </a:ext>
            </a:extLst>
          </p:cNvPr>
          <p:cNvPicPr>
            <a:picLocks noChangeAspect="1"/>
          </p:cNvPicPr>
          <p:nvPr/>
        </p:nvPicPr>
        <p:blipFill rotWithShape="1">
          <a:blip r:embed="rId2"/>
          <a:srcRect l="1" t="-1555" r="42784" b="47360"/>
          <a:stretch/>
        </p:blipFill>
        <p:spPr>
          <a:xfrm>
            <a:off x="374074" y="1526915"/>
            <a:ext cx="11090046" cy="5331085"/>
          </a:xfrm>
          <a:prstGeom prst="rect">
            <a:avLst/>
          </a:prstGeom>
        </p:spPr>
      </p:pic>
      <p:sp>
        <p:nvSpPr>
          <p:cNvPr id="9" name="Rectangle 8"/>
          <p:cNvSpPr/>
          <p:nvPr/>
        </p:nvSpPr>
        <p:spPr>
          <a:xfrm>
            <a:off x="491320" y="201352"/>
            <a:ext cx="4612944" cy="1325563"/>
          </a:xfrm>
          <a:prstGeom prst="rect">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th-TH" dirty="0"/>
          </a:p>
        </p:txBody>
      </p:sp>
      <p:sp>
        <p:nvSpPr>
          <p:cNvPr id="11" name="TextBox 10"/>
          <p:cNvSpPr txBox="1"/>
          <p:nvPr/>
        </p:nvSpPr>
        <p:spPr>
          <a:xfrm>
            <a:off x="3657600" y="3084394"/>
            <a:ext cx="268022" cy="369332"/>
          </a:xfrm>
          <a:prstGeom prst="rect">
            <a:avLst/>
          </a:prstGeom>
          <a:noFill/>
        </p:spPr>
        <p:txBody>
          <a:bodyPr wrap="none" rtlCol="0">
            <a:spAutoFit/>
          </a:bodyPr>
          <a:lstStyle/>
          <a:p>
            <a:r>
              <a:rPr lang="th-TH" sz="1800" dirty="0" smtClean="0">
                <a:solidFill>
                  <a:srgbClr val="FF0000"/>
                </a:solidFill>
              </a:rPr>
              <a:t>1</a:t>
            </a:r>
            <a:endParaRPr lang="th-TH" sz="1800" dirty="0">
              <a:solidFill>
                <a:srgbClr val="FF0000"/>
              </a:solidFill>
            </a:endParaRPr>
          </a:p>
        </p:txBody>
      </p:sp>
      <p:sp>
        <p:nvSpPr>
          <p:cNvPr id="12" name="Rectangle 11"/>
          <p:cNvSpPr/>
          <p:nvPr/>
        </p:nvSpPr>
        <p:spPr>
          <a:xfrm>
            <a:off x="3925622" y="3276305"/>
            <a:ext cx="268022" cy="369332"/>
          </a:xfrm>
          <a:prstGeom prst="rect">
            <a:avLst/>
          </a:prstGeom>
        </p:spPr>
        <p:txBody>
          <a:bodyPr wrap="none">
            <a:spAutoFit/>
          </a:bodyPr>
          <a:lstStyle/>
          <a:p>
            <a:pPr lvl="0"/>
            <a:r>
              <a:rPr lang="th-TH" sz="1800" dirty="0" smtClean="0">
                <a:solidFill>
                  <a:srgbClr val="FF0000"/>
                </a:solidFill>
              </a:rPr>
              <a:t>2</a:t>
            </a:r>
            <a:endParaRPr lang="th-TH" sz="1800" dirty="0">
              <a:solidFill>
                <a:srgbClr val="FF0000"/>
              </a:solidFill>
            </a:endParaRPr>
          </a:p>
        </p:txBody>
      </p:sp>
      <p:sp>
        <p:nvSpPr>
          <p:cNvPr id="13" name="Rectangle 12"/>
          <p:cNvSpPr/>
          <p:nvPr/>
        </p:nvSpPr>
        <p:spPr>
          <a:xfrm>
            <a:off x="3791611" y="3529210"/>
            <a:ext cx="268022" cy="369332"/>
          </a:xfrm>
          <a:prstGeom prst="rect">
            <a:avLst/>
          </a:prstGeom>
        </p:spPr>
        <p:txBody>
          <a:bodyPr wrap="none">
            <a:spAutoFit/>
          </a:bodyPr>
          <a:lstStyle/>
          <a:p>
            <a:pPr lvl="0"/>
            <a:r>
              <a:rPr lang="th-TH" sz="1800" dirty="0" smtClean="0">
                <a:solidFill>
                  <a:srgbClr val="FF0000"/>
                </a:solidFill>
              </a:rPr>
              <a:t>3</a:t>
            </a:r>
            <a:endParaRPr lang="th-TH" sz="1800" dirty="0">
              <a:solidFill>
                <a:srgbClr val="FF0000"/>
              </a:solidFill>
            </a:endParaRPr>
          </a:p>
        </p:txBody>
      </p:sp>
      <p:sp>
        <p:nvSpPr>
          <p:cNvPr id="14" name="Rectangle 13"/>
          <p:cNvSpPr/>
          <p:nvPr/>
        </p:nvSpPr>
        <p:spPr>
          <a:xfrm>
            <a:off x="3389578" y="4007791"/>
            <a:ext cx="268022" cy="369332"/>
          </a:xfrm>
          <a:prstGeom prst="rect">
            <a:avLst/>
          </a:prstGeom>
        </p:spPr>
        <p:txBody>
          <a:bodyPr wrap="none">
            <a:spAutoFit/>
          </a:bodyPr>
          <a:lstStyle/>
          <a:p>
            <a:pPr lvl="0"/>
            <a:r>
              <a:rPr lang="th-TH" sz="1800" dirty="0" smtClean="0">
                <a:solidFill>
                  <a:srgbClr val="FF0000"/>
                </a:solidFill>
              </a:rPr>
              <a:t>4</a:t>
            </a:r>
            <a:endParaRPr lang="th-TH" sz="1800" dirty="0">
              <a:solidFill>
                <a:srgbClr val="FF0000"/>
              </a:solidFill>
            </a:endParaRPr>
          </a:p>
        </p:txBody>
      </p:sp>
    </p:spTree>
    <p:extLst>
      <p:ext uri="{BB962C8B-B14F-4D97-AF65-F5344CB8AC3E}">
        <p14:creationId xmlns:p14="http://schemas.microsoft.com/office/powerpoint/2010/main" val="2565216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th-TH" sz="1800" dirty="0"/>
                  <a:t>1.คลิกตรง </a:t>
                </a:r>
                <a14:m>
                  <m:oMath xmlns:m="http://schemas.openxmlformats.org/officeDocument/2006/math">
                    <m:r>
                      <a:rPr lang="th-TH" sz="1800" i="1">
                        <a:latin typeface="Cambria Math" panose="02040503050406030204" pitchFamily="18" charset="0"/>
                        <a:ea typeface="Cambria Math" panose="02040503050406030204" pitchFamily="18" charset="0"/>
                      </a:rPr>
                      <m:t>𝛻</m:t>
                    </m:r>
                    <m:r>
                      <a:rPr lang="th-TH" sz="1800" i="1">
                        <a:latin typeface="Cambria Math" panose="02040503050406030204" pitchFamily="18" charset="0"/>
                        <a:ea typeface="Cambria Math" panose="02040503050406030204" pitchFamily="18" charset="0"/>
                      </a:rPr>
                      <m:t> </m:t>
                    </m:r>
                  </m:oMath>
                </a14:m>
                <a:r>
                  <a:rPr lang="en-US" sz="1800" dirty="0"/>
                  <a:t>New </a:t>
                </a:r>
                <a:r>
                  <a:rPr lang="en-US" sz="1800" dirty="0" smtClean="0"/>
                  <a:t>Invoice Payment</a:t>
                </a:r>
                <a:br>
                  <a:rPr lang="en-US" sz="1800" dirty="0" smtClean="0"/>
                </a:br>
                <a:r>
                  <a:rPr lang="th-TH" sz="1800" dirty="0" smtClean="0"/>
                  <a:t>2.อยู่หน้า </a:t>
                </a:r>
                <a:r>
                  <a:rPr lang="en-US" sz="1800" dirty="0" smtClean="0"/>
                  <a:t>Header</a:t>
                </a:r>
                <a:r>
                  <a:rPr lang="en-US" sz="1800" dirty="0"/>
                  <a:t/>
                </a:r>
                <a:br>
                  <a:rPr lang="en-US" sz="1800" dirty="0"/>
                </a:br>
                <a:endParaRPr lang="th-TH" sz="18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522"/>
                </a:stretch>
              </a:blipFill>
            </p:spPr>
            <p:txBody>
              <a:bodyPr/>
              <a:lstStyle/>
              <a:p>
                <a:r>
                  <a:rPr lang="th-TH">
                    <a:noFill/>
                  </a:rPr>
                  <a:t> </a:t>
                </a:r>
              </a:p>
            </p:txBody>
          </p:sp>
        </mc:Fallback>
      </mc:AlternateContent>
      <p:pic>
        <p:nvPicPr>
          <p:cNvPr id="3" name="Picture 2"/>
          <p:cNvPicPr>
            <a:picLocks noChangeAspect="1"/>
          </p:cNvPicPr>
          <p:nvPr/>
        </p:nvPicPr>
        <p:blipFill rotWithShape="1">
          <a:blip r:embed="rId3"/>
          <a:srcRect l="9643" t="8428" r="16139" b="8049"/>
          <a:stretch/>
        </p:blipFill>
        <p:spPr>
          <a:xfrm>
            <a:off x="683832" y="1337481"/>
            <a:ext cx="10669968" cy="5349922"/>
          </a:xfrm>
          <a:prstGeom prst="rect">
            <a:avLst/>
          </a:prstGeom>
        </p:spPr>
      </p:pic>
      <p:sp>
        <p:nvSpPr>
          <p:cNvPr id="4" name="Rectangle 3"/>
          <p:cNvSpPr/>
          <p:nvPr/>
        </p:nvSpPr>
        <p:spPr>
          <a:xfrm>
            <a:off x="683834" y="365125"/>
            <a:ext cx="3929109" cy="972356"/>
          </a:xfrm>
          <a:prstGeom prst="rect">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 name="Oval 4"/>
          <p:cNvSpPr/>
          <p:nvPr/>
        </p:nvSpPr>
        <p:spPr>
          <a:xfrm>
            <a:off x="2784143" y="1978926"/>
            <a:ext cx="832514" cy="464023"/>
          </a:xfrm>
          <a:prstGeom prst="ellipse">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138387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9488E8-6E71-45B5-84D2-D6C931D12DA0}"/>
              </a:ext>
            </a:extLst>
          </p:cNvPr>
          <p:cNvPicPr>
            <a:picLocks noChangeAspect="1"/>
          </p:cNvPicPr>
          <p:nvPr/>
        </p:nvPicPr>
        <p:blipFill rotWithShape="1">
          <a:blip r:embed="rId2"/>
          <a:srcRect l="-1042" t="-288" r="43105" b="43386"/>
          <a:stretch/>
        </p:blipFill>
        <p:spPr>
          <a:xfrm>
            <a:off x="309312" y="1546259"/>
            <a:ext cx="11386819" cy="5209383"/>
          </a:xfrm>
          <a:prstGeom prst="rect">
            <a:avLst/>
          </a:prstGeom>
        </p:spPr>
      </p:pic>
      <p:sp>
        <p:nvSpPr>
          <p:cNvPr id="3" name="Title 2"/>
          <p:cNvSpPr>
            <a:spLocks noGrp="1"/>
          </p:cNvSpPr>
          <p:nvPr>
            <p:ph type="title"/>
          </p:nvPr>
        </p:nvSpPr>
        <p:spPr>
          <a:xfrm>
            <a:off x="640682" y="0"/>
            <a:ext cx="10515600" cy="1648326"/>
          </a:xfrm>
        </p:spPr>
        <p:txBody>
          <a:bodyPr>
            <a:noAutofit/>
          </a:bodyPr>
          <a:lstStyle/>
          <a:p>
            <a:r>
              <a:rPr lang="en-US" sz="1400" dirty="0" smtClean="0"/>
              <a:t/>
            </a:r>
            <a:br>
              <a:rPr lang="en-US" sz="1400" dirty="0" smtClean="0"/>
            </a:br>
            <a:r>
              <a:rPr lang="en-US" sz="1400" dirty="0" smtClean="0"/>
              <a:t>1.Check </a:t>
            </a:r>
            <a:r>
              <a:rPr lang="th-TH" sz="1400" dirty="0" smtClean="0"/>
              <a:t>ใส่เลข </a:t>
            </a:r>
            <a:r>
              <a:rPr lang="en-US" sz="1400" dirty="0" smtClean="0"/>
              <a:t>Ref no.</a:t>
            </a:r>
            <a:r>
              <a:rPr lang="th-TH" sz="1400" dirty="0" smtClean="0"/>
              <a:t>ตามเอกสารที่ </a:t>
            </a:r>
            <a:r>
              <a:rPr lang="en-US" sz="1400" dirty="0" smtClean="0"/>
              <a:t>Bank </a:t>
            </a:r>
            <a:r>
              <a:rPr lang="th-TH" sz="1400" dirty="0" smtClean="0"/>
              <a:t>ส่งมา</a:t>
            </a:r>
            <a:br>
              <a:rPr lang="th-TH" sz="1400" dirty="0" smtClean="0"/>
            </a:br>
            <a:r>
              <a:rPr lang="th-TH" sz="1400" dirty="0" smtClean="0"/>
              <a:t>2.</a:t>
            </a:r>
            <a:r>
              <a:rPr lang="en-US" sz="1400" dirty="0" smtClean="0"/>
              <a:t>Receipt Amount </a:t>
            </a:r>
            <a:r>
              <a:rPr lang="th-TH" sz="1400" dirty="0" smtClean="0"/>
              <a:t>ใส่จำนวนเงิน ตามเอกสารที่ </a:t>
            </a:r>
            <a:r>
              <a:rPr lang="en-US" sz="1400" dirty="0"/>
              <a:t>Bank </a:t>
            </a:r>
            <a:r>
              <a:rPr lang="th-TH" sz="1400" dirty="0"/>
              <a:t>ส่ง</a:t>
            </a:r>
            <a:r>
              <a:rPr lang="th-TH" sz="1400" dirty="0" smtClean="0"/>
              <a:t>มา</a:t>
            </a:r>
            <a:br>
              <a:rPr lang="th-TH" sz="1400" dirty="0" smtClean="0"/>
            </a:br>
            <a:r>
              <a:rPr lang="th-TH" sz="1400" dirty="0" smtClean="0"/>
              <a:t>3.</a:t>
            </a:r>
            <a:r>
              <a:rPr lang="en-US" sz="1400" dirty="0" smtClean="0"/>
              <a:t>Receipt Currency </a:t>
            </a:r>
            <a:r>
              <a:rPr lang="th-TH" sz="1400" dirty="0" smtClean="0"/>
              <a:t>เลือกตามสกุลเงินลูกค้าที่ </a:t>
            </a:r>
            <a:r>
              <a:rPr lang="en-US" sz="1400" dirty="0" smtClean="0"/>
              <a:t>Bank </a:t>
            </a:r>
            <a:r>
              <a:rPr lang="th-TH" sz="1400" dirty="0" smtClean="0"/>
              <a:t>ส่งมา</a:t>
            </a:r>
            <a:br>
              <a:rPr lang="th-TH" sz="1400" dirty="0" smtClean="0"/>
            </a:br>
            <a:r>
              <a:rPr lang="th-TH" sz="1400" dirty="0" smtClean="0"/>
              <a:t>4.</a:t>
            </a:r>
            <a:r>
              <a:rPr lang="en-US" sz="1400" dirty="0" smtClean="0"/>
              <a:t>Description </a:t>
            </a:r>
            <a:r>
              <a:rPr lang="th-TH" sz="1400" dirty="0" smtClean="0"/>
              <a:t>ใส่บันทีกเรา เช่น รายการนี้เป็นของตู้ไหน </a:t>
            </a:r>
            <a:r>
              <a:rPr lang="en-US" sz="1400" dirty="0" smtClean="0"/>
              <a:t>SIF…..</a:t>
            </a:r>
            <a:br>
              <a:rPr lang="en-US" sz="1400" dirty="0" smtClean="0"/>
            </a:br>
            <a:r>
              <a:rPr lang="th-TH" sz="1400" dirty="0" smtClean="0"/>
              <a:t>5.</a:t>
            </a:r>
            <a:r>
              <a:rPr lang="en-US" sz="1400" dirty="0" smtClean="0"/>
              <a:t>Invoice Number </a:t>
            </a:r>
            <a:r>
              <a:rPr lang="th-TH" sz="1400" dirty="0" smtClean="0"/>
              <a:t>ตาม</a:t>
            </a:r>
            <a:r>
              <a:rPr lang="en-US" sz="1400" dirty="0" smtClean="0"/>
              <a:t>Bank </a:t>
            </a:r>
            <a:r>
              <a:rPr lang="th-TH" sz="1400" dirty="0" smtClean="0"/>
              <a:t>แจ้ง หรือตรวจสอบเองก่อนตามระบบเราว่าถูกต้องหรือไม่</a:t>
            </a:r>
            <a:br>
              <a:rPr lang="th-TH" sz="1400" dirty="0" smtClean="0"/>
            </a:br>
            <a:r>
              <a:rPr lang="th-TH" sz="1400" dirty="0" smtClean="0"/>
              <a:t>6.</a:t>
            </a:r>
            <a:r>
              <a:rPr lang="en-US" sz="1400" dirty="0" smtClean="0"/>
              <a:t>Customer ID </a:t>
            </a:r>
            <a:r>
              <a:rPr lang="th-TH" sz="1400" dirty="0" smtClean="0"/>
              <a:t>สามารถพิมพ์เข้าไปค้นหาลูกค้าที่ชำระเงินมา หรือใส่รหัสลูกค้าได้เลยถ้าทราบ</a:t>
            </a:r>
            <a:br>
              <a:rPr lang="th-TH" sz="1400" dirty="0" smtClean="0"/>
            </a:br>
            <a:r>
              <a:rPr lang="th-TH" sz="1400" dirty="0" smtClean="0"/>
              <a:t>7.</a:t>
            </a:r>
            <a:r>
              <a:rPr lang="en-US" sz="1400" dirty="0" smtClean="0"/>
              <a:t>Document type </a:t>
            </a:r>
            <a:r>
              <a:rPr lang="th-TH" sz="1400" dirty="0" smtClean="0"/>
              <a:t>สามารถคลิกเลิกได้ว่าตู้ที่ชำระมาเป็น </a:t>
            </a:r>
            <a:r>
              <a:rPr lang="en-US" sz="1400" dirty="0" err="1" smtClean="0"/>
              <a:t>s,c,u</a:t>
            </a:r>
            <a:r>
              <a:rPr lang="en-US" sz="1400" dirty="0" smtClean="0"/>
              <a:t>,</a:t>
            </a:r>
            <a:r>
              <a:rPr lang="en-US" sz="1400" dirty="0"/>
              <a:t> save</a:t>
            </a:r>
            <a:r>
              <a:rPr lang="th-TH" sz="1400" dirty="0"/>
              <a:t/>
            </a:r>
            <a:br>
              <a:rPr lang="th-TH" sz="1400" dirty="0"/>
            </a:br>
            <a:endParaRPr lang="th-TH" sz="1400" dirty="0"/>
          </a:p>
        </p:txBody>
      </p:sp>
      <p:sp>
        <p:nvSpPr>
          <p:cNvPr id="4" name="Rectangle 3"/>
          <p:cNvSpPr/>
          <p:nvPr/>
        </p:nvSpPr>
        <p:spPr>
          <a:xfrm>
            <a:off x="532957" y="74427"/>
            <a:ext cx="5627211" cy="1471831"/>
          </a:xfrm>
          <a:prstGeom prst="rect">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5" name="Rectangle 4"/>
          <p:cNvSpPr/>
          <p:nvPr/>
        </p:nvSpPr>
        <p:spPr>
          <a:xfrm>
            <a:off x="4105893" y="2723185"/>
            <a:ext cx="268022" cy="369332"/>
          </a:xfrm>
          <a:prstGeom prst="rect">
            <a:avLst/>
          </a:prstGeom>
        </p:spPr>
        <p:txBody>
          <a:bodyPr wrap="none">
            <a:spAutoFit/>
          </a:bodyPr>
          <a:lstStyle/>
          <a:p>
            <a:pPr lvl="0"/>
            <a:r>
              <a:rPr lang="th-TH" sz="1800" dirty="0">
                <a:solidFill>
                  <a:srgbClr val="FF0000"/>
                </a:solidFill>
              </a:rPr>
              <a:t>1</a:t>
            </a:r>
          </a:p>
        </p:txBody>
      </p:sp>
      <p:sp>
        <p:nvSpPr>
          <p:cNvPr id="6" name="Rectangle 5"/>
          <p:cNvSpPr/>
          <p:nvPr/>
        </p:nvSpPr>
        <p:spPr>
          <a:xfrm>
            <a:off x="3589361" y="3009919"/>
            <a:ext cx="265940" cy="369332"/>
          </a:xfrm>
          <a:prstGeom prst="rect">
            <a:avLst/>
          </a:prstGeom>
        </p:spPr>
        <p:txBody>
          <a:bodyPr wrap="square">
            <a:spAutoFit/>
          </a:bodyPr>
          <a:lstStyle/>
          <a:p>
            <a:pPr lvl="0"/>
            <a:r>
              <a:rPr lang="th-TH" sz="1800" dirty="0" smtClean="0">
                <a:solidFill>
                  <a:srgbClr val="FF0000"/>
                </a:solidFill>
              </a:rPr>
              <a:t>2</a:t>
            </a:r>
            <a:endParaRPr lang="th-TH" sz="1800" dirty="0">
              <a:solidFill>
                <a:srgbClr val="FF0000"/>
              </a:solidFill>
            </a:endParaRPr>
          </a:p>
        </p:txBody>
      </p:sp>
      <p:sp>
        <p:nvSpPr>
          <p:cNvPr id="8" name="Rectangle 7"/>
          <p:cNvSpPr/>
          <p:nvPr/>
        </p:nvSpPr>
        <p:spPr>
          <a:xfrm>
            <a:off x="3578564" y="3379251"/>
            <a:ext cx="268022" cy="369332"/>
          </a:xfrm>
          <a:prstGeom prst="rect">
            <a:avLst/>
          </a:prstGeom>
        </p:spPr>
        <p:txBody>
          <a:bodyPr wrap="none">
            <a:spAutoFit/>
          </a:bodyPr>
          <a:lstStyle/>
          <a:p>
            <a:pPr lvl="0"/>
            <a:r>
              <a:rPr lang="th-TH" sz="1800" dirty="0" smtClean="0">
                <a:solidFill>
                  <a:srgbClr val="FF0000"/>
                </a:solidFill>
              </a:rPr>
              <a:t>3</a:t>
            </a:r>
            <a:endParaRPr lang="th-TH" sz="1800" dirty="0">
              <a:solidFill>
                <a:srgbClr val="FF0000"/>
              </a:solidFill>
            </a:endParaRPr>
          </a:p>
        </p:txBody>
      </p:sp>
      <p:sp>
        <p:nvSpPr>
          <p:cNvPr id="9" name="Rectangle 8"/>
          <p:cNvSpPr/>
          <p:nvPr/>
        </p:nvSpPr>
        <p:spPr>
          <a:xfrm>
            <a:off x="3911138" y="3647986"/>
            <a:ext cx="268022" cy="369332"/>
          </a:xfrm>
          <a:prstGeom prst="rect">
            <a:avLst/>
          </a:prstGeom>
        </p:spPr>
        <p:txBody>
          <a:bodyPr wrap="none">
            <a:spAutoFit/>
          </a:bodyPr>
          <a:lstStyle/>
          <a:p>
            <a:pPr lvl="0"/>
            <a:r>
              <a:rPr lang="th-TH" sz="1800" dirty="0" smtClean="0">
                <a:solidFill>
                  <a:srgbClr val="FF0000"/>
                </a:solidFill>
              </a:rPr>
              <a:t>4</a:t>
            </a:r>
            <a:endParaRPr lang="th-TH" sz="1800" dirty="0">
              <a:solidFill>
                <a:srgbClr val="FF0000"/>
              </a:solidFill>
            </a:endParaRPr>
          </a:p>
        </p:txBody>
      </p:sp>
      <p:sp>
        <p:nvSpPr>
          <p:cNvPr id="10" name="Rectangle 9"/>
          <p:cNvSpPr/>
          <p:nvPr/>
        </p:nvSpPr>
        <p:spPr>
          <a:xfrm>
            <a:off x="3008007" y="4950304"/>
            <a:ext cx="268022" cy="369332"/>
          </a:xfrm>
          <a:prstGeom prst="rect">
            <a:avLst/>
          </a:prstGeom>
        </p:spPr>
        <p:txBody>
          <a:bodyPr wrap="none">
            <a:spAutoFit/>
          </a:bodyPr>
          <a:lstStyle/>
          <a:p>
            <a:pPr lvl="0"/>
            <a:r>
              <a:rPr lang="th-TH" sz="1800" dirty="0" smtClean="0">
                <a:solidFill>
                  <a:srgbClr val="FF0000"/>
                </a:solidFill>
              </a:rPr>
              <a:t>5</a:t>
            </a:r>
            <a:endParaRPr lang="th-TH" sz="1800" dirty="0">
              <a:solidFill>
                <a:srgbClr val="FF0000"/>
              </a:solidFill>
            </a:endParaRPr>
          </a:p>
        </p:txBody>
      </p:sp>
      <p:sp>
        <p:nvSpPr>
          <p:cNvPr id="11" name="Rectangle 10"/>
          <p:cNvSpPr/>
          <p:nvPr/>
        </p:nvSpPr>
        <p:spPr>
          <a:xfrm>
            <a:off x="3008007" y="5319636"/>
            <a:ext cx="268022" cy="369332"/>
          </a:xfrm>
          <a:prstGeom prst="rect">
            <a:avLst/>
          </a:prstGeom>
        </p:spPr>
        <p:txBody>
          <a:bodyPr wrap="none">
            <a:spAutoFit/>
          </a:bodyPr>
          <a:lstStyle/>
          <a:p>
            <a:pPr lvl="0"/>
            <a:r>
              <a:rPr lang="th-TH" sz="1800" dirty="0" smtClean="0">
                <a:solidFill>
                  <a:srgbClr val="FF0000"/>
                </a:solidFill>
              </a:rPr>
              <a:t>6</a:t>
            </a:r>
            <a:endParaRPr lang="th-TH" sz="1800" dirty="0">
              <a:solidFill>
                <a:srgbClr val="FF0000"/>
              </a:solidFill>
            </a:endParaRPr>
          </a:p>
        </p:txBody>
      </p:sp>
      <p:sp>
        <p:nvSpPr>
          <p:cNvPr id="12" name="Rectangle 11"/>
          <p:cNvSpPr/>
          <p:nvPr/>
        </p:nvSpPr>
        <p:spPr>
          <a:xfrm>
            <a:off x="8009153" y="3463320"/>
            <a:ext cx="268022" cy="369332"/>
          </a:xfrm>
          <a:prstGeom prst="rect">
            <a:avLst/>
          </a:prstGeom>
        </p:spPr>
        <p:txBody>
          <a:bodyPr wrap="none">
            <a:spAutoFit/>
          </a:bodyPr>
          <a:lstStyle/>
          <a:p>
            <a:pPr lvl="0"/>
            <a:r>
              <a:rPr lang="th-TH" sz="1800" dirty="0" smtClean="0">
                <a:solidFill>
                  <a:srgbClr val="FF0000"/>
                </a:solidFill>
              </a:rPr>
              <a:t>7</a:t>
            </a:r>
            <a:endParaRPr lang="th-TH" sz="1800" dirty="0">
              <a:solidFill>
                <a:srgbClr val="FF0000"/>
              </a:solidFill>
            </a:endParaRPr>
          </a:p>
        </p:txBody>
      </p:sp>
    </p:spTree>
    <p:extLst>
      <p:ext uri="{BB962C8B-B14F-4D97-AF65-F5344CB8AC3E}">
        <p14:creationId xmlns:p14="http://schemas.microsoft.com/office/powerpoint/2010/main" val="6444823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9436" t="13590" r="9822" b="4769"/>
          <a:stretch/>
        </p:blipFill>
        <p:spPr>
          <a:xfrm>
            <a:off x="327870" y="204716"/>
            <a:ext cx="11600273" cy="6653284"/>
          </a:xfrm>
          <a:prstGeom prst="rect">
            <a:avLst/>
          </a:prstGeom>
        </p:spPr>
      </p:pic>
      <p:sp>
        <p:nvSpPr>
          <p:cNvPr id="4" name="TextBox 3"/>
          <p:cNvSpPr txBox="1"/>
          <p:nvPr/>
        </p:nvSpPr>
        <p:spPr>
          <a:xfrm>
            <a:off x="531628" y="3430126"/>
            <a:ext cx="3019647" cy="1200329"/>
          </a:xfrm>
          <a:prstGeom prst="rect">
            <a:avLst/>
          </a:prstGeom>
          <a:noFill/>
        </p:spPr>
        <p:txBody>
          <a:bodyPr wrap="square" rtlCol="0">
            <a:spAutoFit/>
          </a:bodyPr>
          <a:lstStyle/>
          <a:p>
            <a:r>
              <a:rPr lang="th-TH" sz="1800" dirty="0" smtClean="0">
                <a:latin typeface="Angsana New" panose="02020603050405020304" pitchFamily="18" charset="-34"/>
                <a:cs typeface="Angsana New" panose="02020603050405020304" pitchFamily="18" charset="-34"/>
              </a:rPr>
              <a:t>1.มาหน้า </a:t>
            </a:r>
            <a:r>
              <a:rPr lang="en-US" sz="1800" dirty="0" smtClean="0">
                <a:latin typeface="Angsana New" panose="02020603050405020304" pitchFamily="18" charset="-34"/>
                <a:cs typeface="Angsana New" panose="02020603050405020304" pitchFamily="18" charset="-34"/>
              </a:rPr>
              <a:t>Invoice Selection</a:t>
            </a:r>
          </a:p>
          <a:p>
            <a:r>
              <a:rPr lang="en-US" sz="1800" dirty="0" smtClean="0">
                <a:latin typeface="Angsana New" panose="02020603050405020304" pitchFamily="18" charset="-34"/>
                <a:cs typeface="Angsana New" panose="02020603050405020304" pitchFamily="18" charset="-34"/>
              </a:rPr>
              <a:t>2.</a:t>
            </a:r>
            <a:r>
              <a:rPr lang="th-TH" sz="1800" dirty="0" smtClean="0">
                <a:latin typeface="Angsana New" panose="02020603050405020304" pitchFamily="18" charset="-34"/>
                <a:cs typeface="Angsana New" panose="02020603050405020304" pitchFamily="18" charset="-34"/>
              </a:rPr>
              <a:t>จะเห็น ทุก</a:t>
            </a:r>
            <a:r>
              <a:rPr lang="en-US" sz="1800" dirty="0" smtClean="0">
                <a:latin typeface="Angsana New" panose="02020603050405020304" pitchFamily="18" charset="-34"/>
                <a:cs typeface="Angsana New" panose="02020603050405020304" pitchFamily="18" charset="-34"/>
              </a:rPr>
              <a:t>Inv.</a:t>
            </a:r>
            <a:r>
              <a:rPr lang="th-TH" sz="1800" dirty="0" smtClean="0">
                <a:latin typeface="Angsana New" panose="02020603050405020304" pitchFamily="18" charset="-34"/>
                <a:cs typeface="Angsana New" panose="02020603050405020304" pitchFamily="18" charset="-34"/>
              </a:rPr>
              <a:t>ทีลูกค้ารายนี้มี </a:t>
            </a:r>
            <a:r>
              <a:rPr lang="th-TH" sz="1800" dirty="0" smtClean="0">
                <a:latin typeface="Angsana New" panose="02020603050405020304" pitchFamily="18" charset="-34"/>
                <a:ea typeface="Cambria Math" panose="02040503050406030204" pitchFamily="18" charset="0"/>
                <a:cs typeface="Angsana New" panose="02020603050405020304" pitchFamily="18" charset="-34"/>
              </a:rPr>
              <a:t>√</a:t>
            </a:r>
            <a:r>
              <a:rPr lang="th-TH" sz="1800" dirty="0" smtClean="0">
                <a:latin typeface="Angsana New" panose="02020603050405020304" pitchFamily="18" charset="-34"/>
                <a:cs typeface="Angsana New" panose="02020603050405020304" pitchFamily="18" charset="-34"/>
              </a:rPr>
              <a:t>เลือก </a:t>
            </a:r>
            <a:r>
              <a:rPr lang="en-US" sz="1800" dirty="0" smtClean="0">
                <a:latin typeface="Angsana New" panose="02020603050405020304" pitchFamily="18" charset="-34"/>
                <a:cs typeface="Angsana New" panose="02020603050405020304" pitchFamily="18" charset="-34"/>
              </a:rPr>
              <a:t>Inv.</a:t>
            </a:r>
            <a:r>
              <a:rPr lang="th-TH" sz="1800" dirty="0" smtClean="0">
                <a:latin typeface="Angsana New" panose="02020603050405020304" pitchFamily="18" charset="-34"/>
                <a:cs typeface="Angsana New" panose="02020603050405020304" pitchFamily="18" charset="-34"/>
              </a:rPr>
              <a:t>ที่แจ้งมา</a:t>
            </a:r>
          </a:p>
          <a:p>
            <a:r>
              <a:rPr lang="th-TH" sz="1800" dirty="0" smtClean="0">
                <a:latin typeface="Angsana New" panose="02020603050405020304" pitchFamily="18" charset="-34"/>
                <a:cs typeface="Angsana New" panose="02020603050405020304" pitchFamily="18" charset="-34"/>
              </a:rPr>
              <a:t>3.คลิก </a:t>
            </a:r>
            <a:r>
              <a:rPr lang="en-US" sz="1800" dirty="0" smtClean="0">
                <a:latin typeface="Angsana New" panose="02020603050405020304" pitchFamily="18" charset="-34"/>
                <a:cs typeface="Angsana New" panose="02020603050405020304" pitchFamily="18" charset="-34"/>
              </a:rPr>
              <a:t>Apply</a:t>
            </a:r>
            <a:endParaRPr lang="th-TH" sz="1800" dirty="0">
              <a:latin typeface="Angsana New" panose="02020603050405020304" pitchFamily="18" charset="-34"/>
              <a:cs typeface="Angsana New" panose="02020603050405020304" pitchFamily="18" charset="-34"/>
            </a:endParaRPr>
          </a:p>
        </p:txBody>
      </p:sp>
      <p:sp>
        <p:nvSpPr>
          <p:cNvPr id="5" name="Rectangle 4"/>
          <p:cNvSpPr/>
          <p:nvPr/>
        </p:nvSpPr>
        <p:spPr>
          <a:xfrm>
            <a:off x="531628" y="3430125"/>
            <a:ext cx="3019647" cy="1310186"/>
          </a:xfrm>
          <a:prstGeom prst="rect">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6" name="Oval 5"/>
          <p:cNvSpPr/>
          <p:nvPr/>
        </p:nvSpPr>
        <p:spPr>
          <a:xfrm>
            <a:off x="3687752" y="1457423"/>
            <a:ext cx="794426" cy="316785"/>
          </a:xfrm>
          <a:prstGeom prst="ellipse">
            <a:avLst/>
          </a:prstGeom>
          <a:noFill/>
          <a:ln w="1905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
        <p:nvSpPr>
          <p:cNvPr id="8" name="Oval 7"/>
          <p:cNvSpPr/>
          <p:nvPr/>
        </p:nvSpPr>
        <p:spPr>
          <a:xfrm>
            <a:off x="2647665" y="5773002"/>
            <a:ext cx="1157203" cy="627797"/>
          </a:xfrm>
          <a:prstGeom prst="ellipse">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9010669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589111-9153-403A-B405-BFE396848E01}"/>
              </a:ext>
            </a:extLst>
          </p:cNvPr>
          <p:cNvPicPr>
            <a:picLocks noChangeAspect="1"/>
          </p:cNvPicPr>
          <p:nvPr/>
        </p:nvPicPr>
        <p:blipFill rotWithShape="1">
          <a:blip r:embed="rId2"/>
          <a:srcRect r="40152" b="35188"/>
          <a:stretch/>
        </p:blipFill>
        <p:spPr>
          <a:xfrm>
            <a:off x="846161" y="300251"/>
            <a:ext cx="10454185" cy="6373504"/>
          </a:xfrm>
          <a:prstGeom prst="rect">
            <a:avLst/>
          </a:prstGeom>
        </p:spPr>
      </p:pic>
      <p:sp>
        <p:nvSpPr>
          <p:cNvPr id="4" name="TextBox 3"/>
          <p:cNvSpPr txBox="1"/>
          <p:nvPr/>
        </p:nvSpPr>
        <p:spPr>
          <a:xfrm>
            <a:off x="1734922" y="3900185"/>
            <a:ext cx="2592889" cy="584775"/>
          </a:xfrm>
          <a:prstGeom prst="rect">
            <a:avLst/>
          </a:prstGeom>
          <a:noFill/>
        </p:spPr>
        <p:txBody>
          <a:bodyPr wrap="none" rtlCol="0">
            <a:spAutoFit/>
          </a:bodyPr>
          <a:lstStyle/>
          <a:p>
            <a:r>
              <a:rPr lang="th-TH" sz="1600" dirty="0" smtClean="0">
                <a:cs typeface="+mj-cs"/>
              </a:rPr>
              <a:t>1.มาหน้า </a:t>
            </a:r>
            <a:r>
              <a:rPr lang="en-US" sz="1600" dirty="0" smtClean="0">
                <a:cs typeface="+mj-cs"/>
              </a:rPr>
              <a:t>Header Currency</a:t>
            </a:r>
          </a:p>
          <a:p>
            <a:r>
              <a:rPr lang="th-TH" sz="1600" dirty="0" smtClean="0">
                <a:cs typeface="+mj-cs"/>
              </a:rPr>
              <a:t>2.</a:t>
            </a:r>
            <a:r>
              <a:rPr lang="en-US" sz="1600" dirty="0" smtClean="0">
                <a:cs typeface="+mj-cs"/>
              </a:rPr>
              <a:t>.USD-THB </a:t>
            </a:r>
            <a:r>
              <a:rPr lang="th-TH" sz="1600" dirty="0" smtClean="0">
                <a:cs typeface="+mj-cs"/>
              </a:rPr>
              <a:t>ใส่</a:t>
            </a:r>
            <a:r>
              <a:rPr lang="en-US" sz="1600" dirty="0" smtClean="0">
                <a:cs typeface="+mj-cs"/>
              </a:rPr>
              <a:t>Rate </a:t>
            </a:r>
            <a:r>
              <a:rPr lang="th-TH" sz="1600" dirty="0" smtClean="0">
                <a:cs typeface="+mj-cs"/>
              </a:rPr>
              <a:t>ตามธนาคารแจ้ง</a:t>
            </a:r>
            <a:endParaRPr lang="th-TH" sz="1600" dirty="0">
              <a:cs typeface="+mj-cs"/>
            </a:endParaRPr>
          </a:p>
        </p:txBody>
      </p:sp>
      <p:sp>
        <p:nvSpPr>
          <p:cNvPr id="6" name="Rectangle 5"/>
          <p:cNvSpPr/>
          <p:nvPr/>
        </p:nvSpPr>
        <p:spPr>
          <a:xfrm>
            <a:off x="1758288" y="3735373"/>
            <a:ext cx="2572729" cy="914400"/>
          </a:xfrm>
          <a:prstGeom prst="rect">
            <a:avLst/>
          </a:prstGeom>
          <a:noFill/>
          <a:ln w="28575">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2106859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9756" t="9095" r="9896" b="17584"/>
          <a:stretch/>
        </p:blipFill>
        <p:spPr>
          <a:xfrm>
            <a:off x="736979" y="1951630"/>
            <a:ext cx="10454185" cy="5363571"/>
          </a:xfrm>
          <a:prstGeom prst="rect">
            <a:avLst/>
          </a:prstGeom>
        </p:spPr>
      </p:pic>
      <mc:AlternateContent xmlns:mc="http://schemas.openxmlformats.org/markup-compatibility/2006" xmlns:a14="http://schemas.microsoft.com/office/drawing/2010/main">
        <mc:Choice Requires="a14">
          <p:sp>
            <p:nvSpPr>
              <p:cNvPr id="5" name="Title 4"/>
              <p:cNvSpPr>
                <a:spLocks noGrp="1"/>
              </p:cNvSpPr>
              <p:nvPr>
                <p:ph type="title"/>
              </p:nvPr>
            </p:nvSpPr>
            <p:spPr/>
            <p:txBody>
              <a:bodyPr>
                <a:normAutofit/>
              </a:bodyPr>
              <a:lstStyle/>
              <a:p>
                <a:r>
                  <a:rPr lang="th-TH" sz="2000" dirty="0"/>
                  <a:t>1.คลิกตรง </a:t>
                </a:r>
                <a14:m>
                  <m:oMath xmlns:m="http://schemas.openxmlformats.org/officeDocument/2006/math">
                    <m:r>
                      <a:rPr lang="th-TH" sz="2000" i="1">
                        <a:latin typeface="Cambria Math" panose="02040503050406030204" pitchFamily="18" charset="0"/>
                        <a:ea typeface="Cambria Math" panose="02040503050406030204" pitchFamily="18" charset="0"/>
                      </a:rPr>
                      <m:t>𝛻</m:t>
                    </m:r>
                    <m:r>
                      <a:rPr lang="th-TH" sz="2000" i="1">
                        <a:latin typeface="Cambria Math" panose="02040503050406030204" pitchFamily="18" charset="0"/>
                        <a:ea typeface="Cambria Math" panose="02040503050406030204" pitchFamily="18" charset="0"/>
                      </a:rPr>
                      <m:t> </m:t>
                    </m:r>
                  </m:oMath>
                </a14:m>
                <a:r>
                  <a:rPr lang="en-US" sz="2000" dirty="0"/>
                  <a:t>New </a:t>
                </a:r>
                <a:r>
                  <a:rPr lang="en-US" sz="2000" dirty="0" smtClean="0"/>
                  <a:t>Bank Fee </a:t>
                </a:r>
                <a:r>
                  <a:rPr lang="th-TH" sz="2000" dirty="0" smtClean="0"/>
                  <a:t>เพื่อใส่ค่าธรรมเนียมธนาคาร</a:t>
                </a:r>
                <a:endParaRPr lang="th-TH" sz="2000" dirty="0"/>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3"/>
                <a:stretch>
                  <a:fillRect l="-638"/>
                </a:stretch>
              </a:blipFill>
            </p:spPr>
            <p:txBody>
              <a:bodyPr/>
              <a:lstStyle/>
              <a:p>
                <a:r>
                  <a:rPr lang="th-TH">
                    <a:noFill/>
                  </a:rPr>
                  <a:t> </a:t>
                </a:r>
              </a:p>
            </p:txBody>
          </p:sp>
        </mc:Fallback>
      </mc:AlternateContent>
      <p:sp>
        <p:nvSpPr>
          <p:cNvPr id="6" name="Rectangle 5"/>
          <p:cNvSpPr/>
          <p:nvPr/>
        </p:nvSpPr>
        <p:spPr>
          <a:xfrm>
            <a:off x="838200" y="776288"/>
            <a:ext cx="5071281" cy="670375"/>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7414090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326" y="365125"/>
            <a:ext cx="10515600" cy="1325563"/>
          </a:xfrm>
        </p:spPr>
        <p:txBody>
          <a:bodyPr>
            <a:normAutofit/>
          </a:bodyPr>
          <a:lstStyle/>
          <a:p>
            <a:r>
              <a:rPr lang="th-TH" sz="1600" dirty="0" smtClean="0"/>
              <a:t>1.คลิกตรง </a:t>
            </a:r>
            <a:r>
              <a:rPr lang="en-US" sz="1600" dirty="0" smtClean="0"/>
              <a:t>Bank fee </a:t>
            </a:r>
            <a:r>
              <a:rPr lang="th-TH" sz="1600" dirty="0" smtClean="0"/>
              <a:t>เลือก ค่าธรรมเนียม</a:t>
            </a:r>
            <a:br>
              <a:rPr lang="th-TH" sz="1600" dirty="0" smtClean="0"/>
            </a:br>
            <a:r>
              <a:rPr lang="th-TH" sz="1600" dirty="0" smtClean="0"/>
              <a:t>2.</a:t>
            </a:r>
            <a:r>
              <a:rPr lang="en-US" sz="1600" dirty="0" smtClean="0"/>
              <a:t>Bank Fee Amount </a:t>
            </a:r>
            <a:r>
              <a:rPr lang="th-TH" sz="1600" dirty="0" smtClean="0"/>
              <a:t>ใส่จำนวนค่าธรรมเนียม </a:t>
            </a:r>
            <a:r>
              <a:rPr lang="en-US" sz="1600" dirty="0" smtClean="0"/>
              <a:t>save</a:t>
            </a:r>
            <a:endParaRPr lang="th-TH" sz="1600" dirty="0"/>
          </a:p>
        </p:txBody>
      </p:sp>
      <p:pic>
        <p:nvPicPr>
          <p:cNvPr id="3" name="Picture 2"/>
          <p:cNvPicPr>
            <a:picLocks noChangeAspect="1"/>
          </p:cNvPicPr>
          <p:nvPr/>
        </p:nvPicPr>
        <p:blipFill rotWithShape="1">
          <a:blip r:embed="rId2"/>
          <a:srcRect l="9159" t="9154" r="10483" b="31965"/>
          <a:stretch/>
        </p:blipFill>
        <p:spPr>
          <a:xfrm>
            <a:off x="661738" y="1840832"/>
            <a:ext cx="10455442" cy="4307306"/>
          </a:xfrm>
          <a:prstGeom prst="rect">
            <a:avLst/>
          </a:prstGeom>
        </p:spPr>
      </p:pic>
      <p:sp>
        <p:nvSpPr>
          <p:cNvPr id="4" name="Rectangle 3"/>
          <p:cNvSpPr/>
          <p:nvPr/>
        </p:nvSpPr>
        <p:spPr>
          <a:xfrm>
            <a:off x="886325" y="481262"/>
            <a:ext cx="3721769" cy="914400"/>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25494551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8141" t="13980" r="14670" b="6414"/>
          <a:stretch/>
        </p:blipFill>
        <p:spPr>
          <a:xfrm>
            <a:off x="696035" y="409433"/>
            <a:ext cx="10699845" cy="6091750"/>
          </a:xfrm>
          <a:prstGeom prst="rect">
            <a:avLst/>
          </a:prstGeom>
        </p:spPr>
      </p:pic>
      <p:sp>
        <p:nvSpPr>
          <p:cNvPr id="3" name="TextBox 2"/>
          <p:cNvSpPr txBox="1"/>
          <p:nvPr/>
        </p:nvSpPr>
        <p:spPr>
          <a:xfrm>
            <a:off x="866275" y="1949115"/>
            <a:ext cx="2502608" cy="523220"/>
          </a:xfrm>
          <a:prstGeom prst="rect">
            <a:avLst/>
          </a:prstGeom>
          <a:noFill/>
        </p:spPr>
        <p:txBody>
          <a:bodyPr wrap="none" rtlCol="0">
            <a:spAutoFit/>
          </a:bodyPr>
          <a:lstStyle/>
          <a:p>
            <a:r>
              <a:rPr lang="th-TH" sz="1400" dirty="0" smtClean="0"/>
              <a:t>1.เมื่อบันทึกบัญชีเรียบร้อย ไปคลิกที่ </a:t>
            </a:r>
            <a:r>
              <a:rPr lang="en-US" sz="1400" dirty="0" smtClean="0"/>
              <a:t>Actions</a:t>
            </a:r>
          </a:p>
          <a:p>
            <a:r>
              <a:rPr lang="en-US" sz="1400" dirty="0"/>
              <a:t> </a:t>
            </a:r>
            <a:r>
              <a:rPr lang="en-US" sz="1400" dirty="0" smtClean="0"/>
              <a:t>  </a:t>
            </a:r>
            <a:r>
              <a:rPr lang="th-TH" sz="1400" dirty="0" smtClean="0"/>
              <a:t>เลือก </a:t>
            </a:r>
            <a:r>
              <a:rPr lang="en-US" sz="1400" dirty="0" smtClean="0"/>
              <a:t>Print Group Edit List</a:t>
            </a:r>
            <a:endParaRPr lang="th-TH" sz="1400" dirty="0"/>
          </a:p>
        </p:txBody>
      </p:sp>
      <p:sp>
        <p:nvSpPr>
          <p:cNvPr id="5" name="Rectangle 4"/>
          <p:cNvSpPr/>
          <p:nvPr/>
        </p:nvSpPr>
        <p:spPr>
          <a:xfrm>
            <a:off x="866275" y="1753525"/>
            <a:ext cx="2502608" cy="914400"/>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5692791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8195" t="13570" r="10390" b="5491"/>
          <a:stretch/>
        </p:blipFill>
        <p:spPr>
          <a:xfrm>
            <a:off x="567546" y="504967"/>
            <a:ext cx="10896573" cy="5991368"/>
          </a:xfrm>
          <a:prstGeom prst="rect">
            <a:avLst/>
          </a:prstGeom>
        </p:spPr>
      </p:pic>
      <p:sp>
        <p:nvSpPr>
          <p:cNvPr id="4" name="TextBox 3"/>
          <p:cNvSpPr txBox="1"/>
          <p:nvPr/>
        </p:nvSpPr>
        <p:spPr>
          <a:xfrm>
            <a:off x="1132763" y="2797793"/>
            <a:ext cx="2183643" cy="892552"/>
          </a:xfrm>
          <a:prstGeom prst="rect">
            <a:avLst/>
          </a:prstGeom>
          <a:noFill/>
        </p:spPr>
        <p:txBody>
          <a:bodyPr wrap="square" rtlCol="0">
            <a:spAutoFit/>
          </a:bodyPr>
          <a:lstStyle/>
          <a:p>
            <a:r>
              <a:rPr lang="th-TH" sz="2400" dirty="0" smtClean="0"/>
              <a:t>คลิก </a:t>
            </a:r>
            <a:r>
              <a:rPr lang="en-US" sz="2400" dirty="0" smtClean="0"/>
              <a:t>Print </a:t>
            </a:r>
            <a:r>
              <a:rPr lang="en-US" sz="2400" dirty="0" err="1" smtClean="0"/>
              <a:t>Periew</a:t>
            </a:r>
            <a:endParaRPr lang="en-US" sz="2400" dirty="0" smtClean="0"/>
          </a:p>
          <a:p>
            <a:endParaRPr lang="th-TH" dirty="0"/>
          </a:p>
        </p:txBody>
      </p:sp>
      <p:sp>
        <p:nvSpPr>
          <p:cNvPr id="5" name="Rectangle 4"/>
          <p:cNvSpPr/>
          <p:nvPr/>
        </p:nvSpPr>
        <p:spPr>
          <a:xfrm>
            <a:off x="1132762" y="2599899"/>
            <a:ext cx="2183643" cy="914400"/>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4109294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29A2FD-4818-4203-8D54-65309D30F2C3}"/>
              </a:ext>
            </a:extLst>
          </p:cNvPr>
          <p:cNvPicPr>
            <a:picLocks noChangeAspect="1"/>
          </p:cNvPicPr>
          <p:nvPr/>
        </p:nvPicPr>
        <p:blipFill rotWithShape="1">
          <a:blip r:embed="rId2"/>
          <a:srcRect l="20261" t="10357" r="22313" b="11322"/>
          <a:stretch/>
        </p:blipFill>
        <p:spPr>
          <a:xfrm>
            <a:off x="2361064" y="230269"/>
            <a:ext cx="9212238" cy="6627731"/>
          </a:xfrm>
          <a:prstGeom prst="rect">
            <a:avLst/>
          </a:prstGeom>
        </p:spPr>
      </p:pic>
      <p:sp>
        <p:nvSpPr>
          <p:cNvPr id="3" name="TextBox 2"/>
          <p:cNvSpPr txBox="1"/>
          <p:nvPr/>
        </p:nvSpPr>
        <p:spPr>
          <a:xfrm>
            <a:off x="395786" y="2647664"/>
            <a:ext cx="3437159" cy="646331"/>
          </a:xfrm>
          <a:prstGeom prst="rect">
            <a:avLst/>
          </a:prstGeom>
          <a:noFill/>
        </p:spPr>
        <p:txBody>
          <a:bodyPr wrap="none" rtlCol="0">
            <a:spAutoFit/>
          </a:bodyPr>
          <a:lstStyle/>
          <a:p>
            <a:r>
              <a:rPr lang="th-TH" sz="1800" dirty="0" smtClean="0"/>
              <a:t>ระบบจะแสดงการบันทึกบัญชีให้เราเห็นความถูกต้อง</a:t>
            </a:r>
          </a:p>
          <a:p>
            <a:r>
              <a:rPr lang="th-TH" sz="1800" dirty="0" smtClean="0"/>
              <a:t>ถ้าตรวจสอบแล้วถูกต้องจุง</a:t>
            </a:r>
            <a:r>
              <a:rPr lang="en-US" sz="1800" dirty="0" smtClean="0"/>
              <a:t>POST</a:t>
            </a:r>
            <a:endParaRPr lang="th-TH" sz="1800" dirty="0"/>
          </a:p>
        </p:txBody>
      </p:sp>
      <p:sp>
        <p:nvSpPr>
          <p:cNvPr id="5" name="Rectangle 4"/>
          <p:cNvSpPr/>
          <p:nvPr/>
        </p:nvSpPr>
        <p:spPr>
          <a:xfrm>
            <a:off x="395785" y="2513629"/>
            <a:ext cx="3437159" cy="914400"/>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897041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BAA3F-645E-4F64-85EE-B79DEDEB58E9}"/>
              </a:ext>
            </a:extLst>
          </p:cNvPr>
          <p:cNvPicPr>
            <a:picLocks noChangeAspect="1"/>
          </p:cNvPicPr>
          <p:nvPr/>
        </p:nvPicPr>
        <p:blipFill rotWithShape="1">
          <a:blip r:embed="rId2"/>
          <a:srcRect r="41468" b="17407"/>
          <a:stretch/>
        </p:blipFill>
        <p:spPr>
          <a:xfrm>
            <a:off x="151058" y="0"/>
            <a:ext cx="11640608" cy="6429244"/>
          </a:xfrm>
          <a:prstGeom prst="rect">
            <a:avLst/>
          </a:prstGeom>
        </p:spPr>
      </p:pic>
      <p:sp>
        <p:nvSpPr>
          <p:cNvPr id="2" name="TextBox 1"/>
          <p:cNvSpPr txBox="1"/>
          <p:nvPr/>
        </p:nvSpPr>
        <p:spPr>
          <a:xfrm>
            <a:off x="360608" y="3405119"/>
            <a:ext cx="2668295" cy="1077218"/>
          </a:xfrm>
          <a:prstGeom prst="rect">
            <a:avLst/>
          </a:prstGeom>
          <a:noFill/>
        </p:spPr>
        <p:txBody>
          <a:bodyPr wrap="none" rtlCol="0">
            <a:spAutoFit/>
          </a:bodyPr>
          <a:lstStyle/>
          <a:p>
            <a:r>
              <a:rPr lang="th-TH" sz="1600" dirty="0" smtClean="0"/>
              <a:t>-กรณีลูกค้าจ่ายเงินเกินมาบันทึกปกติ</a:t>
            </a:r>
          </a:p>
          <a:p>
            <a:r>
              <a:rPr lang="th-TH" sz="1600" dirty="0" smtClean="0"/>
              <a:t>แต่จะใส่ยอดตาม </a:t>
            </a:r>
            <a:r>
              <a:rPr lang="en-US" sz="1600" dirty="0" smtClean="0"/>
              <a:t>Bank </a:t>
            </a:r>
            <a:r>
              <a:rPr lang="th-TH" sz="1600" dirty="0" smtClean="0"/>
              <a:t>ซึ่งจะมากกว่า</a:t>
            </a:r>
            <a:r>
              <a:rPr lang="en-US" sz="1600" dirty="0" smtClean="0"/>
              <a:t>Inv.</a:t>
            </a:r>
          </a:p>
          <a:p>
            <a:r>
              <a:rPr lang="th-TH" sz="1600" dirty="0" smtClean="0"/>
              <a:t>เราดึง</a:t>
            </a:r>
            <a:r>
              <a:rPr lang="en-US" sz="1600" dirty="0" smtClean="0"/>
              <a:t>Inv.</a:t>
            </a:r>
            <a:r>
              <a:rPr lang="th-TH" sz="1600" dirty="0" smtClean="0"/>
              <a:t>นั้นมาเลย</a:t>
            </a:r>
          </a:p>
          <a:p>
            <a:r>
              <a:rPr lang="th-TH" sz="1600" dirty="0"/>
              <a:t>-</a:t>
            </a:r>
            <a:r>
              <a:rPr lang="th-TH" sz="1600" dirty="0" smtClean="0"/>
              <a:t> แล้วที่ที่หน้า </a:t>
            </a:r>
            <a:r>
              <a:rPr lang="en-US" sz="1600" dirty="0" smtClean="0"/>
              <a:t>Allocate</a:t>
            </a:r>
            <a:endParaRPr lang="th-TH" sz="1600" dirty="0"/>
          </a:p>
        </p:txBody>
      </p:sp>
      <p:sp>
        <p:nvSpPr>
          <p:cNvPr id="4" name="Rectangle 3"/>
          <p:cNvSpPr/>
          <p:nvPr/>
        </p:nvSpPr>
        <p:spPr>
          <a:xfrm>
            <a:off x="360607" y="3405119"/>
            <a:ext cx="2668295" cy="995809"/>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19378706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67780A-9BC1-43A4-ADBD-04094C1F0EBC}"/>
              </a:ext>
            </a:extLst>
          </p:cNvPr>
          <p:cNvPicPr>
            <a:picLocks noChangeAspect="1"/>
          </p:cNvPicPr>
          <p:nvPr/>
        </p:nvPicPr>
        <p:blipFill rotWithShape="1">
          <a:blip r:embed="rId2"/>
          <a:srcRect l="873" t="253" r="21733" b="45758"/>
          <a:stretch/>
        </p:blipFill>
        <p:spPr>
          <a:xfrm>
            <a:off x="382139" y="199623"/>
            <a:ext cx="11245754" cy="6658377"/>
          </a:xfrm>
          <a:prstGeom prst="rect">
            <a:avLst/>
          </a:prstGeom>
        </p:spPr>
      </p:pic>
      <p:sp>
        <p:nvSpPr>
          <p:cNvPr id="5" name="TextBox 4"/>
          <p:cNvSpPr txBox="1"/>
          <p:nvPr/>
        </p:nvSpPr>
        <p:spPr>
          <a:xfrm>
            <a:off x="1651378" y="4708478"/>
            <a:ext cx="3261815" cy="954107"/>
          </a:xfrm>
          <a:prstGeom prst="rect">
            <a:avLst/>
          </a:prstGeom>
          <a:noFill/>
        </p:spPr>
        <p:txBody>
          <a:bodyPr wrap="square" rtlCol="0">
            <a:spAutoFit/>
          </a:bodyPr>
          <a:lstStyle/>
          <a:p>
            <a:r>
              <a:rPr lang="th-TH" b="1" dirty="0" smtClean="0"/>
              <a:t>***หน้า </a:t>
            </a:r>
            <a:r>
              <a:rPr lang="en-US" b="1" dirty="0"/>
              <a:t>Allocate</a:t>
            </a:r>
            <a:endParaRPr lang="th-TH" b="1" dirty="0"/>
          </a:p>
          <a:p>
            <a:r>
              <a:rPr lang="th-TH" b="1" dirty="0" smtClean="0">
                <a:latin typeface="Cambria Math" panose="02040503050406030204" pitchFamily="18" charset="0"/>
                <a:ea typeface="Cambria Math" panose="02040503050406030204" pitchFamily="18" charset="0"/>
              </a:rPr>
              <a:t>√ </a:t>
            </a:r>
            <a:r>
              <a:rPr lang="en-US" b="1" dirty="0" smtClean="0">
                <a:latin typeface="Cambria Math" panose="02040503050406030204" pitchFamily="18" charset="0"/>
                <a:ea typeface="Cambria Math" panose="02040503050406030204" pitchFamily="18" charset="0"/>
              </a:rPr>
              <a:t>On Account save</a:t>
            </a:r>
            <a:endParaRPr lang="th-TH" b="1" dirty="0"/>
          </a:p>
        </p:txBody>
      </p:sp>
      <p:sp>
        <p:nvSpPr>
          <p:cNvPr id="6" name="Rectangle 5"/>
          <p:cNvSpPr/>
          <p:nvPr/>
        </p:nvSpPr>
        <p:spPr>
          <a:xfrm>
            <a:off x="1392072" y="4681182"/>
            <a:ext cx="3657600" cy="914400"/>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9472869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A08F5D-6EE2-40BD-B007-674B5B647AE5}"/>
              </a:ext>
            </a:extLst>
          </p:cNvPr>
          <p:cNvPicPr>
            <a:picLocks noChangeAspect="1"/>
          </p:cNvPicPr>
          <p:nvPr/>
        </p:nvPicPr>
        <p:blipFill rotWithShape="1">
          <a:blip r:embed="rId2"/>
          <a:srcRect l="22611" t="1" r="24889" b="18225"/>
          <a:stretch/>
        </p:blipFill>
        <p:spPr>
          <a:xfrm>
            <a:off x="2470245" y="0"/>
            <a:ext cx="8993874" cy="6983159"/>
          </a:xfrm>
          <a:prstGeom prst="rect">
            <a:avLst/>
          </a:prstGeom>
        </p:spPr>
      </p:pic>
      <p:sp>
        <p:nvSpPr>
          <p:cNvPr id="4" name="Rectangle 3"/>
          <p:cNvSpPr/>
          <p:nvPr/>
        </p:nvSpPr>
        <p:spPr>
          <a:xfrm>
            <a:off x="163773" y="2756614"/>
            <a:ext cx="3786283" cy="646331"/>
          </a:xfrm>
          <a:prstGeom prst="rect">
            <a:avLst/>
          </a:prstGeom>
        </p:spPr>
        <p:txBody>
          <a:bodyPr wrap="square">
            <a:spAutoFit/>
          </a:bodyPr>
          <a:lstStyle/>
          <a:p>
            <a:r>
              <a:rPr lang="th-TH" sz="1800" dirty="0">
                <a:cs typeface="+mj-cs"/>
              </a:rPr>
              <a:t>ระบบจะแสดงการบันทึกบัญชีให้เราเห็นความถูกต้อง</a:t>
            </a:r>
          </a:p>
          <a:p>
            <a:r>
              <a:rPr lang="th-TH" sz="1800" dirty="0">
                <a:cs typeface="+mj-cs"/>
              </a:rPr>
              <a:t>ถ้าตรวจสอบแล้วถูกต้อง</a:t>
            </a:r>
            <a:r>
              <a:rPr lang="th-TH" sz="1800" dirty="0" smtClean="0">
                <a:cs typeface="+mj-cs"/>
              </a:rPr>
              <a:t>จึง</a:t>
            </a:r>
            <a:r>
              <a:rPr lang="en-US" sz="1800" dirty="0">
                <a:cs typeface="+mj-cs"/>
              </a:rPr>
              <a:t>POST</a:t>
            </a:r>
            <a:endParaRPr lang="th-TH" sz="1800" dirty="0">
              <a:cs typeface="+mj-cs"/>
            </a:endParaRPr>
          </a:p>
        </p:txBody>
      </p:sp>
      <p:sp>
        <p:nvSpPr>
          <p:cNvPr id="5" name="Rectangle 4"/>
          <p:cNvSpPr/>
          <p:nvPr/>
        </p:nvSpPr>
        <p:spPr>
          <a:xfrm>
            <a:off x="163772" y="2756614"/>
            <a:ext cx="3398294" cy="646332"/>
          </a:xfrm>
          <a:prstGeom prst="rect">
            <a:avLst/>
          </a:prstGeom>
          <a:noFill/>
          <a:ln w="38100">
            <a:solidFill>
              <a:srgbClr val="2D13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h-TH"/>
          </a:p>
        </p:txBody>
      </p:sp>
    </p:spTree>
    <p:extLst>
      <p:ext uri="{BB962C8B-B14F-4D97-AF65-F5344CB8AC3E}">
        <p14:creationId xmlns:p14="http://schemas.microsoft.com/office/powerpoint/2010/main" val="3815471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2454" y="-189964"/>
            <a:ext cx="13011150" cy="7315200"/>
          </a:xfrm>
          <a:prstGeom prst="rect">
            <a:avLst/>
          </a:prstGeom>
        </p:spPr>
      </p:pic>
      <p:sp>
        <p:nvSpPr>
          <p:cNvPr id="3" name="TextBox 2"/>
          <p:cNvSpPr txBox="1"/>
          <p:nvPr/>
        </p:nvSpPr>
        <p:spPr>
          <a:xfrm>
            <a:off x="1210614" y="3734874"/>
            <a:ext cx="2086378" cy="646331"/>
          </a:xfrm>
          <a:prstGeom prst="rect">
            <a:avLst/>
          </a:prstGeom>
          <a:noFill/>
        </p:spPr>
        <p:txBody>
          <a:bodyPr wrap="square" rtlCol="0">
            <a:spAutoFit/>
          </a:bodyPr>
          <a:lstStyle/>
          <a:p>
            <a:r>
              <a:rPr lang="th-TH" sz="1800" dirty="0" smtClean="0">
                <a:solidFill>
                  <a:srgbClr val="2D13CB"/>
                </a:solidFill>
              </a:rPr>
              <a:t>ขั้นตอน ยกเลิก </a:t>
            </a:r>
            <a:r>
              <a:rPr lang="en-US" sz="1800" dirty="0" smtClean="0">
                <a:solidFill>
                  <a:srgbClr val="2D13CB"/>
                </a:solidFill>
              </a:rPr>
              <a:t>ACTION LEGAL NUMBER</a:t>
            </a:r>
            <a:endParaRPr lang="th-TH" sz="1800" dirty="0">
              <a:solidFill>
                <a:srgbClr val="2D13CB"/>
              </a:solidFill>
            </a:endParaRPr>
          </a:p>
        </p:txBody>
      </p:sp>
    </p:spTree>
    <p:extLst>
      <p:ext uri="{BB962C8B-B14F-4D97-AF65-F5344CB8AC3E}">
        <p14:creationId xmlns:p14="http://schemas.microsoft.com/office/powerpoint/2010/main" val="3288684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9575" y="-228600"/>
            <a:ext cx="13011150" cy="7315200"/>
          </a:xfrm>
          <a:prstGeom prst="rect">
            <a:avLst/>
          </a:prstGeom>
        </p:spPr>
      </p:pic>
    </p:spTree>
    <p:extLst>
      <p:ext uri="{BB962C8B-B14F-4D97-AF65-F5344CB8AC3E}">
        <p14:creationId xmlns:p14="http://schemas.microsoft.com/office/powerpoint/2010/main" val="2548545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TotalTime>
  <Words>305</Words>
  <Application>Microsoft Office PowerPoint</Application>
  <PresentationFormat>Widescreen</PresentationFormat>
  <Paragraphs>60</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Angsana New</vt:lpstr>
      <vt:lpstr>Arial</vt:lpstr>
      <vt:lpstr>Calibri</vt:lpstr>
      <vt:lpstr>Calibri Light</vt:lpstr>
      <vt:lpstr>Cambria Math</vt:lpstr>
      <vt:lpstr>Cordia New</vt:lpstr>
      <vt:lpstr>Office Theme</vt:lpstr>
      <vt:lpstr>คู่มือ-Cash Receipt  (รับชำระเงิน-ต่างประเทศ)</vt:lpstr>
      <vt:lpstr>PowerPoint Presentation</vt:lpstr>
      <vt:lpstr>เข้าเมนู Cash Receipt Entry</vt:lpstr>
      <vt:lpstr>1.คลิกตรง ∇ New Group  </vt:lpstr>
      <vt:lpstr>1.Group ตั้งเอง รันเลขเอง 2.Bank Account เลือก Bank ที่เงินเข้า 3.Payment Method เลือก Tranfer AR 4.Transaction Apply Date วันที่ตามธนาคารได้รับเงิน save</vt:lpstr>
      <vt:lpstr>1.คลิกตรง ∇ New Invoice Payment 2.อยู่หน้า Header </vt:lpstr>
      <vt:lpstr> 1.Check ใส่เลข Ref no.ตามเอกสารที่ Bank ส่งมา 2.Receipt Amount ใส่จำนวนเงิน ตามเอกสารที่ Bank ส่งมา 3.Receipt Currency เลือกตามสกุลเงินลูกค้าที่ Bank ส่งมา 4.Description ใส่บันทีกเรา เช่น รายการนี้เป็นของตู้ไหน SIF….. 5.Invoice Number ตามBank แจ้ง หรือตรวจสอบเองก่อนตามระบบเราว่าถูกต้องหรือไม่ 6.Customer ID สามารถพิมพ์เข้าไปค้นหาลูกค้าที่ชำระเงินมา หรือใส่รหัสลูกค้าได้เลยถ้าทราบ 7.Document type สามารถคลิกเลิกได้ว่าตู้ที่ชำระมาเป็น s,c,u, save </vt:lpstr>
      <vt:lpstr>PowerPoint Presentation</vt:lpstr>
      <vt:lpstr>PowerPoint Presentation</vt:lpstr>
      <vt:lpstr>1.คลิกตรง ∇ New Bank Fee เพื่อใส่ค่าธรรมเนียมธนาคาร</vt:lpstr>
      <vt:lpstr>1.คลิกตรง Bank fee เลือก ค่าธรรมเนียม 2.Bank Fee Amount ใส่จำนวนค่าธรรมเนียม save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ACC-1</dc:creator>
  <cp:lastModifiedBy>ACC-10</cp:lastModifiedBy>
  <cp:revision>92</cp:revision>
  <dcterms:created xsi:type="dcterms:W3CDTF">2024-07-26T02:38:07Z</dcterms:created>
  <dcterms:modified xsi:type="dcterms:W3CDTF">2025-10-23T03:39:44Z</dcterms:modified>
</cp:coreProperties>
</file>