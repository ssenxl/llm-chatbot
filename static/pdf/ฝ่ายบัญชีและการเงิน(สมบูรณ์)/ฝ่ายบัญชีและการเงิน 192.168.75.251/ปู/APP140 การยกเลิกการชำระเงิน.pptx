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8" r:id="rId2"/>
    <p:sldId id="274" r:id="rId3"/>
    <p:sldId id="257" r:id="rId4"/>
    <p:sldId id="269" r:id="rId5"/>
    <p:sldId id="259" r:id="rId6"/>
    <p:sldId id="260" r:id="rId7"/>
    <p:sldId id="270" r:id="rId8"/>
    <p:sldId id="266" r:id="rId9"/>
    <p:sldId id="271" r:id="rId10"/>
    <p:sldId id="273" r:id="rId11"/>
    <p:sldId id="272" r:id="rId12"/>
    <p:sldId id="267" r:id="rId13"/>
    <p:sldId id="268" r:id="rId14"/>
  </p:sldIdLst>
  <p:sldSz cx="12192000" cy="6858000"/>
  <p:notesSz cx="6888163" cy="10018713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621" cy="502938"/>
          </a:xfrm>
          <a:prstGeom prst="rect">
            <a:avLst/>
          </a:prstGeom>
        </p:spPr>
        <p:txBody>
          <a:bodyPr vert="horz" lIns="92418" tIns="46209" rIns="92418" bIns="46209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0934" y="0"/>
            <a:ext cx="2985621" cy="502938"/>
          </a:xfrm>
          <a:prstGeom prst="rect">
            <a:avLst/>
          </a:prstGeom>
        </p:spPr>
        <p:txBody>
          <a:bodyPr vert="horz" lIns="92418" tIns="46209" rIns="92418" bIns="46209" rtlCol="0"/>
          <a:lstStyle>
            <a:lvl1pPr algn="r">
              <a:defRPr sz="1200"/>
            </a:lvl1pPr>
          </a:lstStyle>
          <a:p>
            <a:fld id="{FC0A5CE3-68B1-46D9-84D1-1CDC0D6F496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1863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18" tIns="46209" rIns="92418" bIns="46209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495" y="4821155"/>
            <a:ext cx="5511174" cy="3945019"/>
          </a:xfrm>
          <a:prstGeom prst="rect">
            <a:avLst/>
          </a:prstGeom>
        </p:spPr>
        <p:txBody>
          <a:bodyPr vert="horz" lIns="92418" tIns="46209" rIns="92418" bIns="4620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5776"/>
            <a:ext cx="2985621" cy="502938"/>
          </a:xfrm>
          <a:prstGeom prst="rect">
            <a:avLst/>
          </a:prstGeom>
        </p:spPr>
        <p:txBody>
          <a:bodyPr vert="horz" lIns="92418" tIns="46209" rIns="92418" bIns="46209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0934" y="9515776"/>
            <a:ext cx="2985621" cy="502938"/>
          </a:xfrm>
          <a:prstGeom prst="rect">
            <a:avLst/>
          </a:prstGeom>
        </p:spPr>
        <p:txBody>
          <a:bodyPr vert="horz" lIns="92418" tIns="46209" rIns="92418" bIns="46209" rtlCol="0" anchor="b"/>
          <a:lstStyle>
            <a:lvl1pPr algn="r">
              <a:defRPr sz="1200"/>
            </a:lvl1pPr>
          </a:lstStyle>
          <a:p>
            <a:fld id="{7468206E-D011-4EFB-8945-8179BFF67CC7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3458874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161A8F-77BA-40B6-94A3-C69BA906BFB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CF19016-3CF7-4D33-B3B3-D139F1EA8B1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1F874-A33F-47FF-B28F-933315F0E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5B956A-1F7B-4BA1-90DD-D5D7FA579B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9B50A-55CC-4E4E-AA4A-9B7E60A2C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8802924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0EDD3-B9B8-46B1-A577-41BAE20E42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7AE524-E16C-4D0D-95C8-DFFCFA847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EDF065-281A-4E2A-B3BB-8DAC214D79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A0833-3EAB-4FD9-865C-CDB54F49E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05B9C8-11D1-41DC-86DB-FFFDC8AE2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11084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CE552-A744-4649-9E37-BBF81EF207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9A005C-A352-4203-84A5-607FCBE98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5C44BE-B379-44C3-BEB0-3A01271D2D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3262A7-8C17-4A2D-9EB3-940D1A2CDD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8C9926-BB53-4E11-B0E8-A523D58DA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06714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2C052-8D9F-48E2-BEC2-D8284FC4B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FC1378-200E-4511-B6D2-5D7CE0DD45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D82AB7-3650-44AE-AFEC-DEEA7F8355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FE3D6B-87B7-483F-9614-36DE269F7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C9B6BA-65A4-45C1-85DD-D36A891B0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15EE74-7ADC-4FAD-BDF6-C39DD2238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724061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CA834D-DB40-48AA-9DD4-625CAEDEDA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96D117-F503-49B5-8D87-A311AE5DA1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B22285-32C0-45FA-B5D7-DDDB5ED0D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BF4288-F7A3-4BB7-8994-6AAD9143547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9E6EDA-2874-4131-9F24-6F5AEB55DE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FA9F78-8EBB-4BDD-AEA5-8D4F951860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63A57F-9EA4-449B-BF7C-C8A383C89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D5BB06-3D71-4E63-914F-CA7E555F7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545266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4A79C9-58CA-4151-A5FE-04C9EFD00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08BFFB-6DCE-409C-8583-38C6E06B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AD0DD83-B282-453A-ACC1-81C852B3A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1771A4-F1E0-4044-8B25-2690C515BF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950714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6E77572-A98B-4682-A6F6-F8456133E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67A4E14-8B75-4C7C-AA6F-C47A92625E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F60C90-3CF7-4B77-9684-CD869A067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42749419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19547-83D2-4F56-BD3B-249F773E16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6948E-2FA0-45E9-8A05-0A01380750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F6B34-7432-4020-83DE-B5C17EF307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5DE22E-19D8-4E41-9490-C31CD5292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09A9CC-094C-44A3-BC97-91798AF8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DC23AB-B7B4-4418-9743-D10FCEC4FE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260680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29676-1F53-4379-9462-9756A6A327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38B3519-92F6-4364-97F8-024EA1C2D9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4CA5B-1BCB-441A-ADCB-986FB3280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FC8B28-2C19-4B21-B69B-15A538C3D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C9022DF-8F39-4525-BB45-852FA7AF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F2B7C06-F693-479D-A9EA-F4F241EA95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450596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451C8-FDAF-414F-8001-46C1E70F59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CE4089-1EFC-4003-BC52-7C8F51ECC2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2597D6-093A-4BC2-AD39-30DF6F36B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518218-4263-4D1B-9C8B-973AED8A9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086CB6-5929-42A7-922D-C80E0CD97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9851797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6C3C1B-81E9-4EC3-96C9-E19F4CFB877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th-T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4C75D2-3AD8-4A47-9A9C-1748E584A1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th-T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59D058-8A37-401C-8005-DE27977AFC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668DE5-2B26-40A5-9827-B5FA565BDF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24877B-CB8B-41B0-AE35-F75DDE4FD5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08330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24DF43C-73F7-4AC9-99DE-586F2106F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9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th-TH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F6F9D9-B392-4968-B0EF-AB54F54D80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797279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th-T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050044-441E-4B1C-964D-E59A4441932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133C9-D8E3-455D-B4A4-3DE59B1B2F80}" type="datetimeFigureOut">
              <a:rPr lang="th-TH" smtClean="0"/>
              <a:t>20/08/67</a:t>
            </a:fld>
            <a:endParaRPr lang="th-T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D186F7-3F02-4EF7-93CF-024D7A931B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E6DEA5-7326-42F6-A830-28448A9BA1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313E18-D77B-438D-A95D-C8F258C61101}" type="slidenum">
              <a:rPr lang="th-TH" smtClean="0"/>
              <a:t>‹#›</a:t>
            </a:fld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A761449-1030-460F-A257-FDA04A4522F4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209726" y="181081"/>
            <a:ext cx="905602" cy="905602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/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5EFC24-B35A-4543-B8EC-6495ABB4B0AE}"/>
              </a:ext>
            </a:extLst>
          </p:cNvPr>
          <p:cNvSpPr txBox="1"/>
          <p:nvPr userDrawn="1"/>
        </p:nvSpPr>
        <p:spPr>
          <a:xfrm>
            <a:off x="1300295" y="157394"/>
            <a:ext cx="9387280" cy="9079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APP</a:t>
            </a:r>
            <a:r>
              <a:rPr lang="th-TH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140 การยกเลิกการชำระเงิน (</a:t>
            </a:r>
            <a:r>
              <a:rPr lang="en-US" sz="2500" dirty="0">
                <a:latin typeface="AngsanaUPC" panose="02020603050405020304" pitchFamily="18" charset="-34"/>
                <a:cs typeface="AngsanaUPC" panose="02020603050405020304" pitchFamily="18" charset="-34"/>
              </a:rPr>
              <a:t>VOID PAYMENT ENTRY)</a:t>
            </a:r>
            <a:endParaRPr lang="th-TH" sz="2500" dirty="0">
              <a:latin typeface="AngsanaUPC" panose="02020603050405020304" pitchFamily="18" charset="-34"/>
              <a:cs typeface="AngsanaUPC" panose="02020603050405020304" pitchFamily="18" charset="-34"/>
            </a:endParaRPr>
          </a:p>
          <a:p>
            <a:r>
              <a:rPr lang="th-TH" u="sng" dirty="0"/>
              <a:t>										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BAFF8DF-DF70-49ED-9AA1-567D9CA3F37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/>
          <a:srcRect l="1967" t="33395" r="296" b="29786"/>
          <a:stretch/>
        </p:blipFill>
        <p:spPr>
          <a:xfrm>
            <a:off x="9723062" y="0"/>
            <a:ext cx="2330333" cy="709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469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92F3F0-D0F2-4762-B0ED-3E6F6AADE654}"/>
              </a:ext>
            </a:extLst>
          </p:cNvPr>
          <p:cNvSpPr txBox="1"/>
          <p:nvPr/>
        </p:nvSpPr>
        <p:spPr>
          <a:xfrm>
            <a:off x="1786467" y="2548467"/>
            <a:ext cx="8034866" cy="1984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APP140 </a:t>
            </a:r>
            <a:r>
              <a:rPr lang="th-TH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การยกเลิกการชำระเงิน </a:t>
            </a:r>
            <a:r>
              <a:rPr lang="en-US" sz="6000" b="1" dirty="0">
                <a:latin typeface="AngsanaUPC" panose="02020603050405020304" pitchFamily="18" charset="-34"/>
                <a:cs typeface="AngsanaUPC" panose="02020603050405020304" pitchFamily="18" charset="-34"/>
              </a:rPr>
              <a:t>(VOID PAYMENT ENTRY)</a:t>
            </a:r>
            <a:endParaRPr lang="th-TH" sz="6000" b="1" dirty="0">
              <a:latin typeface="AngsanaUPC" panose="02020603050405020304" pitchFamily="18" charset="-34"/>
              <a:cs typeface="AngsanaUPC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4716055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6">
            <a:extLst>
              <a:ext uri="{FF2B5EF4-FFF2-40B4-BE49-F238E27FC236}">
                <a16:creationId xmlns:a16="http://schemas.microsoft.com/office/drawing/2014/main" id="{43BAC48C-53E5-48CC-851B-8D7260DAE3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11735726"/>
              </p:ext>
            </p:extLst>
          </p:nvPr>
        </p:nvGraphicFramePr>
        <p:xfrm>
          <a:off x="588433" y="1405468"/>
          <a:ext cx="11015133" cy="450560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1234">
                  <a:extLst>
                    <a:ext uri="{9D8B030D-6E8A-4147-A177-3AD203B41FA5}">
                      <a16:colId xmlns:a16="http://schemas.microsoft.com/office/drawing/2014/main" val="3983567285"/>
                    </a:ext>
                  </a:extLst>
                </a:gridCol>
                <a:gridCol w="8343899">
                  <a:extLst>
                    <a:ext uri="{9D8B030D-6E8A-4147-A177-3AD203B41FA5}">
                      <a16:colId xmlns:a16="http://schemas.microsoft.com/office/drawing/2014/main" val="2876745004"/>
                    </a:ext>
                  </a:extLst>
                </a:gridCol>
              </a:tblGrid>
              <a:tr h="440265">
                <a:tc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1.กระบวนการ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(process)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APP140 </a:t>
                      </a:r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การยกเลิกการชำระเงิน (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VOID PAYMENT ENTRY)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34606753"/>
                  </a:ext>
                </a:extLst>
              </a:tr>
              <a:tr h="252306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2.ขั้นตอนย่อย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(sub process)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เข้า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Menu Void Payment Entry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 เลือกแถบ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Menu Payment Number </a:t>
                      </a:r>
                    </a:p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Search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หา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Payment Number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ที่ต้องการ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Void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เลือกแล้วกด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OK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ใส่วันที่ที่ต้องการ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Void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โดยให้ระบุเป็นวันที่เดียวกับที่ทำจ่าย</a:t>
                      </a:r>
                    </a:p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 กด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Assign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...  เพื่อให้ระบบสร้างเลขที่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Void Legal Number</a:t>
                      </a:r>
                    </a:p>
                    <a:p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6.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ระบุสาเหตุในการ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Void 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7. กด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Void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8.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ตรวจสอบเอกสารที่ถูก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Void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9.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เข้า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Menu Payment Tracker</a:t>
                      </a:r>
                    </a:p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10.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ใส่เลขที่เช็คหรือเลขที่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Payment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ในช่อง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Check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เสร็จแล้วคลิกที่แถบเมนู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Refresh </a:t>
                      </a: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1568235589"/>
                  </a:ext>
                </a:extLst>
              </a:tr>
              <a:tr h="35067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3.ข้อมูลที่ต้องใช้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(Input)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เอกสารใบสำคัญจ่าย,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Invoice 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ที่ต้องการ 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Void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362423079"/>
                  </a:ext>
                </a:extLst>
              </a:tr>
              <a:tr h="605705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4.ความเสี่ยง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(Risk)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ไม่ได้บันทึกในระบบ (กรณีจ่ายไปแล้วมาแก้ไขภายหลัง)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 ระบุวันที่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Void</a:t>
                      </a: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ไม่ตรงกับวันที่จ่าย</a:t>
                      </a: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07545159"/>
                  </a:ext>
                </a:extLst>
              </a:tr>
              <a:tr h="484651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th-TH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5.จุดควบคุม</a:t>
                      </a:r>
                      <a:r>
                        <a:rPr lang="en-US" sz="1600" b="1" kern="12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(Control point)</a:t>
                      </a:r>
                      <a:endParaRPr lang="th-TH" sz="1600" b="1" kern="12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ea typeface="+mn-ea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1. ตรวจสอบเจ้าหนี้ค้างชำระ</a:t>
                      </a:r>
                    </a:p>
                    <a:p>
                      <a:pPr marL="0" indent="0">
                        <a:buNone/>
                      </a:pPr>
                      <a:r>
                        <a:rPr lang="th-TH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2. ตรวจสอบวันที่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Angsana New" panose="02020603050405020304" pitchFamily="18" charset="-34"/>
                          <a:cs typeface="Angsana New" panose="02020603050405020304" pitchFamily="18" charset="-34"/>
                        </a:rPr>
                        <a:t> Void  </a:t>
                      </a:r>
                      <a:endParaRPr lang="th-TH" sz="1600" dirty="0">
                        <a:solidFill>
                          <a:schemeClr val="tx1"/>
                        </a:solidFill>
                        <a:latin typeface="Angsana New" panose="02020603050405020304" pitchFamily="18" charset="-34"/>
                        <a:cs typeface="Angsana New" panose="02020603050405020304" pitchFamily="18" charset="-34"/>
                      </a:endParaRPr>
                    </a:p>
                  </a:txBody>
                  <a:tcPr>
                    <a:gradFill>
                      <a:gsLst>
                        <a:gs pos="56000">
                          <a:schemeClr val="accent5">
                            <a:lumMod val="20000"/>
                            <a:lumOff val="80000"/>
                          </a:schemeClr>
                        </a:gs>
                        <a:gs pos="100000">
                          <a:srgbClr val="FFFFFF"/>
                        </a:gs>
                      </a:gsLst>
                      <a:lin ang="612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36223060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63850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6">
            <a:extLst>
              <a:ext uri="{FF2B5EF4-FFF2-40B4-BE49-F238E27FC236}">
                <a16:creationId xmlns:a16="http://schemas.microsoft.com/office/drawing/2014/main" id="{B6D56135-BF3E-4E6F-B449-684CFCA41EAC}"/>
              </a:ext>
            </a:extLst>
          </p:cNvPr>
          <p:cNvSpPr/>
          <p:nvPr/>
        </p:nvSpPr>
        <p:spPr>
          <a:xfrm>
            <a:off x="8966199" y="2573868"/>
            <a:ext cx="2286001" cy="431799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 เข้า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Menu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เลือก 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Void Payment Entry</a:t>
            </a:r>
            <a:endParaRPr lang="th-TH" sz="1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64AF7A-39BE-4133-B403-F8FC966C7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200" y="1354668"/>
            <a:ext cx="6730999" cy="526691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DDF35C0-4AB4-4660-952C-AC985EA1DA2B}"/>
              </a:ext>
            </a:extLst>
          </p:cNvPr>
          <p:cNvSpPr/>
          <p:nvPr/>
        </p:nvSpPr>
        <p:spPr>
          <a:xfrm>
            <a:off x="3505006" y="4374693"/>
            <a:ext cx="5046327" cy="510574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9" name="Ribbon: Tilted Up 28">
            <a:extLst>
              <a:ext uri="{FF2B5EF4-FFF2-40B4-BE49-F238E27FC236}">
                <a16:creationId xmlns:a16="http://schemas.microsoft.com/office/drawing/2014/main" id="{ABB1DD8A-D833-4916-9759-148DA54F9ED1}"/>
              </a:ext>
            </a:extLst>
          </p:cNvPr>
          <p:cNvSpPr/>
          <p:nvPr/>
        </p:nvSpPr>
        <p:spPr>
          <a:xfrm>
            <a:off x="3372957" y="2319868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 dirty="0">
                <a:solidFill>
                  <a:schemeClr val="tx1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78256329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84A2F77-2E89-47E7-BBE9-064DC2579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54" y="1572224"/>
            <a:ext cx="11696891" cy="426977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D221E63-E6F8-4525-92AD-237F6CAB75DD}"/>
              </a:ext>
            </a:extLst>
          </p:cNvPr>
          <p:cNvSpPr/>
          <p:nvPr/>
        </p:nvSpPr>
        <p:spPr>
          <a:xfrm>
            <a:off x="2709140" y="2554359"/>
            <a:ext cx="1896727" cy="425907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D50EAE1-9C3E-4A17-8269-57BBA3C691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4559" y="3130826"/>
            <a:ext cx="5782482" cy="336310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96A9BA20-FD54-4E2B-BFC7-3D17E27D58E5}"/>
              </a:ext>
            </a:extLst>
          </p:cNvPr>
          <p:cNvSpPr/>
          <p:nvPr/>
        </p:nvSpPr>
        <p:spPr>
          <a:xfrm>
            <a:off x="10058400" y="4224867"/>
            <a:ext cx="1138641" cy="220134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A91FF9FB-6D1C-4797-A2C6-42FFF2FAB9FC}"/>
              </a:ext>
            </a:extLst>
          </p:cNvPr>
          <p:cNvSpPr/>
          <p:nvPr/>
        </p:nvSpPr>
        <p:spPr>
          <a:xfrm>
            <a:off x="7586135" y="2311399"/>
            <a:ext cx="3522132" cy="81942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 คลิกแถบเมนู 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Payment number…</a:t>
            </a:r>
          </a:p>
          <a:p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  กด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Search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เพื่อค้นหาเลข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Payment number 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ที่ต้องการยกเลิก (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VOID)</a:t>
            </a:r>
            <a:endParaRPr lang="th-TH" sz="1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1" name="Ribbon: Tilted Up 10">
            <a:extLst>
              <a:ext uri="{FF2B5EF4-FFF2-40B4-BE49-F238E27FC236}">
                <a16:creationId xmlns:a16="http://schemas.microsoft.com/office/drawing/2014/main" id="{49C05839-E044-4647-88F0-879B536ECF58}"/>
              </a:ext>
            </a:extLst>
          </p:cNvPr>
          <p:cNvSpPr/>
          <p:nvPr/>
        </p:nvSpPr>
        <p:spPr>
          <a:xfrm>
            <a:off x="4871556" y="2513312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ibbon: Tilted Up 11">
            <a:extLst>
              <a:ext uri="{FF2B5EF4-FFF2-40B4-BE49-F238E27FC236}">
                <a16:creationId xmlns:a16="http://schemas.microsoft.com/office/drawing/2014/main" id="{09D0ADB2-2CB4-41E8-804C-B4EB71EC5FEE}"/>
              </a:ext>
            </a:extLst>
          </p:cNvPr>
          <p:cNvSpPr/>
          <p:nvPr/>
        </p:nvSpPr>
        <p:spPr>
          <a:xfrm>
            <a:off x="10311831" y="3892827"/>
            <a:ext cx="631778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 dirty="0">
                <a:solidFill>
                  <a:schemeClr val="tx1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149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3AE3B995-3890-4FB9-B297-F48AB78687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332" y="1247553"/>
            <a:ext cx="11421533" cy="5220980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15E53DF4-28F1-4564-AD15-F7FFB14B86DC}"/>
              </a:ext>
            </a:extLst>
          </p:cNvPr>
          <p:cNvSpPr/>
          <p:nvPr/>
        </p:nvSpPr>
        <p:spPr>
          <a:xfrm>
            <a:off x="423333" y="5373380"/>
            <a:ext cx="11421533" cy="237067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289C1305-FA53-42D2-9E89-B23D548EBC91}"/>
              </a:ext>
            </a:extLst>
          </p:cNvPr>
          <p:cNvSpPr/>
          <p:nvPr/>
        </p:nvSpPr>
        <p:spPr>
          <a:xfrm>
            <a:off x="423334" y="6290733"/>
            <a:ext cx="728134" cy="237067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9" name="Rounded Rectangle 6">
            <a:extLst>
              <a:ext uri="{FF2B5EF4-FFF2-40B4-BE49-F238E27FC236}">
                <a16:creationId xmlns:a16="http://schemas.microsoft.com/office/drawing/2014/main" id="{3F05412B-96C4-413C-923C-8C4C6C5F1867}"/>
              </a:ext>
            </a:extLst>
          </p:cNvPr>
          <p:cNvSpPr/>
          <p:nvPr/>
        </p:nvSpPr>
        <p:spPr>
          <a:xfrm>
            <a:off x="6265333" y="1693333"/>
            <a:ext cx="4360334" cy="465667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4. เมื่อเลือกเลข 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Payment Number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ที่ต้องการ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VOID 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คลิกให้ขึ้นแถบสีฟ้า เสร็จแล้วกด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OK </a:t>
            </a:r>
            <a:endParaRPr lang="th-TH" sz="1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20" name="Ribbon: Tilted Up 19">
            <a:extLst>
              <a:ext uri="{FF2B5EF4-FFF2-40B4-BE49-F238E27FC236}">
                <a16:creationId xmlns:a16="http://schemas.microsoft.com/office/drawing/2014/main" id="{18336DAB-D7F7-4185-8E07-66AF2957F51F}"/>
              </a:ext>
            </a:extLst>
          </p:cNvPr>
          <p:cNvSpPr/>
          <p:nvPr/>
        </p:nvSpPr>
        <p:spPr>
          <a:xfrm>
            <a:off x="347134" y="4967993"/>
            <a:ext cx="728134" cy="237067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1400" dirty="0">
                <a:solidFill>
                  <a:schemeClr val="tx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22837988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E8063E-6AF7-46D4-9F1A-0C8E32BC1CC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0" b="6225"/>
          <a:stretch/>
        </p:blipFill>
        <p:spPr>
          <a:xfrm>
            <a:off x="1169335" y="988612"/>
            <a:ext cx="9346265" cy="538678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6B9A4A3-92B0-453B-9749-2179C7D04841}"/>
              </a:ext>
            </a:extLst>
          </p:cNvPr>
          <p:cNvSpPr/>
          <p:nvPr/>
        </p:nvSpPr>
        <p:spPr>
          <a:xfrm>
            <a:off x="4055534" y="4030133"/>
            <a:ext cx="2167466" cy="237067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019F4B2-DFAE-45EA-A124-C6332A63F6D2}"/>
              </a:ext>
            </a:extLst>
          </p:cNvPr>
          <p:cNvSpPr/>
          <p:nvPr/>
        </p:nvSpPr>
        <p:spPr>
          <a:xfrm>
            <a:off x="4055534" y="4969933"/>
            <a:ext cx="2167466" cy="237067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>
              <a:highlight>
                <a:srgbClr val="FFFF00"/>
              </a:highlight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1E34CF1-A33D-47EA-B901-9DCA4A08A78E}"/>
              </a:ext>
            </a:extLst>
          </p:cNvPr>
          <p:cNvSpPr/>
          <p:nvPr/>
        </p:nvSpPr>
        <p:spPr>
          <a:xfrm>
            <a:off x="6096000" y="4500033"/>
            <a:ext cx="1371600" cy="325967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Rounded Rectangle 6">
            <a:extLst>
              <a:ext uri="{FF2B5EF4-FFF2-40B4-BE49-F238E27FC236}">
                <a16:creationId xmlns:a16="http://schemas.microsoft.com/office/drawing/2014/main" id="{766A58FA-BB57-4697-9CBF-1C09F1FE72E6}"/>
              </a:ext>
            </a:extLst>
          </p:cNvPr>
          <p:cNvSpPr/>
          <p:nvPr/>
        </p:nvSpPr>
        <p:spPr>
          <a:xfrm>
            <a:off x="7128933" y="3090332"/>
            <a:ext cx="3386667" cy="63500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5. ในช่อง 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Apply Date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ให้ใส่วันที่เดียวกับวันที่ทำจ่าย (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Check Date)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เสร็จแล้วกด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Assign…</a:t>
            </a:r>
            <a:endParaRPr lang="th-TH" sz="14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18" name="Ribbon: Tilted Up 17">
            <a:extLst>
              <a:ext uri="{FF2B5EF4-FFF2-40B4-BE49-F238E27FC236}">
                <a16:creationId xmlns:a16="http://schemas.microsoft.com/office/drawing/2014/main" id="{6FA968FF-6B33-409F-918D-1D2BC90EEF09}"/>
              </a:ext>
            </a:extLst>
          </p:cNvPr>
          <p:cNvSpPr/>
          <p:nvPr/>
        </p:nvSpPr>
        <p:spPr>
          <a:xfrm>
            <a:off x="3937000" y="3606800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5</a:t>
            </a:r>
          </a:p>
          <a:p>
            <a:pPr algn="ctr"/>
            <a:endParaRPr lang="th-TH" sz="21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6531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357F6F18-4D7B-466F-90E7-8E903618D1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593" y="1377660"/>
            <a:ext cx="6771639" cy="48854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D6464F2-92CB-4299-92BF-DF2574C6931D}"/>
              </a:ext>
            </a:extLst>
          </p:cNvPr>
          <p:cNvSpPr/>
          <p:nvPr/>
        </p:nvSpPr>
        <p:spPr>
          <a:xfrm>
            <a:off x="431800" y="4872566"/>
            <a:ext cx="753533" cy="330201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D88E880-40B6-43FF-B9E8-C02D3C038F38}"/>
              </a:ext>
            </a:extLst>
          </p:cNvPr>
          <p:cNvSpPr/>
          <p:nvPr/>
        </p:nvSpPr>
        <p:spPr>
          <a:xfrm>
            <a:off x="3344333" y="5757339"/>
            <a:ext cx="794281" cy="292604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B217C67C-9AC7-45F0-BC5E-7EA212CECBC2}"/>
              </a:ext>
            </a:extLst>
          </p:cNvPr>
          <p:cNvSpPr/>
          <p:nvPr/>
        </p:nvSpPr>
        <p:spPr>
          <a:xfrm>
            <a:off x="842433" y="3530528"/>
            <a:ext cx="2277534" cy="254001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6" name="Ribbon: Tilted Up 15">
            <a:extLst>
              <a:ext uri="{FF2B5EF4-FFF2-40B4-BE49-F238E27FC236}">
                <a16:creationId xmlns:a16="http://schemas.microsoft.com/office/drawing/2014/main" id="{F2459525-8CBA-483D-918C-2158AFCE3879}"/>
              </a:ext>
            </a:extLst>
          </p:cNvPr>
          <p:cNvSpPr/>
          <p:nvPr/>
        </p:nvSpPr>
        <p:spPr>
          <a:xfrm>
            <a:off x="5063067" y="2446866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6</a:t>
            </a:r>
          </a:p>
          <a:p>
            <a:pPr algn="ctr"/>
            <a:endParaRPr lang="th-TH" sz="2100" dirty="0">
              <a:solidFill>
                <a:schemeClr val="tx1"/>
              </a:solidFill>
            </a:endParaRPr>
          </a:p>
        </p:txBody>
      </p:sp>
      <p:sp>
        <p:nvSpPr>
          <p:cNvPr id="18" name="Ribbon: Tilted Up 17">
            <a:extLst>
              <a:ext uri="{FF2B5EF4-FFF2-40B4-BE49-F238E27FC236}">
                <a16:creationId xmlns:a16="http://schemas.microsoft.com/office/drawing/2014/main" id="{39F6EFDE-B1A2-462E-B511-0C1F20A291F7}"/>
              </a:ext>
            </a:extLst>
          </p:cNvPr>
          <p:cNvSpPr/>
          <p:nvPr/>
        </p:nvSpPr>
        <p:spPr>
          <a:xfrm>
            <a:off x="5265338" y="3403528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7</a:t>
            </a:r>
          </a:p>
          <a:p>
            <a:pPr algn="ctr"/>
            <a:endParaRPr lang="th-TH" sz="2100" dirty="0">
              <a:solidFill>
                <a:schemeClr val="tx1"/>
              </a:solidFill>
            </a:endParaRPr>
          </a:p>
        </p:txBody>
      </p:sp>
      <p:sp>
        <p:nvSpPr>
          <p:cNvPr id="19" name="Ribbon: Tilted Up 18">
            <a:extLst>
              <a:ext uri="{FF2B5EF4-FFF2-40B4-BE49-F238E27FC236}">
                <a16:creationId xmlns:a16="http://schemas.microsoft.com/office/drawing/2014/main" id="{EE6EC719-EE02-42DB-95D4-1A973A8DC6DF}"/>
              </a:ext>
            </a:extLst>
          </p:cNvPr>
          <p:cNvSpPr/>
          <p:nvPr/>
        </p:nvSpPr>
        <p:spPr>
          <a:xfrm>
            <a:off x="3119966" y="5033433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8</a:t>
            </a:r>
          </a:p>
          <a:p>
            <a:pPr algn="ctr"/>
            <a:endParaRPr lang="th-TH" sz="2100" dirty="0">
              <a:solidFill>
                <a:schemeClr val="tx1"/>
              </a:solidFill>
            </a:endParaRP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1106C84-D5F1-4490-8BD8-98774583F1C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28" t="160" r="9165" b="2"/>
          <a:stretch/>
        </p:blipFill>
        <p:spPr>
          <a:xfrm>
            <a:off x="6206690" y="2239262"/>
            <a:ext cx="5628016" cy="4000983"/>
          </a:xfrm>
          <a:prstGeom prst="rect">
            <a:avLst/>
          </a:prstGeom>
        </p:spPr>
      </p:pic>
      <p:sp>
        <p:nvSpPr>
          <p:cNvPr id="21" name="Ribbon: Tilted Up 20">
            <a:extLst>
              <a:ext uri="{FF2B5EF4-FFF2-40B4-BE49-F238E27FC236}">
                <a16:creationId xmlns:a16="http://schemas.microsoft.com/office/drawing/2014/main" id="{0896DDD8-4B62-4AAC-9747-E911506EE45D}"/>
              </a:ext>
            </a:extLst>
          </p:cNvPr>
          <p:cNvSpPr/>
          <p:nvPr/>
        </p:nvSpPr>
        <p:spPr>
          <a:xfrm>
            <a:off x="10489272" y="4906433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9</a:t>
            </a:r>
          </a:p>
          <a:p>
            <a:pPr algn="ctr"/>
            <a:endParaRPr lang="th-TH" sz="2100" dirty="0">
              <a:solidFill>
                <a:schemeClr val="tx1"/>
              </a:solidFill>
            </a:endParaRPr>
          </a:p>
        </p:txBody>
      </p:sp>
      <p:sp>
        <p:nvSpPr>
          <p:cNvPr id="22" name="Rounded Rectangle 6">
            <a:extLst>
              <a:ext uri="{FF2B5EF4-FFF2-40B4-BE49-F238E27FC236}">
                <a16:creationId xmlns:a16="http://schemas.microsoft.com/office/drawing/2014/main" id="{5A60952B-A687-4A23-8280-028E1A11ED95}"/>
              </a:ext>
            </a:extLst>
          </p:cNvPr>
          <p:cNvSpPr/>
          <p:nvPr/>
        </p:nvSpPr>
        <p:spPr>
          <a:xfrm>
            <a:off x="6950206" y="1065893"/>
            <a:ext cx="4539061" cy="151644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6. หลังจากกด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Assign…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ระบบจะกำหนดเลขที่เอกสารขึ้นมาให้ (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Void Legal Number)</a:t>
            </a:r>
          </a:p>
          <a:p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7.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ใส่เหตุผลในการ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Void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ในช่อง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Reason 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และ 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GL Description</a:t>
            </a:r>
          </a:p>
          <a:p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8. 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เสร็จแล้วกด 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Void 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เมื่อกด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Void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แล้ว จะแสดงข้อความ 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Confirmation “ Are you sure “ 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เสร็จแล้วกด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Yes</a:t>
            </a:r>
          </a:p>
          <a:p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9.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เมื่อกด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Yes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จะแสดงข้อความ 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Information “ Payment was voided successfully</a:t>
            </a:r>
            <a:r>
              <a:rPr lang="th-TH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เสร็จแล้วกด </a:t>
            </a:r>
            <a:r>
              <a:rPr lang="en-US" sz="14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OK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53AF392-F080-4813-8932-C6D38E87F39E}"/>
              </a:ext>
            </a:extLst>
          </p:cNvPr>
          <p:cNvSpPr/>
          <p:nvPr/>
        </p:nvSpPr>
        <p:spPr>
          <a:xfrm>
            <a:off x="9668933" y="5884333"/>
            <a:ext cx="737918" cy="296332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CC49862-C259-4114-8618-F00DD4E973D5}"/>
              </a:ext>
            </a:extLst>
          </p:cNvPr>
          <p:cNvSpPr/>
          <p:nvPr/>
        </p:nvSpPr>
        <p:spPr>
          <a:xfrm>
            <a:off x="4006652" y="3770073"/>
            <a:ext cx="2200038" cy="749058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1785866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5C25F0-F8A9-4770-83C8-4F0034B42C34}"/>
              </a:ext>
            </a:extLst>
          </p:cNvPr>
          <p:cNvSpPr txBox="1">
            <a:spLocks/>
          </p:cNvSpPr>
          <p:nvPr/>
        </p:nvSpPr>
        <p:spPr>
          <a:xfrm>
            <a:off x="838200" y="1117600"/>
            <a:ext cx="9762067" cy="946422"/>
          </a:xfrm>
          <a:prstGeom prst="rect">
            <a:avLst/>
          </a:prstGeom>
        </p:spPr>
        <p:txBody>
          <a:bodyPr>
            <a:normAutofit fontScale="67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4722E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วิธีการตรวจสอบเอกสารที่ถูกยกเลิก</a:t>
            </a:r>
            <a:r>
              <a:rPr lang="en-US" sz="6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4722E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 (VOID)</a:t>
            </a:r>
            <a:b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endParaRPr lang="th-TH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F6926-F403-43D8-85BA-1F9A960DA3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5867" y="1968218"/>
            <a:ext cx="5122652" cy="452501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6B4113BD-171C-4CB2-AAEC-DFD21995E0C5}"/>
              </a:ext>
            </a:extLst>
          </p:cNvPr>
          <p:cNvSpPr/>
          <p:nvPr/>
        </p:nvSpPr>
        <p:spPr>
          <a:xfrm>
            <a:off x="2322519" y="3090333"/>
            <a:ext cx="3396714" cy="1075267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2" name="Ribbon: Tilted Up 11">
            <a:extLst>
              <a:ext uri="{FF2B5EF4-FFF2-40B4-BE49-F238E27FC236}">
                <a16:creationId xmlns:a16="http://schemas.microsoft.com/office/drawing/2014/main" id="{7819A359-2FE3-416A-8C4E-4AB7A48FEEE8}"/>
              </a:ext>
            </a:extLst>
          </p:cNvPr>
          <p:cNvSpPr/>
          <p:nvPr/>
        </p:nvSpPr>
        <p:spPr>
          <a:xfrm>
            <a:off x="3234267" y="2411024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1</a:t>
            </a:r>
          </a:p>
          <a:p>
            <a:pPr algn="ctr"/>
            <a:endParaRPr lang="th-TH" sz="2100" dirty="0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0A05C1-E946-4A3E-8B42-A0C6F0FF99B1}"/>
              </a:ext>
            </a:extLst>
          </p:cNvPr>
          <p:cNvSpPr txBox="1"/>
          <p:nvPr/>
        </p:nvSpPr>
        <p:spPr>
          <a:xfrm>
            <a:off x="7789335" y="2191813"/>
            <a:ext cx="3860800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1.</a:t>
            </a:r>
            <a:r>
              <a:rPr lang="th-TH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เข้า </a:t>
            </a:r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Menu</a:t>
            </a:r>
            <a:r>
              <a:rPr lang="th-TH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เลือก</a:t>
            </a:r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Menu Payment Tracker</a:t>
            </a:r>
          </a:p>
        </p:txBody>
      </p:sp>
    </p:spTree>
    <p:extLst>
      <p:ext uri="{BB962C8B-B14F-4D97-AF65-F5344CB8AC3E}">
        <p14:creationId xmlns:p14="http://schemas.microsoft.com/office/powerpoint/2010/main" val="36376156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C710CEA-2B50-4CE5-8D65-B51B9C914CE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70" t="285" r="2021" b="7487"/>
          <a:stretch/>
        </p:blipFill>
        <p:spPr>
          <a:xfrm>
            <a:off x="736599" y="1171606"/>
            <a:ext cx="10625667" cy="548319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27516E81-C7A4-400F-AA50-72E56A3B8FF1}"/>
              </a:ext>
            </a:extLst>
          </p:cNvPr>
          <p:cNvSpPr/>
          <p:nvPr/>
        </p:nvSpPr>
        <p:spPr>
          <a:xfrm>
            <a:off x="1168400" y="2870200"/>
            <a:ext cx="1828800" cy="262467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4CB05E1-18CD-4C1B-9D5B-17E6C5DF08BA}"/>
              </a:ext>
            </a:extLst>
          </p:cNvPr>
          <p:cNvSpPr/>
          <p:nvPr/>
        </p:nvSpPr>
        <p:spPr>
          <a:xfrm>
            <a:off x="677333" y="1828799"/>
            <a:ext cx="313267" cy="296335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1" name="Ribbon: Tilted Up 10">
            <a:extLst>
              <a:ext uri="{FF2B5EF4-FFF2-40B4-BE49-F238E27FC236}">
                <a16:creationId xmlns:a16="http://schemas.microsoft.com/office/drawing/2014/main" id="{F22546CF-728C-46C0-B32C-4F8EA124FA09}"/>
              </a:ext>
            </a:extLst>
          </p:cNvPr>
          <p:cNvSpPr/>
          <p:nvPr/>
        </p:nvSpPr>
        <p:spPr>
          <a:xfrm>
            <a:off x="3166533" y="3001433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2</a:t>
            </a:r>
          </a:p>
          <a:p>
            <a:pPr algn="ctr"/>
            <a:endParaRPr lang="th-TH" sz="2100" dirty="0">
              <a:solidFill>
                <a:schemeClr val="tx1"/>
              </a:solidFill>
            </a:endParaRPr>
          </a:p>
        </p:txBody>
      </p:sp>
      <p:sp>
        <p:nvSpPr>
          <p:cNvPr id="12" name="Ribbon: Tilted Up 11">
            <a:extLst>
              <a:ext uri="{FF2B5EF4-FFF2-40B4-BE49-F238E27FC236}">
                <a16:creationId xmlns:a16="http://schemas.microsoft.com/office/drawing/2014/main" id="{29D06340-D149-4117-81B3-81EE5519B810}"/>
              </a:ext>
            </a:extLst>
          </p:cNvPr>
          <p:cNvSpPr/>
          <p:nvPr/>
        </p:nvSpPr>
        <p:spPr>
          <a:xfrm>
            <a:off x="846666" y="1574799"/>
            <a:ext cx="643467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3</a:t>
            </a:r>
          </a:p>
          <a:p>
            <a:pPr algn="ctr"/>
            <a:endParaRPr lang="th-TH" sz="21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970497D-6114-492A-962E-AC5787284698}"/>
              </a:ext>
            </a:extLst>
          </p:cNvPr>
          <p:cNvSpPr txBox="1"/>
          <p:nvPr/>
        </p:nvSpPr>
        <p:spPr>
          <a:xfrm>
            <a:off x="1168399" y="4239792"/>
            <a:ext cx="3158068" cy="1508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2.</a:t>
            </a:r>
            <a:r>
              <a:rPr lang="th-TH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ใส่เลขที่ </a:t>
            </a:r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Check </a:t>
            </a:r>
            <a:r>
              <a:rPr lang="th-TH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หรือเลขที่ </a:t>
            </a:r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Payment</a:t>
            </a:r>
            <a:r>
              <a:rPr lang="th-TH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ที่ทำการยกเลิก ในช่อง </a:t>
            </a:r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Check</a:t>
            </a:r>
          </a:p>
          <a:p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3.</a:t>
            </a:r>
            <a:r>
              <a:rPr lang="th-TH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กดคลิกที่แถบเมนู </a:t>
            </a:r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Refresh </a:t>
            </a:r>
            <a:r>
              <a:rPr lang="th-TH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จะแสดงข้อมูล </a:t>
            </a:r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Payment </a:t>
            </a:r>
            <a:r>
              <a:rPr lang="th-TH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ที่ทำการ</a:t>
            </a:r>
            <a:r>
              <a:rPr lang="en-US" sz="23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Void</a:t>
            </a:r>
            <a:endParaRPr lang="th-TH" sz="2300" dirty="0">
              <a:solidFill>
                <a:schemeClr val="tx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33339227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35BB3870-6EBC-4210-AF13-A5EC893F90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11" y="1710270"/>
            <a:ext cx="11987577" cy="4402667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1FCCF406-9B58-447E-80FC-71643F17CC73}"/>
              </a:ext>
            </a:extLst>
          </p:cNvPr>
          <p:cNvSpPr/>
          <p:nvPr/>
        </p:nvSpPr>
        <p:spPr>
          <a:xfrm>
            <a:off x="2971801" y="2114626"/>
            <a:ext cx="9220199" cy="355601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48CAEE5-EDBA-41C0-B139-F2E18F808DF2}"/>
              </a:ext>
            </a:extLst>
          </p:cNvPr>
          <p:cNvSpPr txBox="1"/>
          <p:nvPr/>
        </p:nvSpPr>
        <p:spPr>
          <a:xfrm>
            <a:off x="3276600" y="949983"/>
            <a:ext cx="417406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รายละเอียดแสดงสถานะการ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Void</a:t>
            </a:r>
            <a:endParaRPr lang="th-TH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41049291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4599D8F-2524-4035-9064-5D719962185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94" b="3804"/>
          <a:stretch/>
        </p:blipFill>
        <p:spPr>
          <a:xfrm>
            <a:off x="499534" y="1357746"/>
            <a:ext cx="10934699" cy="528858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04B1E7B-B8F3-4696-8E6A-EDEED706988F}"/>
              </a:ext>
            </a:extLst>
          </p:cNvPr>
          <p:cNvSpPr/>
          <p:nvPr/>
        </p:nvSpPr>
        <p:spPr>
          <a:xfrm>
            <a:off x="6510867" y="2413001"/>
            <a:ext cx="1219200" cy="609601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50B2FA8-FBDF-4978-891F-1D771D1200DC}"/>
              </a:ext>
            </a:extLst>
          </p:cNvPr>
          <p:cNvSpPr/>
          <p:nvPr/>
        </p:nvSpPr>
        <p:spPr>
          <a:xfrm>
            <a:off x="4038600" y="2252130"/>
            <a:ext cx="414867" cy="296335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85096E2-5047-44AF-8F68-3EC762849AE8}"/>
              </a:ext>
            </a:extLst>
          </p:cNvPr>
          <p:cNvSpPr txBox="1"/>
          <p:nvPr/>
        </p:nvSpPr>
        <p:spPr>
          <a:xfrm>
            <a:off x="3276600" y="949983"/>
            <a:ext cx="4174066" cy="52322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th-TH" dirty="0">
                <a:latin typeface="Angsana New" panose="02020603050405020304" pitchFamily="18" charset="-34"/>
                <a:cs typeface="Angsana New" panose="02020603050405020304" pitchFamily="18" charset="-34"/>
              </a:rPr>
              <a:t>รายละเอียดแสดงสถานะการ</a:t>
            </a:r>
            <a:r>
              <a:rPr lang="en-US" dirty="0">
                <a:latin typeface="Angsana New" panose="02020603050405020304" pitchFamily="18" charset="-34"/>
                <a:cs typeface="Angsana New" panose="02020603050405020304" pitchFamily="18" charset="-34"/>
              </a:rPr>
              <a:t> Void</a:t>
            </a:r>
            <a:endParaRPr lang="th-TH" dirty="0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5420438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itle 1">
            <a:extLst>
              <a:ext uri="{FF2B5EF4-FFF2-40B4-BE49-F238E27FC236}">
                <a16:creationId xmlns:a16="http://schemas.microsoft.com/office/drawing/2014/main" id="{B7C5C243-FD37-4027-925D-53BCE3E0E727}"/>
              </a:ext>
            </a:extLst>
          </p:cNvPr>
          <p:cNvSpPr txBox="1">
            <a:spLocks/>
          </p:cNvSpPr>
          <p:nvPr/>
        </p:nvSpPr>
        <p:spPr>
          <a:xfrm>
            <a:off x="838200" y="1056923"/>
            <a:ext cx="10461436" cy="784755"/>
          </a:xfrm>
          <a:prstGeom prst="rect">
            <a:avLst/>
          </a:prstGeom>
        </p:spPr>
        <p:txBody>
          <a:bodyPr>
            <a:normAutofit fontScale="5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7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4722E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วิธีตรวจสอบเอกสารที่ถูกยกเลิก</a:t>
            </a:r>
            <a:b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endParaRPr lang="th-TH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AA57A76-126F-43F5-B8D3-D1C086E448B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28" t="1" b="31661"/>
          <a:stretch/>
        </p:blipFill>
        <p:spPr>
          <a:xfrm>
            <a:off x="255448" y="1634067"/>
            <a:ext cx="11626939" cy="3589865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272F4607-372B-44DC-8127-F5BCB0E17771}"/>
              </a:ext>
            </a:extLst>
          </p:cNvPr>
          <p:cNvSpPr/>
          <p:nvPr/>
        </p:nvSpPr>
        <p:spPr>
          <a:xfrm>
            <a:off x="6780117" y="4783666"/>
            <a:ext cx="863600" cy="287868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297AD12-9292-47E2-89BA-9302CE39525A}"/>
              </a:ext>
            </a:extLst>
          </p:cNvPr>
          <p:cNvSpPr/>
          <p:nvPr/>
        </p:nvSpPr>
        <p:spPr>
          <a:xfrm>
            <a:off x="7567517" y="2726265"/>
            <a:ext cx="4250267" cy="372533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  <p:sp>
        <p:nvSpPr>
          <p:cNvPr id="8" name="Ribbon: Tilted Up 7">
            <a:extLst>
              <a:ext uri="{FF2B5EF4-FFF2-40B4-BE49-F238E27FC236}">
                <a16:creationId xmlns:a16="http://schemas.microsoft.com/office/drawing/2014/main" id="{C7D74B0A-25B8-4B7B-8E90-8FC16B634D82}"/>
              </a:ext>
            </a:extLst>
          </p:cNvPr>
          <p:cNvSpPr/>
          <p:nvPr/>
        </p:nvSpPr>
        <p:spPr>
          <a:xfrm>
            <a:off x="6324599" y="3560232"/>
            <a:ext cx="609601" cy="254000"/>
          </a:xfrm>
          <a:prstGeom prst="ribbon2">
            <a:avLst/>
          </a:prstGeom>
          <a:solidFill>
            <a:srgbClr val="99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100" dirty="0">
              <a:solidFill>
                <a:schemeClr val="tx1"/>
              </a:solidFill>
            </a:endParaRPr>
          </a:p>
          <a:p>
            <a:pPr algn="ctr"/>
            <a:r>
              <a:rPr lang="en-US" sz="1200" dirty="0">
                <a:solidFill>
                  <a:schemeClr val="tx1"/>
                </a:solidFill>
              </a:rPr>
              <a:t>4</a:t>
            </a:r>
          </a:p>
          <a:p>
            <a:pPr algn="ctr"/>
            <a:endParaRPr lang="th-TH" sz="21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369A039-4892-4FCE-9221-570FD322CC56}"/>
              </a:ext>
            </a:extLst>
          </p:cNvPr>
          <p:cNvSpPr txBox="1"/>
          <p:nvPr/>
        </p:nvSpPr>
        <p:spPr>
          <a:xfrm>
            <a:off x="389465" y="2514597"/>
            <a:ext cx="530013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Angsana New" panose="02020603050405020304" pitchFamily="18" charset="-34"/>
                <a:cs typeface="Angsana New" panose="02020603050405020304" pitchFamily="18" charset="-34"/>
              </a:rPr>
              <a:t>4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.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คลิกขวาที่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Invoice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เลือก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 Open With… </a:t>
            </a:r>
            <a:r>
              <a:rPr lang="th-TH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เลือก </a:t>
            </a:r>
            <a:r>
              <a:rPr lang="en-US" sz="2000" dirty="0">
                <a:solidFill>
                  <a:schemeClr val="tx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AP Invoice Tracker </a:t>
            </a:r>
          </a:p>
        </p:txBody>
      </p:sp>
    </p:spTree>
    <p:extLst>
      <p:ext uri="{BB962C8B-B14F-4D97-AF65-F5344CB8AC3E}">
        <p14:creationId xmlns:p14="http://schemas.microsoft.com/office/powerpoint/2010/main" val="11096156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6136DE7-4BE1-4213-BC86-14456A308E70}"/>
              </a:ext>
            </a:extLst>
          </p:cNvPr>
          <p:cNvSpPr/>
          <p:nvPr/>
        </p:nvSpPr>
        <p:spPr>
          <a:xfrm>
            <a:off x="864828" y="3250277"/>
            <a:ext cx="402113" cy="21483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th-TH" sz="1800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94661270-D665-4EEA-9B02-FBF09CAB7F3C}"/>
              </a:ext>
            </a:extLst>
          </p:cNvPr>
          <p:cNvSpPr txBox="1">
            <a:spLocks/>
          </p:cNvSpPr>
          <p:nvPr/>
        </p:nvSpPr>
        <p:spPr>
          <a:xfrm>
            <a:off x="838200" y="1287989"/>
            <a:ext cx="10515600" cy="1325563"/>
          </a:xfrm>
          <a:prstGeom prst="rect">
            <a:avLst/>
          </a:prstGeom>
        </p:spPr>
        <p:txBody>
          <a:bodyPr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th-TH" sz="6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4722E6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ตรวจสอบเอกสารที่ถูกยกเลิก</a:t>
            </a:r>
            <a:br>
              <a:rPr lang="en-US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</a:br>
            <a:endParaRPr lang="th-TH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D74287E-83BB-41B2-B6FD-531E80C8593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-585" r="23207" b="1"/>
          <a:stretch/>
        </p:blipFill>
        <p:spPr>
          <a:xfrm>
            <a:off x="410634" y="2218265"/>
            <a:ext cx="11370732" cy="3813929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B2D67FC-5977-4EA8-892C-1E2779AFDE7E}"/>
              </a:ext>
            </a:extLst>
          </p:cNvPr>
          <p:cNvSpPr/>
          <p:nvPr/>
        </p:nvSpPr>
        <p:spPr>
          <a:xfrm>
            <a:off x="4275667" y="2455333"/>
            <a:ext cx="736600" cy="338667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4D1F59-F60C-4BFC-9B3A-0D8AC68CAC32}"/>
              </a:ext>
            </a:extLst>
          </p:cNvPr>
          <p:cNvSpPr/>
          <p:nvPr/>
        </p:nvSpPr>
        <p:spPr>
          <a:xfrm>
            <a:off x="456284" y="3939648"/>
            <a:ext cx="11325082" cy="609601"/>
          </a:xfrm>
          <a:prstGeom prst="rect">
            <a:avLst/>
          </a:prstGeom>
          <a:noFill/>
          <a:ln w="38100">
            <a:solidFill>
              <a:srgbClr val="FF00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19588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613</TotalTime>
  <Words>439</Words>
  <Application>Microsoft Office PowerPoint</Application>
  <PresentationFormat>Widescreen</PresentationFormat>
  <Paragraphs>62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Angsana New</vt:lpstr>
      <vt:lpstr>AngsanaUPC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Tanida Chorthongdee</dc:creator>
  <cp:lastModifiedBy>Tanida Chorthongdee</cp:lastModifiedBy>
  <cp:revision>39</cp:revision>
  <cp:lastPrinted>2024-08-20T01:56:37Z</cp:lastPrinted>
  <dcterms:created xsi:type="dcterms:W3CDTF">2024-08-07T03:39:51Z</dcterms:created>
  <dcterms:modified xsi:type="dcterms:W3CDTF">2024-08-20T03:27:05Z</dcterms:modified>
</cp:coreProperties>
</file>