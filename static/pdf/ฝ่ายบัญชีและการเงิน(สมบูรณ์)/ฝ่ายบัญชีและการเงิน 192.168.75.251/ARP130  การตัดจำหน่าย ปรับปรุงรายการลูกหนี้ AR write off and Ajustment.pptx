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3" r:id="rId3"/>
    <p:sldId id="257" r:id="rId4"/>
    <p:sldId id="259" r:id="rId5"/>
    <p:sldId id="260" r:id="rId6"/>
    <p:sldId id="261" r:id="rId7"/>
    <p:sldId id="266" r:id="rId8"/>
    <p:sldId id="258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ranee Chuitchoodet" initials="SC" lastIdx="6" clrIdx="0">
    <p:extLst>
      <p:ext uri="{19B8F6BF-5375-455C-9EA6-DF929625EA0E}">
        <p15:presenceInfo xmlns:p15="http://schemas.microsoft.com/office/powerpoint/2012/main" userId="S-1-5-21-4059006370-2331511250-3142268630-153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8-10T11:02:12.116" idx="3">
    <p:pos x="10" y="10"/>
    <p:text/>
    <p:extLst>
      <p:ext uri="{C676402C-5697-4E1C-873F-D02D1690AC5C}">
        <p15:threadingInfo xmlns:p15="http://schemas.microsoft.com/office/powerpoint/2012/main" timeZoneBias="-420"/>
      </p:ext>
    </p:extLst>
  </p:cm>
  <p:cm authorId="1" dt="2024-08-10T11:02:13.210" idx="4">
    <p:pos x="146" y="146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D3A0-33E8-4BEB-BC8B-3D46F223A0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6FCE6-A1B4-4FE3-8787-F03101CF3A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19048-7938-45D4-80B9-F68C90EB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24" y="254786"/>
            <a:ext cx="11583078" cy="627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84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311BA8-2784-415D-87D1-76470D6F2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452060"/>
              </p:ext>
            </p:extLst>
          </p:nvPr>
        </p:nvGraphicFramePr>
        <p:xfrm>
          <a:off x="333486" y="264496"/>
          <a:ext cx="9940066" cy="6593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2422">
                  <a:extLst>
                    <a:ext uri="{9D8B030D-6E8A-4147-A177-3AD203B41FA5}">
                      <a16:colId xmlns:a16="http://schemas.microsoft.com/office/drawing/2014/main" val="2927219537"/>
                    </a:ext>
                  </a:extLst>
                </a:gridCol>
                <a:gridCol w="2183035">
                  <a:extLst>
                    <a:ext uri="{9D8B030D-6E8A-4147-A177-3AD203B41FA5}">
                      <a16:colId xmlns:a16="http://schemas.microsoft.com/office/drawing/2014/main" val="2122491981"/>
                    </a:ext>
                  </a:extLst>
                </a:gridCol>
                <a:gridCol w="6804609">
                  <a:extLst>
                    <a:ext uri="{9D8B030D-6E8A-4147-A177-3AD203B41FA5}">
                      <a16:colId xmlns:a16="http://schemas.microsoft.com/office/drawing/2014/main" val="1818101500"/>
                    </a:ext>
                  </a:extLst>
                </a:gridCol>
              </a:tblGrid>
              <a:tr h="107819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u="none" strike="noStrike" dirty="0">
                          <a:effectLst/>
                        </a:rPr>
                        <a:t>กระบวนการ  (</a:t>
                      </a:r>
                      <a:r>
                        <a:rPr lang="en-GB" sz="2000" u="none" strike="noStrike" dirty="0">
                          <a:effectLst/>
                        </a:rPr>
                        <a:t>Process)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dirty="0">
                          <a:highlight>
                            <a:srgbClr val="FFFF00"/>
                          </a:highlight>
                        </a:rPr>
                        <a:t>AR Write off and Adjustment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7113360"/>
                  </a:ext>
                </a:extLst>
              </a:tr>
              <a:tr h="155924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u="none" strike="noStrike" dirty="0">
                          <a:effectLst/>
                        </a:rPr>
                        <a:t>ข้อมูลที่ต้องใช้ (</a:t>
                      </a:r>
                      <a:r>
                        <a:rPr lang="en-GB" sz="2000" u="none" strike="noStrike" dirty="0">
                          <a:effectLst/>
                        </a:rPr>
                        <a:t>INPUT)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th-TH" sz="3200" u="none" strike="noStrike" dirty="0">
                          <a:effectLst/>
                        </a:rPr>
                        <a:t>.ชื่อลูกค้า</a:t>
                      </a: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3200" u="none" strike="noStrike" dirty="0">
                          <a:effectLst/>
                        </a:rPr>
                        <a:t>2.</a:t>
                      </a:r>
                      <a:r>
                        <a:rPr lang="en-US" sz="3200" u="none" strike="noStrike" dirty="0">
                          <a:effectLst/>
                        </a:rPr>
                        <a:t>Invoice No.</a:t>
                      </a:r>
                      <a:r>
                        <a:rPr lang="th-TH" sz="3200" u="none" strike="noStrike" dirty="0">
                          <a:effectLst/>
                        </a:rPr>
                        <a:t>และวันที่บิล</a:t>
                      </a: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3200" u="none" strike="noStrike" dirty="0">
                          <a:effectLst/>
                        </a:rPr>
                        <a:t>3.</a:t>
                      </a:r>
                      <a:r>
                        <a:rPr lang="en-US" sz="3200" u="none" strike="noStrike" dirty="0" err="1">
                          <a:effectLst/>
                        </a:rPr>
                        <a:t>Ducument</a:t>
                      </a:r>
                      <a:r>
                        <a:rPr lang="en-US" sz="3200" u="none" strike="noStrike" dirty="0">
                          <a:effectLst/>
                        </a:rPr>
                        <a:t> </a:t>
                      </a:r>
                      <a:r>
                        <a:rPr lang="en-US" sz="3200" u="none" strike="noStrike" dirty="0" err="1">
                          <a:effectLst/>
                        </a:rPr>
                        <a:t>typ</a:t>
                      </a:r>
                      <a:endParaRPr lang="en-US" sz="3200" u="none" strike="noStrike" dirty="0">
                        <a:effectLst/>
                      </a:endParaRP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3200" u="none" strike="noStrike" dirty="0">
                          <a:effectLst/>
                        </a:rPr>
                        <a:t>4.จำนวนเงินที่ลูกค้าจ่ายไม่ครบ เศษสตางค์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8872314"/>
                  </a:ext>
                </a:extLst>
              </a:tr>
              <a:tr h="151076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u="none" strike="noStrike" dirty="0">
                          <a:effectLst/>
                        </a:rPr>
                        <a:t>ชั้นตอนย่อย( </a:t>
                      </a:r>
                      <a:r>
                        <a:rPr lang="en-GB" sz="2000" u="none" strike="noStrike" dirty="0">
                          <a:effectLst/>
                        </a:rPr>
                        <a:t>Sub process)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800" u="none" strike="noStrike" dirty="0">
                          <a:effectLst/>
                        </a:rPr>
                        <a:t>ทำได้ 2 วิธี</a:t>
                      </a: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800" u="none" strike="noStrike" dirty="0">
                          <a:effectLst/>
                        </a:rPr>
                        <a:t>1.การรับชำระหนี้ </a:t>
                      </a:r>
                      <a:r>
                        <a:rPr lang="en-US" sz="2800" dirty="0"/>
                        <a:t>cash Receipt Entry (AR Receipt)</a:t>
                      </a:r>
                      <a:endParaRPr lang="th-TH" sz="2800" dirty="0"/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800" dirty="0"/>
                        <a:t>2.</a:t>
                      </a:r>
                      <a:r>
                        <a:rPr lang="en-US" sz="2800" dirty="0">
                          <a:highlight>
                            <a:srgbClr val="FFFF00"/>
                          </a:highlight>
                        </a:rPr>
                        <a:t> Write off and Adjustment</a:t>
                      </a:r>
                      <a:endParaRPr lang="en-US" sz="2800" dirty="0"/>
                    </a:p>
                    <a:p>
                      <a:pPr algn="l" fontAlgn="b"/>
                      <a:r>
                        <a:rPr lang="en-GB" sz="4000" u="none" strike="noStrike" dirty="0">
                          <a:effectLst/>
                        </a:rPr>
                        <a:t> </a:t>
                      </a:r>
                      <a:endParaRPr lang="en-GB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8305477"/>
                  </a:ext>
                </a:extLst>
              </a:tr>
              <a:tr h="8278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u="none" strike="noStrike" dirty="0">
                          <a:effectLst/>
                        </a:rPr>
                        <a:t>ความเสี่ยง (</a:t>
                      </a:r>
                      <a:r>
                        <a:rPr lang="en-GB" sz="2000" u="none" strike="noStrike" dirty="0">
                          <a:effectLst/>
                        </a:rPr>
                        <a:t>Risk)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400" u="none" strike="noStrike" dirty="0">
                          <a:effectLst/>
                        </a:rPr>
                        <a:t>อาจจะ </a:t>
                      </a:r>
                      <a:r>
                        <a:rPr lang="en-US" sz="2400" u="none" strike="noStrike" dirty="0">
                          <a:effectLst/>
                        </a:rPr>
                        <a:t>write off</a:t>
                      </a:r>
                      <a:r>
                        <a:rPr lang="en-GB" sz="2400" u="none" strike="noStrike" dirty="0">
                          <a:effectLst/>
                        </a:rPr>
                        <a:t> </a:t>
                      </a:r>
                      <a:r>
                        <a:rPr lang="th-TH" sz="2400" u="none" strike="noStrike" dirty="0">
                          <a:effectLst/>
                        </a:rPr>
                        <a:t>ตัวเลขผิดเกินที่กำหนด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26020736"/>
                  </a:ext>
                </a:extLst>
              </a:tr>
              <a:tr h="8278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u="none" strike="noStrike" dirty="0">
                          <a:effectLst/>
                        </a:rPr>
                        <a:t>จุดควบคุม (</a:t>
                      </a:r>
                      <a:r>
                        <a:rPr lang="en-GB" sz="2000" u="none" strike="noStrike" dirty="0">
                          <a:effectLst/>
                        </a:rPr>
                        <a:t>Control point)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ตอนทำบันทึกให้เช็คยอด 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balance </a:t>
                      </a:r>
                      <a:r>
                        <a:rPr lang="th-TH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ให้เป็น 0 (ศูนย์)</a:t>
                      </a:r>
                      <a:endParaRPr lang="en-GB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8004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626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2DA0D5-2BFA-4B03-90BD-02E39EDAA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15" y="421295"/>
            <a:ext cx="7744906" cy="7906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4BF14-E3F5-4D9A-B441-546EE2919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221" y="1624405"/>
            <a:ext cx="6433074" cy="4158774"/>
          </a:xfrm>
        </p:spPr>
        <p:txBody>
          <a:bodyPr>
            <a:normAutofit fontScale="92500" lnSpcReduction="10000"/>
          </a:bodyPr>
          <a:lstStyle/>
          <a:p>
            <a:r>
              <a:rPr lang="th-TH" sz="2600" dirty="0"/>
              <a:t>จะจัดทำเมื่อ มีการปัดเศษสตาค์</a:t>
            </a:r>
          </a:p>
          <a:p>
            <a:r>
              <a:rPr lang="th-TH" sz="2600" dirty="0"/>
              <a:t>ทำเหมือนตัดรับชำระหนี้ปกติ</a:t>
            </a:r>
            <a:endParaRPr lang="en-US" sz="2600" dirty="0"/>
          </a:p>
          <a:p>
            <a:r>
              <a:rPr lang="th-TH" sz="2600" dirty="0"/>
              <a:t>ทำได้ 2 วิธี</a:t>
            </a:r>
            <a:endParaRPr lang="en-US" sz="2600" dirty="0"/>
          </a:p>
          <a:p>
            <a:r>
              <a:rPr lang="th-TH" sz="2800" dirty="0">
                <a:highlight>
                  <a:srgbClr val="FFFF00"/>
                </a:highlight>
              </a:rPr>
              <a:t>(วิธีที่ 1ทำตอนรับชำระหนี้ )</a:t>
            </a:r>
            <a:endParaRPr lang="en-US" sz="2800" dirty="0">
              <a:highlight>
                <a:srgbClr val="FFFF00"/>
              </a:highlight>
            </a:endParaRPr>
          </a:p>
          <a:p>
            <a:endParaRPr lang="th-TH" sz="2600" dirty="0"/>
          </a:p>
          <a:p>
            <a:r>
              <a:rPr lang="th-TH" sz="2600" dirty="0"/>
              <a:t>1.ไปที่</a:t>
            </a:r>
            <a:r>
              <a:rPr lang="en-US" sz="2600" dirty="0"/>
              <a:t> cash Receipt Entry (AR Receipt)</a:t>
            </a:r>
          </a:p>
          <a:p>
            <a:r>
              <a:rPr lang="th-TH" sz="2600" dirty="0"/>
              <a:t>ใส่ช่อง </a:t>
            </a:r>
            <a:r>
              <a:rPr lang="en-US" sz="2600" dirty="0"/>
              <a:t>write off =</a:t>
            </a:r>
            <a:r>
              <a:rPr lang="th-TH" sz="2600" dirty="0"/>
              <a:t>จำนวนเงินที่ต้องการ ขึ้นอยู่ว่าบริษัท ฯ จะกำหนดไว้</a:t>
            </a:r>
          </a:p>
          <a:p>
            <a:r>
              <a:rPr lang="th-TH" sz="2800" dirty="0">
                <a:highlight>
                  <a:srgbClr val="FFFF00"/>
                </a:highlight>
              </a:rPr>
              <a:t>วิธีที่ 2 ไปที่</a:t>
            </a:r>
            <a:r>
              <a:rPr lang="en-US" sz="2800" dirty="0">
                <a:highlight>
                  <a:srgbClr val="FFFF00"/>
                </a:highlight>
              </a:rPr>
              <a:t>GL account  </a:t>
            </a:r>
            <a:r>
              <a:rPr lang="th-TH" sz="2800" dirty="0">
                <a:highlight>
                  <a:srgbClr val="FFFF00"/>
                </a:highlight>
              </a:rPr>
              <a:t>คีย์เอง </a:t>
            </a:r>
          </a:p>
        </p:txBody>
      </p:sp>
    </p:spTree>
    <p:extLst>
      <p:ext uri="{BB962C8B-B14F-4D97-AF65-F5344CB8AC3E}">
        <p14:creationId xmlns:p14="http://schemas.microsoft.com/office/powerpoint/2010/main" val="260509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CB02CB-75F7-4DC2-B091-4F765910C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487" y="147148"/>
            <a:ext cx="12192000" cy="65637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D23B1F-85D8-4F9F-BEE8-CF711C93919B}"/>
              </a:ext>
            </a:extLst>
          </p:cNvPr>
          <p:cNvSpPr/>
          <p:nvPr/>
        </p:nvSpPr>
        <p:spPr>
          <a:xfrm>
            <a:off x="121022" y="636196"/>
            <a:ext cx="2331721" cy="3857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344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98D451-74EF-4949-86CF-0816E5A46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65" y="1237466"/>
            <a:ext cx="10402752" cy="5620534"/>
          </a:xfrm>
          <a:prstGeom prst="rect">
            <a:avLst/>
          </a:prstGeom>
        </p:spPr>
      </p:pic>
      <p:sp>
        <p:nvSpPr>
          <p:cNvPr id="8" name="TextBox 7" descr="ไปที่A/R Receipt  &#10;">
            <a:extLst>
              <a:ext uri="{FF2B5EF4-FFF2-40B4-BE49-F238E27FC236}">
                <a16:creationId xmlns:a16="http://schemas.microsoft.com/office/drawing/2014/main" id="{5E3EBC2A-A61C-4BEE-BBFF-A84E1B1FB7C5}"/>
              </a:ext>
            </a:extLst>
          </p:cNvPr>
          <p:cNvSpPr txBox="1"/>
          <p:nvPr/>
        </p:nvSpPr>
        <p:spPr>
          <a:xfrm>
            <a:off x="3443109" y="79133"/>
            <a:ext cx="3081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highlight>
                  <a:srgbClr val="FFFF00"/>
                </a:highlight>
              </a:rPr>
              <a:t>ไปที่</a:t>
            </a:r>
            <a:r>
              <a:rPr lang="en-US" dirty="0">
                <a:highlight>
                  <a:srgbClr val="FFFF00"/>
                </a:highlight>
              </a:rPr>
              <a:t>A/R </a:t>
            </a:r>
            <a:r>
              <a:rPr lang="en-US" sz="3600" dirty="0">
                <a:highlight>
                  <a:srgbClr val="FFFF00"/>
                </a:highlight>
              </a:rPr>
              <a:t>Receipt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th-TH" dirty="0">
                <a:highlight>
                  <a:srgbClr val="FFFF00"/>
                </a:highlight>
              </a:rPr>
              <a:t> 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D23B1F-85D8-4F9F-BEE8-CF711C93919B}"/>
              </a:ext>
            </a:extLst>
          </p:cNvPr>
          <p:cNvSpPr/>
          <p:nvPr/>
        </p:nvSpPr>
        <p:spPr>
          <a:xfrm>
            <a:off x="3671047" y="1615140"/>
            <a:ext cx="762000" cy="4004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917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03FBB0-4E0E-43B6-81DA-F8B0FC996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116" y="1013375"/>
            <a:ext cx="8009422" cy="55073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D23B1F-85D8-4F9F-BEE8-CF711C93919B}"/>
              </a:ext>
            </a:extLst>
          </p:cNvPr>
          <p:cNvSpPr/>
          <p:nvPr/>
        </p:nvSpPr>
        <p:spPr>
          <a:xfrm>
            <a:off x="7186109" y="4098664"/>
            <a:ext cx="1656678" cy="3765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5371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93708F-6313-44E0-8AE4-86E4410AC61F}"/>
              </a:ext>
            </a:extLst>
          </p:cNvPr>
          <p:cNvSpPr/>
          <p:nvPr/>
        </p:nvSpPr>
        <p:spPr>
          <a:xfrm>
            <a:off x="1001809" y="773102"/>
            <a:ext cx="944386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4400" dirty="0">
                <a:highlight>
                  <a:srgbClr val="FFFF00"/>
                </a:highlight>
              </a:rPr>
              <a:t>วิธีที่ </a:t>
            </a:r>
            <a:r>
              <a:rPr lang="en-US" sz="4400" dirty="0">
                <a:highlight>
                  <a:srgbClr val="FFFF00"/>
                </a:highlight>
              </a:rPr>
              <a:t>2.</a:t>
            </a:r>
            <a:r>
              <a:rPr lang="th-TH" sz="4400" dirty="0">
                <a:highlight>
                  <a:srgbClr val="FFFF00"/>
                </a:highlight>
              </a:rPr>
              <a:t>ไปที่เมนู </a:t>
            </a:r>
            <a:r>
              <a:rPr lang="en-US" sz="4400" dirty="0">
                <a:highlight>
                  <a:srgbClr val="FFFF00"/>
                </a:highlight>
              </a:rPr>
              <a:t>Write off and Adjustment</a:t>
            </a:r>
            <a:endParaRPr lang="th-TH" sz="4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1382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ใส่">
            <a:extLst>
              <a:ext uri="{FF2B5EF4-FFF2-40B4-BE49-F238E27FC236}">
                <a16:creationId xmlns:a16="http://schemas.microsoft.com/office/drawing/2014/main" id="{DE05FABA-0044-4623-B6F3-FB002CBBF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77" y="0"/>
            <a:ext cx="1164404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CFBE1E-BE68-4CDF-9D58-66BF7ADA3094}"/>
              </a:ext>
            </a:extLst>
          </p:cNvPr>
          <p:cNvSpPr/>
          <p:nvPr/>
        </p:nvSpPr>
        <p:spPr>
          <a:xfrm>
            <a:off x="796066" y="2011680"/>
            <a:ext cx="2441985" cy="806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60DBDD7-5B7E-462B-9922-27B73F0D5775}"/>
              </a:ext>
            </a:extLst>
          </p:cNvPr>
          <p:cNvSpPr/>
          <p:nvPr/>
        </p:nvSpPr>
        <p:spPr>
          <a:xfrm rot="10800000">
            <a:off x="8807893" y="1498433"/>
            <a:ext cx="613186" cy="36933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8B46F-A669-4D54-B22F-5BE0D098E540}"/>
              </a:ext>
            </a:extLst>
          </p:cNvPr>
          <p:cNvSpPr txBox="1"/>
          <p:nvPr/>
        </p:nvSpPr>
        <p:spPr>
          <a:xfrm>
            <a:off x="3624674" y="2011680"/>
            <a:ext cx="3651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1.</a:t>
            </a:r>
            <a:r>
              <a:rPr lang="th-TH" dirty="0">
                <a:highlight>
                  <a:srgbClr val="FFFF00"/>
                </a:highlight>
              </a:rPr>
              <a:t>ไปที่เมนู </a:t>
            </a:r>
            <a:r>
              <a:rPr lang="en-US" dirty="0">
                <a:highlight>
                  <a:srgbClr val="FFFF00"/>
                </a:highlight>
              </a:rPr>
              <a:t>Write off and Adjustment</a:t>
            </a:r>
            <a:r>
              <a:rPr lang="th-TH" dirty="0">
                <a:highlight>
                  <a:srgbClr val="FFFF00"/>
                </a:highlight>
              </a:rPr>
              <a:t> 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4D6F4C-1060-4AA5-8435-66EB17E31E36}"/>
              </a:ext>
            </a:extLst>
          </p:cNvPr>
          <p:cNvSpPr/>
          <p:nvPr/>
        </p:nvSpPr>
        <p:spPr>
          <a:xfrm>
            <a:off x="8918868" y="1683100"/>
            <a:ext cx="2999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highlight>
                  <a:srgbClr val="FFFF00"/>
                </a:highlight>
              </a:rPr>
              <a:t>ไปใส่</a:t>
            </a:r>
            <a:r>
              <a:rPr lang="en-US" dirty="0">
                <a:highlight>
                  <a:srgbClr val="FFFF00"/>
                </a:highlight>
              </a:rPr>
              <a:t> INVOICE  </a:t>
            </a:r>
            <a:r>
              <a:rPr lang="th-TH" dirty="0">
                <a:highlight>
                  <a:srgbClr val="FFFF00"/>
                </a:highlight>
              </a:rPr>
              <a:t>ที่ต้องการ</a:t>
            </a:r>
            <a:r>
              <a:rPr lang="en-US" dirty="0">
                <a:highlight>
                  <a:srgbClr val="FFFF00"/>
                </a:highlight>
              </a:rPr>
              <a:t>Write off</a:t>
            </a:r>
            <a:endParaRPr lang="en-GB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74310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F9EB8D-950D-451E-B3D6-7711EC76E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4" y="196074"/>
            <a:ext cx="12192000" cy="68324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D23B1F-85D8-4F9F-BEE8-CF711C93919B}"/>
              </a:ext>
            </a:extLst>
          </p:cNvPr>
          <p:cNvSpPr/>
          <p:nvPr/>
        </p:nvSpPr>
        <p:spPr>
          <a:xfrm>
            <a:off x="7145248" y="1759916"/>
            <a:ext cx="1535653" cy="428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C1375-7448-4CF5-BAE6-063FDF7D687F}"/>
              </a:ext>
            </a:extLst>
          </p:cNvPr>
          <p:cNvSpPr txBox="1"/>
          <p:nvPr/>
        </p:nvSpPr>
        <p:spPr>
          <a:xfrm>
            <a:off x="9634133" y="1818245"/>
            <a:ext cx="198323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800" dirty="0">
                <a:highlight>
                  <a:srgbClr val="FFFF00"/>
                </a:highlight>
                <a:latin typeface="Angsana New" panose="02020603050405020304" pitchFamily="18" charset="-34"/>
                <a:cs typeface="Angsana New" panose="02020603050405020304" pitchFamily="18" charset="-34"/>
              </a:rPr>
              <a:t>.เลือก</a:t>
            </a:r>
            <a:r>
              <a:rPr lang="en-US" sz="2800" dirty="0">
                <a:highlight>
                  <a:srgbClr val="FFFF00"/>
                </a:highlight>
                <a:latin typeface="Angsana New" panose="02020603050405020304" pitchFamily="18" charset="-34"/>
                <a:cs typeface="Angsana New" panose="02020603050405020304" pitchFamily="18" charset="-34"/>
              </a:rPr>
              <a:t>INVOICE</a:t>
            </a:r>
            <a:endParaRPr lang="th-TH" sz="2800" dirty="0">
              <a:highlight>
                <a:srgbClr val="FFFF00"/>
              </a:highlight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800" dirty="0">
                <a:highlight>
                  <a:srgbClr val="FFFF00"/>
                </a:highlight>
                <a:latin typeface="Angsana New" panose="02020603050405020304" pitchFamily="18" charset="-34"/>
                <a:cs typeface="Angsana New" panose="02020603050405020304" pitchFamily="18" charset="-34"/>
              </a:rPr>
              <a:t>ในตัวอย่าง </a:t>
            </a:r>
            <a:r>
              <a:rPr lang="en-US" sz="2800" dirty="0">
                <a:highlight>
                  <a:srgbClr val="FFFF00"/>
                </a:highlight>
                <a:latin typeface="Angsana New" panose="02020603050405020304" pitchFamily="18" charset="-34"/>
                <a:cs typeface="Angsana New" panose="02020603050405020304" pitchFamily="18" charset="-34"/>
              </a:rPr>
              <a:t>Invoice</a:t>
            </a:r>
          </a:p>
          <a:p>
            <a:r>
              <a:rPr lang="th-TH" sz="2800" dirty="0">
                <a:highlight>
                  <a:srgbClr val="FFFF00"/>
                </a:highlight>
                <a:latin typeface="Angsana New" panose="02020603050405020304" pitchFamily="18" charset="-34"/>
                <a:cs typeface="Angsana New" panose="02020603050405020304" pitchFamily="18" charset="-34"/>
              </a:rPr>
              <a:t>เลขที่ 10034 </a:t>
            </a:r>
            <a:endParaRPr lang="en-GB" sz="2800" dirty="0">
              <a:highlight>
                <a:srgbClr val="FFFF00"/>
              </a:highligh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F9B8F03-E61B-4920-8387-0299B0378F1A}"/>
              </a:ext>
            </a:extLst>
          </p:cNvPr>
          <p:cNvSpPr/>
          <p:nvPr/>
        </p:nvSpPr>
        <p:spPr>
          <a:xfrm rot="10800000">
            <a:off x="8850924" y="1831920"/>
            <a:ext cx="613186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90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582E17-C569-4288-8F71-A85957CCC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85" y="0"/>
            <a:ext cx="1179543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D23B1F-85D8-4F9F-BEE8-CF711C93919B}"/>
              </a:ext>
            </a:extLst>
          </p:cNvPr>
          <p:cNvSpPr/>
          <p:nvPr/>
        </p:nvSpPr>
        <p:spPr>
          <a:xfrm>
            <a:off x="4832873" y="894379"/>
            <a:ext cx="2632934" cy="4004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4" name="TextBox 3" descr="ใช่เลขที่INN ที่ต้องการwrite off">
            <a:extLst>
              <a:ext uri="{FF2B5EF4-FFF2-40B4-BE49-F238E27FC236}">
                <a16:creationId xmlns:a16="http://schemas.microsoft.com/office/drawing/2014/main" id="{2D16072E-A775-4F71-AAB5-AC265F9520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554130" y="470624"/>
            <a:ext cx="3269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2.</a:t>
            </a:r>
            <a:r>
              <a:rPr lang="th-TH" dirty="0">
                <a:highlight>
                  <a:srgbClr val="FFFF00"/>
                </a:highlight>
              </a:rPr>
              <a:t>ใส่เลขที่</a:t>
            </a:r>
            <a:r>
              <a:rPr lang="en-US" dirty="0">
                <a:highlight>
                  <a:srgbClr val="FFFF00"/>
                </a:highlight>
              </a:rPr>
              <a:t>INVOICE</a:t>
            </a:r>
            <a:r>
              <a:rPr lang="th-TH" dirty="0">
                <a:highlight>
                  <a:srgbClr val="FFFF00"/>
                </a:highlight>
              </a:rPr>
              <a:t> ที่ต้องการ </a:t>
            </a:r>
            <a:r>
              <a:rPr lang="en-US" dirty="0">
                <a:highlight>
                  <a:srgbClr val="FFFF00"/>
                </a:highlight>
              </a:rPr>
              <a:t>write off</a:t>
            </a:r>
            <a:endParaRPr lang="en-GB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4129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1678B0-84D6-4920-BC42-2D813C1F3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5" y="184666"/>
            <a:ext cx="1187624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6F6359-7D08-426F-8535-6135D98D3718}"/>
              </a:ext>
            </a:extLst>
          </p:cNvPr>
          <p:cNvSpPr txBox="1"/>
          <p:nvPr/>
        </p:nvSpPr>
        <p:spPr>
          <a:xfrm>
            <a:off x="6360353" y="463578"/>
            <a:ext cx="478177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dirty="0">
                <a:highlight>
                  <a:srgbClr val="FFFF00"/>
                </a:highlight>
              </a:rPr>
              <a:t>.เลือก</a:t>
            </a:r>
            <a:r>
              <a:rPr lang="en-US" sz="3200" dirty="0">
                <a:highlight>
                  <a:srgbClr val="FFFF00"/>
                </a:highlight>
              </a:rPr>
              <a:t>INVOICE</a:t>
            </a:r>
            <a:endParaRPr lang="th-TH" sz="3200" dirty="0">
              <a:highlight>
                <a:srgbClr val="FFFF00"/>
              </a:highlight>
            </a:endParaRPr>
          </a:p>
          <a:p>
            <a:r>
              <a:rPr lang="th-TH" sz="3200" dirty="0">
                <a:highlight>
                  <a:srgbClr val="FFFF00"/>
                </a:highlight>
              </a:rPr>
              <a:t>ตามตัวอย่าง</a:t>
            </a:r>
            <a:r>
              <a:rPr lang="en-US" sz="3200" dirty="0">
                <a:highlight>
                  <a:srgbClr val="FFFF00"/>
                </a:highlight>
              </a:rPr>
              <a:t> </a:t>
            </a:r>
            <a:r>
              <a:rPr lang="th-TH" sz="3200" dirty="0">
                <a:highlight>
                  <a:srgbClr val="FFFF00"/>
                </a:highlight>
              </a:rPr>
              <a:t>เลขที่ 10034 </a:t>
            </a:r>
          </a:p>
          <a:p>
            <a:r>
              <a:rPr lang="th-TH" sz="3200" dirty="0">
                <a:highlight>
                  <a:srgbClr val="FFFF00"/>
                </a:highlight>
              </a:rPr>
              <a:t>แล้วระบบ จะมาหน้านี้</a:t>
            </a:r>
          </a:p>
          <a:p>
            <a:r>
              <a:rPr lang="th-TH" sz="3200" dirty="0">
                <a:highlight>
                  <a:srgbClr val="FFFF00"/>
                </a:highlight>
              </a:rPr>
              <a:t>ในตัวอย่าง ดูช่อง </a:t>
            </a:r>
            <a:r>
              <a:rPr lang="en-US" sz="3200" dirty="0">
                <a:highlight>
                  <a:srgbClr val="FFFF00"/>
                </a:highlight>
              </a:rPr>
              <a:t>Balance  =0.50</a:t>
            </a:r>
            <a:endParaRPr lang="th-TH" sz="3200" dirty="0">
              <a:highlight>
                <a:srgbClr val="FFFF00"/>
              </a:highlight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B160A2C-FAEF-4B47-9C86-5F0C71595B36}"/>
              </a:ext>
            </a:extLst>
          </p:cNvPr>
          <p:cNvSpPr/>
          <p:nvPr/>
        </p:nvSpPr>
        <p:spPr>
          <a:xfrm rot="10800000">
            <a:off x="6360353" y="3429000"/>
            <a:ext cx="613186" cy="36933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34076-E2E7-4884-9324-3E37F4775228}"/>
              </a:ext>
            </a:extLst>
          </p:cNvPr>
          <p:cNvSpPr/>
          <p:nvPr/>
        </p:nvSpPr>
        <p:spPr>
          <a:xfrm>
            <a:off x="7139656" y="3429000"/>
            <a:ext cx="19992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highlight>
                  <a:srgbClr val="FFFF00"/>
                </a:highlight>
              </a:rPr>
              <a:t>ช่อง </a:t>
            </a:r>
            <a:r>
              <a:rPr lang="en-US" dirty="0">
                <a:highlight>
                  <a:srgbClr val="FFFF00"/>
                </a:highlight>
              </a:rPr>
              <a:t>Balance  =0.50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5BA18-F182-41F4-A26F-CE1EDDF4674E}"/>
              </a:ext>
            </a:extLst>
          </p:cNvPr>
          <p:cNvSpPr/>
          <p:nvPr/>
        </p:nvSpPr>
        <p:spPr>
          <a:xfrm>
            <a:off x="3486446" y="3429000"/>
            <a:ext cx="2707790" cy="3819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000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D23B1F-85D8-4F9F-BEE8-CF711C93919B}"/>
              </a:ext>
            </a:extLst>
          </p:cNvPr>
          <p:cNvSpPr/>
          <p:nvPr/>
        </p:nvSpPr>
        <p:spPr>
          <a:xfrm>
            <a:off x="1046182" y="5583219"/>
            <a:ext cx="2686722" cy="39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A0B87-8BA2-4448-8822-7E6FFB02C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" y="204396"/>
            <a:ext cx="1141106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A61FA5C-9902-4C06-8389-8B03D4465F16}"/>
              </a:ext>
            </a:extLst>
          </p:cNvPr>
          <p:cNvSpPr/>
          <p:nvPr/>
        </p:nvSpPr>
        <p:spPr>
          <a:xfrm>
            <a:off x="949811" y="5580828"/>
            <a:ext cx="2632934" cy="4004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815D053-8C28-4E9D-8C6F-BC746DF5194F}"/>
              </a:ext>
            </a:extLst>
          </p:cNvPr>
          <p:cNvSpPr/>
          <p:nvPr/>
        </p:nvSpPr>
        <p:spPr>
          <a:xfrm rot="10800000">
            <a:off x="6270042" y="5580828"/>
            <a:ext cx="613186" cy="36933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52205-09AA-401D-B665-9E3CEDACE83D}"/>
              </a:ext>
            </a:extLst>
          </p:cNvPr>
          <p:cNvSpPr/>
          <p:nvPr/>
        </p:nvSpPr>
        <p:spPr>
          <a:xfrm>
            <a:off x="6140023" y="3426178"/>
            <a:ext cx="19992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highlight>
                  <a:srgbClr val="FFFF00"/>
                </a:highlight>
              </a:rPr>
              <a:t>ช่อง </a:t>
            </a:r>
            <a:r>
              <a:rPr lang="en-US" dirty="0">
                <a:highlight>
                  <a:srgbClr val="FFFF00"/>
                </a:highlight>
              </a:rPr>
              <a:t>Balance  =0.50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881363-D2E7-47DC-8E8E-DC7102AA2C47}"/>
              </a:ext>
            </a:extLst>
          </p:cNvPr>
          <p:cNvSpPr/>
          <p:nvPr/>
        </p:nvSpPr>
        <p:spPr>
          <a:xfrm>
            <a:off x="7139656" y="5411707"/>
            <a:ext cx="28184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highlight>
                  <a:srgbClr val="FFFF00"/>
                </a:highlight>
              </a:rPr>
              <a:t>แล้วใส่ตัวเลขที่ต้องการ</a:t>
            </a:r>
            <a:r>
              <a:rPr lang="en-US" dirty="0">
                <a:highlight>
                  <a:srgbClr val="FFFF00"/>
                </a:highlight>
              </a:rPr>
              <a:t>write off </a:t>
            </a:r>
            <a:r>
              <a:rPr lang="th-TH" dirty="0">
                <a:highlight>
                  <a:srgbClr val="FFFF00"/>
                </a:highlight>
              </a:rPr>
              <a:t>ที่ช่อง</a:t>
            </a:r>
          </a:p>
          <a:p>
            <a:r>
              <a:rPr lang="en-US" dirty="0">
                <a:highlight>
                  <a:srgbClr val="FFFF00"/>
                </a:highlight>
              </a:rPr>
              <a:t>Adjustment =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-0.50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346BD2-2C0C-4B81-9AE4-7B91DBC8038E}"/>
              </a:ext>
            </a:extLst>
          </p:cNvPr>
          <p:cNvSpPr/>
          <p:nvPr/>
        </p:nvSpPr>
        <p:spPr>
          <a:xfrm>
            <a:off x="4091655" y="799962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h-TH" sz="3200" dirty="0">
                <a:highlight>
                  <a:srgbClr val="FFFF00"/>
                </a:highlight>
              </a:rPr>
              <a:t>ในตัวอย่าง</a:t>
            </a:r>
            <a:r>
              <a:rPr lang="en-US" sz="3200" dirty="0">
                <a:highlight>
                  <a:srgbClr val="FFFF00"/>
                </a:highlight>
              </a:rPr>
              <a:t> </a:t>
            </a:r>
            <a:r>
              <a:rPr lang="th-TH" sz="3200" dirty="0">
                <a:highlight>
                  <a:srgbClr val="FFFF00"/>
                </a:highlight>
              </a:rPr>
              <a:t>จะ </a:t>
            </a:r>
            <a:r>
              <a:rPr lang="en-US" sz="3200" dirty="0">
                <a:highlight>
                  <a:srgbClr val="FFFF00"/>
                </a:highlight>
              </a:rPr>
              <a:t>write off =</a:t>
            </a:r>
            <a:r>
              <a:rPr lang="th-TH" sz="3200" dirty="0">
                <a:highlight>
                  <a:srgbClr val="FFFF00"/>
                </a:highlight>
              </a:rPr>
              <a:t> (</a:t>
            </a:r>
            <a:r>
              <a:rPr lang="en-US" sz="3200" dirty="0">
                <a:highlight>
                  <a:srgbClr val="FFFF00"/>
                </a:highlight>
              </a:rPr>
              <a:t>-0.50</a:t>
            </a:r>
            <a:r>
              <a:rPr lang="th-TH" sz="3200" dirty="0">
                <a:highlight>
                  <a:srgbClr val="FFFF00"/>
                </a:highlight>
              </a:rPr>
              <a:t> )</a:t>
            </a:r>
            <a:endParaRPr lang="en-GB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75563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40F878-1C4F-42CE-9B73-108AF7F3C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59" y="0"/>
            <a:ext cx="1155415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2AEF88-7E00-47C9-B5BC-693E8722F7A8}"/>
              </a:ext>
            </a:extLst>
          </p:cNvPr>
          <p:cNvSpPr txBox="1"/>
          <p:nvPr/>
        </p:nvSpPr>
        <p:spPr>
          <a:xfrm>
            <a:off x="6721597" y="395845"/>
            <a:ext cx="47817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dirty="0">
                <a:highlight>
                  <a:srgbClr val="FFFF00"/>
                </a:highlight>
              </a:rPr>
              <a:t>.เลือก </a:t>
            </a:r>
            <a:r>
              <a:rPr lang="en-US" sz="3200" dirty="0">
                <a:highlight>
                  <a:srgbClr val="FFFF00"/>
                </a:highlight>
              </a:rPr>
              <a:t>GL ACCONUNT </a:t>
            </a:r>
            <a:endParaRPr lang="th-TH" sz="3200" dirty="0">
              <a:highlight>
                <a:srgbClr val="FFFF00"/>
              </a:highlight>
            </a:endParaRPr>
          </a:p>
          <a:p>
            <a:r>
              <a:rPr lang="th-TH" sz="3200" dirty="0">
                <a:highlight>
                  <a:srgbClr val="FFFF00"/>
                </a:highlight>
              </a:rPr>
              <a:t>เรียบร้อยแล้วกด </a:t>
            </a:r>
            <a:r>
              <a:rPr lang="en-US" sz="3200" dirty="0">
                <a:highlight>
                  <a:srgbClr val="FFFF00"/>
                </a:highlight>
              </a:rPr>
              <a:t>ok</a:t>
            </a:r>
            <a:endParaRPr lang="th-TH" sz="3200" dirty="0"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AC647F-FC6F-4850-896C-E94ECC51E1B0}"/>
              </a:ext>
            </a:extLst>
          </p:cNvPr>
          <p:cNvSpPr/>
          <p:nvPr/>
        </p:nvSpPr>
        <p:spPr>
          <a:xfrm>
            <a:off x="3961951" y="5182795"/>
            <a:ext cx="4170829" cy="4219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CF3A45-571D-468D-89C4-88BC35FFAEAE}"/>
              </a:ext>
            </a:extLst>
          </p:cNvPr>
          <p:cNvSpPr/>
          <p:nvPr/>
        </p:nvSpPr>
        <p:spPr>
          <a:xfrm>
            <a:off x="9512898" y="6556785"/>
            <a:ext cx="1320053" cy="3012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699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8A2E41-57F6-481C-8A3A-692D5F3B1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591"/>
            <a:ext cx="12192000" cy="62988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6CC500-9367-43C4-8CEB-2F42027477CE}"/>
              </a:ext>
            </a:extLst>
          </p:cNvPr>
          <p:cNvSpPr txBox="1"/>
          <p:nvPr/>
        </p:nvSpPr>
        <p:spPr>
          <a:xfrm>
            <a:off x="5750753" y="2111756"/>
            <a:ext cx="47817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dirty="0">
                <a:highlight>
                  <a:srgbClr val="FFFF00"/>
                </a:highlight>
              </a:rPr>
              <a:t>เมื่อเลือก </a:t>
            </a:r>
            <a:r>
              <a:rPr lang="en-US" sz="3200" dirty="0">
                <a:highlight>
                  <a:srgbClr val="FFFF00"/>
                </a:highlight>
              </a:rPr>
              <a:t>GL ACCONUNT </a:t>
            </a:r>
            <a:endParaRPr lang="th-TH" sz="3200" dirty="0">
              <a:highlight>
                <a:srgbClr val="FFFF00"/>
              </a:highlight>
            </a:endParaRPr>
          </a:p>
          <a:p>
            <a:r>
              <a:rPr lang="th-TH" sz="3200" dirty="0">
                <a:highlight>
                  <a:srgbClr val="FFFF00"/>
                </a:highlight>
              </a:rPr>
              <a:t>เรียบร้อยแล้วกด บันทึก </a:t>
            </a:r>
          </a:p>
        </p:txBody>
      </p:sp>
    </p:spTree>
    <p:extLst>
      <p:ext uri="{BB962C8B-B14F-4D97-AF65-F5344CB8AC3E}">
        <p14:creationId xmlns:p14="http://schemas.microsoft.com/office/powerpoint/2010/main" val="640059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F67682-61F2-4D42-B519-D7E56DD94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1" y="293511"/>
            <a:ext cx="1196614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613EFD6-6038-40F9-869F-986D2088A0DC}"/>
              </a:ext>
            </a:extLst>
          </p:cNvPr>
          <p:cNvSpPr/>
          <p:nvPr/>
        </p:nvSpPr>
        <p:spPr>
          <a:xfrm>
            <a:off x="6629853" y="899472"/>
            <a:ext cx="4966891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600" dirty="0">
                <a:highlight>
                  <a:srgbClr val="00FFFF"/>
                </a:highlight>
              </a:rPr>
              <a:t>เมื่อใส่ข้อมูลเรียบร้อยแล้ว</a:t>
            </a:r>
          </a:p>
          <a:p>
            <a:r>
              <a:rPr lang="th-TH" sz="3600" dirty="0">
                <a:highlight>
                  <a:srgbClr val="00FFFF"/>
                </a:highlight>
              </a:rPr>
              <a:t>มาเช็ค </a:t>
            </a:r>
            <a:r>
              <a:rPr lang="en-US" sz="3600" dirty="0">
                <a:highlight>
                  <a:srgbClr val="00FFFF"/>
                </a:highlight>
              </a:rPr>
              <a:t>Invoice 10034 </a:t>
            </a:r>
          </a:p>
          <a:p>
            <a:r>
              <a:rPr lang="th-TH" sz="3600" dirty="0">
                <a:highlight>
                  <a:srgbClr val="00FFFF"/>
                </a:highlight>
              </a:rPr>
              <a:t>ช่อง</a:t>
            </a:r>
            <a:r>
              <a:rPr lang="en-US" sz="3600" dirty="0">
                <a:highlight>
                  <a:srgbClr val="00FFFF"/>
                </a:highlight>
              </a:rPr>
              <a:t>Balance </a:t>
            </a:r>
            <a:r>
              <a:rPr lang="th-TH" sz="3600" dirty="0">
                <a:highlight>
                  <a:srgbClr val="00FFFF"/>
                </a:highlight>
              </a:rPr>
              <a:t>จะเป็น </a:t>
            </a:r>
            <a:r>
              <a:rPr lang="th-TH" sz="6600" dirty="0">
                <a:highlight>
                  <a:srgbClr val="00FFFF"/>
                </a:highlight>
              </a:rPr>
              <a:t>0 </a:t>
            </a:r>
            <a:endParaRPr lang="en-GB" sz="6600" dirty="0">
              <a:highlight>
                <a:srgbClr val="00FFFF"/>
              </a:highlight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DD7BE7E-F93F-4205-8AF5-B57DDE8318A0}"/>
              </a:ext>
            </a:extLst>
          </p:cNvPr>
          <p:cNvSpPr/>
          <p:nvPr/>
        </p:nvSpPr>
        <p:spPr>
          <a:xfrm rot="10800000">
            <a:off x="6665713" y="3310513"/>
            <a:ext cx="1624478" cy="51891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DDA161-D245-4D99-8C3E-F084323B3DDF}"/>
              </a:ext>
            </a:extLst>
          </p:cNvPr>
          <p:cNvSpPr/>
          <p:nvPr/>
        </p:nvSpPr>
        <p:spPr>
          <a:xfrm>
            <a:off x="3772033" y="3429000"/>
            <a:ext cx="2632934" cy="4004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103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D463B4-DA28-4368-8FFD-8798021E6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092"/>
            <a:ext cx="12192000" cy="570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1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A3FE57-3338-4DE2-BB42-827B38F8D25D}"/>
              </a:ext>
            </a:extLst>
          </p:cNvPr>
          <p:cNvSpPr txBox="1"/>
          <p:nvPr/>
        </p:nvSpPr>
        <p:spPr>
          <a:xfrm>
            <a:off x="2571077" y="3429000"/>
            <a:ext cx="52742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9600" dirty="0">
                <a:solidFill>
                  <a:srgbClr val="FF66FF"/>
                </a:solidFill>
                <a:highlight>
                  <a:srgbClr val="FFFF00"/>
                </a:highlight>
              </a:rPr>
              <a:t>จบการนำเสนอ </a:t>
            </a:r>
            <a:endParaRPr lang="en-GB" sz="9600" dirty="0">
              <a:solidFill>
                <a:srgbClr val="FF66FF"/>
              </a:solidFill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B000B-72BE-42B0-AFB0-01A91CB84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15" y="421295"/>
            <a:ext cx="7744906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604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510</TotalTime>
  <Words>300</Words>
  <Application>Microsoft Office PowerPoint</Application>
  <PresentationFormat>Widescreen</PresentationFormat>
  <Paragraphs>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Angsana New</vt:lpstr>
      <vt:lpstr>Arial</vt:lpstr>
      <vt:lpstr>Calibri</vt:lpstr>
      <vt:lpstr>IrisUPC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Supranee Chuitchoodet</dc:creator>
  <cp:lastModifiedBy>Supranee Chuitchoodet</cp:lastModifiedBy>
  <cp:revision>26</cp:revision>
  <dcterms:created xsi:type="dcterms:W3CDTF">2024-03-13T04:46:44Z</dcterms:created>
  <dcterms:modified xsi:type="dcterms:W3CDTF">2024-08-13T09:41:40Z</dcterms:modified>
</cp:coreProperties>
</file>