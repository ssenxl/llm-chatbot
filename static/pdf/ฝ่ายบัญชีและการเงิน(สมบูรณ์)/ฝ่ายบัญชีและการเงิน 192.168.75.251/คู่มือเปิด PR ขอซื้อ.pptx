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7" r:id="rId4"/>
    <p:sldId id="259" r:id="rId5"/>
    <p:sldId id="260" r:id="rId6"/>
    <p:sldId id="261" r:id="rId7"/>
    <p:sldId id="278" r:id="rId8"/>
    <p:sldId id="275" r:id="rId9"/>
    <p:sldId id="276" r:id="rId10"/>
    <p:sldId id="262" r:id="rId11"/>
    <p:sldId id="265" r:id="rId12"/>
    <p:sldId id="268" r:id="rId13"/>
    <p:sldId id="269" r:id="rId14"/>
    <p:sldId id="272" r:id="rId15"/>
    <p:sldId id="280" r:id="rId16"/>
    <p:sldId id="281" r:id="rId17"/>
    <p:sldId id="282" r:id="rId18"/>
    <p:sldId id="291" r:id="rId19"/>
    <p:sldId id="296" r:id="rId20"/>
    <p:sldId id="293" r:id="rId21"/>
    <p:sldId id="294" r:id="rId22"/>
    <p:sldId id="295" r:id="rId23"/>
    <p:sldId id="271" r:id="rId24"/>
    <p:sldId id="297" r:id="rId25"/>
    <p:sldId id="298" r:id="rId26"/>
    <p:sldId id="299" r:id="rId27"/>
  </p:sldIdLst>
  <p:sldSz cx="12192000" cy="6858000"/>
  <p:notesSz cx="6797675" cy="9929813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CC66FF"/>
    <a:srgbClr val="3333FF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293" cy="497199"/>
          </a:xfrm>
          <a:prstGeom prst="rect">
            <a:avLst/>
          </a:prstGeom>
        </p:spPr>
        <p:txBody>
          <a:bodyPr vert="horz" lIns="90462" tIns="45231" rIns="90462" bIns="45231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815" y="0"/>
            <a:ext cx="2945293" cy="497199"/>
          </a:xfrm>
          <a:prstGeom prst="rect">
            <a:avLst/>
          </a:prstGeom>
        </p:spPr>
        <p:txBody>
          <a:bodyPr vert="horz" lIns="90462" tIns="45231" rIns="90462" bIns="45231" rtlCol="0"/>
          <a:lstStyle>
            <a:lvl1pPr algn="r">
              <a:defRPr sz="1200"/>
            </a:lvl1pPr>
          </a:lstStyle>
          <a:p>
            <a:fld id="{F42E83AD-0875-444F-8EEA-DC15B06D96F9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462" tIns="45231" rIns="90462" bIns="45231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4" y="4778458"/>
            <a:ext cx="5437827" cy="3909932"/>
          </a:xfrm>
          <a:prstGeom prst="rect">
            <a:avLst/>
          </a:prstGeom>
        </p:spPr>
        <p:txBody>
          <a:bodyPr vert="horz" lIns="90462" tIns="45231" rIns="90462" bIns="452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614"/>
            <a:ext cx="2945293" cy="497199"/>
          </a:xfrm>
          <a:prstGeom prst="rect">
            <a:avLst/>
          </a:prstGeom>
        </p:spPr>
        <p:txBody>
          <a:bodyPr vert="horz" lIns="90462" tIns="45231" rIns="90462" bIns="45231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815" y="9432614"/>
            <a:ext cx="2945293" cy="497199"/>
          </a:xfrm>
          <a:prstGeom prst="rect">
            <a:avLst/>
          </a:prstGeom>
        </p:spPr>
        <p:txBody>
          <a:bodyPr vert="horz" lIns="90462" tIns="45231" rIns="90462" bIns="45231" rtlCol="0" anchor="b"/>
          <a:lstStyle>
            <a:lvl1pPr algn="r">
              <a:defRPr sz="1200"/>
            </a:lvl1pPr>
          </a:lstStyle>
          <a:p>
            <a:fld id="{3B838D7D-56E3-424C-8FC4-4900911C68B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03188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F10-1E69-4C1F-A57A-485FBD76D1E1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9E91-DE34-4E31-92E2-C5C0C7E2B16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375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F10-1E69-4C1F-A57A-485FBD76D1E1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9E91-DE34-4E31-92E2-C5C0C7E2B16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2982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F10-1E69-4C1F-A57A-485FBD76D1E1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9E91-DE34-4E31-92E2-C5C0C7E2B16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7944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F10-1E69-4C1F-A57A-485FBD76D1E1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9E91-DE34-4E31-92E2-C5C0C7E2B16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73226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F10-1E69-4C1F-A57A-485FBD76D1E1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9E91-DE34-4E31-92E2-C5C0C7E2B16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87630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F10-1E69-4C1F-A57A-485FBD76D1E1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9E91-DE34-4E31-92E2-C5C0C7E2B16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1720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F10-1E69-4C1F-A57A-485FBD76D1E1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9E91-DE34-4E31-92E2-C5C0C7E2B16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54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F10-1E69-4C1F-A57A-485FBD76D1E1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9E91-DE34-4E31-92E2-C5C0C7E2B16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5960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F10-1E69-4C1F-A57A-485FBD76D1E1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9E91-DE34-4E31-92E2-C5C0C7E2B16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6872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F10-1E69-4C1F-A57A-485FBD76D1E1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9E91-DE34-4E31-92E2-C5C0C7E2B16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1545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EF10-1E69-4C1F-A57A-485FBD76D1E1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9E91-DE34-4E31-92E2-C5C0C7E2B16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0226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99FF"/>
            </a:gs>
            <a:gs pos="0">
              <a:schemeClr val="bg1"/>
            </a:gs>
            <a:gs pos="100000">
              <a:schemeClr val="bg1"/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9EF10-1E69-4C1F-A57A-485FBD76D1E1}" type="datetimeFigureOut">
              <a:rPr lang="th-TH" smtClean="0"/>
              <a:t>07/08/67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79E91-DE34-4E31-92E2-C5C0C7E2B169}" type="slidenum">
              <a:rPr lang="th-TH" smtClean="0"/>
              <a:t>‹#›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3CC978-27DD-414C-ACCF-A607E8C32E9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35561" y="194545"/>
            <a:ext cx="905602" cy="9056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80FA7E-5274-4874-A2DB-6C4DB2146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1967" t="33395" r="296" b="29786"/>
          <a:stretch/>
        </p:blipFill>
        <p:spPr>
          <a:xfrm>
            <a:off x="9202843" y="112887"/>
            <a:ext cx="2888032" cy="87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4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578" y="1334296"/>
            <a:ext cx="8566253" cy="4975115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29416" y="1789764"/>
            <a:ext cx="7698585" cy="4388074"/>
            <a:chOff x="437882" y="1772831"/>
            <a:chExt cx="7698585" cy="4388074"/>
          </a:xfrm>
        </p:grpSpPr>
        <p:sp>
          <p:nvSpPr>
            <p:cNvPr id="6" name="Rectangle 5"/>
            <p:cNvSpPr/>
            <p:nvPr/>
          </p:nvSpPr>
          <p:spPr>
            <a:xfrm>
              <a:off x="1421444" y="1939722"/>
              <a:ext cx="390422" cy="34627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19914" y="4415627"/>
              <a:ext cx="1558345" cy="36060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19913" y="5069960"/>
              <a:ext cx="1558345" cy="36060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919913" y="5528842"/>
              <a:ext cx="1558345" cy="36060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" name="Up Ribbon 1"/>
            <p:cNvSpPr/>
            <p:nvPr/>
          </p:nvSpPr>
          <p:spPr>
            <a:xfrm>
              <a:off x="437882" y="1993920"/>
              <a:ext cx="850006" cy="422855"/>
            </a:xfrm>
            <a:prstGeom prst="ribbon2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002060"/>
                  </a:solidFill>
                </a:rPr>
                <a:t>1</a:t>
              </a:r>
              <a:endParaRPr lang="th-TH" sz="1400" dirty="0">
                <a:solidFill>
                  <a:srgbClr val="002060"/>
                </a:solidFill>
              </a:endParaRPr>
            </a:p>
          </p:txBody>
        </p:sp>
        <p:sp>
          <p:nvSpPr>
            <p:cNvPr id="10" name="Up Ribbon 9"/>
            <p:cNvSpPr/>
            <p:nvPr/>
          </p:nvSpPr>
          <p:spPr>
            <a:xfrm>
              <a:off x="708815" y="4475094"/>
              <a:ext cx="850006" cy="422855"/>
            </a:xfrm>
            <a:prstGeom prst="ribbon2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" name="Up Ribbon 10"/>
            <p:cNvSpPr/>
            <p:nvPr/>
          </p:nvSpPr>
          <p:spPr>
            <a:xfrm>
              <a:off x="708815" y="5106572"/>
              <a:ext cx="850006" cy="422855"/>
            </a:xfrm>
            <a:prstGeom prst="ribbon2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Up Ribbon 11"/>
            <p:cNvSpPr/>
            <p:nvPr/>
          </p:nvSpPr>
          <p:spPr>
            <a:xfrm>
              <a:off x="708815" y="5738050"/>
              <a:ext cx="850006" cy="422855"/>
            </a:xfrm>
            <a:prstGeom prst="ribbon2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5483418" y="1772831"/>
              <a:ext cx="2653049" cy="1287887"/>
            </a:xfrm>
            <a:prstGeom prst="rect">
              <a:avLst/>
            </a:prstGeom>
            <a:solidFill>
              <a:srgbClr val="CC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h-TH" sz="16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1. เข้า</a:t>
              </a:r>
              <a:r>
                <a:rPr lang="en-US" sz="16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Menu</a:t>
              </a:r>
            </a:p>
            <a:p>
              <a:r>
                <a:rPr lang="en-US" sz="16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</a:t>
              </a:r>
              <a:r>
                <a:rPr lang="th-TH" sz="16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เลือก</a:t>
              </a:r>
              <a:r>
                <a:rPr lang="en-US" sz="16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Material Management</a:t>
              </a:r>
            </a:p>
            <a:p>
              <a:r>
                <a:rPr lang="en-US" sz="16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3. Purchase Management</a:t>
              </a:r>
            </a:p>
            <a:p>
              <a:r>
                <a:rPr lang="en-US" sz="16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4. General Operations</a:t>
              </a: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2"/>
            <a:srcRect l="375" t="12602" r="95402" b="80612"/>
            <a:stretch/>
          </p:blipFill>
          <p:spPr>
            <a:xfrm>
              <a:off x="6281771" y="1786031"/>
              <a:ext cx="446134" cy="4163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836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148" t="1610" r="5556" b="32147"/>
          <a:stretch/>
        </p:blipFill>
        <p:spPr>
          <a:xfrm>
            <a:off x="1194040" y="1779896"/>
            <a:ext cx="9431627" cy="384758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61028" y="4302644"/>
            <a:ext cx="1751526" cy="4378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Up Ribbon 3"/>
          <p:cNvSpPr/>
          <p:nvPr/>
        </p:nvSpPr>
        <p:spPr>
          <a:xfrm>
            <a:off x="2887373" y="3353157"/>
            <a:ext cx="713828" cy="350534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3703690"/>
            <a:ext cx="2653049" cy="682581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5. เลือก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CP Requisition Entry</a:t>
            </a:r>
          </a:p>
        </p:txBody>
      </p:sp>
    </p:spTree>
    <p:extLst>
      <p:ext uri="{BB962C8B-B14F-4D97-AF65-F5344CB8AC3E}">
        <p14:creationId xmlns:p14="http://schemas.microsoft.com/office/powerpoint/2010/main" val="923016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056187" y="1512670"/>
            <a:ext cx="9931128" cy="4729197"/>
            <a:chOff x="528033" y="399243"/>
            <a:chExt cx="9931128" cy="472919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5621" t="5414" r="37834" b="46692"/>
            <a:stretch/>
          </p:blipFill>
          <p:spPr>
            <a:xfrm>
              <a:off x="528033" y="399243"/>
              <a:ext cx="9931128" cy="4729197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28033" y="940157"/>
              <a:ext cx="1854560" cy="8242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Up Ribbon 9"/>
            <p:cNvSpPr/>
            <p:nvPr/>
          </p:nvSpPr>
          <p:spPr>
            <a:xfrm>
              <a:off x="759854" y="399243"/>
              <a:ext cx="850006" cy="422855"/>
            </a:xfrm>
            <a:prstGeom prst="ribbon2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40548" y="399243"/>
              <a:ext cx="2653049" cy="682581"/>
            </a:xfrm>
            <a:prstGeom prst="rect">
              <a:avLst/>
            </a:prstGeom>
            <a:solidFill>
              <a:srgbClr val="CC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h-TH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6. กด         เลือก </a:t>
              </a:r>
              <a:r>
                <a:rPr lang="en-US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New Requisition</a:t>
              </a:r>
            </a:p>
          </p:txBody>
        </p:sp>
        <p:sp>
          <p:nvSpPr>
            <p:cNvPr id="12" name="Isosceles Triangle 11"/>
            <p:cNvSpPr/>
            <p:nvPr/>
          </p:nvSpPr>
          <p:spPr>
            <a:xfrm flipV="1">
              <a:off x="3378623" y="664872"/>
              <a:ext cx="208901" cy="15722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154674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920" t="5589" r="40917" b="42937"/>
          <a:stretch/>
        </p:blipFill>
        <p:spPr>
          <a:xfrm>
            <a:off x="1048986" y="1400617"/>
            <a:ext cx="9135984" cy="497324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93954" y="2006003"/>
            <a:ext cx="651934" cy="6779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4621368" y="3395133"/>
            <a:ext cx="2949263" cy="5001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Up Ribbon 4"/>
          <p:cNvSpPr/>
          <p:nvPr/>
        </p:nvSpPr>
        <p:spPr>
          <a:xfrm>
            <a:off x="1493954" y="277969"/>
            <a:ext cx="850006" cy="422855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25097" y="4411134"/>
            <a:ext cx="3142446" cy="752342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7.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กด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Save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ระบบจะกำหนดเลขที่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Req. ID…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ให้</a:t>
            </a:r>
          </a:p>
        </p:txBody>
      </p:sp>
    </p:spTree>
    <p:extLst>
      <p:ext uri="{BB962C8B-B14F-4D97-AF65-F5344CB8AC3E}">
        <p14:creationId xmlns:p14="http://schemas.microsoft.com/office/powerpoint/2010/main" val="99480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865415" y="1342946"/>
            <a:ext cx="10551707" cy="5456503"/>
            <a:chOff x="865415" y="1342946"/>
            <a:chExt cx="10551707" cy="5456503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l="6216" t="5767" r="41026" b="19643"/>
            <a:stretch/>
          </p:blipFill>
          <p:spPr>
            <a:xfrm>
              <a:off x="865415" y="1342946"/>
              <a:ext cx="6864440" cy="5456503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5383369" y="2671412"/>
              <a:ext cx="2588654" cy="22151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Up Ribbon 3"/>
            <p:cNvSpPr/>
            <p:nvPr/>
          </p:nvSpPr>
          <p:spPr>
            <a:xfrm>
              <a:off x="7547020" y="2459984"/>
              <a:ext cx="850006" cy="422855"/>
            </a:xfrm>
            <a:prstGeom prst="ribbon2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8854226" y="2090789"/>
              <a:ext cx="2562896" cy="580624"/>
            </a:xfrm>
            <a:prstGeom prst="rect">
              <a:avLst/>
            </a:prstGeom>
            <a:solidFill>
              <a:srgbClr val="CC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h-TH" sz="2600" dirty="0">
                  <a:solidFill>
                    <a:schemeClr val="tx1"/>
                  </a:solidFill>
                  <a:cs typeface="+mj-cs"/>
                </a:rPr>
                <a:t>8. ระบุวันที่ขอซื้อ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/>
            <a:srcRect l="17835" t="16417" r="80013" b="81245"/>
            <a:stretch/>
          </p:blipFill>
          <p:spPr>
            <a:xfrm>
              <a:off x="4729462" y="2150771"/>
              <a:ext cx="347344" cy="2121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039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sosceles Triangle 5"/>
          <p:cNvSpPr/>
          <p:nvPr/>
        </p:nvSpPr>
        <p:spPr>
          <a:xfrm flipV="1">
            <a:off x="1352280" y="3297214"/>
            <a:ext cx="309093" cy="2700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8" name="Group 7"/>
          <p:cNvGrpSpPr/>
          <p:nvPr/>
        </p:nvGrpSpPr>
        <p:grpSpPr>
          <a:xfrm>
            <a:off x="1128095" y="1367189"/>
            <a:ext cx="9594192" cy="4055960"/>
            <a:chOff x="1128095" y="1367189"/>
            <a:chExt cx="9594192" cy="405596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l="6116" t="9640" r="39026" b="51262"/>
            <a:stretch/>
          </p:blipFill>
          <p:spPr>
            <a:xfrm>
              <a:off x="1128095" y="1578617"/>
              <a:ext cx="9594192" cy="3844532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1128095" y="1578617"/>
              <a:ext cx="2112135" cy="13265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Up Ribbon 3"/>
            <p:cNvSpPr/>
            <p:nvPr/>
          </p:nvSpPr>
          <p:spPr>
            <a:xfrm>
              <a:off x="2029617" y="1367189"/>
              <a:ext cx="850006" cy="422855"/>
            </a:xfrm>
            <a:prstGeom prst="ribbon2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411431" y="4025603"/>
              <a:ext cx="2575775" cy="811368"/>
            </a:xfrm>
            <a:prstGeom prst="rect">
              <a:avLst/>
            </a:prstGeom>
            <a:solidFill>
              <a:srgbClr val="CC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9.</a:t>
              </a:r>
              <a:r>
                <a:rPr lang="th-TH" sz="24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กด         เลือก </a:t>
              </a:r>
              <a:r>
                <a:rPr lang="en-US" sz="24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New Line</a:t>
              </a: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/>
            <a:srcRect l="17835" t="16417" r="79648" b="81346"/>
            <a:stretch/>
          </p:blipFill>
          <p:spPr>
            <a:xfrm>
              <a:off x="5718605" y="2360147"/>
              <a:ext cx="416663" cy="2223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4891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03" r="42361" b="53979"/>
          <a:stretch/>
        </p:blipFill>
        <p:spPr>
          <a:xfrm>
            <a:off x="1117428" y="1510229"/>
            <a:ext cx="9635239" cy="430637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39333" y="1956941"/>
            <a:ext cx="643467" cy="8116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Up Ribbon 4"/>
          <p:cNvSpPr/>
          <p:nvPr/>
        </p:nvSpPr>
        <p:spPr>
          <a:xfrm>
            <a:off x="1789953" y="1186963"/>
            <a:ext cx="850006" cy="422855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74036" y="4371070"/>
            <a:ext cx="1700012" cy="914400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10. </a:t>
            </a:r>
            <a:r>
              <a: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กด </a:t>
            </a:r>
            <a:r>
              <a:rPr lang="en-US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Save</a:t>
            </a:r>
            <a:endParaRPr lang="th-TH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9594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265670" y="3328110"/>
            <a:ext cx="2818524" cy="16714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Up Ribbon 3"/>
          <p:cNvSpPr/>
          <p:nvPr/>
        </p:nvSpPr>
        <p:spPr>
          <a:xfrm>
            <a:off x="7113703" y="2384423"/>
            <a:ext cx="741502" cy="289374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7696140" y="5637993"/>
            <a:ext cx="3245280" cy="616946"/>
          </a:xfrm>
          <a:prstGeom prst="round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cs typeface="+mj-cs"/>
              </a:rPr>
              <a:t>11</a:t>
            </a:r>
            <a:r>
              <a:rPr lang="th-TH" sz="2000" dirty="0">
                <a:solidFill>
                  <a:schemeClr val="tx1"/>
                </a:solidFill>
                <a:cs typeface="+mj-cs"/>
              </a:rPr>
              <a:t>.ช่อง </a:t>
            </a:r>
            <a:r>
              <a:rPr lang="en-US" sz="2000" dirty="0">
                <a:solidFill>
                  <a:schemeClr val="tx1"/>
                </a:solidFill>
                <a:cs typeface="+mj-cs"/>
              </a:rPr>
              <a:t>Division </a:t>
            </a:r>
            <a:r>
              <a:rPr lang="th-TH" sz="2000" dirty="0">
                <a:solidFill>
                  <a:schemeClr val="tx1"/>
                </a:solidFill>
                <a:cs typeface="+mj-cs"/>
              </a:rPr>
              <a:t>ให้เลือกระบุประเภท </a:t>
            </a:r>
            <a:r>
              <a:rPr lang="en-US" sz="2000" dirty="0">
                <a:solidFill>
                  <a:schemeClr val="tx1"/>
                </a:solidFill>
                <a:cs typeface="+mj-cs"/>
              </a:rPr>
              <a:t>PR</a:t>
            </a:r>
            <a:r>
              <a:rPr lang="th-TH" sz="2000" dirty="0">
                <a:solidFill>
                  <a:schemeClr val="tx1"/>
                </a:solidFill>
                <a:cs typeface="+mj-cs"/>
              </a:rPr>
              <a:t> ที่ต้องการ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 </a:t>
            </a:r>
            <a:endParaRPr lang="th-TH" sz="24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30339" y="2335967"/>
            <a:ext cx="797676" cy="2893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8C4E3-11B8-44E4-A6F9-F2514BB1D4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" t="126" r="3054" b="54020"/>
          <a:stretch/>
        </p:blipFill>
        <p:spPr>
          <a:xfrm>
            <a:off x="1041040" y="1302914"/>
            <a:ext cx="9900380" cy="51158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A611512-3479-46A2-A69F-C2A34A0056F3}"/>
              </a:ext>
            </a:extLst>
          </p:cNvPr>
          <p:cNvSpPr/>
          <p:nvPr/>
        </p:nvSpPr>
        <p:spPr>
          <a:xfrm>
            <a:off x="7113703" y="3658310"/>
            <a:ext cx="3035551" cy="16653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Up Ribbon 3">
            <a:extLst>
              <a:ext uri="{FF2B5EF4-FFF2-40B4-BE49-F238E27FC236}">
                <a16:creationId xmlns:a16="http://schemas.microsoft.com/office/drawing/2014/main" id="{389015CE-02E4-4348-BA9E-F605FB3A3E4F}"/>
              </a:ext>
            </a:extLst>
          </p:cNvPr>
          <p:cNvSpPr/>
          <p:nvPr/>
        </p:nvSpPr>
        <p:spPr>
          <a:xfrm>
            <a:off x="7178763" y="2714623"/>
            <a:ext cx="741502" cy="289374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1" name="Rounded Rectangle 1">
            <a:extLst>
              <a:ext uri="{FF2B5EF4-FFF2-40B4-BE49-F238E27FC236}">
                <a16:creationId xmlns:a16="http://schemas.microsoft.com/office/drawing/2014/main" id="{93A3B64B-6407-4748-9B16-44F2DB4BEFF1}"/>
              </a:ext>
            </a:extLst>
          </p:cNvPr>
          <p:cNvSpPr/>
          <p:nvPr/>
        </p:nvSpPr>
        <p:spPr>
          <a:xfrm>
            <a:off x="7270133" y="5612592"/>
            <a:ext cx="3245280" cy="616946"/>
          </a:xfrm>
          <a:prstGeom prst="round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cs typeface="+mj-cs"/>
              </a:rPr>
              <a:t>11</a:t>
            </a:r>
            <a:r>
              <a:rPr lang="th-TH" sz="2000" dirty="0">
                <a:solidFill>
                  <a:schemeClr val="tx1"/>
                </a:solidFill>
                <a:cs typeface="+mj-cs"/>
              </a:rPr>
              <a:t>.ช่อง </a:t>
            </a:r>
            <a:r>
              <a:rPr lang="en-US" sz="2000" dirty="0">
                <a:solidFill>
                  <a:schemeClr val="tx1"/>
                </a:solidFill>
                <a:cs typeface="+mj-cs"/>
              </a:rPr>
              <a:t>Division </a:t>
            </a:r>
            <a:r>
              <a:rPr lang="th-TH" sz="2000" dirty="0">
                <a:solidFill>
                  <a:schemeClr val="tx1"/>
                </a:solidFill>
                <a:cs typeface="+mj-cs"/>
              </a:rPr>
              <a:t>ให้เลือกระบุประเภท </a:t>
            </a:r>
            <a:r>
              <a:rPr lang="en-US" sz="2000" dirty="0">
                <a:solidFill>
                  <a:schemeClr val="tx1"/>
                </a:solidFill>
                <a:cs typeface="+mj-cs"/>
              </a:rPr>
              <a:t>PR</a:t>
            </a:r>
            <a:r>
              <a:rPr lang="th-TH" sz="2000" dirty="0">
                <a:solidFill>
                  <a:schemeClr val="tx1"/>
                </a:solidFill>
                <a:cs typeface="+mj-cs"/>
              </a:rPr>
              <a:t> ที่ต้องการ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 </a:t>
            </a:r>
            <a:endParaRPr lang="th-TH" sz="24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9D8DDD-F6D6-4AF9-9912-B8D1F4FA6590}"/>
              </a:ext>
            </a:extLst>
          </p:cNvPr>
          <p:cNvSpPr/>
          <p:nvPr/>
        </p:nvSpPr>
        <p:spPr>
          <a:xfrm flipV="1">
            <a:off x="1835458" y="2548467"/>
            <a:ext cx="797676" cy="5418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72337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38200" y="1468012"/>
            <a:ext cx="10515601" cy="5305321"/>
            <a:chOff x="838200" y="1468012"/>
            <a:chExt cx="10515601" cy="530532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/>
            <a:srcRect l="7344" t="2566" r="1084" b="53777"/>
            <a:stretch/>
          </p:blipFill>
          <p:spPr>
            <a:xfrm>
              <a:off x="838200" y="1468012"/>
              <a:ext cx="10515600" cy="4806098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7594295" y="3572933"/>
              <a:ext cx="3759506" cy="181705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Up Ribbon 3"/>
            <p:cNvSpPr/>
            <p:nvPr/>
          </p:nvSpPr>
          <p:spPr>
            <a:xfrm>
              <a:off x="9081434" y="2430349"/>
              <a:ext cx="850006" cy="422855"/>
            </a:xfrm>
            <a:prstGeom prst="ribbon2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295644" y="5498704"/>
              <a:ext cx="3888823" cy="1274629"/>
            </a:xfrm>
            <a:prstGeom prst="roundRect">
              <a:avLst/>
            </a:prstGeom>
            <a:solidFill>
              <a:srgbClr val="CC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12</a:t>
              </a:r>
              <a:r>
                <a:rPr lang="th-TH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.</a:t>
              </a:r>
            </a:p>
            <a:p>
              <a:r>
                <a:rPr lang="th-TH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- หัวข้อ </a:t>
              </a:r>
              <a:r>
                <a:rPr lang="en-US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Department </a:t>
              </a:r>
              <a:r>
                <a:rPr lang="th-TH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ให้เลือกแผนกของผู้ที่เปิดซื้อ</a:t>
              </a:r>
            </a:p>
            <a:p>
              <a:r>
                <a:rPr lang="th-TH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- หัวข้อ</a:t>
              </a:r>
              <a:r>
                <a:rPr lang="en-US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Material Type </a:t>
              </a:r>
              <a:r>
                <a:rPr lang="th-TH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เลือกประเภท</a:t>
              </a:r>
              <a:r>
                <a:rPr lang="en-US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PR</a:t>
              </a:r>
            </a:p>
            <a:p>
              <a:r>
                <a:rPr lang="th-TH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- หัวข้อ</a:t>
              </a:r>
              <a:r>
                <a:rPr lang="en-US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Shipping Point : </a:t>
              </a:r>
              <a:r>
                <a:rPr lang="th-TH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เลือกสถานที่จัดส่ง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2597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52292" y="3953814"/>
            <a:ext cx="2073500" cy="7856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-295" r="21953" b="38485"/>
          <a:stretch/>
        </p:blipFill>
        <p:spPr>
          <a:xfrm>
            <a:off x="1318446" y="1303384"/>
            <a:ext cx="9290288" cy="53008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91771" y="2357815"/>
            <a:ext cx="663992" cy="3493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2453691" y="4735573"/>
            <a:ext cx="1441550" cy="5238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Up Ribbon 7"/>
          <p:cNvSpPr/>
          <p:nvPr/>
        </p:nvSpPr>
        <p:spPr>
          <a:xfrm>
            <a:off x="1608132" y="4346619"/>
            <a:ext cx="834427" cy="306671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" name="Rectangle 1"/>
          <p:cNvSpPr/>
          <p:nvPr/>
        </p:nvSpPr>
        <p:spPr>
          <a:xfrm>
            <a:off x="7168883" y="2267069"/>
            <a:ext cx="1814251" cy="670863"/>
          </a:xfrm>
          <a:prstGeom prst="rect">
            <a:avLst/>
          </a:prstGeom>
          <a:solidFill>
            <a:srgbClr val="CCFF99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13.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หัวข้อ 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Part/ Due Date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  กดเลือกแถบ 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Part/ Rev…</a:t>
            </a:r>
          </a:p>
        </p:txBody>
      </p:sp>
    </p:spTree>
    <p:extLst>
      <p:ext uri="{BB962C8B-B14F-4D97-AF65-F5344CB8AC3E}">
        <p14:creationId xmlns:p14="http://schemas.microsoft.com/office/powerpoint/2010/main" val="4209785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3125" r="18917" b="14972"/>
          <a:stretch/>
        </p:blipFill>
        <p:spPr>
          <a:xfrm>
            <a:off x="1395236" y="1357606"/>
            <a:ext cx="8983133" cy="51016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93982" y="4384108"/>
            <a:ext cx="2681960" cy="8528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8783662" y="4387265"/>
            <a:ext cx="1186987" cy="2807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Up Ribbon 7"/>
          <p:cNvSpPr/>
          <p:nvPr/>
        </p:nvSpPr>
        <p:spPr>
          <a:xfrm>
            <a:off x="6394861" y="3775386"/>
            <a:ext cx="764380" cy="362492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" name="Rectangle 1"/>
          <p:cNvSpPr/>
          <p:nvPr/>
        </p:nvSpPr>
        <p:spPr>
          <a:xfrm>
            <a:off x="7159241" y="5274521"/>
            <a:ext cx="3637523" cy="987412"/>
          </a:xfrm>
          <a:prstGeom prst="rect">
            <a:avLst/>
          </a:prstGeom>
          <a:solidFill>
            <a:srgbClr val="CCFF99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  <a:cs typeface="+mj-cs"/>
              </a:rPr>
              <a:t>14.</a:t>
            </a:r>
            <a:r>
              <a:rPr lang="th-TH" sz="2200" dirty="0">
                <a:solidFill>
                  <a:schemeClr val="tx1"/>
                </a:solidFill>
                <a:cs typeface="+mj-cs"/>
              </a:rPr>
              <a:t>เลือกวิธีการหา </a:t>
            </a:r>
            <a:r>
              <a:rPr lang="en-US" sz="2200" dirty="0">
                <a:solidFill>
                  <a:schemeClr val="tx1"/>
                </a:solidFill>
                <a:cs typeface="+mj-cs"/>
              </a:rPr>
              <a:t>Part</a:t>
            </a:r>
            <a:r>
              <a:rPr lang="th-TH" sz="2200" dirty="0">
                <a:solidFill>
                  <a:schemeClr val="tx1"/>
                </a:solidFill>
                <a:cs typeface="+mj-cs"/>
              </a:rPr>
              <a:t> ว่าจะค้นหาแบบไหน เสร็จแล้วกด </a:t>
            </a:r>
            <a:r>
              <a:rPr lang="en-US" sz="2200" dirty="0">
                <a:solidFill>
                  <a:schemeClr val="tx1"/>
                </a:solidFill>
                <a:cs typeface="+mj-cs"/>
              </a:rPr>
              <a:t>Search</a:t>
            </a:r>
            <a:endParaRPr lang="th-TH" sz="2200" dirty="0">
              <a:solidFill>
                <a:schemeClr val="tx1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83571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4249" t="12303" r="21014" b="14972"/>
          <a:stretch/>
        </p:blipFill>
        <p:spPr>
          <a:xfrm>
            <a:off x="1447669" y="1336990"/>
            <a:ext cx="5753797" cy="52587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65399" y="2556933"/>
            <a:ext cx="2836333" cy="10737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1408685" y="4981091"/>
            <a:ext cx="5831763" cy="2642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1369703" y="5874745"/>
            <a:ext cx="1291989" cy="4230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Up Ribbon 7"/>
          <p:cNvSpPr/>
          <p:nvPr/>
        </p:nvSpPr>
        <p:spPr>
          <a:xfrm>
            <a:off x="768935" y="3704085"/>
            <a:ext cx="800557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" name="Rectangle 1"/>
          <p:cNvSpPr/>
          <p:nvPr/>
        </p:nvSpPr>
        <p:spPr>
          <a:xfrm>
            <a:off x="7462041" y="2906259"/>
            <a:ext cx="3528811" cy="991674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cs typeface="+mj-cs"/>
              </a:rPr>
              <a:t>15.</a:t>
            </a:r>
            <a:r>
              <a:rPr lang="th-TH" sz="2400" dirty="0">
                <a:solidFill>
                  <a:schemeClr val="tx1"/>
                </a:solidFill>
                <a:cs typeface="+mj-cs"/>
              </a:rPr>
              <a:t> เลือกรายการที่ต้องการแล้วกด 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OK</a:t>
            </a:r>
            <a:endParaRPr lang="th-TH" sz="2400" dirty="0">
              <a:solidFill>
                <a:schemeClr val="tx1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88928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101754" y="4367283"/>
            <a:ext cx="1583141" cy="354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r="15246" b="37547"/>
          <a:stretch/>
        </p:blipFill>
        <p:spPr>
          <a:xfrm>
            <a:off x="539472" y="1531077"/>
            <a:ext cx="11398139" cy="472212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378751" y="5671150"/>
            <a:ext cx="1774211" cy="2593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 11"/>
          <p:cNvSpPr/>
          <p:nvPr/>
        </p:nvSpPr>
        <p:spPr>
          <a:xfrm>
            <a:off x="5936016" y="4722125"/>
            <a:ext cx="2235960" cy="2593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Rectangle 12"/>
          <p:cNvSpPr/>
          <p:nvPr/>
        </p:nvSpPr>
        <p:spPr>
          <a:xfrm>
            <a:off x="8561419" y="5070650"/>
            <a:ext cx="2602176" cy="3411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Rectangle 13"/>
          <p:cNvSpPr/>
          <p:nvPr/>
        </p:nvSpPr>
        <p:spPr>
          <a:xfrm>
            <a:off x="382136" y="477673"/>
            <a:ext cx="395785" cy="4367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Up Ribbon 8"/>
          <p:cNvSpPr/>
          <p:nvPr/>
        </p:nvSpPr>
        <p:spPr>
          <a:xfrm>
            <a:off x="5135459" y="4219939"/>
            <a:ext cx="800557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2" name="Rectangle 1"/>
          <p:cNvSpPr/>
          <p:nvPr/>
        </p:nvSpPr>
        <p:spPr>
          <a:xfrm>
            <a:off x="8561419" y="1766483"/>
            <a:ext cx="3439505" cy="1520209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16. 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 ช่อง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Our Qty. :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ใส่จำนวนที่ต้องการ</a:t>
            </a:r>
          </a:p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 ช่อง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Warehouse :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เลือกคลังของแผนกที่ขอซื้อ</a:t>
            </a:r>
          </a:p>
          <a:p>
            <a:pPr marL="342900" indent="-342900">
              <a:buFontTx/>
              <a:buChar char="-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ช่อง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Due Date :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ใส่วันที่ที่ต้องการ </a:t>
            </a:r>
          </a:p>
          <a:p>
            <a:r>
              <a:rPr lang="th-TH" sz="2000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เสร็จแล้วกด </a:t>
            </a:r>
            <a:r>
              <a:rPr lang="en-US" sz="2000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2480537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23917" y="1295401"/>
            <a:ext cx="9815016" cy="5202477"/>
            <a:chOff x="395784" y="436729"/>
            <a:chExt cx="10904562" cy="622201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/>
            <a:srcRect l="106" t="-18" r="39257" b="38479"/>
            <a:stretch/>
          </p:blipFill>
          <p:spPr>
            <a:xfrm>
              <a:off x="395784" y="436729"/>
              <a:ext cx="10904562" cy="6222015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95784" y="696035"/>
              <a:ext cx="1119117" cy="132383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Up Ribbon 3"/>
            <p:cNvSpPr/>
            <p:nvPr/>
          </p:nvSpPr>
          <p:spPr>
            <a:xfrm>
              <a:off x="1514900" y="801260"/>
              <a:ext cx="915083" cy="424812"/>
            </a:xfrm>
            <a:prstGeom prst="ribbon2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2" name="Rectangle 1"/>
            <p:cNvSpPr/>
            <p:nvPr/>
          </p:nvSpPr>
          <p:spPr>
            <a:xfrm>
              <a:off x="4275786" y="1226072"/>
              <a:ext cx="4945487" cy="989094"/>
            </a:xfrm>
            <a:prstGeom prst="rect">
              <a:avLst/>
            </a:prstGeom>
            <a:solidFill>
              <a:srgbClr val="CC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17.</a:t>
              </a:r>
              <a:r>
                <a:rPr lang="th-TH" sz="24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หากมีการขอซื้อมากกว่า 1 รายการ ให้กดเลือก       แล้วกดเลือก </a:t>
              </a:r>
              <a:r>
                <a:rPr lang="en-US" sz="24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New Line</a:t>
              </a:r>
              <a:endPara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3" name="Isosceles Triangle 2"/>
            <p:cNvSpPr/>
            <p:nvPr/>
          </p:nvSpPr>
          <p:spPr>
            <a:xfrm flipV="1">
              <a:off x="8915394" y="1437977"/>
              <a:ext cx="206062" cy="16954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367799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326" r="27626" b="41226"/>
          <a:stretch/>
        </p:blipFill>
        <p:spPr>
          <a:xfrm>
            <a:off x="768826" y="1219326"/>
            <a:ext cx="9416574" cy="42755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54541" y="2367819"/>
            <a:ext cx="3043381" cy="12282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8920362" y="2472267"/>
            <a:ext cx="1135038" cy="3209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7379962" y="4666137"/>
            <a:ext cx="3680475" cy="1056067"/>
          </a:xfrm>
          <a:prstGeom prst="rect">
            <a:avLst/>
          </a:prstGeom>
          <a:solidFill>
            <a:srgbClr val="CCFF99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  <a:cs typeface="+mj-cs"/>
              </a:rPr>
              <a:t>18.</a:t>
            </a:r>
            <a:r>
              <a:rPr lang="th-TH" sz="2200" dirty="0">
                <a:solidFill>
                  <a:schemeClr val="tx1"/>
                </a:solidFill>
                <a:cs typeface="+mj-cs"/>
              </a:rPr>
              <a:t> เลือกวิธีการหา </a:t>
            </a:r>
            <a:r>
              <a:rPr lang="en-US" sz="2200" dirty="0">
                <a:solidFill>
                  <a:schemeClr val="tx1"/>
                </a:solidFill>
                <a:cs typeface="+mj-cs"/>
              </a:rPr>
              <a:t>Part</a:t>
            </a:r>
            <a:r>
              <a:rPr lang="th-TH" sz="2200" dirty="0">
                <a:solidFill>
                  <a:schemeClr val="tx1"/>
                </a:solidFill>
                <a:cs typeface="+mj-cs"/>
              </a:rPr>
              <a:t> ว่าจะค้นหาแบบไหน เสร็จแล้วกด </a:t>
            </a:r>
            <a:r>
              <a:rPr lang="en-US" sz="2200" dirty="0">
                <a:solidFill>
                  <a:schemeClr val="tx1"/>
                </a:solidFill>
                <a:cs typeface="+mj-cs"/>
              </a:rPr>
              <a:t>Search</a:t>
            </a:r>
            <a:endParaRPr lang="th-TH" sz="22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9" name="Up Ribbon 8"/>
          <p:cNvSpPr/>
          <p:nvPr/>
        </p:nvSpPr>
        <p:spPr>
          <a:xfrm>
            <a:off x="8122721" y="910102"/>
            <a:ext cx="800557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394841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06" t="-47" r="23007" b="23554"/>
          <a:stretch/>
        </p:blipFill>
        <p:spPr>
          <a:xfrm>
            <a:off x="1498096" y="1293339"/>
            <a:ext cx="9328826" cy="52180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40487" y="2463010"/>
            <a:ext cx="3528811" cy="9916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4901820" y="4955271"/>
            <a:ext cx="5390615" cy="2545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5122332" y="5778334"/>
            <a:ext cx="532389" cy="3263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7884613" y="3764569"/>
            <a:ext cx="3528811" cy="991674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cs typeface="+mj-cs"/>
              </a:rPr>
              <a:t>19.</a:t>
            </a:r>
            <a:r>
              <a:rPr lang="th-TH" sz="2400" dirty="0">
                <a:solidFill>
                  <a:schemeClr val="tx1"/>
                </a:solidFill>
                <a:cs typeface="+mj-cs"/>
              </a:rPr>
              <a:t> เลือกรายการที่ต้องการแล้วกด 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OK</a:t>
            </a:r>
            <a:endParaRPr lang="th-TH" sz="24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9" name="Up Ribbon 8"/>
          <p:cNvSpPr/>
          <p:nvPr/>
        </p:nvSpPr>
        <p:spPr>
          <a:xfrm>
            <a:off x="6231758" y="3764569"/>
            <a:ext cx="800557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85605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-233" r="3393" b="38293"/>
          <a:stretch/>
        </p:blipFill>
        <p:spPr>
          <a:xfrm>
            <a:off x="1112708" y="1508056"/>
            <a:ext cx="9548468" cy="48795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94424" y="5808888"/>
            <a:ext cx="1840174" cy="3821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6962737" y="5158876"/>
            <a:ext cx="2247332" cy="3821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4890953" y="4776740"/>
            <a:ext cx="1840174" cy="3821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7259070" y="2016836"/>
            <a:ext cx="4280209" cy="1931018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20. </a:t>
            </a:r>
            <a:endParaRPr lang="th-TH" sz="24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 ช่อง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Our Qty. :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ใส่จำนวนที่ต้องการ</a:t>
            </a:r>
          </a:p>
          <a:p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 ช่อง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Warehouse :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เลือกคลังของแผนกที่ขอซื้อ</a:t>
            </a:r>
          </a:p>
          <a:p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 ช่อง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Due Date :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ใส่วันที่ที่ต้องการ </a:t>
            </a:r>
          </a:p>
          <a:p>
            <a:r>
              <a:rPr lang="th-TH" sz="2400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เสร็จแล้วกด </a:t>
            </a:r>
            <a:r>
              <a:rPr lang="en-US" sz="2400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Save</a:t>
            </a:r>
          </a:p>
        </p:txBody>
      </p:sp>
      <p:sp>
        <p:nvSpPr>
          <p:cNvPr id="7" name="Up Ribbon 6"/>
          <p:cNvSpPr/>
          <p:nvPr/>
        </p:nvSpPr>
        <p:spPr>
          <a:xfrm>
            <a:off x="4423460" y="3560158"/>
            <a:ext cx="800557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1303866" y="1788236"/>
            <a:ext cx="226957" cy="4723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20031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015" t="9375" r="36006" b="61019"/>
          <a:stretch/>
        </p:blipFill>
        <p:spPr>
          <a:xfrm>
            <a:off x="252662" y="1788249"/>
            <a:ext cx="11357611" cy="326055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2494" y="2738744"/>
            <a:ext cx="1227221" cy="5053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3665620" y="3418528"/>
            <a:ext cx="2783306" cy="5053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794085" y="2052944"/>
            <a:ext cx="409074" cy="4892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Up Ribbon 5"/>
          <p:cNvSpPr/>
          <p:nvPr/>
        </p:nvSpPr>
        <p:spPr>
          <a:xfrm>
            <a:off x="7153781" y="2542226"/>
            <a:ext cx="800557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53781" y="3244071"/>
            <a:ext cx="4359932" cy="1322372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21.</a:t>
            </a:r>
            <a:r>
              <a: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แถบเมนู </a:t>
            </a:r>
            <a:r>
              <a:rPr lang="en-US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Comments</a:t>
            </a:r>
            <a:r>
              <a: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สามารถระบุเพิ่มเติมหมายเหตุที่ต้องการได้ </a:t>
            </a:r>
          </a:p>
          <a:p>
            <a:r>
              <a:rPr lang="th-TH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เสร็จแล้วกด </a:t>
            </a:r>
            <a:r>
              <a:rPr lang="en-US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Save</a:t>
            </a:r>
            <a:endParaRPr lang="th-TH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83346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195" y="1422402"/>
            <a:ext cx="5562601" cy="440266"/>
          </a:xfrm>
        </p:spPr>
        <p:txBody>
          <a:bodyPr/>
          <a:lstStyle/>
          <a:p>
            <a:r>
              <a:rPr lang="th-TH" sz="4000" dirty="0">
                <a:solidFill>
                  <a:srgbClr val="3333FF"/>
                </a:solidFill>
              </a:rPr>
              <a:t>ขั้นตอนการส่ง </a:t>
            </a:r>
            <a:r>
              <a:rPr lang="en-US" sz="4000" dirty="0">
                <a:solidFill>
                  <a:srgbClr val="3333FF"/>
                </a:solidFill>
              </a:rPr>
              <a:t>PR</a:t>
            </a:r>
            <a:r>
              <a:rPr lang="th-TH" sz="4000" dirty="0">
                <a:solidFill>
                  <a:srgbClr val="3333FF"/>
                </a:solidFill>
              </a:rPr>
              <a:t> ให้ผู้จัดการอนุมัติ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385" t="5711" r="32118" b="56570"/>
          <a:stretch/>
        </p:blipFill>
        <p:spPr>
          <a:xfrm>
            <a:off x="601133" y="1775055"/>
            <a:ext cx="11057467" cy="38129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01644" y="3826795"/>
            <a:ext cx="4357408" cy="671885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22.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เลือกแถบเมนู           (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Dispatch Requisition)</a:t>
            </a:r>
            <a:endParaRPr lang="th-TH" sz="24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2808" y="2355161"/>
            <a:ext cx="641481" cy="4744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7" name="Up Ribbon 6"/>
          <p:cNvSpPr/>
          <p:nvPr/>
        </p:nvSpPr>
        <p:spPr>
          <a:xfrm>
            <a:off x="7554083" y="3076950"/>
            <a:ext cx="926265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22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32054" t="11804" r="65612" b="84664"/>
          <a:stretch/>
        </p:blipFill>
        <p:spPr>
          <a:xfrm>
            <a:off x="7863994" y="3954296"/>
            <a:ext cx="44767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66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107" t="5757" r="32030" b="8389"/>
          <a:stretch/>
        </p:blipFill>
        <p:spPr>
          <a:xfrm>
            <a:off x="645311" y="1262440"/>
            <a:ext cx="6652170" cy="51904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736781" y="4910668"/>
            <a:ext cx="2579966" cy="279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5264345" y="6110926"/>
            <a:ext cx="425255" cy="2854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7676602" y="1591733"/>
            <a:ext cx="3736466" cy="1342855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23.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pPr marL="342900" indent="-342900">
              <a:buFontTx/>
              <a:buChar char="-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หัวข้อ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Action :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เลือกว่าจะส่งให้ใครเป็นผู้อนุมัติ</a:t>
            </a:r>
          </a:p>
          <a:p>
            <a:pPr marL="342900" indent="-342900">
              <a:buFontTx/>
              <a:buChar char="-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หัวข้อ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Dispatcher :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เลือกชื่อผู้ต้องการส่งอนุมัติ</a:t>
            </a:r>
          </a:p>
          <a:p>
            <a:r>
              <a:rPr lang="th-TH" sz="2000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เสร็จแล้วกด </a:t>
            </a:r>
            <a:r>
              <a:rPr lang="en-US" sz="2000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OK</a:t>
            </a:r>
            <a:endParaRPr lang="th-TH" sz="2000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" name="Up Ribbon 5"/>
          <p:cNvSpPr/>
          <p:nvPr/>
        </p:nvSpPr>
        <p:spPr>
          <a:xfrm>
            <a:off x="5986546" y="4127048"/>
            <a:ext cx="926265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584085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923" t="6034" r="11572" b="47533"/>
          <a:stretch/>
        </p:blipFill>
        <p:spPr>
          <a:xfrm>
            <a:off x="276726" y="1414732"/>
            <a:ext cx="11256791" cy="46705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50186" y="4011283"/>
            <a:ext cx="3318101" cy="19375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2454443" y="1874253"/>
            <a:ext cx="409074" cy="4692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1063911" y="5352853"/>
            <a:ext cx="4515399" cy="1191974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24.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เมื่อส่งให้ผู้จัดการอนุมัติแล้วในช่อง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Status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จะแสดงสถานะ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Pending</a:t>
            </a:r>
          </a:p>
        </p:txBody>
      </p:sp>
      <p:sp>
        <p:nvSpPr>
          <p:cNvPr id="6" name="Up Ribbon 5"/>
          <p:cNvSpPr/>
          <p:nvPr/>
        </p:nvSpPr>
        <p:spPr>
          <a:xfrm>
            <a:off x="5579310" y="4497659"/>
            <a:ext cx="926265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7" name="Up Ribbon 6"/>
          <p:cNvSpPr/>
          <p:nvPr/>
        </p:nvSpPr>
        <p:spPr>
          <a:xfrm>
            <a:off x="2863516" y="1538737"/>
            <a:ext cx="926265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627885" y="1874253"/>
            <a:ext cx="4515399" cy="774056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25.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เมื่อต้องการสั่งพิมพ์ให้เลือกที่แถบเมนู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1978" t="12202" r="75018" b="84768"/>
          <a:stretch/>
        </p:blipFill>
        <p:spPr>
          <a:xfrm>
            <a:off x="8164795" y="2027876"/>
            <a:ext cx="576418" cy="42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45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073" t="3783" r="1421" b="37171"/>
          <a:stretch/>
        </p:blipFill>
        <p:spPr>
          <a:xfrm>
            <a:off x="348916" y="1753046"/>
            <a:ext cx="11542738" cy="405464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804358" y="1933519"/>
            <a:ext cx="786628" cy="4692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6256421" y="4399993"/>
            <a:ext cx="1900989" cy="4692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Up Ribbon 4"/>
          <p:cNvSpPr/>
          <p:nvPr/>
        </p:nvSpPr>
        <p:spPr>
          <a:xfrm>
            <a:off x="9663003" y="2015054"/>
            <a:ext cx="926265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619741" y="2566276"/>
            <a:ext cx="5061397" cy="1363637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26.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เมื่อต้องการดูตัวอย่างเอกสารให้เลือก          และหากต้องการพิมพ์เอกสารสามารถเลือกเมนู            แล้วกด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Print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นำไปส่งผู้จัดการเซ็นอนุมัติ</a:t>
            </a:r>
            <a:endParaRPr lang="en-US" sz="24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90208" t="6659" r="7084" b="87991"/>
          <a:stretch/>
        </p:blipFill>
        <p:spPr>
          <a:xfrm>
            <a:off x="9988761" y="2566276"/>
            <a:ext cx="359592" cy="3863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92823" t="6659" r="4205" b="87998"/>
          <a:stretch/>
        </p:blipFill>
        <p:spPr>
          <a:xfrm>
            <a:off x="9941299" y="3114368"/>
            <a:ext cx="363071" cy="36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46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3307" t="23685" r="21858" b="16448"/>
          <a:stretch/>
        </p:blipFill>
        <p:spPr>
          <a:xfrm>
            <a:off x="1244600" y="1278751"/>
            <a:ext cx="9998244" cy="536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54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77" t="483" r="29741" b="7967"/>
          <a:stretch/>
        </p:blipFill>
        <p:spPr>
          <a:xfrm>
            <a:off x="309092" y="160987"/>
            <a:ext cx="9105364" cy="66970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32587" y="528034"/>
            <a:ext cx="283334" cy="2575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3580327" y="785611"/>
            <a:ext cx="978794" cy="309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2277415" y="6548906"/>
            <a:ext cx="978794" cy="309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6181860" y="1094704"/>
            <a:ext cx="4649272" cy="1159099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27. หากต้องการแนบตัวอย่างรูปหรือข้อมูลของสิ่งที่ต้องการขอซื้อ - เลือกแถบเมนู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Attachments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 เลือก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New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</p:txBody>
      </p:sp>
      <p:sp>
        <p:nvSpPr>
          <p:cNvPr id="10" name="Up Ribbon 9"/>
          <p:cNvSpPr/>
          <p:nvPr/>
        </p:nvSpPr>
        <p:spPr>
          <a:xfrm>
            <a:off x="2113151" y="269126"/>
            <a:ext cx="926265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978446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9" t="2948" r="21989" b="58249"/>
          <a:stretch/>
        </p:blipFill>
        <p:spPr>
          <a:xfrm>
            <a:off x="117488" y="1441839"/>
            <a:ext cx="11854379" cy="33184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78817" y="2895006"/>
            <a:ext cx="3387144" cy="412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9620518" y="3837308"/>
            <a:ext cx="1086118" cy="386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Up Ribbon 6"/>
          <p:cNvSpPr/>
          <p:nvPr/>
        </p:nvSpPr>
        <p:spPr>
          <a:xfrm>
            <a:off x="5307112" y="2213240"/>
            <a:ext cx="926265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8" name="Up Ribbon 7"/>
          <p:cNvSpPr/>
          <p:nvPr/>
        </p:nvSpPr>
        <p:spPr>
          <a:xfrm>
            <a:off x="9433493" y="2600936"/>
            <a:ext cx="926265" cy="387696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908741" y="4760298"/>
            <a:ext cx="4649272" cy="1159099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28. 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Doc Type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เป็น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 Document</a:t>
            </a:r>
          </a:p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29.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กดเลือก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Browse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เพื่อแนบข้อมูล, รูปภาพ หรือสื่งที่ต้องการ เสร็จแล้วกด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OK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72918" y="3196177"/>
            <a:ext cx="1403797" cy="3992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63778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8751" b="7966"/>
          <a:stretch/>
        </p:blipFill>
        <p:spPr>
          <a:xfrm>
            <a:off x="1447607" y="1315077"/>
            <a:ext cx="8729327" cy="49140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02170" y="2711287"/>
            <a:ext cx="6330255" cy="4598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5161488" y="6064844"/>
            <a:ext cx="956294" cy="1664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Up Ribbon 4"/>
          <p:cNvSpPr/>
          <p:nvPr/>
        </p:nvSpPr>
        <p:spPr>
          <a:xfrm>
            <a:off x="5249333" y="3750733"/>
            <a:ext cx="780604" cy="297663"/>
          </a:xfrm>
          <a:prstGeom prst="ribbon2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830316" y="4131733"/>
            <a:ext cx="3821683" cy="969672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30.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เมื่อกด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OK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แล้ว จะแสดงข้อมูลส่วนที่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Attachments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และสามารถเปิดดูตัวอย่างได้โดยกดเลือกแถบเมนู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29261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471</Words>
  <Application>Microsoft Office PowerPoint</Application>
  <PresentationFormat>Widescreen</PresentationFormat>
  <Paragraphs>80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Angsana New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ขั้นตอนการส่ง PR ให้ผู้จัดการอนุมัติ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ACC-4</dc:creator>
  <cp:lastModifiedBy>Tanida Chorthongdee</cp:lastModifiedBy>
  <cp:revision>80</cp:revision>
  <cp:lastPrinted>2024-08-03T06:25:34Z</cp:lastPrinted>
  <dcterms:created xsi:type="dcterms:W3CDTF">2024-03-23T10:54:10Z</dcterms:created>
  <dcterms:modified xsi:type="dcterms:W3CDTF">2024-08-07T07:49:21Z</dcterms:modified>
</cp:coreProperties>
</file>