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4" r:id="rId3"/>
    <p:sldId id="265" r:id="rId4"/>
    <p:sldId id="270" r:id="rId5"/>
    <p:sldId id="268" r:id="rId6"/>
    <p:sldId id="269" r:id="rId7"/>
    <p:sldId id="271" r:id="rId8"/>
    <p:sldId id="272" r:id="rId9"/>
    <p:sldId id="275" r:id="rId10"/>
    <p:sldId id="278" r:id="rId11"/>
    <p:sldId id="279" r:id="rId1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99FF"/>
    <a:srgbClr val="3399FF"/>
    <a:srgbClr val="0033CC"/>
    <a:srgbClr val="66CCFF"/>
    <a:srgbClr val="99FF99"/>
    <a:srgbClr val="99FF66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64" autoAdjust="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59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9524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60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8937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611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80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7434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2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546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35846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288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107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3989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272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69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207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7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92611A-3D1F-4DB3-89DD-38829E8AACCD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180A88-4616-4AAC-8E82-D9CDA61A040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4591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45219" y="2933676"/>
            <a:ext cx="7306551" cy="2123658"/>
          </a:xfrm>
          <a:prstGeom prst="rect">
            <a:avLst/>
          </a:prstGeom>
          <a:noFill/>
        </p:spPr>
        <p:txBody>
          <a:bodyPr wrap="none" rtlCol="0">
            <a:prstTxWarp prst="textButton">
              <a:avLst/>
            </a:prstTxWarp>
            <a:spAutoFit/>
          </a:bodyPr>
          <a:lstStyle/>
          <a:p>
            <a:pPr algn="ctr"/>
            <a:r>
              <a:rPr lang="th-TH" sz="6000" b="1" dirty="0" smtClean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cs typeface="+mj-cs"/>
              </a:rPr>
              <a:t>การบันทึกลดหนี้</a:t>
            </a:r>
            <a:r>
              <a:rPr lang="th-TH" sz="4400" b="1" dirty="0" smtClean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cs typeface="+mj-cs"/>
              </a:rPr>
              <a:t/>
            </a:r>
            <a:br>
              <a:rPr lang="th-TH" sz="4400" b="1" dirty="0" smtClean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cs typeface="+mj-cs"/>
              </a:rPr>
            </a:br>
            <a:r>
              <a:rPr lang="en-US" sz="3600" b="1" dirty="0" smtClean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Bauhaus 93" panose="04030905020B02020C02" pitchFamily="82" charset="0"/>
                <a:cs typeface="+mj-cs"/>
              </a:rPr>
              <a:t>AP </a:t>
            </a:r>
            <a:r>
              <a:rPr lang="en-US" sz="3600" b="1" dirty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Bauhaus 93" panose="04030905020B02020C02" pitchFamily="82" charset="0"/>
                <a:cs typeface="+mj-cs"/>
              </a:rPr>
              <a:t>Invoice </a:t>
            </a:r>
            <a:r>
              <a:rPr lang="en-US" sz="3600" b="1" dirty="0" smtClean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Bauhaus 93" panose="04030905020B02020C02" pitchFamily="82" charset="0"/>
                <a:cs typeface="+mj-cs"/>
              </a:rPr>
              <a:t>Entry</a:t>
            </a:r>
          </a:p>
          <a:p>
            <a:pPr algn="ctr"/>
            <a:r>
              <a:rPr lang="en-US" sz="3600" b="1" dirty="0" smtClean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Bauhaus 93" panose="04030905020B02020C02" pitchFamily="82" charset="0"/>
                <a:cs typeface="+mj-cs"/>
              </a:rPr>
              <a:t> </a:t>
            </a:r>
            <a:r>
              <a:rPr lang="en-US" sz="3600" b="1" dirty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Bauhaus 93" panose="04030905020B02020C02" pitchFamily="82" charset="0"/>
                <a:cs typeface="+mj-cs"/>
              </a:rPr>
              <a:t>Debit </a:t>
            </a:r>
            <a:r>
              <a:rPr lang="en-US" sz="3600" b="1" dirty="0" smtClean="0">
                <a:ln/>
                <a:solidFill>
                  <a:schemeClr val="accent1">
                    <a:lumMod val="75000"/>
                  </a:schemeClr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Bauhaus 93" panose="04030905020B02020C02" pitchFamily="82" charset="0"/>
                <a:cs typeface="+mj-cs"/>
              </a:rPr>
              <a:t>Memo from DMR Processing</a:t>
            </a:r>
            <a:endParaRPr lang="th-TH" sz="3600" b="1" dirty="0">
              <a:ln/>
              <a:solidFill>
                <a:schemeClr val="accent1">
                  <a:lumMod val="75000"/>
                </a:schemeClr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Bauhaus 93" panose="04030905020B02020C02" pitchFamily="82" charset="0"/>
              <a:cs typeface="+mj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851770" y="5708073"/>
            <a:ext cx="153439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200" b="1" dirty="0" smtClean="0">
                <a:ln/>
                <a:solidFill>
                  <a:schemeClr val="tx2">
                    <a:lumMod val="75000"/>
                  </a:schemeClr>
                </a:solidFill>
              </a:rPr>
              <a:t>APP050</a:t>
            </a:r>
            <a:endParaRPr lang="th-TH" sz="3200" b="1" dirty="0">
              <a:ln/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7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34221" y="592048"/>
            <a:ext cx="9601196" cy="1303867"/>
          </a:xfrm>
        </p:spPr>
        <p:txBody>
          <a:bodyPr>
            <a:normAutofit/>
          </a:bodyPr>
          <a:lstStyle/>
          <a:p>
            <a:r>
              <a:rPr lang="th-TH" sz="36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cs"/>
              </a:rPr>
              <a:t>1. เข้าหน้าโปรแกรม </a:t>
            </a:r>
            <a:r>
              <a:rPr lang="en-US" sz="36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cs"/>
              </a:rPr>
              <a:t>Epicor </a:t>
            </a:r>
            <a:r>
              <a:rPr lang="th-TH" sz="36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cs"/>
              </a:rPr>
              <a:t>คลิกที่จุดสี่เหลี่ยมซ้ายมือ</a:t>
            </a:r>
            <a:endParaRPr lang="th-TH" sz="3600" dirty="0">
              <a:ln w="0"/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cs"/>
            </a:endParaRPr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 rotWithShape="1">
          <a:blip r:embed="rId2"/>
          <a:srcRect l="-72" t="1574" r="1503" b="5062"/>
          <a:stretch/>
        </p:blipFill>
        <p:spPr>
          <a:xfrm>
            <a:off x="1962194" y="1585020"/>
            <a:ext cx="8490855" cy="448056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12" name="Down Arrow 11"/>
          <p:cNvSpPr/>
          <p:nvPr/>
        </p:nvSpPr>
        <p:spPr>
          <a:xfrm rot="17723855">
            <a:off x="1162878" y="1398559"/>
            <a:ext cx="489926" cy="994711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Rectangle 1"/>
          <p:cNvSpPr/>
          <p:nvPr/>
        </p:nvSpPr>
        <p:spPr>
          <a:xfrm>
            <a:off x="1962194" y="1983545"/>
            <a:ext cx="302704" cy="29542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0377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964"/>
          <a:stretch/>
        </p:blipFill>
        <p:spPr>
          <a:xfrm>
            <a:off x="1703740" y="1449977"/>
            <a:ext cx="8772671" cy="4752481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6" name="TextBox 5"/>
          <p:cNvSpPr txBox="1"/>
          <p:nvPr/>
        </p:nvSpPr>
        <p:spPr>
          <a:xfrm>
            <a:off x="1703740" y="734573"/>
            <a:ext cx="5316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พิมพ์ชื่อเมนู </a:t>
            </a:r>
            <a:r>
              <a:rPr lang="en-US" sz="3200" dirty="0" smtClean="0">
                <a:ln w="0"/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 – Invoice Entry </a:t>
            </a:r>
            <a:endParaRPr lang="th-TH" sz="3200" dirty="0">
              <a:ln w="0"/>
              <a:solidFill>
                <a:schemeClr val="tx2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76994" y="1998617"/>
            <a:ext cx="1881052" cy="32657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2076994" y="2586446"/>
            <a:ext cx="1881052" cy="82296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5058127" y="2634786"/>
            <a:ext cx="2299027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 smtClean="0"/>
              <a:t>คลิกเข้าไปตามชื่อเมนู</a:t>
            </a:r>
            <a:endParaRPr lang="th-TH" dirty="0"/>
          </a:p>
        </p:txBody>
      </p:sp>
      <p:sp>
        <p:nvSpPr>
          <p:cNvPr id="10" name="Down Arrow 9"/>
          <p:cNvSpPr/>
          <p:nvPr/>
        </p:nvSpPr>
        <p:spPr>
          <a:xfrm rot="5400000">
            <a:off x="4189062" y="2406510"/>
            <a:ext cx="461112" cy="1041883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9780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-1746" r="59071" b="54238"/>
          <a:stretch/>
        </p:blipFill>
        <p:spPr>
          <a:xfrm>
            <a:off x="1093975" y="2181055"/>
            <a:ext cx="5089302" cy="3321276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5" name="TextBox 4"/>
          <p:cNvSpPr txBox="1"/>
          <p:nvPr/>
        </p:nvSpPr>
        <p:spPr>
          <a:xfrm>
            <a:off x="1003930" y="1596280"/>
            <a:ext cx="5269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คลิกที่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 – New –New Group</a:t>
            </a:r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th-TH" sz="32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0884" y="2491693"/>
            <a:ext cx="381321" cy="20865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1101165" y="2681487"/>
            <a:ext cx="3600137" cy="25940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6648320" y="807656"/>
            <a:ext cx="67246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4.ระบุ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ชื่อ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Group 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และใส่วันที่ </a:t>
            </a:r>
            <a:endParaRPr lang="th-TH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จากนั้น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คลิกที่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 </a:t>
            </a:r>
            <a:r>
              <a:rPr lang="th-TH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กด </a:t>
            </a:r>
            <a:r>
              <a:rPr lang="en-US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SAVE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487" r="66030" b="40613"/>
          <a:stretch/>
        </p:blipFill>
        <p:spPr>
          <a:xfrm>
            <a:off x="6636568" y="1761763"/>
            <a:ext cx="4148417" cy="424542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11" name="Rectangle 10"/>
          <p:cNvSpPr/>
          <p:nvPr/>
        </p:nvSpPr>
        <p:spPr>
          <a:xfrm>
            <a:off x="8328797" y="3136140"/>
            <a:ext cx="1985554" cy="74458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r="87349" b="76583"/>
          <a:stretch/>
        </p:blipFill>
        <p:spPr>
          <a:xfrm>
            <a:off x="9692640" y="4350460"/>
            <a:ext cx="1806498" cy="187985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13" name="Rectangle 12"/>
          <p:cNvSpPr/>
          <p:nvPr/>
        </p:nvSpPr>
        <p:spPr>
          <a:xfrm>
            <a:off x="9692640" y="5016068"/>
            <a:ext cx="1711234" cy="27432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Oval 15"/>
          <p:cNvSpPr/>
          <p:nvPr/>
        </p:nvSpPr>
        <p:spPr>
          <a:xfrm>
            <a:off x="510397" y="2518327"/>
            <a:ext cx="533297" cy="468056"/>
          </a:xfrm>
          <a:prstGeom prst="ellipse">
            <a:avLst/>
          </a:prstGeom>
          <a:solidFill>
            <a:srgbClr val="3399FF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th-TH" dirty="0"/>
          </a:p>
        </p:txBody>
      </p:sp>
      <p:sp>
        <p:nvSpPr>
          <p:cNvPr id="17" name="Oval 16"/>
          <p:cNvSpPr/>
          <p:nvPr/>
        </p:nvSpPr>
        <p:spPr>
          <a:xfrm>
            <a:off x="7709908" y="3143317"/>
            <a:ext cx="520708" cy="444137"/>
          </a:xfrm>
          <a:prstGeom prst="ellipse">
            <a:avLst/>
          </a:prstGeom>
          <a:solidFill>
            <a:srgbClr val="3399FF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80275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57028" b="76989"/>
          <a:stretch/>
        </p:blipFill>
        <p:spPr>
          <a:xfrm>
            <a:off x="1834861" y="2126672"/>
            <a:ext cx="8569903" cy="258012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3" name="TextBox 2"/>
          <p:cNvSpPr txBox="1"/>
          <p:nvPr/>
        </p:nvSpPr>
        <p:spPr>
          <a:xfrm>
            <a:off x="1537855" y="1177636"/>
            <a:ext cx="9045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คลิกที่คำสั่ง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Actions </a:t>
            </a:r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คลิกที่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</a:t>
            </a:r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เลือก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DMR Debit Memos</a:t>
            </a:r>
            <a:endParaRPr lang="th-TH" sz="32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83527" y="2424545"/>
            <a:ext cx="803564" cy="33251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3311236" y="2757055"/>
            <a:ext cx="2992582" cy="37407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6303818" y="3131127"/>
            <a:ext cx="4087091" cy="33250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4516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2644" t="28314" r="32644" b="35511"/>
          <a:stretch/>
        </p:blipFill>
        <p:spPr>
          <a:xfrm>
            <a:off x="706582" y="1912792"/>
            <a:ext cx="5131404" cy="3006437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3274" t="16193" r="23379" b="23011"/>
          <a:stretch/>
        </p:blipFill>
        <p:spPr>
          <a:xfrm>
            <a:off x="5837986" y="2119747"/>
            <a:ext cx="5795084" cy="371301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4" name="TextBox 3"/>
          <p:cNvSpPr txBox="1"/>
          <p:nvPr/>
        </p:nvSpPr>
        <p:spPr>
          <a:xfrm>
            <a:off x="623454" y="1223572"/>
            <a:ext cx="599901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9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6. เมื่อขึ้นหน้าต่างมาคลิกที่ </a:t>
            </a:r>
            <a:r>
              <a:rPr lang="en-US" sz="29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Manual Selection </a:t>
            </a:r>
            <a:endParaRPr lang="en-US" sz="29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81408" y="1062162"/>
            <a:ext cx="5508239" cy="954107"/>
          </a:xfrm>
          <a:prstGeom prst="rect">
            <a:avLst/>
          </a:prstGeom>
          <a:gradFill>
            <a:gsLst>
              <a:gs pos="0">
                <a:schemeClr val="accent6">
                  <a:lumMod val="40000"/>
                  <a:lumOff val="60000"/>
                </a:schemeClr>
              </a:gs>
              <a:gs pos="71000">
                <a:schemeClr val="accent4">
                  <a:hueOff val="0"/>
                  <a:satOff val="0"/>
                  <a:lumOff val="0"/>
                  <a:alphaOff val="0"/>
                  <a:tint val="82000"/>
                </a:schemeClr>
              </a:gs>
            </a:gsLst>
            <a:lin ang="5400000" scaled="0"/>
          </a:gradFill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จะมีข้อมูลขึ้นมารอเพื่อทำการลดหนี้จากการคืนของ </a:t>
            </a:r>
          </a:p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เลือกรายการตามเอกสารจะทำการลดหนี้ แล้วกด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OK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41012" y="4559011"/>
            <a:ext cx="1662545" cy="36021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5943600" y="2743200"/>
            <a:ext cx="678873" cy="22167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5837986" y="5527964"/>
            <a:ext cx="784487" cy="30480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5849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2411" t="9375" r="13050" b="12026"/>
          <a:stretch/>
        </p:blipFill>
        <p:spPr>
          <a:xfrm>
            <a:off x="805288" y="1142071"/>
            <a:ext cx="8366144" cy="4959929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7" name="TextBox 6"/>
          <p:cNvSpPr txBox="1"/>
          <p:nvPr/>
        </p:nvSpPr>
        <p:spPr>
          <a:xfrm>
            <a:off x="852819" y="635237"/>
            <a:ext cx="105076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7.ระบบจะสร้างข้อมูลขึ้นมาให้เลย โดยช่อง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Invoice </a:t>
            </a:r>
            <a:r>
              <a:rPr lang="th-TH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ระบบจะกำหนดให้เองตามเลข </a:t>
            </a:r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DMR</a:t>
            </a:r>
            <a:endParaRPr lang="th-TH" sz="3200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th-TH" dirty="0"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2436" y="3228110"/>
            <a:ext cx="1460340" cy="22167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7889366" y="3241964"/>
            <a:ext cx="4039397" cy="1842654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4">
                  <a:hueOff val="0"/>
                  <a:satOff val="0"/>
                  <a:lumOff val="0"/>
                  <a:alphaOff val="0"/>
                  <a:tint val="82000"/>
                </a:schemeClr>
              </a:gs>
            </a:gsLst>
            <a:lin ang="5400000" scaled="0"/>
          </a:gradFill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0" name="TextBox 9"/>
          <p:cNvSpPr txBox="1"/>
          <p:nvPr/>
        </p:nvSpPr>
        <p:spPr>
          <a:xfrm>
            <a:off x="7889367" y="3449782"/>
            <a:ext cx="41402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8.ให้ติ้กที่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Tax Detail Header </a:t>
            </a:r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แล้วกด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SAVE</a:t>
            </a:r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j-cs"/>
              </a:rPr>
              <a:t> เพื่อเป็นการเอาเลขที่ตามเอกสารไปออกรายงานภาษีซื้อ 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j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756073" y="1870364"/>
            <a:ext cx="568036" cy="498763"/>
          </a:xfrm>
          <a:prstGeom prst="ellipse">
            <a:avLst/>
          </a:prstGeom>
          <a:solidFill>
            <a:srgbClr val="33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th-TH" dirty="0"/>
          </a:p>
        </p:txBody>
      </p:sp>
      <p:sp>
        <p:nvSpPr>
          <p:cNvPr id="12" name="Rectangle 11"/>
          <p:cNvSpPr/>
          <p:nvPr/>
        </p:nvSpPr>
        <p:spPr>
          <a:xfrm>
            <a:off x="7523018" y="2036618"/>
            <a:ext cx="1136073" cy="22167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4157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2518" t="9375" r="12199" b="46307"/>
          <a:stretch/>
        </p:blipFill>
        <p:spPr>
          <a:xfrm>
            <a:off x="1399308" y="1828799"/>
            <a:ext cx="9795164" cy="324196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3" name="TextBox 2"/>
          <p:cNvSpPr txBox="1"/>
          <p:nvPr/>
        </p:nvSpPr>
        <p:spPr>
          <a:xfrm>
            <a:off x="1327035" y="1039091"/>
            <a:ext cx="9340442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9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9. คลิกที่แถบ </a:t>
            </a:r>
            <a:r>
              <a:rPr lang="en-US" sz="29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Tax Detail Header </a:t>
            </a:r>
            <a:r>
              <a:rPr lang="th-TH" sz="29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ใส่ข้อมูลตามเอกสารที่เราได้รับมา แล้วกด </a:t>
            </a:r>
            <a:r>
              <a:rPr lang="en-US" sz="29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SAVE</a:t>
            </a:r>
            <a:endParaRPr lang="th-TH" sz="29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767455" y="2216727"/>
            <a:ext cx="1316181" cy="44334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2190" t="5587" r="95574" b="91004"/>
          <a:stretch/>
        </p:blipFill>
        <p:spPr>
          <a:xfrm>
            <a:off x="10599771" y="1081137"/>
            <a:ext cx="483865" cy="41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30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56392" b="51518"/>
          <a:stretch/>
        </p:blipFill>
        <p:spPr>
          <a:xfrm>
            <a:off x="1227909" y="1288473"/>
            <a:ext cx="5673906" cy="3546566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5" name="TextBox 4"/>
          <p:cNvSpPr txBox="1"/>
          <p:nvPr/>
        </p:nvSpPr>
        <p:spPr>
          <a:xfrm>
            <a:off x="1030961" y="765253"/>
            <a:ext cx="8555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10. ตรวจคู่บัญชี โดยคลิกที่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Actions – Group – Print Group Edit List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2062" t="26340" r="32196" b="27410"/>
          <a:stretch/>
        </p:blipFill>
        <p:spPr>
          <a:xfrm>
            <a:off x="7034834" y="1690284"/>
            <a:ext cx="4513288" cy="328354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  <p:sp>
        <p:nvSpPr>
          <p:cNvPr id="7" name="TextBox 6"/>
          <p:cNvSpPr txBox="1"/>
          <p:nvPr/>
        </p:nvSpPr>
        <p:spPr>
          <a:xfrm>
            <a:off x="5905167" y="5407095"/>
            <a:ext cx="5087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11. เมื่อขึ้นหน้าต่างนี้มาคลิกที่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Print Preview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189018" y="1529359"/>
            <a:ext cx="471055" cy="152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/>
          <a:srcRect l="39990" t="31724" r="57561" b="63967"/>
          <a:stretch/>
        </p:blipFill>
        <p:spPr>
          <a:xfrm>
            <a:off x="10867018" y="5401802"/>
            <a:ext cx="534196" cy="52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58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24078" y="683618"/>
            <a:ext cx="3512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12. ตรวจสอบความถูกต้องดูคู่บัญชี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958" t="24148" r="26255" b="9375"/>
          <a:stretch/>
        </p:blipFill>
        <p:spPr>
          <a:xfrm>
            <a:off x="2924078" y="1206838"/>
            <a:ext cx="6192982" cy="505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3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30616" y="840286"/>
            <a:ext cx="8373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13.เมื่อบันทึกข้อมูลครบถ้วนถูกต้องแล้ว ให้คลิกที่ </a:t>
            </a:r>
            <a:r>
              <a:rPr lang="en-US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Actions – Group – Post </a:t>
            </a:r>
            <a:endParaRPr lang="th-TH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57134" b="51420"/>
          <a:stretch/>
        </p:blipFill>
        <p:spPr>
          <a:xfrm>
            <a:off x="2735405" y="1558636"/>
            <a:ext cx="6164407" cy="392776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</p:pic>
    </p:spTree>
    <p:extLst>
      <p:ext uri="{BB962C8B-B14F-4D97-AF65-F5344CB8AC3E}">
        <p14:creationId xmlns:p14="http://schemas.microsoft.com/office/powerpoint/2010/main" val="345624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195</TotalTime>
  <Words>217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Angsana New</vt:lpstr>
      <vt:lpstr>Arial</vt:lpstr>
      <vt:lpstr>Bauhaus 93</vt:lpstr>
      <vt:lpstr>Cordia New</vt:lpstr>
      <vt:lpstr>Garamond</vt:lpstr>
      <vt:lpstr>Organic</vt:lpstr>
      <vt:lpstr>PowerPoint Presentation</vt:lpstr>
      <vt:lpstr>1. เข้าหน้าโปรแกรม Epicor คลิกที่จุดสี่เหลี่ยมซ้ายมือ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30</cp:revision>
  <dcterms:created xsi:type="dcterms:W3CDTF">2024-03-06T08:00:49Z</dcterms:created>
  <dcterms:modified xsi:type="dcterms:W3CDTF">2024-08-14T09:18:31Z</dcterms:modified>
</cp:coreProperties>
</file>