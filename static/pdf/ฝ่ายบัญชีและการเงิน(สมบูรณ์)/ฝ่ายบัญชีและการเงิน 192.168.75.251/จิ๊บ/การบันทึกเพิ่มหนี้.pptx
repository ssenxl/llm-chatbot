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8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040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61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247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88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06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15732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37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4196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3106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43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343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51173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251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566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083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58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46F66-0E39-4F1C-A914-68BB00A15786}" type="datetimeFigureOut">
              <a:rPr lang="th-TH" smtClean="0"/>
              <a:t>15/08/67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FB0337-6418-4E74-85A4-A40082218514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5119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50497" y="1789610"/>
            <a:ext cx="6132692" cy="2155371"/>
          </a:xfrm>
          <a:prstGeom prst="rect">
            <a:avLst/>
          </a:prstGeom>
          <a:noFill/>
        </p:spPr>
        <p:txBody>
          <a:bodyPr wrap="none" rtlCol="0">
            <a:prstTxWarp prst="textWave4">
              <a:avLst/>
            </a:prstTxWarp>
            <a:spAutoFit/>
          </a:bodyPr>
          <a:lstStyle/>
          <a:p>
            <a:pPr algn="ctr"/>
            <a:r>
              <a:rPr lang="th-TH" sz="80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การบันทึกเพิ่มหนี้ </a:t>
            </a:r>
            <a:endParaRPr lang="th-TH" sz="8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2" name="Half Frame 31"/>
          <p:cNvSpPr/>
          <p:nvPr/>
        </p:nvSpPr>
        <p:spPr>
          <a:xfrm>
            <a:off x="1698171" y="1789610"/>
            <a:ext cx="1672046" cy="1554481"/>
          </a:xfrm>
          <a:prstGeom prst="halfFram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th-TH" b="1">
              <a:ln/>
              <a:solidFill>
                <a:schemeClr val="accent3"/>
              </a:solidFill>
            </a:endParaRPr>
          </a:p>
        </p:txBody>
      </p:sp>
      <p:sp>
        <p:nvSpPr>
          <p:cNvPr id="33" name="Half Frame 32"/>
          <p:cNvSpPr/>
          <p:nvPr/>
        </p:nvSpPr>
        <p:spPr>
          <a:xfrm rot="10800000">
            <a:off x="8229600" y="3657600"/>
            <a:ext cx="1763486" cy="1084217"/>
          </a:xfrm>
          <a:prstGeom prst="halfFram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884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734492"/>
              </p:ext>
            </p:extLst>
          </p:nvPr>
        </p:nvGraphicFramePr>
        <p:xfrm>
          <a:off x="1341648" y="579499"/>
          <a:ext cx="9382958" cy="56598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50969">
                  <a:extLst>
                    <a:ext uri="{9D8B030D-6E8A-4147-A177-3AD203B41FA5}">
                      <a16:colId xmlns:a16="http://schemas.microsoft.com/office/drawing/2014/main" val="4245423789"/>
                    </a:ext>
                  </a:extLst>
                </a:gridCol>
                <a:gridCol w="7331989">
                  <a:extLst>
                    <a:ext uri="{9D8B030D-6E8A-4147-A177-3AD203B41FA5}">
                      <a16:colId xmlns:a16="http://schemas.microsoft.com/office/drawing/2014/main" val="1308314181"/>
                    </a:ext>
                  </a:extLst>
                </a:gridCol>
              </a:tblGrid>
              <a:tr h="960214">
                <a:tc>
                  <a:txBody>
                    <a:bodyPr/>
                    <a:lstStyle/>
                    <a:p>
                      <a:r>
                        <a:rPr lang="th-TH" sz="24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.</a:t>
                      </a:r>
                      <a:r>
                        <a:rPr lang="th-TH" sz="2400" b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 กระบวนการ</a:t>
                      </a:r>
                      <a:r>
                        <a:rPr lang="th-TH" sz="2400" b="1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2400" b="1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cs typeface="+mn-cs"/>
                        </a:rPr>
                        <a:t>(process)</a:t>
                      </a:r>
                      <a:endParaRPr lang="th-TH" sz="24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การบันทึกเพิ่มหนี้</a:t>
                      </a:r>
                      <a:endParaRPr lang="en-US" sz="2000" b="1" baseline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cs typeface="+mn-cs"/>
                      </a:endParaRPr>
                    </a:p>
                    <a:p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( AP Invoice Entry : Debit Memo)</a:t>
                      </a:r>
                      <a:endParaRPr lang="th-TH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697450"/>
                  </a:ext>
                </a:extLst>
              </a:tr>
              <a:tr h="879212">
                <a:tc>
                  <a:txBody>
                    <a:bodyPr/>
                    <a:lstStyle/>
                    <a:p>
                      <a:r>
                        <a:rPr lang="th-TH" sz="2400" b="1" dirty="0" smtClean="0"/>
                        <a:t>2. ข้อมูลที่ต้องใช้</a:t>
                      </a:r>
                    </a:p>
                    <a:p>
                      <a:r>
                        <a:rPr lang="en-US" sz="2400" b="1" dirty="0" smtClean="0"/>
                        <a:t>(Input)</a:t>
                      </a:r>
                      <a:endParaRPr lang="th-TH" sz="2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. </a:t>
                      </a:r>
                      <a:r>
                        <a:rPr lang="th-TH" sz="24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เอกสารเพิ่มหนี้</a:t>
                      </a:r>
                      <a:r>
                        <a:rPr lang="th-TH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  ใบ</a:t>
                      </a:r>
                      <a:r>
                        <a:rPr lang="th-TH" sz="2400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cs typeface="+mn-cs"/>
                        </a:rPr>
                        <a:t>วางบิล บริษัทฮูดา</a:t>
                      </a:r>
                      <a:endParaRPr lang="th-TH" b="1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26680"/>
                  </a:ext>
                </a:extLst>
              </a:tr>
              <a:tr h="1590355">
                <a:tc>
                  <a:txBody>
                    <a:bodyPr/>
                    <a:lstStyle/>
                    <a:p>
                      <a:r>
                        <a:rPr lang="th-TH" sz="2400" b="1" dirty="0" smtClean="0">
                          <a:cs typeface="+mn-cs"/>
                        </a:rPr>
                        <a:t>3. ขั้นตอนย่อย</a:t>
                      </a:r>
                    </a:p>
                    <a:p>
                      <a:r>
                        <a:rPr lang="en-US" sz="2400" b="1" dirty="0" smtClean="0">
                          <a:cs typeface="+mn-cs"/>
                        </a:rPr>
                        <a:t>(sub</a:t>
                      </a:r>
                      <a:r>
                        <a:rPr lang="en-US" sz="2400" b="1" baseline="0" dirty="0" smtClean="0">
                          <a:cs typeface="+mn-cs"/>
                        </a:rPr>
                        <a:t> process)</a:t>
                      </a:r>
                      <a:endParaRPr lang="th-TH" sz="2400" b="1" dirty="0"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1. สร้าง </a:t>
                      </a:r>
                      <a:r>
                        <a:rPr lang="en-US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Group</a:t>
                      </a:r>
                    </a:p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2.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เลือก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New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Invoice 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 ใส่ข้อมูลตามเอกสาร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4.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New </a:t>
                      </a:r>
                      <a:r>
                        <a:rPr lang="en-US" sz="2000" b="1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Misc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Line 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ใส่รายละเอียดตามบิล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5. ตรวจสอบคู่บัญชี</a:t>
                      </a:r>
                      <a:endParaRPr lang="en-US" sz="2000" b="1" baseline="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764905"/>
                  </a:ext>
                </a:extLst>
              </a:tr>
              <a:tr h="1290288">
                <a:tc>
                  <a:txBody>
                    <a:bodyPr/>
                    <a:lstStyle/>
                    <a:p>
                      <a:r>
                        <a:rPr lang="th-TH" sz="2400" b="1" dirty="0" smtClean="0"/>
                        <a:t>4</a:t>
                      </a:r>
                      <a:r>
                        <a:rPr lang="en-US" sz="2400" b="1" dirty="0" smtClean="0"/>
                        <a:t>.</a:t>
                      </a:r>
                      <a:r>
                        <a:rPr lang="th-TH" sz="2400" b="1" baseline="0" dirty="0" smtClean="0"/>
                        <a:t> </a:t>
                      </a:r>
                      <a:r>
                        <a:rPr lang="th-TH" sz="2400" b="1" dirty="0" smtClean="0"/>
                        <a:t>ความเสี่ยง</a:t>
                      </a:r>
                    </a:p>
                    <a:p>
                      <a:r>
                        <a:rPr lang="en-US" sz="2400" b="1" dirty="0" smtClean="0"/>
                        <a:t>(Risk)</a:t>
                      </a:r>
                      <a:endParaRPr lang="th-TH" sz="24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1.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 เลือก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Supplier 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2. ระบุวันที่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3. ระบุ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Part</a:t>
                      </a:r>
                    </a:p>
                    <a:p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4. ยอดเงิน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+mn-cs"/>
                        </a:rPr>
                        <a:t>ที่เพิ่มหนี้</a:t>
                      </a:r>
                      <a:endParaRPr lang="th-TH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18766"/>
                  </a:ext>
                </a:extLst>
              </a:tr>
              <a:tr h="879212">
                <a:tc>
                  <a:txBody>
                    <a:bodyPr/>
                    <a:lstStyle/>
                    <a:p>
                      <a:r>
                        <a:rPr lang="th-TH" sz="2400" b="1" dirty="0" smtClean="0"/>
                        <a:t>5. จุดควบคุม</a:t>
                      </a:r>
                    </a:p>
                    <a:p>
                      <a:r>
                        <a:rPr lang="en-US" sz="2000" b="1" dirty="0" smtClean="0"/>
                        <a:t>(Control</a:t>
                      </a:r>
                      <a:r>
                        <a:rPr lang="en-US" sz="2000" b="1" baseline="0" dirty="0" smtClean="0"/>
                        <a:t> point)</a:t>
                      </a:r>
                      <a:endParaRPr lang="th-TH" sz="20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1. ตรวจสอบข้อมูลและยอดเงินเอกสารกับเอกสารยอดแรกที่ตั้งหนี้ เช่น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ค่าขนส่ง</a:t>
                      </a:r>
                      <a:r>
                        <a:rPr lang="en-US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PO</a:t>
                      </a:r>
                      <a:r>
                        <a:rPr lang="th-TH" sz="2000" b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ค่าชิปปิ้ง</a:t>
                      </a:r>
                      <a:endParaRPr lang="th-TH" sz="20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39238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044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6"/>
          <p:cNvPicPr>
            <a:picLocks/>
          </p:cNvPicPr>
          <p:nvPr/>
        </p:nvPicPr>
        <p:blipFill rotWithShape="1">
          <a:blip r:embed="rId2"/>
          <a:srcRect l="-72" t="2784" r="1503" b="5062"/>
          <a:stretch/>
        </p:blipFill>
        <p:spPr>
          <a:xfrm>
            <a:off x="1815737" y="1423850"/>
            <a:ext cx="8490855" cy="442248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4" name="TextBox 3"/>
          <p:cNvSpPr txBox="1"/>
          <p:nvPr/>
        </p:nvSpPr>
        <p:spPr>
          <a:xfrm>
            <a:off x="1711234" y="770709"/>
            <a:ext cx="5506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1.เข้าหน้าโปรแกรม </a:t>
            </a:r>
            <a:r>
              <a:rPr lang="en-US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Epicor </a:t>
            </a:r>
            <a:r>
              <a:rPr lang="th-TH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คลิกที่จุดสี่เหลี่ยมซ้ายมือ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5737" y="1750423"/>
            <a:ext cx="300446" cy="32657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ight Arrow 5"/>
          <p:cNvSpPr/>
          <p:nvPr/>
        </p:nvSpPr>
        <p:spPr>
          <a:xfrm rot="1730606">
            <a:off x="1061365" y="1584500"/>
            <a:ext cx="600891" cy="35832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277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 rotWithShape="1">
          <a:blip r:embed="rId2"/>
          <a:srcRect b="5964"/>
          <a:stretch/>
        </p:blipFill>
        <p:spPr>
          <a:xfrm>
            <a:off x="1677614" y="1410788"/>
            <a:ext cx="8772671" cy="475248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TextBox 2"/>
          <p:cNvSpPr txBox="1"/>
          <p:nvPr/>
        </p:nvSpPr>
        <p:spPr>
          <a:xfrm>
            <a:off x="1677614" y="705394"/>
            <a:ext cx="48233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2.พิมพ์ชื่อเมนู </a:t>
            </a:r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New – Invoice Entry </a:t>
            </a:r>
            <a:endParaRPr lang="th-TH" dirty="0">
              <a:ln w="0"/>
              <a:solidFill>
                <a:schemeClr val="accent5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4731556" y="2647849"/>
            <a:ext cx="229902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 smtClean="0"/>
              <a:t>คลิกเข้าไปตามชื่อเมนู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2103120" y="1998617"/>
            <a:ext cx="1136469" cy="2481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2103120" y="2521131"/>
            <a:ext cx="1737360" cy="7837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ight Arrow 6"/>
          <p:cNvSpPr/>
          <p:nvPr/>
        </p:nvSpPr>
        <p:spPr>
          <a:xfrm rot="10800000">
            <a:off x="3840480" y="2711737"/>
            <a:ext cx="783771" cy="459332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263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1746" r="59071" b="54238"/>
          <a:stretch/>
        </p:blipFill>
        <p:spPr>
          <a:xfrm>
            <a:off x="886295" y="1957772"/>
            <a:ext cx="5089302" cy="332127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3" name="Content Placeholder 3"/>
          <p:cNvPicPr>
            <a:picLocks noChangeAspect="1"/>
          </p:cNvPicPr>
          <p:nvPr/>
        </p:nvPicPr>
        <p:blipFill rotWithShape="1">
          <a:blip r:embed="rId3"/>
          <a:srcRect t="487" r="66030" b="40613"/>
          <a:stretch/>
        </p:blipFill>
        <p:spPr>
          <a:xfrm>
            <a:off x="6269211" y="1495697"/>
            <a:ext cx="4148417" cy="424542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87349" b="76583"/>
          <a:stretch/>
        </p:blipFill>
        <p:spPr>
          <a:xfrm>
            <a:off x="9422939" y="4339120"/>
            <a:ext cx="1806498" cy="187985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5" name="Rectangle 4"/>
          <p:cNvSpPr/>
          <p:nvPr/>
        </p:nvSpPr>
        <p:spPr>
          <a:xfrm>
            <a:off x="886295" y="1234087"/>
            <a:ext cx="45720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>
                <a:ln w="0"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3.คลิกที่ </a:t>
            </a:r>
            <a:r>
              <a:rPr lang="en-US" dirty="0">
                <a:ln w="0"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File – New –New Group</a:t>
            </a:r>
            <a:r>
              <a:rPr lang="th-TH" dirty="0">
                <a:ln w="0"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4559" y="572777"/>
            <a:ext cx="467788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n w="0">
                  <a:noFill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4.ระบุชื่อ </a:t>
            </a:r>
            <a:r>
              <a:rPr lang="en-US" dirty="0">
                <a:ln w="0">
                  <a:noFill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Group </a:t>
            </a:r>
            <a:r>
              <a:rPr lang="th-TH" dirty="0">
                <a:ln w="0">
                  <a:noFill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และใส่วันที่ จากนั้นคลิกที่ </a:t>
            </a:r>
            <a:endParaRPr lang="en-US" dirty="0">
              <a:ln w="0">
                <a:noFill/>
              </a:ln>
              <a:solidFill>
                <a:schemeClr val="accent5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>
                  <a:noFill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 </a:t>
            </a:r>
            <a:r>
              <a:rPr lang="th-TH" dirty="0">
                <a:ln w="0">
                  <a:noFill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กด </a:t>
            </a:r>
            <a:r>
              <a:rPr lang="en-US" dirty="0">
                <a:ln w="0">
                  <a:noFill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SAVE</a:t>
            </a:r>
            <a:endParaRPr lang="th-TH" dirty="0">
              <a:ln w="0">
                <a:noFill/>
              </a:ln>
              <a:solidFill>
                <a:schemeClr val="accent5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th-TH" dirty="0"/>
          </a:p>
        </p:txBody>
      </p:sp>
      <p:sp>
        <p:nvSpPr>
          <p:cNvPr id="7" name="Oval 6"/>
          <p:cNvSpPr/>
          <p:nvPr/>
        </p:nvSpPr>
        <p:spPr>
          <a:xfrm>
            <a:off x="496389" y="2338251"/>
            <a:ext cx="389906" cy="3788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3</a:t>
            </a:r>
            <a:endParaRPr lang="th-TH" dirty="0"/>
          </a:p>
        </p:txBody>
      </p:sp>
      <p:sp>
        <p:nvSpPr>
          <p:cNvPr id="8" name="Oval 7"/>
          <p:cNvSpPr/>
          <p:nvPr/>
        </p:nvSpPr>
        <p:spPr>
          <a:xfrm>
            <a:off x="7559041" y="2880692"/>
            <a:ext cx="389906" cy="3788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4</a:t>
            </a:r>
            <a:endParaRPr lang="th-TH" dirty="0"/>
          </a:p>
        </p:txBody>
      </p:sp>
      <p:sp>
        <p:nvSpPr>
          <p:cNvPr id="10" name="Rectangle 9"/>
          <p:cNvSpPr/>
          <p:nvPr/>
        </p:nvSpPr>
        <p:spPr>
          <a:xfrm>
            <a:off x="877484" y="2259873"/>
            <a:ext cx="315488" cy="19594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886295" y="2455817"/>
            <a:ext cx="3620391" cy="2612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8112034" y="2880692"/>
            <a:ext cx="1959429" cy="73771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Rectangle 12"/>
          <p:cNvSpPr/>
          <p:nvPr/>
        </p:nvSpPr>
        <p:spPr>
          <a:xfrm>
            <a:off x="9422939" y="5029200"/>
            <a:ext cx="1693552" cy="24984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881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82897" b="52411"/>
          <a:stretch/>
        </p:blipFill>
        <p:spPr>
          <a:xfrm>
            <a:off x="3613785" y="1703705"/>
            <a:ext cx="2421255" cy="378778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-201" t="89" r="91130" b="76874"/>
          <a:stretch/>
        </p:blipFill>
        <p:spPr>
          <a:xfrm>
            <a:off x="1223281" y="1703705"/>
            <a:ext cx="1950992" cy="281263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4" name="Rectangle 3"/>
          <p:cNvSpPr/>
          <p:nvPr/>
        </p:nvSpPr>
        <p:spPr>
          <a:xfrm>
            <a:off x="1069830" y="933642"/>
            <a:ext cx="4620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คลิกที่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เลือก </a:t>
            </a:r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NEW </a:t>
            </a:r>
            <a:r>
              <a:rPr lang="en-US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Invoice</a:t>
            </a:r>
            <a:endParaRPr lang="th-TH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846" y="2377440"/>
            <a:ext cx="574765" cy="41801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3613785" y="2638697"/>
            <a:ext cx="2421255" cy="2612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Oval 6"/>
          <p:cNvSpPr/>
          <p:nvPr/>
        </p:nvSpPr>
        <p:spPr>
          <a:xfrm>
            <a:off x="3091841" y="2534193"/>
            <a:ext cx="439512" cy="418012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3304" r="52879" b="24699"/>
          <a:stretch/>
        </p:blipFill>
        <p:spPr>
          <a:xfrm>
            <a:off x="6474552" y="1703705"/>
            <a:ext cx="4698574" cy="403614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sp>
        <p:nvSpPr>
          <p:cNvPr id="9" name="Rectangle 8"/>
          <p:cNvSpPr/>
          <p:nvPr/>
        </p:nvSpPr>
        <p:spPr>
          <a:xfrm>
            <a:off x="6474552" y="1153008"/>
            <a:ext cx="2542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คลิกที่แถบ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Header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99863" y="2155371"/>
            <a:ext cx="548640" cy="2220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862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482" r="45248" b="11696"/>
          <a:stretch/>
        </p:blipFill>
        <p:spPr>
          <a:xfrm>
            <a:off x="844460" y="613956"/>
            <a:ext cx="6239022" cy="543414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grpSp>
        <p:nvGrpSpPr>
          <p:cNvPr id="10" name="Group 9"/>
          <p:cNvGrpSpPr/>
          <p:nvPr/>
        </p:nvGrpSpPr>
        <p:grpSpPr>
          <a:xfrm>
            <a:off x="7578634" y="613956"/>
            <a:ext cx="3592285" cy="747390"/>
            <a:chOff x="0" y="63623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29" name="Rounded Rectangle 28"/>
            <p:cNvSpPr/>
            <p:nvPr/>
          </p:nvSpPr>
          <p:spPr>
            <a:xfrm>
              <a:off x="0" y="63623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30" name="Rounded Rectangle 4"/>
            <p:cNvSpPr txBox="1"/>
            <p:nvPr/>
          </p:nvSpPr>
          <p:spPr>
            <a:xfrm>
              <a:off x="36485" y="100108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dirty="0" smtClean="0"/>
                <a:t>7.เลือกโค้ด </a:t>
              </a:r>
              <a:r>
                <a:rPr lang="en-US" sz="1700" kern="1200" dirty="0" smtClean="0"/>
                <a:t>Supplier </a:t>
              </a:r>
              <a:r>
                <a:rPr lang="th-TH" sz="1700" kern="1200" dirty="0" smtClean="0"/>
                <a:t>ที่จะลดหนี้</a:t>
              </a:r>
              <a:endParaRPr lang="th-TH" sz="1700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578634" y="1400093"/>
            <a:ext cx="3592285" cy="747390"/>
            <a:chOff x="0" y="849760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27" name="Rounded Rectangle 26"/>
            <p:cNvSpPr/>
            <p:nvPr/>
          </p:nvSpPr>
          <p:spPr>
            <a:xfrm>
              <a:off x="0" y="849760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8" name="Rounded Rectangle 6"/>
            <p:cNvSpPr txBox="1"/>
            <p:nvPr/>
          </p:nvSpPr>
          <p:spPr>
            <a:xfrm>
              <a:off x="36485" y="886245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dirty="0" smtClean="0"/>
                <a:t>8.ระบุเลข </a:t>
              </a:r>
              <a:r>
                <a:rPr lang="en-US" sz="1700" kern="1200" dirty="0" smtClean="0"/>
                <a:t>Invoice</a:t>
              </a:r>
              <a:endParaRPr lang="th-TH" sz="1700" kern="1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578634" y="2196443"/>
            <a:ext cx="3592285" cy="747390"/>
            <a:chOff x="0" y="1646110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25" name="Rounded Rectangle 24"/>
            <p:cNvSpPr/>
            <p:nvPr/>
          </p:nvSpPr>
          <p:spPr>
            <a:xfrm>
              <a:off x="0" y="1646110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6" name="Rounded Rectangle 8"/>
            <p:cNvSpPr txBox="1"/>
            <p:nvPr/>
          </p:nvSpPr>
          <p:spPr>
            <a:xfrm>
              <a:off x="36485" y="1682595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dirty="0" smtClean="0"/>
                <a:t>9. </a:t>
              </a:r>
              <a:r>
                <a:rPr lang="en-US" sz="1700" kern="1200" dirty="0" smtClean="0"/>
                <a:t>Document Type </a:t>
              </a:r>
              <a:r>
                <a:rPr lang="th-TH" sz="1700" kern="1200" dirty="0" smtClean="0"/>
                <a:t>   เลือก</a:t>
              </a:r>
              <a:r>
                <a:rPr lang="th-TH" sz="1700" dirty="0" smtClean="0"/>
                <a:t>ตามประเภทของเอกสาร</a:t>
              </a:r>
              <a:endParaRPr lang="th-TH" sz="1700" kern="12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578634" y="2992793"/>
            <a:ext cx="3592285" cy="747390"/>
            <a:chOff x="0" y="2442460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23" name="Rounded Rectangle 22"/>
            <p:cNvSpPr/>
            <p:nvPr/>
          </p:nvSpPr>
          <p:spPr>
            <a:xfrm>
              <a:off x="0" y="2442460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4" name="Rounded Rectangle 10"/>
            <p:cNvSpPr txBox="1"/>
            <p:nvPr/>
          </p:nvSpPr>
          <p:spPr>
            <a:xfrm>
              <a:off x="36485" y="2478945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dirty="0" smtClean="0"/>
                <a:t>10. </a:t>
              </a:r>
              <a:r>
                <a:rPr lang="en-US" sz="1700" kern="1200" dirty="0" smtClean="0"/>
                <a:t>Invoice Date </a:t>
              </a:r>
              <a:r>
                <a:rPr lang="th-TH" sz="1700" kern="1200" dirty="0" smtClean="0"/>
                <a:t>ใสวันที่ตามเอกสาร</a:t>
              </a:r>
              <a:endParaRPr lang="th-TH" sz="1700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578634" y="3789143"/>
            <a:ext cx="3592285" cy="747390"/>
            <a:chOff x="0" y="3238810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21" name="Rounded Rectangle 20"/>
            <p:cNvSpPr/>
            <p:nvPr/>
          </p:nvSpPr>
          <p:spPr>
            <a:xfrm>
              <a:off x="0" y="3238810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2" name="Rounded Rectangle 12"/>
            <p:cNvSpPr txBox="1"/>
            <p:nvPr/>
          </p:nvSpPr>
          <p:spPr>
            <a:xfrm>
              <a:off x="36485" y="3275295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smtClean="0"/>
                <a:t>11. </a:t>
              </a:r>
              <a:r>
                <a:rPr lang="en-US" sz="1700" kern="1200" smtClean="0"/>
                <a:t>Apply Date </a:t>
              </a:r>
              <a:r>
                <a:rPr lang="th-TH" sz="1700" kern="1200" smtClean="0"/>
                <a:t>ใส่วันที่ตามเอกสาร</a:t>
              </a:r>
              <a:endParaRPr lang="th-TH" sz="1700" kern="120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578634" y="4585493"/>
            <a:ext cx="3592285" cy="747390"/>
            <a:chOff x="0" y="4035160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19" name="Rounded Rectangle 18"/>
            <p:cNvSpPr/>
            <p:nvPr/>
          </p:nvSpPr>
          <p:spPr>
            <a:xfrm>
              <a:off x="0" y="4035160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0" name="Rounded Rectangle 14"/>
            <p:cNvSpPr txBox="1"/>
            <p:nvPr/>
          </p:nvSpPr>
          <p:spPr>
            <a:xfrm>
              <a:off x="36485" y="4071645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dirty="0" smtClean="0"/>
                <a:t>12. สามารถใส่รายละเอียดข้อมูลได้ในช่อง</a:t>
              </a:r>
              <a:r>
                <a:rPr lang="en-US" sz="1700" kern="1200" dirty="0" smtClean="0"/>
                <a:t>  Description</a:t>
              </a:r>
              <a:endParaRPr lang="th-TH" sz="1700" kern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578634" y="5381843"/>
            <a:ext cx="3592285" cy="747390"/>
            <a:chOff x="0" y="4831510"/>
            <a:chExt cx="3592285" cy="747390"/>
          </a:xfrm>
          <a:scene3d>
            <a:camera prst="orthographicFront"/>
            <a:lightRig rig="flat" dir="t"/>
          </a:scene3d>
        </p:grpSpPr>
        <p:sp>
          <p:nvSpPr>
            <p:cNvPr id="17" name="Rounded Rectangle 16"/>
            <p:cNvSpPr/>
            <p:nvPr/>
          </p:nvSpPr>
          <p:spPr>
            <a:xfrm>
              <a:off x="0" y="4831510"/>
              <a:ext cx="3592285" cy="74739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8" name="Rounded Rectangle 16"/>
            <p:cNvSpPr txBox="1"/>
            <p:nvPr/>
          </p:nvSpPr>
          <p:spPr>
            <a:xfrm>
              <a:off x="36485" y="4867995"/>
              <a:ext cx="3519315" cy="67442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l" defTabSz="7556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h-TH" sz="1700" kern="1200" dirty="0" smtClean="0"/>
                <a:t>13.ใส่ยอดที่จะลดหนี้ในช่อง </a:t>
              </a:r>
              <a:r>
                <a:rPr lang="en-US" sz="1700" kern="1200" dirty="0" smtClean="0"/>
                <a:t>Amount</a:t>
              </a:r>
              <a:endParaRPr lang="th-TH" sz="1700" kern="1200" dirty="0"/>
            </a:p>
          </p:txBody>
        </p:sp>
      </p:grpSp>
      <p:sp>
        <p:nvSpPr>
          <p:cNvPr id="31" name="Oval 30"/>
          <p:cNvSpPr/>
          <p:nvPr/>
        </p:nvSpPr>
        <p:spPr>
          <a:xfrm>
            <a:off x="4088674" y="1938589"/>
            <a:ext cx="313509" cy="29433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7</a:t>
            </a:r>
            <a:endParaRPr lang="th-TH" dirty="0"/>
          </a:p>
        </p:txBody>
      </p:sp>
      <p:sp>
        <p:nvSpPr>
          <p:cNvPr id="33" name="Oval 32"/>
          <p:cNvSpPr/>
          <p:nvPr/>
        </p:nvSpPr>
        <p:spPr>
          <a:xfrm>
            <a:off x="4402183" y="2992793"/>
            <a:ext cx="313509" cy="29433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8</a:t>
            </a:r>
            <a:endParaRPr lang="th-TH" dirty="0"/>
          </a:p>
        </p:txBody>
      </p:sp>
      <p:sp>
        <p:nvSpPr>
          <p:cNvPr id="34" name="Oval 33"/>
          <p:cNvSpPr/>
          <p:nvPr/>
        </p:nvSpPr>
        <p:spPr>
          <a:xfrm>
            <a:off x="4897335" y="3219318"/>
            <a:ext cx="313509" cy="29433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9</a:t>
            </a:r>
            <a:endParaRPr lang="th-TH" dirty="0"/>
          </a:p>
        </p:txBody>
      </p:sp>
      <p:sp>
        <p:nvSpPr>
          <p:cNvPr id="35" name="Oval 34"/>
          <p:cNvSpPr/>
          <p:nvPr/>
        </p:nvSpPr>
        <p:spPr>
          <a:xfrm>
            <a:off x="4374821" y="3590659"/>
            <a:ext cx="692330" cy="29904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6" name="Oval 35"/>
          <p:cNvSpPr/>
          <p:nvPr/>
        </p:nvSpPr>
        <p:spPr>
          <a:xfrm>
            <a:off x="5067151" y="4389363"/>
            <a:ext cx="313509" cy="29433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7" name="Oval 36"/>
          <p:cNvSpPr/>
          <p:nvPr/>
        </p:nvSpPr>
        <p:spPr>
          <a:xfrm>
            <a:off x="4715692" y="4871388"/>
            <a:ext cx="313509" cy="29433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8" name="TextBox 37"/>
          <p:cNvSpPr txBox="1"/>
          <p:nvPr/>
        </p:nvSpPr>
        <p:spPr>
          <a:xfrm>
            <a:off x="4351867" y="3473412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>
                    <a:lumMod val="95000"/>
                  </a:schemeClr>
                </a:solidFill>
              </a:rPr>
              <a:t>10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,</a:t>
            </a:r>
            <a:r>
              <a:rPr lang="th-TH" dirty="0" smtClean="0">
                <a:solidFill>
                  <a:schemeClr val="bg1">
                    <a:lumMod val="95000"/>
                  </a:schemeClr>
                </a:solidFill>
              </a:rPr>
              <a:t>11</a:t>
            </a:r>
            <a:endParaRPr lang="th-TH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1" y="4274922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>
                    <a:lumMod val="95000"/>
                  </a:schemeClr>
                </a:solidFill>
              </a:rPr>
              <a:t>12</a:t>
            </a:r>
            <a:endParaRPr lang="th-TH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61491" y="4741852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>
                    <a:lumMod val="95000"/>
                  </a:schemeClr>
                </a:solidFill>
              </a:rPr>
              <a:t>13</a:t>
            </a:r>
            <a:endParaRPr lang="th-TH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802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82239" b="47411"/>
          <a:stretch/>
        </p:blipFill>
        <p:spPr>
          <a:xfrm>
            <a:off x="1019386" y="1725450"/>
            <a:ext cx="2395129" cy="3847012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Rectangle 2"/>
          <p:cNvSpPr/>
          <p:nvPr/>
        </p:nvSpPr>
        <p:spPr>
          <a:xfrm>
            <a:off x="892628" y="771343"/>
            <a:ext cx="30915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14. คลิกที่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เลือก </a:t>
            </a:r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New </a:t>
            </a:r>
            <a:r>
              <a:rPr lang="en-US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Misc</a:t>
            </a:r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92777" y="4637314"/>
            <a:ext cx="2338252" cy="2743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3394" t="50803" r="26870" b="14554"/>
          <a:stretch/>
        </p:blipFill>
        <p:spPr>
          <a:xfrm>
            <a:off x="3765176" y="1725450"/>
            <a:ext cx="7772400" cy="253419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6" name="Rectangle 5"/>
          <p:cNvSpPr/>
          <p:nvPr/>
        </p:nvSpPr>
        <p:spPr>
          <a:xfrm>
            <a:off x="3984171" y="4259645"/>
            <a:ext cx="21188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15.ระบุเลขที่ </a:t>
            </a:r>
            <a:r>
              <a:rPr lang="en-US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Part </a:t>
            </a:r>
            <a:endParaRPr lang="en-US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60306" y="4259645"/>
            <a:ext cx="4777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16.ใส่ยอดเงินที่ลดหนี้ในช่อง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 Amount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83377" y="5856802"/>
            <a:ext cx="2868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ใส่ข้อมูลเสร็จแล้วกด </a:t>
            </a:r>
            <a:r>
              <a:rPr lang="en-US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  <a:endParaRPr lang="th-TH" dirty="0">
              <a:solidFill>
                <a:schemeClr val="accent6">
                  <a:lumMod val="50000"/>
                </a:schemeClr>
              </a:solidFill>
              <a:latin typeface="Angsana New" panose="02020603050405020304" pitchFamily="18" charset="-3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2144" t="5267" r="95575" b="91194"/>
          <a:stretch/>
        </p:blipFill>
        <p:spPr>
          <a:xfrm>
            <a:off x="10851470" y="5919074"/>
            <a:ext cx="457200" cy="39867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320794" y="2090442"/>
            <a:ext cx="335500" cy="35692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1" name="Oval 10"/>
          <p:cNvSpPr/>
          <p:nvPr/>
        </p:nvSpPr>
        <p:spPr>
          <a:xfrm>
            <a:off x="11308670" y="1905255"/>
            <a:ext cx="349930" cy="38074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2" name="TextBox 11"/>
          <p:cNvSpPr txBox="1"/>
          <p:nvPr/>
        </p:nvSpPr>
        <p:spPr>
          <a:xfrm>
            <a:off x="6277589" y="2024390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>
                    <a:lumMod val="95000"/>
                  </a:schemeClr>
                </a:solidFill>
              </a:rPr>
              <a:t>15</a:t>
            </a:r>
            <a:endParaRPr lang="th-TH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72680" y="1828832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solidFill>
                  <a:schemeClr val="bg1">
                    <a:lumMod val="95000"/>
                  </a:schemeClr>
                </a:solidFill>
              </a:rPr>
              <a:t>16</a:t>
            </a:r>
            <a:endParaRPr lang="th-TH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91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3303" r="13422" b="19041"/>
          <a:stretch/>
        </p:blipFill>
        <p:spPr>
          <a:xfrm>
            <a:off x="1536792" y="1554480"/>
            <a:ext cx="8807213" cy="4441372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Rectangle 2"/>
          <p:cNvSpPr/>
          <p:nvPr/>
        </p:nvSpPr>
        <p:spPr>
          <a:xfrm>
            <a:off x="7106194" y="3866606"/>
            <a:ext cx="1606732" cy="2612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1536792" y="861890"/>
            <a:ext cx="6918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17. เช็คยอดที่แถบ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Header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แล้วดูที่ช่อง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Variance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ต้องเท่ากับ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03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1311" b="53125"/>
          <a:stretch/>
        </p:blipFill>
        <p:spPr>
          <a:xfrm>
            <a:off x="853439" y="1391196"/>
            <a:ext cx="5033827" cy="342900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Rectangle 2"/>
          <p:cNvSpPr/>
          <p:nvPr/>
        </p:nvSpPr>
        <p:spPr>
          <a:xfrm>
            <a:off x="853439" y="867976"/>
            <a:ext cx="90090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18. ตรวจคู่บัญชี โดยคลิกที่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Actions – Group – Print Group Edit List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2062" t="26340" r="32196" b="27410"/>
          <a:stretch/>
        </p:blipFill>
        <p:spPr>
          <a:xfrm>
            <a:off x="6393979" y="1760527"/>
            <a:ext cx="4650377" cy="338328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5" name="Rectangle 4"/>
          <p:cNvSpPr/>
          <p:nvPr/>
        </p:nvSpPr>
        <p:spPr>
          <a:xfrm>
            <a:off x="1789611" y="1606731"/>
            <a:ext cx="496389" cy="15379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1815737" y="2037806"/>
            <a:ext cx="1933303" cy="2220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3749040" y="2727002"/>
            <a:ext cx="2138226" cy="27035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5887266" y="5470008"/>
            <a:ext cx="49536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19. เมื่อขึ้นหน้าต่างนี้มาคลิกที่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Print Preview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39990" t="31724" r="57561" b="63967"/>
          <a:stretch/>
        </p:blipFill>
        <p:spPr>
          <a:xfrm>
            <a:off x="10917020" y="5383074"/>
            <a:ext cx="534196" cy="52851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206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356" t="24847" r="28381" b="20625"/>
          <a:stretch/>
        </p:blipFill>
        <p:spPr>
          <a:xfrm>
            <a:off x="2625633" y="1329338"/>
            <a:ext cx="6667746" cy="49538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25633" y="806118"/>
            <a:ext cx="35125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20. ตรวจสอบความถูกต้องดูคู่บัญชี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648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0408" b="53482"/>
          <a:stretch/>
        </p:blipFill>
        <p:spPr>
          <a:xfrm>
            <a:off x="3117397" y="1822267"/>
            <a:ext cx="5491026" cy="362722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Rectangle 2"/>
          <p:cNvSpPr/>
          <p:nvPr/>
        </p:nvSpPr>
        <p:spPr>
          <a:xfrm>
            <a:off x="2172788" y="966393"/>
            <a:ext cx="86955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21.เมื่อบันทึกข้อมูลครบถ้วนถูกต้องแล้ว ให้คลิกที่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Actions – Group – Post 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6448" y="26126"/>
            <a:ext cx="2148376" cy="5232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th-TH" b="1" dirty="0" smtClean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การบันทึกเพิ่มหนี้</a:t>
            </a:r>
            <a:endParaRPr lang="th-TH" b="1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099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</TotalTime>
  <Words>401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Angsana New</vt:lpstr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26</cp:revision>
  <dcterms:created xsi:type="dcterms:W3CDTF">2024-04-03T08:38:42Z</dcterms:created>
  <dcterms:modified xsi:type="dcterms:W3CDTF">2024-08-15T02:22:39Z</dcterms:modified>
</cp:coreProperties>
</file>