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797675" cy="9929813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A5CE3-68B1-46D9-84D1-1CDC0D6F4960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100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1338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31338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68206E-D011-4EFB-8945-8179BFF67CC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45887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61A8F-77BA-40B6-94A3-C69BA906B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F19016-3CF7-4D33-B3B3-D139F1EA8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1F874-A33F-47FF-B28F-933315F0E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B956A-1F7B-4BA1-90DD-D5D7FA579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9B50A-55CC-4E4E-AA4A-9B7E60A2C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80292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0EDD3-B9B8-46B1-A577-41BAE20E4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AE524-E16C-4D0D-95C8-DFFCFA847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DF065-281A-4E2A-B3BB-8DAC214D7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A0833-3EAB-4FD9-865C-CDB54F49E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5B9C8-11D1-41DC-86DB-FFFDC8AE2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11084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CE552-A744-4649-9E37-BBF81EF20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A005C-A352-4203-84A5-607FCBE98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C44BE-B379-44C3-BEB0-3A01271D2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262A7-8C17-4A2D-9EB3-940D1A2CD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C9926-BB53-4E11-B0E8-A523D58DA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6714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2C052-8D9F-48E2-BEC2-D8284FC4B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C1378-200E-4511-B6D2-5D7CE0DD45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82AB7-3650-44AE-AFEC-DEEA7F835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E3D6B-87B7-483F-9614-36DE269F7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9B6BA-65A4-45C1-85DD-D36A891B0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5EE74-7ADC-4FAD-BDF6-C39DD223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24061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A834D-DB40-48AA-9DD4-625CAEDED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6D117-F503-49B5-8D87-A311AE5DA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22285-32C0-45FA-B5D7-DDDB5ED0D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BF4288-F7A3-4BB7-8994-6AAD914354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9E6EDA-2874-4131-9F24-6F5AEB55DE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FA9F78-8EBB-4BDD-AEA5-8D4F95186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63A57F-9EA4-449B-BF7C-C8A383C89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D5BB06-3D71-4E63-914F-CA7E555F7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54526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A79C9-58CA-4151-A5FE-04C9EFD00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08BFFB-6DCE-409C-8583-38C6E06BC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D0DD83-B282-453A-ACC1-81C852B3A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1771A4-F1E0-4044-8B25-2690C515B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50714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E77572-A98B-4682-A6F6-F8456133E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7A4E14-8B75-4C7C-AA6F-C47A92625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60C90-3CF7-4B77-9684-CD869A067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74941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19547-83D2-4F56-BD3B-249F773E1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6948E-2FA0-45E9-8A05-0A0138075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F6B34-7432-4020-83DE-B5C17EF30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DE22E-19D8-4E41-9490-C31CD5292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9A9CC-094C-44A3-BC97-91798AF88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C23AB-B7B4-4418-9743-D10FCEC4F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60680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29676-1F53-4379-9462-9756A6A32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8B3519-92F6-4364-97F8-024EA1C2D9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4CA5B-1BCB-441A-ADCB-986FB3280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C8B28-2C19-4B21-B69B-15A538C3D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022DF-8F39-4525-BB45-852FA7AF6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B7C06-F693-479D-A9EA-F4F241EA9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45059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451C8-FDAF-414F-8001-46C1E70F5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CE4089-1EFC-4003-BC52-7C8F51ECC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597D6-093A-4BC2-AD39-30DF6F36B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18218-4263-4D1B-9C8B-973AED8A9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86CB6-5929-42A7-922D-C80E0CD97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85179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6C3C1B-81E9-4EC3-96C9-E19F4CFB87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4C75D2-3AD8-4A47-9A9C-1748E584A1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9D058-8A37-401C-8005-DE27977AF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68DE5-2B26-40A5-9827-B5FA565BD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4877B-CB8B-41B0-AE35-F75DDE4FD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08330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4DF43C-73F7-4AC9-99DE-586F2106F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6F9D9-B392-4968-B0EF-AB54F54D8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9727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50044-441E-4B1C-964D-E59A444193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133C9-D8E3-455D-B4A4-3DE59B1B2F80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186F7-3F02-4EF7-93CF-024D7A931B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6DEA5-7326-42F6-A830-28448A9BA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761449-1030-460F-A257-FDA04A4522F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09726" y="181081"/>
            <a:ext cx="905602" cy="90560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5EFC24-B35A-4543-B8EC-6495ABB4B0AE}"/>
              </a:ext>
            </a:extLst>
          </p:cNvPr>
          <p:cNvSpPr txBox="1"/>
          <p:nvPr userDrawn="1"/>
        </p:nvSpPr>
        <p:spPr>
          <a:xfrm>
            <a:off x="1300295" y="157394"/>
            <a:ext cx="9387280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latin typeface="AngsanaUPC" panose="02020603050405020304" pitchFamily="18" charset="-34"/>
                <a:cs typeface="AngsanaUPC" panose="02020603050405020304" pitchFamily="18" charset="-34"/>
              </a:rPr>
              <a:t>APP</a:t>
            </a:r>
            <a:r>
              <a:rPr lang="th-TH" sz="2500" dirty="0">
                <a:latin typeface="AngsanaUPC" panose="02020603050405020304" pitchFamily="18" charset="-34"/>
                <a:cs typeface="AngsanaUPC" panose="02020603050405020304" pitchFamily="18" charset="-34"/>
              </a:rPr>
              <a:t>140 การยกเลิกการชำระเงิน (</a:t>
            </a:r>
            <a:r>
              <a:rPr lang="en-US" sz="2500" dirty="0">
                <a:latin typeface="AngsanaUPC" panose="02020603050405020304" pitchFamily="18" charset="-34"/>
                <a:cs typeface="AngsanaUPC" panose="02020603050405020304" pitchFamily="18" charset="-34"/>
              </a:rPr>
              <a:t>VOID PAYMENT ENTRY)</a:t>
            </a:r>
            <a:endParaRPr lang="th-TH" sz="25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r>
              <a:rPr lang="th-TH" u="sng" dirty="0"/>
              <a:t>										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AFF8DF-DF70-49ED-9AA1-567D9CA3F3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l="1967" t="33395" r="296" b="29786"/>
          <a:stretch/>
        </p:blipFill>
        <p:spPr>
          <a:xfrm>
            <a:off x="9723062" y="0"/>
            <a:ext cx="2330333" cy="70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69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92F3F0-D0F2-4762-B0ED-3E6F6AADE654}"/>
              </a:ext>
            </a:extLst>
          </p:cNvPr>
          <p:cNvSpPr txBox="1"/>
          <p:nvPr/>
        </p:nvSpPr>
        <p:spPr>
          <a:xfrm>
            <a:off x="1786467" y="2548467"/>
            <a:ext cx="8034866" cy="1984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APP140 </a:t>
            </a:r>
            <a:r>
              <a:rPr lang="th-TH" sz="60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การยกเลิกการชำระเงิน </a:t>
            </a:r>
            <a:r>
              <a:rPr lang="en-US" sz="60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(VOID PAYMENT ENTRY)</a:t>
            </a:r>
            <a:endParaRPr lang="th-TH" sz="60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71605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0F017B5-77E6-4BD1-98B0-56497FBFEB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515" t="-219" r="50825" b="18178"/>
          <a:stretch/>
        </p:blipFill>
        <p:spPr>
          <a:xfrm>
            <a:off x="1308092" y="1159693"/>
            <a:ext cx="5876170" cy="5454772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5A0B6DB-582F-486F-8F55-509FD15088FE}"/>
              </a:ext>
            </a:extLst>
          </p:cNvPr>
          <p:cNvSpPr/>
          <p:nvPr/>
        </p:nvSpPr>
        <p:spPr>
          <a:xfrm>
            <a:off x="2006960" y="5159315"/>
            <a:ext cx="1464372" cy="2389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CD8A0D-CB93-49AB-8814-1CCD4B7057CE}"/>
              </a:ext>
            </a:extLst>
          </p:cNvPr>
          <p:cNvSpPr/>
          <p:nvPr/>
        </p:nvSpPr>
        <p:spPr>
          <a:xfrm>
            <a:off x="2006960" y="6386202"/>
            <a:ext cx="1464372" cy="1770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2704D6B-AEF7-437D-BD5F-504075AA0861}"/>
              </a:ext>
            </a:extLst>
          </p:cNvPr>
          <p:cNvSpPr/>
          <p:nvPr/>
        </p:nvSpPr>
        <p:spPr>
          <a:xfrm>
            <a:off x="2006960" y="5879143"/>
            <a:ext cx="1464372" cy="1797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18BDDC-2DC8-4A79-A4CB-51AE3929BFF8}"/>
              </a:ext>
            </a:extLst>
          </p:cNvPr>
          <p:cNvSpPr/>
          <p:nvPr/>
        </p:nvSpPr>
        <p:spPr>
          <a:xfrm>
            <a:off x="4471951" y="3335836"/>
            <a:ext cx="1463182" cy="3725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B6D56135-BF3E-4E6F-B449-684CFCA41EAC}"/>
              </a:ext>
            </a:extLst>
          </p:cNvPr>
          <p:cNvSpPr/>
          <p:nvPr/>
        </p:nvSpPr>
        <p:spPr>
          <a:xfrm>
            <a:off x="8305800" y="1430953"/>
            <a:ext cx="2719748" cy="149514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AutoNum type="arabicPeriod"/>
            </a:pP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เข้า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Menu</a:t>
            </a:r>
          </a:p>
          <a:p>
            <a:pPr marL="457200" indent="-457200">
              <a:buAutoNum type="arabicPeriod"/>
            </a:pP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เลือก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Financial Management</a:t>
            </a:r>
          </a:p>
          <a:p>
            <a:pPr marL="457200" indent="-457200">
              <a:buAutoNum type="arabicPeriod"/>
            </a:pP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เลือก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Accounts Payable</a:t>
            </a:r>
          </a:p>
          <a:p>
            <a:pPr marL="457200" indent="-457200">
              <a:buAutoNum type="arabicPeriod"/>
            </a:pP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เลือก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General Operations</a:t>
            </a:r>
          </a:p>
          <a:p>
            <a:pPr marL="457200" indent="-457200">
              <a:buAutoNum type="arabicPeriod"/>
            </a:pP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เลือก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Void Payment Entry</a:t>
            </a:r>
            <a:endParaRPr lang="th-TH" sz="2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1" name="Down Ribbon 7">
            <a:extLst>
              <a:ext uri="{FF2B5EF4-FFF2-40B4-BE49-F238E27FC236}">
                <a16:creationId xmlns:a16="http://schemas.microsoft.com/office/drawing/2014/main" id="{625F1CD1-E486-4225-A54C-E591E8C1F7B2}"/>
              </a:ext>
            </a:extLst>
          </p:cNvPr>
          <p:cNvSpPr/>
          <p:nvPr/>
        </p:nvSpPr>
        <p:spPr>
          <a:xfrm>
            <a:off x="2345266" y="1642533"/>
            <a:ext cx="600303" cy="326857"/>
          </a:xfrm>
          <a:prstGeom prst="ribbon">
            <a:avLst/>
          </a:prstGeom>
          <a:solidFill>
            <a:srgbClr val="66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1</a:t>
            </a:r>
            <a:endParaRPr lang="th-TH" sz="1800" dirty="0">
              <a:solidFill>
                <a:schemeClr val="tx1"/>
              </a:solidFill>
            </a:endParaRPr>
          </a:p>
        </p:txBody>
      </p:sp>
      <p:sp>
        <p:nvSpPr>
          <p:cNvPr id="22" name="Down Ribbon 8">
            <a:extLst>
              <a:ext uri="{FF2B5EF4-FFF2-40B4-BE49-F238E27FC236}">
                <a16:creationId xmlns:a16="http://schemas.microsoft.com/office/drawing/2014/main" id="{D5298D1D-6697-4A1B-AB8A-1CAD8884723C}"/>
              </a:ext>
            </a:extLst>
          </p:cNvPr>
          <p:cNvSpPr/>
          <p:nvPr/>
        </p:nvSpPr>
        <p:spPr>
          <a:xfrm>
            <a:off x="1380067" y="4724399"/>
            <a:ext cx="533400" cy="284969"/>
          </a:xfrm>
          <a:prstGeom prst="ribbon">
            <a:avLst/>
          </a:prstGeom>
          <a:solidFill>
            <a:srgbClr val="66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2</a:t>
            </a:r>
            <a:endParaRPr lang="th-TH" sz="1800" dirty="0">
              <a:solidFill>
                <a:schemeClr val="tx1"/>
              </a:solidFill>
            </a:endParaRPr>
          </a:p>
        </p:txBody>
      </p:sp>
      <p:sp>
        <p:nvSpPr>
          <p:cNvPr id="23" name="Down Ribbon 9">
            <a:extLst>
              <a:ext uri="{FF2B5EF4-FFF2-40B4-BE49-F238E27FC236}">
                <a16:creationId xmlns:a16="http://schemas.microsoft.com/office/drawing/2014/main" id="{9A446A3A-E229-459A-B098-DBB20BA34A6A}"/>
              </a:ext>
            </a:extLst>
          </p:cNvPr>
          <p:cNvSpPr/>
          <p:nvPr/>
        </p:nvSpPr>
        <p:spPr>
          <a:xfrm>
            <a:off x="1380066" y="5526947"/>
            <a:ext cx="608199" cy="284969"/>
          </a:xfrm>
          <a:prstGeom prst="ribbon">
            <a:avLst/>
          </a:prstGeom>
          <a:solidFill>
            <a:srgbClr val="66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3</a:t>
            </a:r>
            <a:endParaRPr lang="th-TH" sz="1800" dirty="0">
              <a:solidFill>
                <a:schemeClr val="tx1"/>
              </a:solidFill>
            </a:endParaRPr>
          </a:p>
        </p:txBody>
      </p:sp>
      <p:sp>
        <p:nvSpPr>
          <p:cNvPr id="24" name="Down Ribbon 10">
            <a:extLst>
              <a:ext uri="{FF2B5EF4-FFF2-40B4-BE49-F238E27FC236}">
                <a16:creationId xmlns:a16="http://schemas.microsoft.com/office/drawing/2014/main" id="{EC41D872-1606-4891-8116-84310563FE0C}"/>
              </a:ext>
            </a:extLst>
          </p:cNvPr>
          <p:cNvSpPr/>
          <p:nvPr/>
        </p:nvSpPr>
        <p:spPr>
          <a:xfrm>
            <a:off x="1380066" y="6128248"/>
            <a:ext cx="611024" cy="284969"/>
          </a:xfrm>
          <a:prstGeom prst="ribbon">
            <a:avLst/>
          </a:prstGeom>
          <a:solidFill>
            <a:srgbClr val="66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4</a:t>
            </a:r>
            <a:endParaRPr lang="th-TH" sz="1800" dirty="0">
              <a:solidFill>
                <a:schemeClr val="tx1"/>
              </a:solidFill>
            </a:endParaRPr>
          </a:p>
        </p:txBody>
      </p:sp>
      <p:sp>
        <p:nvSpPr>
          <p:cNvPr id="25" name="Down Ribbon 11">
            <a:extLst>
              <a:ext uri="{FF2B5EF4-FFF2-40B4-BE49-F238E27FC236}">
                <a16:creationId xmlns:a16="http://schemas.microsoft.com/office/drawing/2014/main" id="{D1CDA559-1F1A-406A-8374-852EB2299826}"/>
              </a:ext>
            </a:extLst>
          </p:cNvPr>
          <p:cNvSpPr/>
          <p:nvPr/>
        </p:nvSpPr>
        <p:spPr>
          <a:xfrm>
            <a:off x="3471332" y="2997200"/>
            <a:ext cx="570273" cy="325543"/>
          </a:xfrm>
          <a:prstGeom prst="ribbon">
            <a:avLst/>
          </a:prstGeom>
          <a:solidFill>
            <a:srgbClr val="66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5</a:t>
            </a:r>
            <a:endParaRPr lang="th-TH" sz="1800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C60916A-8980-453E-A242-1D7546A38C09}"/>
              </a:ext>
            </a:extLst>
          </p:cNvPr>
          <p:cNvSpPr/>
          <p:nvPr/>
        </p:nvSpPr>
        <p:spPr>
          <a:xfrm>
            <a:off x="1431587" y="1851667"/>
            <a:ext cx="304080" cy="3268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82563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A335A7-A0D3-4309-BB09-2377685A13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42" t="6646" r="12617" b="11311"/>
          <a:stretch/>
        </p:blipFill>
        <p:spPr>
          <a:xfrm>
            <a:off x="1295399" y="1069154"/>
            <a:ext cx="8883083" cy="554152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8A9B55-E7BC-43AA-96FD-C18305F11001}"/>
              </a:ext>
            </a:extLst>
          </p:cNvPr>
          <p:cNvSpPr/>
          <p:nvPr/>
        </p:nvSpPr>
        <p:spPr>
          <a:xfrm>
            <a:off x="3200808" y="2453823"/>
            <a:ext cx="1433036" cy="345902"/>
          </a:xfrm>
          <a:prstGeom prst="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7114D6-EAA6-4C1F-99E9-11AB093D61E1}"/>
              </a:ext>
            </a:extLst>
          </p:cNvPr>
          <p:cNvSpPr/>
          <p:nvPr/>
        </p:nvSpPr>
        <p:spPr>
          <a:xfrm>
            <a:off x="5470397" y="4030910"/>
            <a:ext cx="1433036" cy="304466"/>
          </a:xfrm>
          <a:prstGeom prst="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0CB1E9-94E9-4F77-8C1A-B713C7B40BFD}"/>
              </a:ext>
            </a:extLst>
          </p:cNvPr>
          <p:cNvSpPr/>
          <p:nvPr/>
        </p:nvSpPr>
        <p:spPr>
          <a:xfrm>
            <a:off x="6069589" y="5534997"/>
            <a:ext cx="3889952" cy="962040"/>
          </a:xfrm>
          <a:prstGeom prst="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Down Ribbon 8">
            <a:extLst>
              <a:ext uri="{FF2B5EF4-FFF2-40B4-BE49-F238E27FC236}">
                <a16:creationId xmlns:a16="http://schemas.microsoft.com/office/drawing/2014/main" id="{764FD2B7-6AF5-476E-9267-6B0381EBC6F6}"/>
              </a:ext>
            </a:extLst>
          </p:cNvPr>
          <p:cNvSpPr/>
          <p:nvPr/>
        </p:nvSpPr>
        <p:spPr>
          <a:xfrm>
            <a:off x="2237226" y="2357631"/>
            <a:ext cx="734379" cy="291855"/>
          </a:xfrm>
          <a:prstGeom prst="ribbon">
            <a:avLst/>
          </a:prstGeom>
          <a:solidFill>
            <a:srgbClr val="66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6</a:t>
            </a:r>
            <a:endParaRPr lang="th-TH" sz="1800" dirty="0">
              <a:solidFill>
                <a:schemeClr val="tx1"/>
              </a:solidFill>
            </a:endParaRPr>
          </a:p>
        </p:txBody>
      </p:sp>
      <p:sp>
        <p:nvSpPr>
          <p:cNvPr id="7" name="Down Ribbon 9">
            <a:extLst>
              <a:ext uri="{FF2B5EF4-FFF2-40B4-BE49-F238E27FC236}">
                <a16:creationId xmlns:a16="http://schemas.microsoft.com/office/drawing/2014/main" id="{78396E91-F5D8-4B98-B196-463E5DA6732F}"/>
              </a:ext>
            </a:extLst>
          </p:cNvPr>
          <p:cNvSpPr/>
          <p:nvPr/>
        </p:nvSpPr>
        <p:spPr>
          <a:xfrm>
            <a:off x="4706553" y="3615268"/>
            <a:ext cx="678247" cy="359188"/>
          </a:xfrm>
          <a:prstGeom prst="ribbon">
            <a:avLst/>
          </a:prstGeom>
          <a:solidFill>
            <a:srgbClr val="66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7</a:t>
            </a:r>
            <a:endParaRPr lang="th-TH" sz="1800" dirty="0">
              <a:solidFill>
                <a:schemeClr val="tx1"/>
              </a:solidFill>
            </a:endParaRPr>
          </a:p>
        </p:txBody>
      </p:sp>
      <p:sp>
        <p:nvSpPr>
          <p:cNvPr id="8" name="Down Ribbon 10">
            <a:extLst>
              <a:ext uri="{FF2B5EF4-FFF2-40B4-BE49-F238E27FC236}">
                <a16:creationId xmlns:a16="http://schemas.microsoft.com/office/drawing/2014/main" id="{5E756369-2EAB-4B38-98C7-6F5C690353B5}"/>
              </a:ext>
            </a:extLst>
          </p:cNvPr>
          <p:cNvSpPr/>
          <p:nvPr/>
        </p:nvSpPr>
        <p:spPr>
          <a:xfrm>
            <a:off x="8187311" y="2772373"/>
            <a:ext cx="734379" cy="345902"/>
          </a:xfrm>
          <a:prstGeom prst="ribbon">
            <a:avLst/>
          </a:prstGeom>
          <a:solidFill>
            <a:srgbClr val="66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8</a:t>
            </a:r>
            <a:endParaRPr lang="th-TH" sz="1800" dirty="0">
              <a:solidFill>
                <a:schemeClr val="tx1"/>
              </a:solidFill>
            </a:endParaRPr>
          </a:p>
        </p:txBody>
      </p:sp>
      <p:sp>
        <p:nvSpPr>
          <p:cNvPr id="9" name="Down Ribbon 11">
            <a:extLst>
              <a:ext uri="{FF2B5EF4-FFF2-40B4-BE49-F238E27FC236}">
                <a16:creationId xmlns:a16="http://schemas.microsoft.com/office/drawing/2014/main" id="{223C4A0A-7CBF-4AE1-BC83-F53BA96CBF7C}"/>
              </a:ext>
            </a:extLst>
          </p:cNvPr>
          <p:cNvSpPr/>
          <p:nvPr/>
        </p:nvSpPr>
        <p:spPr>
          <a:xfrm>
            <a:off x="9016805" y="4801654"/>
            <a:ext cx="734379" cy="304465"/>
          </a:xfrm>
          <a:prstGeom prst="ribbon">
            <a:avLst/>
          </a:prstGeom>
          <a:solidFill>
            <a:srgbClr val="66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9</a:t>
            </a:r>
            <a:endParaRPr lang="th-TH" sz="18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A70466-7F5F-4094-A35F-BC7B8AF281E3}"/>
              </a:ext>
            </a:extLst>
          </p:cNvPr>
          <p:cNvSpPr/>
          <p:nvPr/>
        </p:nvSpPr>
        <p:spPr>
          <a:xfrm>
            <a:off x="9016805" y="2832096"/>
            <a:ext cx="1433036" cy="304466"/>
          </a:xfrm>
          <a:prstGeom prst="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Rounded Rectangle 13">
            <a:extLst>
              <a:ext uri="{FF2B5EF4-FFF2-40B4-BE49-F238E27FC236}">
                <a16:creationId xmlns:a16="http://schemas.microsoft.com/office/drawing/2014/main" id="{D566E932-7EA8-4ECE-A22B-31CEAE1C23CC}"/>
              </a:ext>
            </a:extLst>
          </p:cNvPr>
          <p:cNvSpPr/>
          <p:nvPr/>
        </p:nvSpPr>
        <p:spPr>
          <a:xfrm>
            <a:off x="9586466" y="3312077"/>
            <a:ext cx="2754726" cy="122146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6.  กดเลือกแถบเมนู</a:t>
            </a:r>
            <a:r>
              <a:rPr lang="en-US" sz="1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Payment Number…</a:t>
            </a:r>
          </a:p>
          <a:p>
            <a:r>
              <a:rPr lang="th-TH" sz="1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7.  กดเลือกแถบเมนู </a:t>
            </a:r>
            <a:r>
              <a:rPr lang="en-US" sz="1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Supplier…</a:t>
            </a:r>
          </a:p>
          <a:p>
            <a:r>
              <a:rPr lang="th-TH" sz="1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8.  กดเลือกแถบเมนู</a:t>
            </a:r>
            <a:r>
              <a:rPr lang="en-US" sz="1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Search</a:t>
            </a:r>
          </a:p>
          <a:p>
            <a:r>
              <a:rPr lang="en-US" sz="1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9.  </a:t>
            </a:r>
            <a:r>
              <a:rPr lang="th-TH" sz="1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กำหนดเงื่อนไขการค้นหา</a:t>
            </a:r>
            <a:endParaRPr lang="en-US" sz="18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228379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B727172B-12EB-4B8A-86B3-FCD0985F8D5A}"/>
              </a:ext>
            </a:extLst>
          </p:cNvPr>
          <p:cNvSpPr/>
          <p:nvPr/>
        </p:nvSpPr>
        <p:spPr>
          <a:xfrm>
            <a:off x="7021551" y="1476221"/>
            <a:ext cx="3395386" cy="122389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10.  เลือกข้อมูล แล้วคลิกเลือกให้ขึ้นแถบสีฟ้า เสร็จแล้วกดดับเบิ้ลคลิก หรือ กด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OK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EF05BC4-1FF6-41DB-8820-464604DB04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874" t="2070" r="30202" b="6312"/>
          <a:stretch/>
        </p:blipFill>
        <p:spPr>
          <a:xfrm>
            <a:off x="1529160" y="1079650"/>
            <a:ext cx="4237563" cy="546738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7AC15A1-7850-43D2-BFCB-95659BFFFEF3}"/>
              </a:ext>
            </a:extLst>
          </p:cNvPr>
          <p:cNvSpPr/>
          <p:nvPr/>
        </p:nvSpPr>
        <p:spPr>
          <a:xfrm>
            <a:off x="1529161" y="3039533"/>
            <a:ext cx="4181736" cy="208379"/>
          </a:xfrm>
          <a:prstGeom prst="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5EDF90-4984-4778-B2CA-3F1B5B9272B6}"/>
              </a:ext>
            </a:extLst>
          </p:cNvPr>
          <p:cNvSpPr/>
          <p:nvPr/>
        </p:nvSpPr>
        <p:spPr>
          <a:xfrm>
            <a:off x="1529159" y="6144532"/>
            <a:ext cx="799921" cy="292435"/>
          </a:xfrm>
          <a:prstGeom prst="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2" name="Down Ribbon 11">
            <a:extLst>
              <a:ext uri="{FF2B5EF4-FFF2-40B4-BE49-F238E27FC236}">
                <a16:creationId xmlns:a16="http://schemas.microsoft.com/office/drawing/2014/main" id="{4FCC0390-2C1C-4D01-B349-759710AC28DE}"/>
              </a:ext>
            </a:extLst>
          </p:cNvPr>
          <p:cNvSpPr/>
          <p:nvPr/>
        </p:nvSpPr>
        <p:spPr>
          <a:xfrm>
            <a:off x="1421801" y="2218267"/>
            <a:ext cx="838799" cy="383507"/>
          </a:xfrm>
          <a:prstGeom prst="ribbon">
            <a:avLst/>
          </a:prstGeom>
          <a:solidFill>
            <a:srgbClr val="66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10</a:t>
            </a:r>
            <a:endParaRPr lang="th-TH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653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77994AC-6D09-4F31-ADCA-FD4AC986CC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003" t="1892" r="26673" b="15713"/>
          <a:stretch/>
        </p:blipFill>
        <p:spPr>
          <a:xfrm>
            <a:off x="1363134" y="1148536"/>
            <a:ext cx="6076281" cy="5417544"/>
          </a:xfrm>
          <a:prstGeom prst="rect">
            <a:avLst/>
          </a:prstGeom>
        </p:spPr>
      </p:pic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964F5583-B389-40E2-ABA1-C10CD4DB56E8}"/>
              </a:ext>
            </a:extLst>
          </p:cNvPr>
          <p:cNvSpPr/>
          <p:nvPr/>
        </p:nvSpPr>
        <p:spPr>
          <a:xfrm>
            <a:off x="8128258" y="1658720"/>
            <a:ext cx="3625860" cy="109735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11.   เมื่อเลือก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Supplier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ได้แล้วกด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Search 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เสร็จแล้วกดดับเบิ้ลคลิก หรือ กด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OK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D57121-0F3D-4ED9-8C72-DB4DA3D63B17}"/>
              </a:ext>
            </a:extLst>
          </p:cNvPr>
          <p:cNvSpPr/>
          <p:nvPr/>
        </p:nvSpPr>
        <p:spPr>
          <a:xfrm>
            <a:off x="6133802" y="2173057"/>
            <a:ext cx="1236372" cy="265345"/>
          </a:xfrm>
          <a:prstGeom prst="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8461E9-912E-42DB-9026-31768B6B8336}"/>
              </a:ext>
            </a:extLst>
          </p:cNvPr>
          <p:cNvSpPr/>
          <p:nvPr/>
        </p:nvSpPr>
        <p:spPr>
          <a:xfrm>
            <a:off x="1464734" y="6042601"/>
            <a:ext cx="883632" cy="279209"/>
          </a:xfrm>
          <a:prstGeom prst="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Down Ribbon 4">
            <a:extLst>
              <a:ext uri="{FF2B5EF4-FFF2-40B4-BE49-F238E27FC236}">
                <a16:creationId xmlns:a16="http://schemas.microsoft.com/office/drawing/2014/main" id="{D6AC021D-A44A-47C8-96FE-D3A191F3D43C}"/>
              </a:ext>
            </a:extLst>
          </p:cNvPr>
          <p:cNvSpPr/>
          <p:nvPr/>
        </p:nvSpPr>
        <p:spPr>
          <a:xfrm>
            <a:off x="5563674" y="1636990"/>
            <a:ext cx="837127" cy="348263"/>
          </a:xfrm>
          <a:prstGeom prst="ribbon">
            <a:avLst/>
          </a:prstGeom>
          <a:solidFill>
            <a:srgbClr val="66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11</a:t>
            </a:r>
            <a:endParaRPr lang="th-TH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7163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4A58DC-F4BB-4551-9132-0FADAB10D4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640" t="7878" r="13607" b="17121"/>
          <a:stretch/>
        </p:blipFill>
        <p:spPr>
          <a:xfrm>
            <a:off x="1117602" y="1279854"/>
            <a:ext cx="8491708" cy="492172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20B2E96-2D28-4D0A-932C-AA14A9CD913A}"/>
              </a:ext>
            </a:extLst>
          </p:cNvPr>
          <p:cNvSpPr/>
          <p:nvPr/>
        </p:nvSpPr>
        <p:spPr>
          <a:xfrm>
            <a:off x="3456319" y="3970867"/>
            <a:ext cx="2165547" cy="1707455"/>
          </a:xfrm>
          <a:prstGeom prst="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Down Ribbon 4">
            <a:extLst>
              <a:ext uri="{FF2B5EF4-FFF2-40B4-BE49-F238E27FC236}">
                <a16:creationId xmlns:a16="http://schemas.microsoft.com/office/drawing/2014/main" id="{1A27C7F6-E562-401B-981A-E3A8306DE1AD}"/>
              </a:ext>
            </a:extLst>
          </p:cNvPr>
          <p:cNvSpPr/>
          <p:nvPr/>
        </p:nvSpPr>
        <p:spPr>
          <a:xfrm>
            <a:off x="2294467" y="3589867"/>
            <a:ext cx="836499" cy="463006"/>
          </a:xfrm>
          <a:prstGeom prst="ribbon">
            <a:avLst/>
          </a:prstGeom>
          <a:solidFill>
            <a:srgbClr val="66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12</a:t>
            </a:r>
            <a:endParaRPr lang="th-TH" sz="180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532DA8F9-4E78-46B5-9BCA-1267DD15550C}"/>
              </a:ext>
            </a:extLst>
          </p:cNvPr>
          <p:cNvSpPr/>
          <p:nvPr/>
        </p:nvSpPr>
        <p:spPr>
          <a:xfrm>
            <a:off x="8154961" y="3776825"/>
            <a:ext cx="3793067" cy="1121916"/>
          </a:xfrm>
          <a:prstGeom prst="roundRect">
            <a:avLst>
              <a:gd name="adj" fmla="val 20353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12.   ช่อง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Apply Date 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ใส่ข้อมูลวันที่เดียวกับวันที่ทำจ่าย (ข้อมูลต้องตรงกับช่อง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Check Date)</a:t>
            </a:r>
          </a:p>
        </p:txBody>
      </p:sp>
    </p:spTree>
    <p:extLst>
      <p:ext uri="{BB962C8B-B14F-4D97-AF65-F5344CB8AC3E}">
        <p14:creationId xmlns:p14="http://schemas.microsoft.com/office/powerpoint/2010/main" val="7736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EC9C37-6580-46E3-AF1C-16371515C2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42" t="7703" r="13112" b="19586"/>
          <a:stretch/>
        </p:blipFill>
        <p:spPr>
          <a:xfrm>
            <a:off x="1276179" y="1127645"/>
            <a:ext cx="8431629" cy="469307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96AB3CD-F0C4-4329-A777-B07D1702129C}"/>
              </a:ext>
            </a:extLst>
          </p:cNvPr>
          <p:cNvSpPr/>
          <p:nvPr/>
        </p:nvSpPr>
        <p:spPr>
          <a:xfrm>
            <a:off x="6543150" y="4345640"/>
            <a:ext cx="3090839" cy="1032473"/>
          </a:xfrm>
          <a:prstGeom prst="rect">
            <a:avLst/>
          </a:prstGeom>
          <a:noFill/>
          <a:ln w="38100" cap="flat" cmpd="sng" algn="ctr">
            <a:solidFill>
              <a:srgbClr val="FF0066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88194D5-F99D-4025-81DA-355BEF7FC86D}"/>
              </a:ext>
            </a:extLst>
          </p:cNvPr>
          <p:cNvSpPr/>
          <p:nvPr/>
        </p:nvSpPr>
        <p:spPr>
          <a:xfrm>
            <a:off x="6983656" y="2896363"/>
            <a:ext cx="4086394" cy="1032474"/>
          </a:xfrm>
          <a:prstGeom prst="roundRect">
            <a:avLst/>
          </a:prstGeom>
          <a:solidFill>
            <a:srgbClr val="ED7D31">
              <a:lumMod val="40000"/>
              <a:lumOff val="6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13"/>
              <a:tabLst/>
              <a:defRPr/>
            </a:pPr>
            <a:r>
              <a:rPr kumimoji="0" lang="th-TH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ngsana New" panose="02020603050405020304" pitchFamily="18" charset="-34"/>
                <a:ea typeface="+mn-ea"/>
                <a:cs typeface="Angsana New" panose="02020603050405020304" pitchFamily="18" charset="-34"/>
              </a:rPr>
              <a:t>ช่อง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ngsana New" panose="02020603050405020304" pitchFamily="18" charset="-34"/>
                <a:ea typeface="+mn-ea"/>
                <a:cs typeface="Angsana New" panose="02020603050405020304" pitchFamily="18" charset="-34"/>
              </a:rPr>
              <a:t> Reason</a:t>
            </a:r>
            <a:r>
              <a:rPr kumimoji="0" lang="th-TH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ngsana New" panose="02020603050405020304" pitchFamily="18" charset="-34"/>
                <a:ea typeface="+mn-ea"/>
                <a:cs typeface="Angsana New" panose="02020603050405020304" pitchFamily="18" charset="-34"/>
              </a:rPr>
              <a:t> และ ช่อง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ngsana New" panose="02020603050405020304" pitchFamily="18" charset="-34"/>
                <a:ea typeface="+mn-ea"/>
                <a:cs typeface="Angsana New" panose="02020603050405020304" pitchFamily="18" charset="-34"/>
              </a:rPr>
              <a:t>GL Description = </a:t>
            </a:r>
            <a:r>
              <a:rPr kumimoji="0" lang="th-TH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ngsana New" panose="02020603050405020304" pitchFamily="18" charset="-34"/>
                <a:ea typeface="+mn-ea"/>
                <a:cs typeface="Angsana New" panose="02020603050405020304" pitchFamily="18" charset="-34"/>
              </a:rPr>
              <a:t>ใส่เหตุผลในการ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ngsana New" panose="02020603050405020304" pitchFamily="18" charset="-34"/>
                <a:ea typeface="+mn-ea"/>
                <a:cs typeface="Angsana New" panose="02020603050405020304" pitchFamily="18" charset="-34"/>
              </a:rPr>
              <a:t> Void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13"/>
              <a:tabLst/>
              <a:defRPr/>
            </a:pPr>
            <a:r>
              <a:rPr kumimoji="0" lang="th-TH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ngsana New" panose="02020603050405020304" pitchFamily="18" charset="-34"/>
                <a:ea typeface="+mn-ea"/>
                <a:cs typeface="Angsana New" panose="02020603050405020304" pitchFamily="18" charset="-34"/>
              </a:rPr>
              <a:t>กด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ngsana New" panose="02020603050405020304" pitchFamily="18" charset="-34"/>
                <a:ea typeface="+mn-ea"/>
                <a:cs typeface="Angsana New" panose="02020603050405020304" pitchFamily="18" charset="-34"/>
              </a:rPr>
              <a:t>Void</a:t>
            </a:r>
          </a:p>
        </p:txBody>
      </p:sp>
      <p:sp>
        <p:nvSpPr>
          <p:cNvPr id="5" name="Down Ribbon 5">
            <a:extLst>
              <a:ext uri="{FF2B5EF4-FFF2-40B4-BE49-F238E27FC236}">
                <a16:creationId xmlns:a16="http://schemas.microsoft.com/office/drawing/2014/main" id="{830A3BA5-6F42-4D7E-9468-D33245A1C27B}"/>
              </a:ext>
            </a:extLst>
          </p:cNvPr>
          <p:cNvSpPr/>
          <p:nvPr/>
        </p:nvSpPr>
        <p:spPr>
          <a:xfrm>
            <a:off x="6003105" y="4010077"/>
            <a:ext cx="829495" cy="310149"/>
          </a:xfrm>
          <a:prstGeom prst="ribbon">
            <a:avLst/>
          </a:prstGeom>
          <a:solidFill>
            <a:srgbClr val="66FFFF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13</a:t>
            </a:r>
            <a:endParaRPr kumimoji="0" lang="th-TH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E8188E-107C-4A9A-ACA1-6BFF3178B3C9}"/>
              </a:ext>
            </a:extLst>
          </p:cNvPr>
          <p:cNvSpPr/>
          <p:nvPr/>
        </p:nvSpPr>
        <p:spPr>
          <a:xfrm>
            <a:off x="2988733" y="5563751"/>
            <a:ext cx="970836" cy="354538"/>
          </a:xfrm>
          <a:prstGeom prst="rect">
            <a:avLst/>
          </a:prstGeom>
          <a:noFill/>
          <a:ln w="38100" cap="flat" cmpd="sng" algn="ctr">
            <a:solidFill>
              <a:srgbClr val="FF0066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7" name="Down Ribbon 7">
            <a:extLst>
              <a:ext uri="{FF2B5EF4-FFF2-40B4-BE49-F238E27FC236}">
                <a16:creationId xmlns:a16="http://schemas.microsoft.com/office/drawing/2014/main" id="{718BB913-5AE6-4AE2-91B2-0A74AC4E35DE}"/>
              </a:ext>
            </a:extLst>
          </p:cNvPr>
          <p:cNvSpPr/>
          <p:nvPr/>
        </p:nvSpPr>
        <p:spPr>
          <a:xfrm>
            <a:off x="2015068" y="5209214"/>
            <a:ext cx="882552" cy="354538"/>
          </a:xfrm>
          <a:prstGeom prst="ribbon">
            <a:avLst/>
          </a:prstGeom>
          <a:solidFill>
            <a:srgbClr val="66FFFF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</a:t>
            </a:r>
            <a:endParaRPr kumimoji="0" lang="th-TH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080720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730265-0B24-4EFC-8A2E-BAA809842D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740" t="7525" r="14114" b="18917"/>
          <a:stretch/>
        </p:blipFill>
        <p:spPr>
          <a:xfrm>
            <a:off x="1595667" y="1248313"/>
            <a:ext cx="9000666" cy="515933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A869DCA-477E-471A-8EA8-6B522BB122B7}"/>
              </a:ext>
            </a:extLst>
          </p:cNvPr>
          <p:cNvSpPr/>
          <p:nvPr/>
        </p:nvSpPr>
        <p:spPr>
          <a:xfrm>
            <a:off x="5393648" y="4624013"/>
            <a:ext cx="980047" cy="304174"/>
          </a:xfrm>
          <a:prstGeom prst="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C1DDEF1B-0E09-4BA6-9B91-64362AFACE0A}"/>
              </a:ext>
            </a:extLst>
          </p:cNvPr>
          <p:cNvSpPr/>
          <p:nvPr/>
        </p:nvSpPr>
        <p:spPr>
          <a:xfrm>
            <a:off x="8459792" y="3170224"/>
            <a:ext cx="1813646" cy="663085"/>
          </a:xfrm>
          <a:prstGeom prst="wedgeRoundRectCallout">
            <a:avLst>
              <a:gd name="adj1" fmla="val -49031"/>
              <a:gd name="adj2" fmla="val 31907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15.</a:t>
            </a:r>
            <a:r>
              <a:rPr lang="th-TH" dirty="0">
                <a:solidFill>
                  <a:srgbClr val="0070C0"/>
                </a:solidFill>
              </a:rPr>
              <a:t>คลิก </a:t>
            </a:r>
            <a:r>
              <a:rPr lang="en-US" dirty="0">
                <a:solidFill>
                  <a:srgbClr val="0070C0"/>
                </a:solidFill>
              </a:rPr>
              <a:t>Yes</a:t>
            </a:r>
            <a:endParaRPr lang="th-TH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871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ular Callout 2">
            <a:extLst>
              <a:ext uri="{FF2B5EF4-FFF2-40B4-BE49-F238E27FC236}">
                <a16:creationId xmlns:a16="http://schemas.microsoft.com/office/drawing/2014/main" id="{FF47744B-EDD1-48F9-806A-FDDB2229F437}"/>
              </a:ext>
            </a:extLst>
          </p:cNvPr>
          <p:cNvSpPr/>
          <p:nvPr/>
        </p:nvSpPr>
        <p:spPr>
          <a:xfrm>
            <a:off x="7711031" y="1528707"/>
            <a:ext cx="2809301" cy="971328"/>
          </a:xfrm>
          <a:prstGeom prst="wedgeRectCallout">
            <a:avLst>
              <a:gd name="adj1" fmla="val -51291"/>
              <a:gd name="adj2" fmla="val 77182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16.</a:t>
            </a:r>
            <a:r>
              <a:rPr lang="th-TH" dirty="0">
                <a:solidFill>
                  <a:srgbClr val="0070C0"/>
                </a:solidFill>
              </a:rPr>
              <a:t>คลิก </a:t>
            </a:r>
            <a:r>
              <a:rPr lang="en-US" dirty="0">
                <a:solidFill>
                  <a:srgbClr val="0070C0"/>
                </a:solidFill>
              </a:rPr>
              <a:t>OK </a:t>
            </a:r>
            <a:r>
              <a:rPr lang="th-TH" dirty="0">
                <a:solidFill>
                  <a:srgbClr val="0070C0"/>
                </a:solidFill>
              </a:rPr>
              <a:t>เอกสารจะถูกยกเลิกสมบูรณ์</a:t>
            </a:r>
          </a:p>
        </p:txBody>
      </p:sp>
      <p:sp>
        <p:nvSpPr>
          <p:cNvPr id="4" name="Down Ribbon 4">
            <a:extLst>
              <a:ext uri="{FF2B5EF4-FFF2-40B4-BE49-F238E27FC236}">
                <a16:creationId xmlns:a16="http://schemas.microsoft.com/office/drawing/2014/main" id="{940A8460-7399-4203-8ABA-6AF833D89A71}"/>
              </a:ext>
            </a:extLst>
          </p:cNvPr>
          <p:cNvSpPr/>
          <p:nvPr/>
        </p:nvSpPr>
        <p:spPr>
          <a:xfrm>
            <a:off x="7547021" y="3319871"/>
            <a:ext cx="837127" cy="348263"/>
          </a:xfrm>
          <a:prstGeom prst="ribbon">
            <a:avLst/>
          </a:prstGeom>
          <a:solidFill>
            <a:srgbClr val="66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16</a:t>
            </a:r>
            <a:endParaRPr lang="th-TH" sz="18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BC1053-AF5A-419C-884E-708518D0EB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837" t="8054" r="13804" b="17298"/>
          <a:stretch/>
        </p:blipFill>
        <p:spPr>
          <a:xfrm>
            <a:off x="1278704" y="1156474"/>
            <a:ext cx="9414457" cy="5460643"/>
          </a:xfrm>
          <a:prstGeom prst="rect">
            <a:avLst/>
          </a:prstGeom>
        </p:spPr>
      </p:pic>
      <p:sp>
        <p:nvSpPr>
          <p:cNvPr id="6" name="Rectangular Callout 2">
            <a:extLst>
              <a:ext uri="{FF2B5EF4-FFF2-40B4-BE49-F238E27FC236}">
                <a16:creationId xmlns:a16="http://schemas.microsoft.com/office/drawing/2014/main" id="{369F0BCB-5F24-426B-8707-B362B5BB1A72}"/>
              </a:ext>
            </a:extLst>
          </p:cNvPr>
          <p:cNvSpPr/>
          <p:nvPr/>
        </p:nvSpPr>
        <p:spPr>
          <a:xfrm>
            <a:off x="7706740" y="2460040"/>
            <a:ext cx="2809301" cy="971328"/>
          </a:xfrm>
          <a:prstGeom prst="wedgeRectCallout">
            <a:avLst>
              <a:gd name="adj1" fmla="val -51291"/>
              <a:gd name="adj2" fmla="val 77182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16.</a:t>
            </a:r>
            <a:r>
              <a:rPr lang="th-TH" dirty="0">
                <a:solidFill>
                  <a:srgbClr val="0070C0"/>
                </a:solidFill>
              </a:rPr>
              <a:t>คลิก </a:t>
            </a:r>
            <a:r>
              <a:rPr lang="en-US" dirty="0">
                <a:solidFill>
                  <a:srgbClr val="0070C0"/>
                </a:solidFill>
              </a:rPr>
              <a:t>OK </a:t>
            </a:r>
            <a:r>
              <a:rPr lang="th-TH" dirty="0">
                <a:solidFill>
                  <a:srgbClr val="0070C0"/>
                </a:solidFill>
              </a:rPr>
              <a:t>เอกสารจะถูกยกเลิกสมบูรณ์</a:t>
            </a:r>
          </a:p>
        </p:txBody>
      </p:sp>
      <p:sp>
        <p:nvSpPr>
          <p:cNvPr id="7" name="Down Ribbon 4">
            <a:extLst>
              <a:ext uri="{FF2B5EF4-FFF2-40B4-BE49-F238E27FC236}">
                <a16:creationId xmlns:a16="http://schemas.microsoft.com/office/drawing/2014/main" id="{42395C9F-8D43-4E45-B494-3DD5C738D265}"/>
              </a:ext>
            </a:extLst>
          </p:cNvPr>
          <p:cNvSpPr/>
          <p:nvPr/>
        </p:nvSpPr>
        <p:spPr>
          <a:xfrm>
            <a:off x="7542730" y="4251204"/>
            <a:ext cx="837127" cy="348263"/>
          </a:xfrm>
          <a:prstGeom prst="ribbon">
            <a:avLst/>
          </a:prstGeom>
          <a:solidFill>
            <a:srgbClr val="66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16</a:t>
            </a:r>
            <a:endParaRPr lang="th-TH" sz="18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4E4FD0-91B3-4641-A3DA-A84904D8A8DC}"/>
              </a:ext>
            </a:extLst>
          </p:cNvPr>
          <p:cNvSpPr/>
          <p:nvPr/>
        </p:nvSpPr>
        <p:spPr>
          <a:xfrm>
            <a:off x="6297769" y="4624229"/>
            <a:ext cx="1236373" cy="425003"/>
          </a:xfrm>
          <a:prstGeom prst="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68980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C25F0-F8A9-4770-83C8-4F0034B42C34}"/>
              </a:ext>
            </a:extLst>
          </p:cNvPr>
          <p:cNvSpPr txBox="1">
            <a:spLocks/>
          </p:cNvSpPr>
          <p:nvPr/>
        </p:nvSpPr>
        <p:spPr>
          <a:xfrm>
            <a:off x="838200" y="1117600"/>
            <a:ext cx="9762067" cy="946422"/>
          </a:xfrm>
          <a:prstGeom prst="rect">
            <a:avLst/>
          </a:prstGeom>
        </p:spPr>
        <p:txBody>
          <a:bodyPr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th-TH" sz="67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4722E6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ตรวจสอบเอกสารที่ถูกยกเลิก</a:t>
            </a:r>
            <a:b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</a:br>
            <a:endParaRPr lang="th-TH" dirty="0"/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069976FA-8394-4A8F-ACD7-4C1E191003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6183" b="3086"/>
          <a:stretch/>
        </p:blipFill>
        <p:spPr>
          <a:xfrm>
            <a:off x="1697817" y="1796265"/>
            <a:ext cx="7167488" cy="4285673"/>
          </a:xfrm>
          <a:prstGeom prst="rect">
            <a:avLst/>
          </a:prstGeom>
        </p:spPr>
      </p:pic>
      <p:sp>
        <p:nvSpPr>
          <p:cNvPr id="4" name="Rounded Rectangular Callout 10">
            <a:extLst>
              <a:ext uri="{FF2B5EF4-FFF2-40B4-BE49-F238E27FC236}">
                <a16:creationId xmlns:a16="http://schemas.microsoft.com/office/drawing/2014/main" id="{BC9E3F7A-BAAF-4052-A9A8-EB4066CBD75A}"/>
              </a:ext>
            </a:extLst>
          </p:cNvPr>
          <p:cNvSpPr/>
          <p:nvPr/>
        </p:nvSpPr>
        <p:spPr>
          <a:xfrm>
            <a:off x="250682" y="1700369"/>
            <a:ext cx="1341663" cy="258493"/>
          </a:xfrm>
          <a:prstGeom prst="wedgeRoundRectCallout">
            <a:avLst>
              <a:gd name="adj1" fmla="val 55837"/>
              <a:gd name="adj2" fmla="val 36184"/>
              <a:gd name="adj3" fmla="val 16667"/>
            </a:avLst>
          </a:prstGeom>
          <a:solidFill>
            <a:srgbClr val="FCC4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/>
                </a:solidFill>
              </a:rPr>
              <a:t>1.Payment Tracker</a:t>
            </a:r>
            <a:endParaRPr lang="th-TH" sz="1100" dirty="0">
              <a:solidFill>
                <a:schemeClr val="tx1"/>
              </a:solidFill>
            </a:endParaRPr>
          </a:p>
        </p:txBody>
      </p:sp>
      <p:sp>
        <p:nvSpPr>
          <p:cNvPr id="5" name="Oval Callout 12">
            <a:extLst>
              <a:ext uri="{FF2B5EF4-FFF2-40B4-BE49-F238E27FC236}">
                <a16:creationId xmlns:a16="http://schemas.microsoft.com/office/drawing/2014/main" id="{F3189C1B-61E9-4043-90D3-7E6B45E080B7}"/>
              </a:ext>
            </a:extLst>
          </p:cNvPr>
          <p:cNvSpPr/>
          <p:nvPr/>
        </p:nvSpPr>
        <p:spPr>
          <a:xfrm>
            <a:off x="3354414" y="2526848"/>
            <a:ext cx="1129451" cy="374574"/>
          </a:xfrm>
          <a:prstGeom prst="wedgeEllipseCallout">
            <a:avLst>
              <a:gd name="adj1" fmla="val -63871"/>
              <a:gd name="adj2" fmla="val 36029"/>
            </a:avLst>
          </a:prstGeom>
          <a:solidFill>
            <a:srgbClr val="FCC4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2.Check</a:t>
            </a:r>
            <a:endParaRPr lang="th-TH" sz="1200" dirty="0">
              <a:solidFill>
                <a:schemeClr val="tx1"/>
              </a:solidFill>
            </a:endParaRPr>
          </a:p>
        </p:txBody>
      </p:sp>
      <p:sp>
        <p:nvSpPr>
          <p:cNvPr id="6" name="Rounded Rectangular Callout 13">
            <a:extLst>
              <a:ext uri="{FF2B5EF4-FFF2-40B4-BE49-F238E27FC236}">
                <a16:creationId xmlns:a16="http://schemas.microsoft.com/office/drawing/2014/main" id="{836F1FF6-21FD-4AFB-B3BB-9F90E5935A9F}"/>
              </a:ext>
            </a:extLst>
          </p:cNvPr>
          <p:cNvSpPr/>
          <p:nvPr/>
        </p:nvSpPr>
        <p:spPr>
          <a:xfrm>
            <a:off x="589049" y="2064022"/>
            <a:ext cx="796407" cy="248170"/>
          </a:xfrm>
          <a:prstGeom prst="wedgeRoundRectCallout">
            <a:avLst>
              <a:gd name="adj1" fmla="val 88449"/>
              <a:gd name="adj2" fmla="val 9229"/>
              <a:gd name="adj3" fmla="val 16667"/>
            </a:avLst>
          </a:prstGeom>
          <a:solidFill>
            <a:srgbClr val="FCC4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3.Refresh</a:t>
            </a:r>
            <a:endParaRPr lang="th-TH" sz="12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12444C-DE62-442C-B12A-AF2C88CFFB63}"/>
              </a:ext>
            </a:extLst>
          </p:cNvPr>
          <p:cNvSpPr/>
          <p:nvPr/>
        </p:nvSpPr>
        <p:spPr>
          <a:xfrm>
            <a:off x="8402968" y="4061700"/>
            <a:ext cx="2821771" cy="1881446"/>
          </a:xfrm>
          <a:prstGeom prst="rect">
            <a:avLst/>
          </a:prstGeom>
          <a:gradFill flip="none" rotWithShape="1">
            <a:gsLst>
              <a:gs pos="0">
                <a:srgbClr val="3FDCF1">
                  <a:tint val="66000"/>
                  <a:satMod val="160000"/>
                </a:srgbClr>
              </a:gs>
              <a:gs pos="50000">
                <a:srgbClr val="3FDCF1">
                  <a:tint val="44500"/>
                  <a:satMod val="160000"/>
                </a:srgbClr>
              </a:gs>
              <a:gs pos="100000">
                <a:srgbClr val="3FDCF1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tx1"/>
                </a:solidFill>
              </a:rPr>
              <a:t>1.</a:t>
            </a:r>
            <a:r>
              <a:rPr lang="th-TH" sz="1800" dirty="0">
                <a:solidFill>
                  <a:schemeClr val="tx1"/>
                </a:solidFill>
              </a:rPr>
              <a:t>เข้าไปที่ </a:t>
            </a:r>
            <a:r>
              <a:rPr lang="en-US" sz="1800" dirty="0">
                <a:solidFill>
                  <a:schemeClr val="tx1"/>
                </a:solidFill>
              </a:rPr>
              <a:t>Menu Payment Tracker</a:t>
            </a:r>
          </a:p>
          <a:p>
            <a:r>
              <a:rPr lang="en-US" sz="1800" dirty="0">
                <a:solidFill>
                  <a:schemeClr val="tx1"/>
                </a:solidFill>
              </a:rPr>
              <a:t>2.</a:t>
            </a:r>
            <a:r>
              <a:rPr lang="th-TH" sz="1800" dirty="0">
                <a:solidFill>
                  <a:schemeClr val="tx1"/>
                </a:solidFill>
              </a:rPr>
              <a:t>ใส่เลขที่ </a:t>
            </a:r>
            <a:r>
              <a:rPr lang="en-US" sz="1800" dirty="0">
                <a:solidFill>
                  <a:schemeClr val="tx1"/>
                </a:solidFill>
              </a:rPr>
              <a:t>Check</a:t>
            </a:r>
          </a:p>
          <a:p>
            <a:r>
              <a:rPr lang="en-US" sz="1800" dirty="0">
                <a:solidFill>
                  <a:schemeClr val="tx1"/>
                </a:solidFill>
              </a:rPr>
              <a:t>3.</a:t>
            </a:r>
            <a:r>
              <a:rPr lang="th-TH" sz="1800" dirty="0">
                <a:solidFill>
                  <a:schemeClr val="tx1"/>
                </a:solidFill>
              </a:rPr>
              <a:t>คลิก </a:t>
            </a:r>
            <a:r>
              <a:rPr lang="en-US" sz="1800" dirty="0">
                <a:solidFill>
                  <a:schemeClr val="tx1"/>
                </a:solidFill>
              </a:rPr>
              <a:t>Refresh </a:t>
            </a:r>
            <a:endParaRPr lang="th-TH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4.</a:t>
            </a:r>
            <a:r>
              <a:rPr lang="th-TH" sz="1800" dirty="0">
                <a:solidFill>
                  <a:schemeClr val="tx1"/>
                </a:solidFill>
              </a:rPr>
              <a:t>ข้อมูล </a:t>
            </a:r>
            <a:r>
              <a:rPr lang="en-US" sz="1800" dirty="0">
                <a:solidFill>
                  <a:schemeClr val="tx1"/>
                </a:solidFill>
              </a:rPr>
              <a:t>Invoice </a:t>
            </a:r>
            <a:r>
              <a:rPr lang="th-TH" sz="1800" dirty="0">
                <a:solidFill>
                  <a:schemeClr val="tx1"/>
                </a:solidFill>
              </a:rPr>
              <a:t>ที่ถูกจ่ายด้วย เลขที่</a:t>
            </a:r>
            <a:r>
              <a:rPr lang="en-US" sz="1800" dirty="0">
                <a:solidFill>
                  <a:schemeClr val="tx1"/>
                </a:solidFill>
              </a:rPr>
              <a:t>Check </a:t>
            </a:r>
            <a:r>
              <a:rPr lang="th-TH" sz="1800" dirty="0">
                <a:solidFill>
                  <a:schemeClr val="tx1"/>
                </a:solidFill>
              </a:rPr>
              <a:t>ทั้งหมด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6E02B5-5622-428F-8461-802A8F052AFE}"/>
              </a:ext>
            </a:extLst>
          </p:cNvPr>
          <p:cNvSpPr/>
          <p:nvPr/>
        </p:nvSpPr>
        <p:spPr>
          <a:xfrm>
            <a:off x="856660" y="5227457"/>
            <a:ext cx="437102" cy="2754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4</a:t>
            </a:r>
          </a:p>
        </p:txBody>
      </p:sp>
      <p:sp>
        <p:nvSpPr>
          <p:cNvPr id="9" name="Right Arrow 17">
            <a:extLst>
              <a:ext uri="{FF2B5EF4-FFF2-40B4-BE49-F238E27FC236}">
                <a16:creationId xmlns:a16="http://schemas.microsoft.com/office/drawing/2014/main" id="{773312AD-8068-4DE0-BED3-2D69E50478B5}"/>
              </a:ext>
            </a:extLst>
          </p:cNvPr>
          <p:cNvSpPr/>
          <p:nvPr/>
        </p:nvSpPr>
        <p:spPr>
          <a:xfrm>
            <a:off x="1301195" y="5309049"/>
            <a:ext cx="291150" cy="16525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37615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E3FF588-B838-4869-A4C8-F6DB0D9D04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964" t="54076" r="23973" b="-49"/>
          <a:stretch/>
        </p:blipFill>
        <p:spPr>
          <a:xfrm>
            <a:off x="892364" y="1757500"/>
            <a:ext cx="7733843" cy="37567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AA9872-6CBF-47F0-B8A0-F3871ACDC4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722" t="70185" r="23482" b="16597"/>
          <a:stretch/>
        </p:blipFill>
        <p:spPr>
          <a:xfrm>
            <a:off x="892364" y="3630586"/>
            <a:ext cx="3470316" cy="85953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9B6CB26-8B51-41FF-BA00-67EDDA9D3740}"/>
              </a:ext>
            </a:extLst>
          </p:cNvPr>
          <p:cNvSpPr/>
          <p:nvPr/>
        </p:nvSpPr>
        <p:spPr>
          <a:xfrm>
            <a:off x="2390660" y="2176142"/>
            <a:ext cx="4340646" cy="51779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4" name="Rectangular Callout 5">
            <a:extLst>
              <a:ext uri="{FF2B5EF4-FFF2-40B4-BE49-F238E27FC236}">
                <a16:creationId xmlns:a16="http://schemas.microsoft.com/office/drawing/2014/main" id="{A5D995C7-CE6C-4AD2-A9A1-54C8F379110D}"/>
              </a:ext>
            </a:extLst>
          </p:cNvPr>
          <p:cNvSpPr/>
          <p:nvPr/>
        </p:nvSpPr>
        <p:spPr>
          <a:xfrm>
            <a:off x="121186" y="3316384"/>
            <a:ext cx="947450" cy="352542"/>
          </a:xfrm>
          <a:prstGeom prst="wedgeRectCallout">
            <a:avLst>
              <a:gd name="adj1" fmla="val 93446"/>
              <a:gd name="adj2" fmla="val 114821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/>
              <a:t>5.Invoice</a:t>
            </a:r>
            <a:endParaRPr lang="th-TH" sz="1600" dirty="0"/>
          </a:p>
        </p:txBody>
      </p:sp>
      <p:sp>
        <p:nvSpPr>
          <p:cNvPr id="15" name="Round Diagonal Corner Rectangle 8">
            <a:extLst>
              <a:ext uri="{FF2B5EF4-FFF2-40B4-BE49-F238E27FC236}">
                <a16:creationId xmlns:a16="http://schemas.microsoft.com/office/drawing/2014/main" id="{EB0992DE-4317-4EF9-AE32-B1EBA3E698F1}"/>
              </a:ext>
            </a:extLst>
          </p:cNvPr>
          <p:cNvSpPr/>
          <p:nvPr/>
        </p:nvSpPr>
        <p:spPr>
          <a:xfrm>
            <a:off x="5949109" y="4490121"/>
            <a:ext cx="3789799" cy="1845107"/>
          </a:xfrm>
          <a:prstGeom prst="round2Diag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5.</a:t>
            </a:r>
            <a:r>
              <a:rPr lang="th-TH" dirty="0"/>
              <a:t>คลิกขวาที่ </a:t>
            </a:r>
            <a:r>
              <a:rPr lang="en-US" dirty="0"/>
              <a:t>Invoice</a:t>
            </a:r>
          </a:p>
          <a:p>
            <a:r>
              <a:rPr lang="en-US" dirty="0"/>
              <a:t>6.</a:t>
            </a:r>
            <a:r>
              <a:rPr lang="th-TH" dirty="0"/>
              <a:t>แล้วเลือก </a:t>
            </a:r>
            <a:r>
              <a:rPr lang="en-US" dirty="0"/>
              <a:t>Open With </a:t>
            </a:r>
            <a:r>
              <a:rPr lang="th-TH" dirty="0"/>
              <a:t>เลือก </a:t>
            </a:r>
            <a:r>
              <a:rPr lang="en-US" dirty="0"/>
              <a:t>AP Invoice Tracker </a:t>
            </a:r>
            <a:endParaRPr lang="th-TH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7C5C243-FD37-4027-925D-53BCE3E0E727}"/>
              </a:ext>
            </a:extLst>
          </p:cNvPr>
          <p:cNvSpPr txBox="1">
            <a:spLocks/>
          </p:cNvSpPr>
          <p:nvPr/>
        </p:nvSpPr>
        <p:spPr>
          <a:xfrm>
            <a:off x="838200" y="1056923"/>
            <a:ext cx="10461436" cy="784755"/>
          </a:xfrm>
          <a:prstGeom prst="rect">
            <a:avLst/>
          </a:prstGeom>
        </p:spPr>
        <p:txBody>
          <a:bodyPr>
            <a:normAutofit fontScale="5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th-TH" sz="67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4722E6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ตรวจสอบเอกสารที่ถูกยกเลิก</a:t>
            </a:r>
            <a:b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</a:b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109615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23E3081-40CC-4CA6-B2D3-129B572337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80" b="22539"/>
          <a:stretch/>
        </p:blipFill>
        <p:spPr>
          <a:xfrm>
            <a:off x="532546" y="2242234"/>
            <a:ext cx="10969064" cy="226947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F78428E-B865-4258-A869-6F11BD113221}"/>
              </a:ext>
            </a:extLst>
          </p:cNvPr>
          <p:cNvSpPr/>
          <p:nvPr/>
        </p:nvSpPr>
        <p:spPr>
          <a:xfrm>
            <a:off x="2170323" y="2616808"/>
            <a:ext cx="396607" cy="19830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A6DEA2-6A75-49E1-BDC1-89C6BD220E61}"/>
              </a:ext>
            </a:extLst>
          </p:cNvPr>
          <p:cNvSpPr/>
          <p:nvPr/>
        </p:nvSpPr>
        <p:spPr>
          <a:xfrm>
            <a:off x="3547431" y="2815112"/>
            <a:ext cx="760164" cy="17627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0D49FD-E471-4A31-9BBF-E55473F984F1}"/>
              </a:ext>
            </a:extLst>
          </p:cNvPr>
          <p:cNvSpPr/>
          <p:nvPr/>
        </p:nvSpPr>
        <p:spPr>
          <a:xfrm>
            <a:off x="1707614" y="3211719"/>
            <a:ext cx="9793996" cy="95846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73B3A8F9-B085-44A4-B378-71B145E101F0}"/>
              </a:ext>
            </a:extLst>
          </p:cNvPr>
          <p:cNvSpPr/>
          <p:nvPr/>
        </p:nvSpPr>
        <p:spPr>
          <a:xfrm>
            <a:off x="1266941" y="2187152"/>
            <a:ext cx="903382" cy="319488"/>
          </a:xfrm>
          <a:prstGeom prst="wedgeRoundRectCallout">
            <a:avLst>
              <a:gd name="adj1" fmla="val 42070"/>
              <a:gd name="adj2" fmla="val 9107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7.Header</a:t>
            </a:r>
            <a:endParaRPr lang="th-TH" sz="1400" dirty="0"/>
          </a:p>
        </p:txBody>
      </p:sp>
      <p:sp>
        <p:nvSpPr>
          <p:cNvPr id="7" name="Rectangular Callout 6">
            <a:extLst>
              <a:ext uri="{FF2B5EF4-FFF2-40B4-BE49-F238E27FC236}">
                <a16:creationId xmlns:a16="http://schemas.microsoft.com/office/drawing/2014/main" id="{EE8F3DCF-3DDF-4172-9B22-51B80C8E7228}"/>
              </a:ext>
            </a:extLst>
          </p:cNvPr>
          <p:cNvSpPr/>
          <p:nvPr/>
        </p:nvSpPr>
        <p:spPr>
          <a:xfrm>
            <a:off x="3927514" y="2159612"/>
            <a:ext cx="1624988" cy="347030"/>
          </a:xfrm>
          <a:prstGeom prst="wedgeRectCallout">
            <a:avLst>
              <a:gd name="adj1" fmla="val -39841"/>
              <a:gd name="adj2" fmla="val 12518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/>
              <a:t>8.GL Transactions</a:t>
            </a:r>
            <a:endParaRPr lang="th-TH" sz="1600" dirty="0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CFD51BCC-C666-4260-BE54-D086AD059F2B}"/>
              </a:ext>
            </a:extLst>
          </p:cNvPr>
          <p:cNvSpPr/>
          <p:nvPr/>
        </p:nvSpPr>
        <p:spPr>
          <a:xfrm>
            <a:off x="1266941" y="3211719"/>
            <a:ext cx="341522" cy="25338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136DE7-4BE1-4213-BC86-14456A308E70}"/>
              </a:ext>
            </a:extLst>
          </p:cNvPr>
          <p:cNvSpPr/>
          <p:nvPr/>
        </p:nvSpPr>
        <p:spPr>
          <a:xfrm>
            <a:off x="864828" y="3250277"/>
            <a:ext cx="402113" cy="2148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/>
              <a:t>9</a:t>
            </a:r>
            <a:endParaRPr lang="th-TH" sz="1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B7DE17-ECE7-40EA-AC67-FC85CF0D3D06}"/>
              </a:ext>
            </a:extLst>
          </p:cNvPr>
          <p:cNvSpPr/>
          <p:nvPr/>
        </p:nvSpPr>
        <p:spPr>
          <a:xfrm>
            <a:off x="3861541" y="4629368"/>
            <a:ext cx="3682259" cy="170365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7.</a:t>
            </a:r>
            <a:r>
              <a:rPr lang="th-TH" sz="2400" dirty="0">
                <a:solidFill>
                  <a:schemeClr val="tx1"/>
                </a:solidFill>
              </a:rPr>
              <a:t>คลิกที่ </a:t>
            </a:r>
            <a:r>
              <a:rPr lang="en-US" sz="2400" dirty="0">
                <a:solidFill>
                  <a:schemeClr val="tx1"/>
                </a:solidFill>
              </a:rPr>
              <a:t>Header</a:t>
            </a:r>
          </a:p>
          <a:p>
            <a:r>
              <a:rPr lang="en-US" sz="2400" dirty="0">
                <a:solidFill>
                  <a:schemeClr val="tx1"/>
                </a:solidFill>
              </a:rPr>
              <a:t>8.</a:t>
            </a:r>
            <a:r>
              <a:rPr lang="th-TH" sz="2400" dirty="0">
                <a:solidFill>
                  <a:schemeClr val="tx1"/>
                </a:solidFill>
              </a:rPr>
              <a:t>ดูรายละเอียดที่ </a:t>
            </a:r>
            <a:r>
              <a:rPr lang="en-US" sz="2400" dirty="0">
                <a:solidFill>
                  <a:schemeClr val="tx1"/>
                </a:solidFill>
              </a:rPr>
              <a:t>GL Transactions</a:t>
            </a:r>
          </a:p>
          <a:p>
            <a:r>
              <a:rPr lang="en-US" sz="2400" dirty="0">
                <a:solidFill>
                  <a:schemeClr val="tx1"/>
                </a:solidFill>
              </a:rPr>
              <a:t>9.</a:t>
            </a:r>
            <a:r>
              <a:rPr lang="th-TH" sz="2400" dirty="0">
                <a:solidFill>
                  <a:schemeClr val="tx1"/>
                </a:solidFill>
              </a:rPr>
              <a:t>รายละเอียดคู่บัญชี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4661270-D665-4EEA-9B02-FBF09CAB7F3C}"/>
              </a:ext>
            </a:extLst>
          </p:cNvPr>
          <p:cNvSpPr txBox="1">
            <a:spLocks/>
          </p:cNvSpPr>
          <p:nvPr/>
        </p:nvSpPr>
        <p:spPr>
          <a:xfrm>
            <a:off x="838200" y="1287989"/>
            <a:ext cx="10515600" cy="1325563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th-TH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4722E6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ตรวจสอบเอกสารที่ถูกยกเลิก</a:t>
            </a:r>
            <a:b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</a:b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195885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255</Words>
  <Application>Microsoft Office PowerPoint</Application>
  <PresentationFormat>Widescreen</PresentationFormat>
  <Paragraphs>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Angsana New</vt:lpstr>
      <vt:lpstr>AngsanaUPC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Tanida Chorthongdee</dc:creator>
  <cp:lastModifiedBy>Tanida Chorthongdee</cp:lastModifiedBy>
  <cp:revision>12</cp:revision>
  <dcterms:created xsi:type="dcterms:W3CDTF">2024-08-07T03:39:51Z</dcterms:created>
  <dcterms:modified xsi:type="dcterms:W3CDTF">2024-08-10T11:15:50Z</dcterms:modified>
</cp:coreProperties>
</file>