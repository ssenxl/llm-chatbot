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1" r:id="rId7"/>
    <p:sldId id="262" r:id="rId8"/>
    <p:sldId id="263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07200" cy="9939338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unee Songprasert" initials="AS" lastIdx="1" clrIdx="0">
    <p:extLst>
      <p:ext uri="{19B8F6BF-5375-455C-9EA6-DF929625EA0E}">
        <p15:presenceInfo xmlns:p15="http://schemas.microsoft.com/office/powerpoint/2012/main" userId="S-1-5-21-4059006370-2331511250-3142268630-15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CAE3-3420-40C7-AA32-E560ED801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18347-27D8-420C-8009-39F422D02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7B63-2FB9-4B58-977C-72BBD0AB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8C84-E2E3-45FA-803E-487CABB2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1E4B-3B4C-4FAE-8D01-574AFAA4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930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3215-C675-4A46-82D0-A33536080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3E8F0-8CE7-4E5D-953D-3F1370D7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9C377-11CA-482C-BD28-3327C152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E2DF6-A551-4895-B59C-C5B588C6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9B27-1323-40A1-A480-ADFD9857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750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3643-9991-4C05-A8B1-24FF1C4D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E5D9D-AB9C-4993-AEF7-200346ABB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7C7C-67FC-4915-B70D-6EB1031C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7C6D-86A0-43A1-B508-E9C8048C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69A1-D5E4-4924-BBCC-42C0262B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258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EC36-C73A-4E41-A905-19E48EBF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057A1-1923-40D6-9995-FB9918F7C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671D7-D54F-4FCC-85D0-C94DFC055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AB9F-D7E3-4B0C-904C-0063F3C2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77FDB-FCC8-402D-8AED-B6AA7CBA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6D73E-519F-4D54-8F73-A94562C1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842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EB7A-AC58-431E-A59F-63BEC726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1EEEE-1DBE-467F-A4D3-FA4B2496C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78E28-8C42-4730-922C-23C646C37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6EBC0-5255-4337-A7D3-0BB47E03E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B205D-A17D-410C-9B4D-D450F0015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1ED58-A241-4A34-99DA-3EC95292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E9E90-0ED2-412D-803B-8CB19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BFF7FC-3833-42FD-BB04-BA58BBEE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662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25E7-DC82-4817-85F9-11A38A07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9FD56-D4D9-416A-A3BF-B481A109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0AA14-99FD-4962-8A6C-21EBB58E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D5CD2-E788-4462-BA07-E54AC0D0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592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796F4-15DB-4DB6-A73A-80C16D81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D7D31-C88E-4EBC-8E5A-A1EE2A1C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9F348-EA59-4122-BFC2-6DDCF849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226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1392-057D-4FB4-B00C-D97C8F95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351B2-61D8-4DD4-BA79-EE7AEC20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DFDE3-C6B6-42DC-B26E-840A1A84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8868B-CD6B-47A6-9827-8AC1A258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423D-F167-441D-B097-5C906C9B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9E96-5A67-4ECC-8244-E46AD44D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885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E09B-7790-4D5C-A4C0-30C6C637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852B4-6038-43F9-9B4A-9A317A91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F5ED4-940D-4A41-A336-E5733E764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521AB-BB4B-420F-B3E2-12A0599F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E81F7-768D-4E21-93D1-22DDF4B6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8F06A-CB17-4FF1-85BC-83CA4462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686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4DBD-0775-464F-B2E6-BE985068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58A6A-4458-40C1-B07F-D068DDFA3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7ACA-AEBE-4DDD-B54D-51BD755B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BAEA-FCAE-4FA8-B25F-22113668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6D7D5-B643-4625-9DBB-C534C1D2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4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4983A-51EF-4C8C-A4D5-130FEEF82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C51A7-1BF8-4782-8024-3E343FD8D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584CC-66FC-4F9C-B4DB-490824961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2B31A-3589-4C49-892B-3A5FC826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A753C-BF3F-4F0E-ACB0-906E8752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484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A66BD-B1D3-4D16-BB8A-CC6CABE13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4C1BD-C43B-4952-8DAB-12095E785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9464-1CF3-4902-A589-7DF892704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68576-1F71-448E-8698-F3A6D3EEE054}" type="datetimeFigureOut">
              <a:rPr lang="th-TH" smtClean="0"/>
              <a:t>10/12/67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D37A9-7729-4E4F-8816-CAB40B900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53826-C6E9-49F5-BF20-B76EE161F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A46E8-8805-47A8-B632-6073E0107B9A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FFFB9-A3E8-465C-BDEB-7F2835F8EDEF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APP180 </a:t>
            </a:r>
            <a:r>
              <a:rPr lang="th-TH" dirty="0"/>
              <a:t>การกระทบยอดบัญชีธนาคาร (</a:t>
            </a:r>
            <a:r>
              <a:rPr lang="en-US" dirty="0"/>
              <a:t>Bank Statement Processing)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1046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2261-3CD0-44D2-849B-C7F9F4024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045" y="1122363"/>
            <a:ext cx="10291665" cy="2387600"/>
          </a:xfrm>
        </p:spPr>
        <p:txBody>
          <a:bodyPr>
            <a:normAutofit fontScale="90000"/>
          </a:bodyPr>
          <a:lstStyle/>
          <a:p>
            <a:r>
              <a:rPr lang="en-US" sz="8000" b="1" dirty="0">
                <a:latin typeface="Angsana New" panose="02020603050405020304" pitchFamily="18" charset="-34"/>
              </a:rPr>
              <a:t>APP180</a:t>
            </a:r>
            <a:r>
              <a:rPr lang="th-TH" sz="8000" b="1" dirty="0">
                <a:latin typeface="Angsana New" panose="02020603050405020304" pitchFamily="18" charset="-34"/>
              </a:rPr>
              <a:t> </a:t>
            </a:r>
            <a:r>
              <a:rPr lang="th-TH" sz="8800" b="1" dirty="0"/>
              <a:t>การกระทบยอดบัญชีธนาคาร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0885B-FB9C-4F77-A484-915FF5C5B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481" y="3602038"/>
            <a:ext cx="9399037" cy="1655762"/>
          </a:xfrm>
        </p:spPr>
        <p:txBody>
          <a:bodyPr>
            <a:normAutofit/>
          </a:bodyPr>
          <a:lstStyle/>
          <a:p>
            <a:r>
              <a:rPr lang="en-US" sz="6000" b="1" dirty="0"/>
              <a:t>(Bank Statement Processing)</a:t>
            </a:r>
            <a:endParaRPr lang="th-TH" sz="6000" b="1" dirty="0"/>
          </a:p>
        </p:txBody>
      </p:sp>
    </p:spTree>
    <p:extLst>
      <p:ext uri="{BB962C8B-B14F-4D97-AF65-F5344CB8AC3E}">
        <p14:creationId xmlns:p14="http://schemas.microsoft.com/office/powerpoint/2010/main" val="319482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82BA034-0CFB-4B94-9896-835CC1EC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54623"/>
              </p:ext>
            </p:extLst>
          </p:nvPr>
        </p:nvGraphicFramePr>
        <p:xfrm>
          <a:off x="870079" y="866140"/>
          <a:ext cx="10451841" cy="4577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16525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6535316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APP180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การกระทบยอดบัญชีธนาคาร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Statement Processing)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สร้าง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New Statement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 Workbench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ตรวจสอบการบันทึกบัญชี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4.การบันทึกบัญชี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post)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4447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R1.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account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ที่จะใช้ในการจ่ายผิด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R2.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ระบุวันที่จ่ายเงินผิด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R3.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ระบุจำนวนเงินที่จ่ายผิด</a:t>
                      </a:r>
                    </a:p>
                    <a:p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3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CC06360-0EC5-4378-91D7-7DACCDA8928C}"/>
              </a:ext>
            </a:extLst>
          </p:cNvPr>
          <p:cNvGrpSpPr/>
          <p:nvPr/>
        </p:nvGrpSpPr>
        <p:grpSpPr>
          <a:xfrm>
            <a:off x="880107" y="680008"/>
            <a:ext cx="10431785" cy="5815223"/>
            <a:chOff x="647863" y="415440"/>
            <a:chExt cx="10579030" cy="61160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8464B0-D133-48DE-9166-36B2B7340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864" y="839756"/>
              <a:ext cx="10579029" cy="56917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C494E4-EFEA-483F-A219-0A81FFCA91D8}"/>
                </a:ext>
              </a:extLst>
            </p:cNvPr>
            <p:cNvSpPr txBox="1"/>
            <p:nvPr/>
          </p:nvSpPr>
          <p:spPr>
            <a:xfrm>
              <a:off x="647863" y="415440"/>
              <a:ext cx="10579029" cy="42080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Statement Processing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D7C09E-7AAE-4F2A-832A-C7681E646478}"/>
                </a:ext>
              </a:extLst>
            </p:cNvPr>
            <p:cNvSpPr/>
            <p:nvPr/>
          </p:nvSpPr>
          <p:spPr>
            <a:xfrm>
              <a:off x="1129004" y="2463282"/>
              <a:ext cx="2967135" cy="84908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66254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0B6C36-285A-4689-8F9F-0D79FA18C26D}"/>
              </a:ext>
            </a:extLst>
          </p:cNvPr>
          <p:cNvGrpSpPr/>
          <p:nvPr/>
        </p:nvGrpSpPr>
        <p:grpSpPr>
          <a:xfrm>
            <a:off x="1482530" y="681135"/>
            <a:ext cx="9226940" cy="6023182"/>
            <a:chOff x="1250233" y="210158"/>
            <a:chExt cx="9471611" cy="655063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D965F0-F450-4B40-8638-EEA545CB0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0234" y="579490"/>
              <a:ext cx="9471610" cy="6181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B06823-7220-4537-9E28-92D0A14C1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8971" y="1328880"/>
              <a:ext cx="3132923" cy="51838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B1B6B7-3E25-4D34-9CA7-CB7EFB7A2E7B}"/>
                </a:ext>
              </a:extLst>
            </p:cNvPr>
            <p:cNvSpPr txBox="1"/>
            <p:nvPr/>
          </p:nvSpPr>
          <p:spPr>
            <a:xfrm>
              <a:off x="1250233" y="210158"/>
              <a:ext cx="9471610" cy="4351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ID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ที่ต้องการกระทบยอด 1.กด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ID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 2.Search  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3.เลือก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Bank 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4.กด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OK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09FB56-C449-4202-BAD0-209A8268C583}"/>
                </a:ext>
              </a:extLst>
            </p:cNvPr>
            <p:cNvSpPr/>
            <p:nvPr/>
          </p:nvSpPr>
          <p:spPr>
            <a:xfrm>
              <a:off x="2855172" y="1483568"/>
              <a:ext cx="877076" cy="1959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CA679A-E4C5-4D6A-954A-1D2094E2CD12}"/>
                </a:ext>
              </a:extLst>
            </p:cNvPr>
            <p:cNvSpPr/>
            <p:nvPr/>
          </p:nvSpPr>
          <p:spPr>
            <a:xfrm>
              <a:off x="4201888" y="2892490"/>
              <a:ext cx="2954692" cy="1492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863307-524B-482D-BE98-3A9D6DC8CEB2}"/>
                </a:ext>
              </a:extLst>
            </p:cNvPr>
            <p:cNvSpPr/>
            <p:nvPr/>
          </p:nvSpPr>
          <p:spPr>
            <a:xfrm>
              <a:off x="4088971" y="6257893"/>
              <a:ext cx="613658" cy="1522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BE34A9-B47A-4E1A-87B3-E275CDC999D9}"/>
                </a:ext>
              </a:extLst>
            </p:cNvPr>
            <p:cNvSpPr/>
            <p:nvPr/>
          </p:nvSpPr>
          <p:spPr>
            <a:xfrm>
              <a:off x="6480718" y="1926113"/>
              <a:ext cx="591886" cy="1492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1" name="Heptagon 10">
            <a:extLst>
              <a:ext uri="{FF2B5EF4-FFF2-40B4-BE49-F238E27FC236}">
                <a16:creationId xmlns:a16="http://schemas.microsoft.com/office/drawing/2014/main" id="{BAABA0E0-DC98-46E9-8ACC-A06BD4CA6115}"/>
              </a:ext>
            </a:extLst>
          </p:cNvPr>
          <p:cNvSpPr/>
          <p:nvPr/>
        </p:nvSpPr>
        <p:spPr>
          <a:xfrm>
            <a:off x="2698501" y="1852010"/>
            <a:ext cx="240641" cy="180165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Heptagon 11">
            <a:extLst>
              <a:ext uri="{FF2B5EF4-FFF2-40B4-BE49-F238E27FC236}">
                <a16:creationId xmlns:a16="http://schemas.microsoft.com/office/drawing/2014/main" id="{E65C89B6-E780-4B90-8353-72A3ECFE892D}"/>
              </a:ext>
            </a:extLst>
          </p:cNvPr>
          <p:cNvSpPr/>
          <p:nvPr/>
        </p:nvSpPr>
        <p:spPr>
          <a:xfrm>
            <a:off x="6260842" y="2168675"/>
            <a:ext cx="272446" cy="227514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CF498D01-1A02-46C7-9C3F-09F70001CD3A}"/>
              </a:ext>
            </a:extLst>
          </p:cNvPr>
          <p:cNvSpPr/>
          <p:nvPr/>
        </p:nvSpPr>
        <p:spPr>
          <a:xfrm>
            <a:off x="3951072" y="6176865"/>
            <a:ext cx="252407" cy="226110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4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9D8632CE-4823-4508-BAF2-2C9579325BAA}"/>
              </a:ext>
            </a:extLst>
          </p:cNvPr>
          <p:cNvSpPr/>
          <p:nvPr/>
        </p:nvSpPr>
        <p:spPr>
          <a:xfrm>
            <a:off x="3951073" y="3123923"/>
            <a:ext cx="296865" cy="226110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491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C308E85-B55E-4755-9090-D8A89C191D10}"/>
              </a:ext>
            </a:extLst>
          </p:cNvPr>
          <p:cNvGrpSpPr/>
          <p:nvPr/>
        </p:nvGrpSpPr>
        <p:grpSpPr>
          <a:xfrm>
            <a:off x="1579703" y="699796"/>
            <a:ext cx="9032593" cy="5985234"/>
            <a:chOff x="1579703" y="699796"/>
            <a:chExt cx="9032593" cy="598523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0D140F9-F0DD-40DD-B7A2-B546C3B9C953}"/>
                </a:ext>
              </a:extLst>
            </p:cNvPr>
            <p:cNvGrpSpPr/>
            <p:nvPr/>
          </p:nvGrpSpPr>
          <p:grpSpPr>
            <a:xfrm>
              <a:off x="1579703" y="699796"/>
              <a:ext cx="9032593" cy="5985234"/>
              <a:chOff x="1138335" y="280625"/>
              <a:chExt cx="9269528" cy="641875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095FABB-76CF-40D1-9564-8A795D2EF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8335" y="649957"/>
                <a:ext cx="9269528" cy="604942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C76A15-8DCA-49E6-AC0B-8F6B1EBCFFD2}"/>
                  </a:ext>
                </a:extLst>
              </p:cNvPr>
              <p:cNvSpPr txBox="1"/>
              <p:nvPr/>
            </p:nvSpPr>
            <p:spPr>
              <a:xfrm>
                <a:off x="1138335" y="280625"/>
                <a:ext cx="9269528" cy="40011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ไปที่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New          </a:t>
                </a:r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New Statement</a:t>
                </a:r>
                <a:endPara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DDE5C5-3767-41D9-A208-B4B5A7B0B46F}"/>
                  </a:ext>
                </a:extLst>
              </p:cNvPr>
              <p:cNvSpPr/>
              <p:nvPr/>
            </p:nvSpPr>
            <p:spPr>
              <a:xfrm>
                <a:off x="1138335" y="1240973"/>
                <a:ext cx="1399592" cy="18661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235C689-706C-420E-BB27-A9C1A1E45F3F}"/>
                  </a:ext>
                </a:extLst>
              </p:cNvPr>
              <p:cNvSpPr/>
              <p:nvPr/>
            </p:nvSpPr>
            <p:spPr>
              <a:xfrm>
                <a:off x="1138335" y="1057474"/>
                <a:ext cx="205273" cy="1835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20BC6D3-856A-4386-AFBB-8A3286341B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6263" t="16871" r="57551" b="70651"/>
              <a:stretch/>
            </p:blipFill>
            <p:spPr>
              <a:xfrm>
                <a:off x="3573623" y="1679510"/>
                <a:ext cx="1502229" cy="755779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E9F7DC9-C8D1-43F3-8DF6-554791CFCF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1" t="6073" r="97748" b="91119"/>
            <a:stretch/>
          </p:blipFill>
          <p:spPr>
            <a:xfrm>
              <a:off x="2425963" y="744569"/>
              <a:ext cx="231692" cy="254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913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EBE64C-6B34-40F5-B50A-945E91A1A59F}"/>
              </a:ext>
            </a:extLst>
          </p:cNvPr>
          <p:cNvGrpSpPr/>
          <p:nvPr/>
        </p:nvGrpSpPr>
        <p:grpSpPr>
          <a:xfrm>
            <a:off x="1537716" y="643812"/>
            <a:ext cx="9116568" cy="6090547"/>
            <a:chOff x="1558213" y="72125"/>
            <a:chExt cx="9437480" cy="657339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370982-976D-4363-8282-FE6781CC172B}"/>
                </a:ext>
              </a:extLst>
            </p:cNvPr>
            <p:cNvGrpSpPr/>
            <p:nvPr/>
          </p:nvGrpSpPr>
          <p:grpSpPr>
            <a:xfrm>
              <a:off x="1558213" y="755780"/>
              <a:ext cx="9437480" cy="5889744"/>
              <a:chOff x="1250302" y="212476"/>
              <a:chExt cx="9857358" cy="643304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FF726C5-B4C0-42DE-AFE4-2A1E6FA6EB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0302" y="212476"/>
                <a:ext cx="9857358" cy="64330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52FFA5-65B7-42EB-93EA-A23FB58C4D50}"/>
                  </a:ext>
                </a:extLst>
              </p:cNvPr>
              <p:cNvSpPr/>
              <p:nvPr/>
            </p:nvSpPr>
            <p:spPr>
              <a:xfrm>
                <a:off x="2146042" y="475862"/>
                <a:ext cx="457200" cy="1679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527362-3383-421E-AD4B-AF16E483957F}"/>
                  </a:ext>
                </a:extLst>
              </p:cNvPr>
              <p:cNvSpPr/>
              <p:nvPr/>
            </p:nvSpPr>
            <p:spPr>
              <a:xfrm>
                <a:off x="2146041" y="823223"/>
                <a:ext cx="2099388" cy="24046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7222C4-4B3A-47A4-B791-5DD90953CDB8}"/>
                </a:ext>
              </a:extLst>
            </p:cNvPr>
            <p:cNvSpPr txBox="1"/>
            <p:nvPr/>
          </p:nvSpPr>
          <p:spPr>
            <a:xfrm>
              <a:off x="1558213" y="72125"/>
              <a:ext cx="9437480" cy="707886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การระบุยอดบัญชีตั้งต้น ใส่เฉพาะครั้งแรก ที่เริ่มต้นใช้งาน หลังจากนั้นระบบจะคำนวณยกยอดให้ในครั้งถัดไป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Modify Opening Balance 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389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6D660C6-34C8-4003-9382-D2896DB30EA3}"/>
              </a:ext>
            </a:extLst>
          </p:cNvPr>
          <p:cNvGrpSpPr/>
          <p:nvPr/>
        </p:nvGrpSpPr>
        <p:grpSpPr>
          <a:xfrm>
            <a:off x="1908607" y="686806"/>
            <a:ext cx="8374785" cy="5787063"/>
            <a:chOff x="1576872" y="124411"/>
            <a:chExt cx="9446810" cy="669066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C0D030-35DD-4EEA-8E20-0CE12459D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6872" y="649957"/>
              <a:ext cx="9446810" cy="61651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3B2D0A-DC55-4999-BFE0-7B53C7303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805" y="2466840"/>
              <a:ext cx="4715533" cy="19243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DBF7AF-7B45-4152-844D-0D9498202990}"/>
                </a:ext>
              </a:extLst>
            </p:cNvPr>
            <p:cNvSpPr txBox="1"/>
            <p:nvPr/>
          </p:nvSpPr>
          <p:spPr>
            <a:xfrm>
              <a:off x="1576872" y="124411"/>
              <a:ext cx="9446809" cy="53375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Opening Balance: </a:t>
              </a:r>
              <a:r>
                <a:rPr lang="th-TH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1.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ใส่จำนวนเงิน (ยอดตั้งต้น) </a:t>
              </a:r>
              <a:r>
                <a:rPr lang="th-TH" sz="24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 </a:t>
              </a:r>
              <a:r>
                <a:rPr lang="th-TH" sz="24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2.กด 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Modify</a:t>
              </a:r>
              <a:endParaRPr lang="th-TH" sz="24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02003AE-396B-4162-950B-E423E9866A4D}"/>
                </a:ext>
              </a:extLst>
            </p:cNvPr>
            <p:cNvSpPr/>
            <p:nvPr/>
          </p:nvSpPr>
          <p:spPr>
            <a:xfrm>
              <a:off x="5803643" y="3369809"/>
              <a:ext cx="1343605" cy="2052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49F61F-D38C-467B-A21C-5921E22961F2}"/>
                </a:ext>
              </a:extLst>
            </p:cNvPr>
            <p:cNvSpPr/>
            <p:nvPr/>
          </p:nvSpPr>
          <p:spPr>
            <a:xfrm>
              <a:off x="6926429" y="3905636"/>
              <a:ext cx="761995" cy="2052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8" name="Heptagon 7">
            <a:extLst>
              <a:ext uri="{FF2B5EF4-FFF2-40B4-BE49-F238E27FC236}">
                <a16:creationId xmlns:a16="http://schemas.microsoft.com/office/drawing/2014/main" id="{561E0A9E-B5B6-4539-87F6-D95F43E3478A}"/>
              </a:ext>
            </a:extLst>
          </p:cNvPr>
          <p:cNvSpPr/>
          <p:nvPr/>
        </p:nvSpPr>
        <p:spPr>
          <a:xfrm>
            <a:off x="4394719" y="3439488"/>
            <a:ext cx="287262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F33AD412-FBB2-4074-B369-2E515F0629DD}"/>
              </a:ext>
            </a:extLst>
          </p:cNvPr>
          <p:cNvSpPr/>
          <p:nvPr/>
        </p:nvSpPr>
        <p:spPr>
          <a:xfrm>
            <a:off x="6232850" y="3894404"/>
            <a:ext cx="285224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5781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A9ECE16-6EB4-4F72-8CE2-6F03C3F6F7A9}"/>
              </a:ext>
            </a:extLst>
          </p:cNvPr>
          <p:cNvGrpSpPr/>
          <p:nvPr/>
        </p:nvGrpSpPr>
        <p:grpSpPr>
          <a:xfrm>
            <a:off x="1600697" y="615821"/>
            <a:ext cx="8990605" cy="6108396"/>
            <a:chOff x="1539550" y="323550"/>
            <a:chExt cx="9446810" cy="653445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81F264F-2CE3-4EAF-BA27-93E95D768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9550" y="692882"/>
              <a:ext cx="9446810" cy="61651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0E61AD-9B06-4C8C-BFBE-E77A7E823DC8}"/>
                </a:ext>
              </a:extLst>
            </p:cNvPr>
            <p:cNvSpPr txBox="1"/>
            <p:nvPr/>
          </p:nvSpPr>
          <p:spPr>
            <a:xfrm>
              <a:off x="1539551" y="323550"/>
              <a:ext cx="9446809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ระบบจะถาม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Do you want to modify Opening Balance?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OK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DDF442-8A4C-492E-B2B7-0AE51AC14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805" y="2466840"/>
              <a:ext cx="4715533" cy="192431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BB270EC-61A4-49D0-8054-F7096050D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588" y="2781991"/>
              <a:ext cx="3105583" cy="157184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AE869E-CA94-4578-A08F-28C9AFB4697F}"/>
                </a:ext>
              </a:extLst>
            </p:cNvPr>
            <p:cNvSpPr/>
            <p:nvPr/>
          </p:nvSpPr>
          <p:spPr>
            <a:xfrm>
              <a:off x="6133381" y="3989611"/>
              <a:ext cx="808595" cy="23715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3075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D05E8CB-2835-42B1-A50B-1CDE2CF90059}"/>
              </a:ext>
            </a:extLst>
          </p:cNvPr>
          <p:cNvGrpSpPr/>
          <p:nvPr/>
        </p:nvGrpSpPr>
        <p:grpSpPr>
          <a:xfrm>
            <a:off x="548149" y="671803"/>
            <a:ext cx="11095702" cy="6001643"/>
            <a:chOff x="502249" y="681134"/>
            <a:chExt cx="11095702" cy="600164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B45CF8-D8E0-4351-8AB5-D74B8D48F8B5}"/>
                </a:ext>
              </a:extLst>
            </p:cNvPr>
            <p:cNvGrpSpPr/>
            <p:nvPr/>
          </p:nvGrpSpPr>
          <p:grpSpPr>
            <a:xfrm>
              <a:off x="594049" y="681134"/>
              <a:ext cx="11003902" cy="6001643"/>
              <a:chOff x="202163" y="558813"/>
              <a:chExt cx="12086253" cy="628444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6FD17B9-E9B3-4BF2-8522-D3B5F51598A3}"/>
                  </a:ext>
                </a:extLst>
              </p:cNvPr>
              <p:cNvGrpSpPr/>
              <p:nvPr/>
            </p:nvGrpSpPr>
            <p:grpSpPr>
              <a:xfrm>
                <a:off x="202163" y="558813"/>
                <a:ext cx="8941837" cy="6233876"/>
                <a:chOff x="1654629" y="403299"/>
                <a:chExt cx="9739603" cy="6356200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88C04A36-3EAB-4F4E-B6BB-777F2F0006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54629" y="403299"/>
                  <a:ext cx="9739603" cy="63562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0882FD8-7F3E-4173-AB4D-1855347261B1}"/>
                    </a:ext>
                  </a:extLst>
                </p:cNvPr>
                <p:cNvSpPr/>
                <p:nvPr/>
              </p:nvSpPr>
              <p:spPr>
                <a:xfrm>
                  <a:off x="4252038" y="2294912"/>
                  <a:ext cx="849085" cy="1772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C61B43F-D87C-442C-8517-0E9E1A0E8F4A}"/>
                    </a:ext>
                  </a:extLst>
                </p:cNvPr>
                <p:cNvSpPr/>
                <p:nvPr/>
              </p:nvSpPr>
              <p:spPr>
                <a:xfrm>
                  <a:off x="6839728" y="1504920"/>
                  <a:ext cx="849085" cy="1772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CEF6EDE-91DE-487C-B6FF-447B11B93152}"/>
                    </a:ext>
                  </a:extLst>
                </p:cNvPr>
                <p:cNvSpPr/>
                <p:nvPr/>
              </p:nvSpPr>
              <p:spPr>
                <a:xfrm>
                  <a:off x="6839727" y="1691531"/>
                  <a:ext cx="849085" cy="1772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5AEFE58-C56C-4314-8B38-808D11C21005}"/>
                    </a:ext>
                  </a:extLst>
                </p:cNvPr>
                <p:cNvSpPr/>
                <p:nvPr/>
              </p:nvSpPr>
              <p:spPr>
                <a:xfrm>
                  <a:off x="7739849" y="1691531"/>
                  <a:ext cx="1196156" cy="1772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9410BD6-FE2B-488B-BD83-AE2FDB15B6B3}"/>
                    </a:ext>
                  </a:extLst>
                </p:cNvPr>
                <p:cNvSpPr/>
                <p:nvPr/>
              </p:nvSpPr>
              <p:spPr>
                <a:xfrm>
                  <a:off x="4227157" y="2910760"/>
                  <a:ext cx="4708848" cy="1772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C43A111-F192-4C5D-93B2-FC7B645BFCA7}"/>
                  </a:ext>
                </a:extLst>
              </p:cNvPr>
              <p:cNvGrpSpPr/>
              <p:nvPr/>
            </p:nvGrpSpPr>
            <p:grpSpPr>
              <a:xfrm>
                <a:off x="9144000" y="558813"/>
                <a:ext cx="3144416" cy="6284440"/>
                <a:chOff x="9067800" y="733950"/>
                <a:chExt cx="3144416" cy="6050324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B7678AF-4E0E-44B5-A055-F5495AEDF2FF}"/>
                    </a:ext>
                  </a:extLst>
                </p:cNvPr>
                <p:cNvSpPr txBox="1"/>
                <p:nvPr/>
              </p:nvSpPr>
              <p:spPr>
                <a:xfrm>
                  <a:off x="9067800" y="733950"/>
                  <a:ext cx="3144416" cy="6050324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1.Apply Date: 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ใส่วันที่บันทึกบัญชี</a:t>
                  </a:r>
                  <a:endPara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2.Opening Date</a:t>
                  </a:r>
                  <a:r>
                    <a:rPr lang="en-US" sz="24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: 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ใส่วันที่เริ่มต้น (ที่ต้องการผ่านบัญชี)</a:t>
                  </a:r>
                </a:p>
                <a:p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3.Closing Date: 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ใส่วันที่สุดท้าย(ที่ต้องการผ่านบัญชี), ใส่จำนวนเงิน (ยอดปลายงวดตาม </a:t>
                  </a:r>
                  <a:r>
                    <a:rPr lang="en-US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Statement)</a:t>
                  </a:r>
                </a:p>
                <a:p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4.Statement: 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ระบบจะแสดงจำนวนครั้งที่เคยผ่านบัญชี</a:t>
                  </a:r>
                  <a:endPara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5.Description:</a:t>
                  </a:r>
                  <a:r>
                    <a:rPr lang="th-TH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ใส่คำอธิบายรายการ</a:t>
                  </a:r>
                  <a:endPara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r>
                    <a:rPr lang="th-TH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6.</a:t>
                  </a:r>
                  <a:r>
                    <a:rPr lang="th-TH" sz="20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กด </a:t>
                  </a:r>
                  <a:r>
                    <a:rPr lang="en-US" sz="2000" b="1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Save</a:t>
                  </a:r>
                </a:p>
                <a:p>
                  <a:endPara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th-TH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en-US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  <a:p>
                  <a:endPara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F8C2FCBD-4DCF-4D5D-BD84-36122FCB9A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793" t="8687" r="94956" b="88127"/>
                <a:stretch/>
              </p:blipFill>
              <p:spPr>
                <a:xfrm flipV="1">
                  <a:off x="9971198" y="3607095"/>
                  <a:ext cx="265533" cy="273320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Heptagon 12">
              <a:extLst>
                <a:ext uri="{FF2B5EF4-FFF2-40B4-BE49-F238E27FC236}">
                  <a16:creationId xmlns:a16="http://schemas.microsoft.com/office/drawing/2014/main" id="{216C2A8F-FC31-47EA-AE6E-5584CA6FEED8}"/>
                </a:ext>
              </a:extLst>
            </p:cNvPr>
            <p:cNvSpPr/>
            <p:nvPr/>
          </p:nvSpPr>
          <p:spPr>
            <a:xfrm>
              <a:off x="1942657" y="2405903"/>
              <a:ext cx="270568" cy="259958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0" name="Heptagon 19">
              <a:extLst>
                <a:ext uri="{FF2B5EF4-FFF2-40B4-BE49-F238E27FC236}">
                  <a16:creationId xmlns:a16="http://schemas.microsoft.com/office/drawing/2014/main" id="{E9044ED9-8639-4D9F-AE4C-A9F1EE507D91}"/>
                </a:ext>
              </a:extLst>
            </p:cNvPr>
            <p:cNvSpPr/>
            <p:nvPr/>
          </p:nvSpPr>
          <p:spPr>
            <a:xfrm>
              <a:off x="3977454" y="1614534"/>
              <a:ext cx="270568" cy="245784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1" name="Heptagon 20">
              <a:extLst>
                <a:ext uri="{FF2B5EF4-FFF2-40B4-BE49-F238E27FC236}">
                  <a16:creationId xmlns:a16="http://schemas.microsoft.com/office/drawing/2014/main" id="{90322453-8E5D-4ABD-941D-AC2B9F49A65A}"/>
                </a:ext>
              </a:extLst>
            </p:cNvPr>
            <p:cNvSpPr/>
            <p:nvPr/>
          </p:nvSpPr>
          <p:spPr>
            <a:xfrm>
              <a:off x="1691343" y="2732359"/>
              <a:ext cx="270568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2" name="Heptagon 21">
              <a:extLst>
                <a:ext uri="{FF2B5EF4-FFF2-40B4-BE49-F238E27FC236}">
                  <a16:creationId xmlns:a16="http://schemas.microsoft.com/office/drawing/2014/main" id="{A366EDB4-17C9-4B52-9468-E416710033A3}"/>
                </a:ext>
              </a:extLst>
            </p:cNvPr>
            <p:cNvSpPr/>
            <p:nvPr/>
          </p:nvSpPr>
          <p:spPr>
            <a:xfrm>
              <a:off x="502249" y="1032826"/>
              <a:ext cx="300184" cy="254798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6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5" name="Heptagon 24">
              <a:extLst>
                <a:ext uri="{FF2B5EF4-FFF2-40B4-BE49-F238E27FC236}">
                  <a16:creationId xmlns:a16="http://schemas.microsoft.com/office/drawing/2014/main" id="{CFAE5856-284B-446D-8580-624FFDC3B038}"/>
                </a:ext>
              </a:extLst>
            </p:cNvPr>
            <p:cNvSpPr/>
            <p:nvPr/>
          </p:nvSpPr>
          <p:spPr>
            <a:xfrm>
              <a:off x="3985304" y="1878980"/>
              <a:ext cx="277385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1" name="Heptagon 30">
              <a:extLst>
                <a:ext uri="{FF2B5EF4-FFF2-40B4-BE49-F238E27FC236}">
                  <a16:creationId xmlns:a16="http://schemas.microsoft.com/office/drawing/2014/main" id="{F444D2F2-F30D-484C-AC6A-AEF2303107E0}"/>
                </a:ext>
              </a:extLst>
            </p:cNvPr>
            <p:cNvSpPr/>
            <p:nvPr/>
          </p:nvSpPr>
          <p:spPr>
            <a:xfrm>
              <a:off x="1880689" y="2964907"/>
              <a:ext cx="270568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7E0D3E0-DF6B-459F-B095-FA3F750DD309}"/>
                </a:ext>
              </a:extLst>
            </p:cNvPr>
            <p:cNvSpPr/>
            <p:nvPr/>
          </p:nvSpPr>
          <p:spPr>
            <a:xfrm>
              <a:off x="802086" y="1088812"/>
              <a:ext cx="233612" cy="1801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02662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C72624-FD53-44DC-A621-3765979085B2}"/>
              </a:ext>
            </a:extLst>
          </p:cNvPr>
          <p:cNvGrpSpPr/>
          <p:nvPr/>
        </p:nvGrpSpPr>
        <p:grpSpPr>
          <a:xfrm>
            <a:off x="748782" y="625149"/>
            <a:ext cx="10694436" cy="6040841"/>
            <a:chOff x="429208" y="168653"/>
            <a:chExt cx="11044335" cy="641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29CC94-6A51-4A5B-B192-13F173F3A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208" y="644571"/>
              <a:ext cx="11044335" cy="59420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EC66A3-0D45-423B-9AF9-DCB530BA1EE0}"/>
                </a:ext>
              </a:extLst>
            </p:cNvPr>
            <p:cNvSpPr/>
            <p:nvPr/>
          </p:nvSpPr>
          <p:spPr>
            <a:xfrm>
              <a:off x="2189584" y="1156996"/>
              <a:ext cx="945504" cy="2052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D2C702-8D9D-4A4E-8228-A4030EE67E24}"/>
                </a:ext>
              </a:extLst>
            </p:cNvPr>
            <p:cNvSpPr txBox="1"/>
            <p:nvPr/>
          </p:nvSpPr>
          <p:spPr>
            <a:xfrm>
              <a:off x="429209" y="168653"/>
              <a:ext cx="11044334" cy="490489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4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Statement Workbench 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                             ระบบจะแสดง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Transaction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ที่ถูกบันทึกในบัญชีนั้นขึ้นมา</a:t>
              </a:r>
              <a:endParaRPr lang="th-TH" sz="20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4C77DE-B0A3-4A6C-8BAA-0F4A8F85A0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7362" t="14668" r="16198" b="83337"/>
            <a:stretch/>
          </p:blipFill>
          <p:spPr>
            <a:xfrm>
              <a:off x="3232674" y="296354"/>
              <a:ext cx="966212" cy="22051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C5379F-FA7A-43BD-8602-0B8DAA1C459E}"/>
                </a:ext>
              </a:extLst>
            </p:cNvPr>
            <p:cNvSpPr/>
            <p:nvPr/>
          </p:nvSpPr>
          <p:spPr>
            <a:xfrm>
              <a:off x="8966718" y="1502229"/>
              <a:ext cx="727788" cy="1430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7476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3342A51-D56B-4152-AE29-228745C88688}"/>
              </a:ext>
            </a:extLst>
          </p:cNvPr>
          <p:cNvGrpSpPr/>
          <p:nvPr/>
        </p:nvGrpSpPr>
        <p:grpSpPr>
          <a:xfrm>
            <a:off x="538065" y="639146"/>
            <a:ext cx="11115869" cy="5579707"/>
            <a:chOff x="537677" y="436147"/>
            <a:chExt cx="11302870" cy="50817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3C8844-A9C9-4BB3-B49C-ED12BDE470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1676" b="22406"/>
            <a:stretch/>
          </p:blipFill>
          <p:spPr>
            <a:xfrm>
              <a:off x="537677" y="877013"/>
              <a:ext cx="11302870" cy="46408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B23A2D-36A2-4CB4-AF09-BCFFFAEF3942}"/>
                </a:ext>
              </a:extLst>
            </p:cNvPr>
            <p:cNvSpPr/>
            <p:nvPr/>
          </p:nvSpPr>
          <p:spPr>
            <a:xfrm>
              <a:off x="6690049" y="2407295"/>
              <a:ext cx="4954943" cy="1430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0B5C1A-FA1A-4063-9317-0B89977885C6}"/>
                </a:ext>
              </a:extLst>
            </p:cNvPr>
            <p:cNvSpPr/>
            <p:nvPr/>
          </p:nvSpPr>
          <p:spPr>
            <a:xfrm>
              <a:off x="6596745" y="1894113"/>
              <a:ext cx="746449" cy="1430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Arrow: Left-Up 10">
              <a:extLst>
                <a:ext uri="{FF2B5EF4-FFF2-40B4-BE49-F238E27FC236}">
                  <a16:creationId xmlns:a16="http://schemas.microsoft.com/office/drawing/2014/main" id="{77886CD8-2934-45B3-8596-870DDCB46A95}"/>
                </a:ext>
              </a:extLst>
            </p:cNvPr>
            <p:cNvSpPr/>
            <p:nvPr/>
          </p:nvSpPr>
          <p:spPr>
            <a:xfrm>
              <a:off x="5551717" y="2550364"/>
              <a:ext cx="1726162" cy="640705"/>
            </a:xfrm>
            <a:prstGeom prst="lef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6A6EB1-1F60-4239-9A98-39111C70F5C1}"/>
                </a:ext>
              </a:extLst>
            </p:cNvPr>
            <p:cNvSpPr txBox="1"/>
            <p:nvPr/>
          </p:nvSpPr>
          <p:spPr>
            <a:xfrm>
              <a:off x="537678" y="436147"/>
              <a:ext cx="11107314" cy="3644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ให้เลือกรายการ เทียบกับ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Statement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ที่เกิดขึ้น โดย 1.กดเลือกรายการ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2.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Create Lines 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0" name="Heptagon 9">
            <a:extLst>
              <a:ext uri="{FF2B5EF4-FFF2-40B4-BE49-F238E27FC236}">
                <a16:creationId xmlns:a16="http://schemas.microsoft.com/office/drawing/2014/main" id="{1458AAF2-0788-471D-9ECD-BBC8F13F7728}"/>
              </a:ext>
            </a:extLst>
          </p:cNvPr>
          <p:cNvSpPr/>
          <p:nvPr/>
        </p:nvSpPr>
        <p:spPr>
          <a:xfrm>
            <a:off x="6261046" y="2746612"/>
            <a:ext cx="270568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Heptagon 11">
            <a:extLst>
              <a:ext uri="{FF2B5EF4-FFF2-40B4-BE49-F238E27FC236}">
                <a16:creationId xmlns:a16="http://schemas.microsoft.com/office/drawing/2014/main" id="{84892FEC-99DA-465E-BE72-1C44EEFAB91F}"/>
              </a:ext>
            </a:extLst>
          </p:cNvPr>
          <p:cNvSpPr/>
          <p:nvPr/>
        </p:nvSpPr>
        <p:spPr>
          <a:xfrm>
            <a:off x="7305306" y="2188553"/>
            <a:ext cx="302883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9539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A3D26A-845F-487C-8701-EC880BD22AF3}"/>
              </a:ext>
            </a:extLst>
          </p:cNvPr>
          <p:cNvGrpSpPr/>
          <p:nvPr/>
        </p:nvGrpSpPr>
        <p:grpSpPr>
          <a:xfrm>
            <a:off x="1379375" y="718809"/>
            <a:ext cx="9433249" cy="5383058"/>
            <a:chOff x="1138334" y="243301"/>
            <a:chExt cx="9433249" cy="53830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9E01DE-BA88-4808-8A92-B15332C975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47616" b="48636"/>
            <a:stretch/>
          </p:blipFill>
          <p:spPr>
            <a:xfrm>
              <a:off x="1138334" y="649957"/>
              <a:ext cx="9433249" cy="4976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94ABB2-B733-4574-983D-5F23FC76BDF3}"/>
                </a:ext>
              </a:extLst>
            </p:cNvPr>
            <p:cNvSpPr txBox="1"/>
            <p:nvPr/>
          </p:nvSpPr>
          <p:spPr>
            <a:xfrm>
              <a:off x="1138334" y="243301"/>
              <a:ext cx="9433249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มาที่ </a:t>
              </a:r>
              <a:r>
                <a:rPr lang="en-US" sz="20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Statement Header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ตรวจดู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Variance :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ต้องเท่ากับ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0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AE0CDA-713F-4624-AF39-2166D37A40FC}"/>
                </a:ext>
              </a:extLst>
            </p:cNvPr>
            <p:cNvSpPr/>
            <p:nvPr/>
          </p:nvSpPr>
          <p:spPr>
            <a:xfrm>
              <a:off x="8089650" y="2519266"/>
              <a:ext cx="1352930" cy="1679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559484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6A41AC-9DF1-4D3E-90D8-2E232B8EC535}"/>
              </a:ext>
            </a:extLst>
          </p:cNvPr>
          <p:cNvGrpSpPr/>
          <p:nvPr/>
        </p:nvGrpSpPr>
        <p:grpSpPr>
          <a:xfrm>
            <a:off x="1329204" y="615820"/>
            <a:ext cx="9533592" cy="5878091"/>
            <a:chOff x="1261305" y="205979"/>
            <a:chExt cx="9842318" cy="620447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569F04-C8F0-4EDA-BA83-67A44EB7F8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5434" b="40256"/>
            <a:stretch/>
          </p:blipFill>
          <p:spPr>
            <a:xfrm>
              <a:off x="1261305" y="612635"/>
              <a:ext cx="9842318" cy="57978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44E8ED-E88C-4722-9F0C-6BDF8B9C45C7}"/>
                </a:ext>
              </a:extLst>
            </p:cNvPr>
            <p:cNvSpPr/>
            <p:nvPr/>
          </p:nvSpPr>
          <p:spPr>
            <a:xfrm>
              <a:off x="1884786" y="414196"/>
              <a:ext cx="559835" cy="1549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2C0546-E337-488F-899D-C2044CD57D74}"/>
                </a:ext>
              </a:extLst>
            </p:cNvPr>
            <p:cNvSpPr/>
            <p:nvPr/>
          </p:nvSpPr>
          <p:spPr>
            <a:xfrm>
              <a:off x="2270450" y="3043867"/>
              <a:ext cx="2348204" cy="24983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21FC4A-99FE-4221-8BC6-A000E585A6B6}"/>
                </a:ext>
              </a:extLst>
            </p:cNvPr>
            <p:cNvSpPr txBox="1"/>
            <p:nvPr/>
          </p:nvSpPr>
          <p:spPr>
            <a:xfrm>
              <a:off x="1261305" y="205979"/>
              <a:ext cx="9842318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 Print Edit List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40108E-2A01-40A6-AD8D-0115CEFF3ECA}"/>
                </a:ext>
              </a:extLst>
            </p:cNvPr>
            <p:cNvSpPr/>
            <p:nvPr/>
          </p:nvSpPr>
          <p:spPr>
            <a:xfrm>
              <a:off x="2279781" y="839755"/>
              <a:ext cx="491411" cy="1781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18907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BA3EA6-BECB-4D9B-9A4C-23D51EBDD74E}"/>
              </a:ext>
            </a:extLst>
          </p:cNvPr>
          <p:cNvGrpSpPr/>
          <p:nvPr/>
        </p:nvGrpSpPr>
        <p:grpSpPr>
          <a:xfrm>
            <a:off x="3590575" y="848755"/>
            <a:ext cx="5010849" cy="5160490"/>
            <a:chOff x="3590575" y="650092"/>
            <a:chExt cx="5010849" cy="51604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5CF9780-E4C2-430C-B5C5-79D43550E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0575" y="1047417"/>
              <a:ext cx="5010849" cy="47631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8BA7DA-D3FA-43C1-8D60-25AF912870CC}"/>
                </a:ext>
              </a:extLst>
            </p:cNvPr>
            <p:cNvSpPr/>
            <p:nvPr/>
          </p:nvSpPr>
          <p:spPr>
            <a:xfrm>
              <a:off x="4665309" y="1567543"/>
              <a:ext cx="195940" cy="1866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29D74C-F662-4B51-9785-034F186C5F23}"/>
                </a:ext>
              </a:extLst>
            </p:cNvPr>
            <p:cNvSpPr txBox="1"/>
            <p:nvPr/>
          </p:nvSpPr>
          <p:spPr>
            <a:xfrm>
              <a:off x="3590575" y="650092"/>
              <a:ext cx="5010849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Print Preview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เพื่อดูรายการที่เราได้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Reconcile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ไว้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050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7A76179-9DE6-4C37-BEC1-132B6F2DAF42}"/>
              </a:ext>
            </a:extLst>
          </p:cNvPr>
          <p:cNvGrpSpPr/>
          <p:nvPr/>
        </p:nvGrpSpPr>
        <p:grpSpPr>
          <a:xfrm>
            <a:off x="705273" y="653143"/>
            <a:ext cx="10781453" cy="6129231"/>
            <a:chOff x="541177" y="113869"/>
            <a:chExt cx="11257313" cy="660320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FA895FC-4FDC-40B8-8B94-30C2FE1720A2}"/>
                </a:ext>
              </a:extLst>
            </p:cNvPr>
            <p:cNvGrpSpPr/>
            <p:nvPr/>
          </p:nvGrpSpPr>
          <p:grpSpPr>
            <a:xfrm>
              <a:off x="541177" y="113869"/>
              <a:ext cx="11132407" cy="6603203"/>
              <a:chOff x="541177" y="154036"/>
              <a:chExt cx="11132407" cy="6623634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3BFEEE-93FB-442E-B71A-87C17725EB83}"/>
                  </a:ext>
                </a:extLst>
              </p:cNvPr>
              <p:cNvSpPr txBox="1"/>
              <p:nvPr/>
            </p:nvSpPr>
            <p:spPr>
              <a:xfrm>
                <a:off x="541177" y="154036"/>
                <a:ext cx="11132407" cy="432384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ตัวอย่างรายการ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Bank Statement Processing</a:t>
                </a:r>
                <a:endPara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2AC8948-97A5-4855-BF0F-471FD65DA3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3549" y="566392"/>
                <a:ext cx="5624276" cy="62112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C209898-AB19-4B4B-AD98-09857296F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3787" y="574924"/>
                <a:ext cx="5509797" cy="62025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2" name="Callout: Bent Line 1">
              <a:extLst>
                <a:ext uri="{FF2B5EF4-FFF2-40B4-BE49-F238E27FC236}">
                  <a16:creationId xmlns:a16="http://schemas.microsoft.com/office/drawing/2014/main" id="{531927F7-AE0A-4B8C-AA5A-FD7AC2D7AC1C}"/>
                </a:ext>
              </a:extLst>
            </p:cNvPr>
            <p:cNvSpPr/>
            <p:nvPr/>
          </p:nvSpPr>
          <p:spPr>
            <a:xfrm>
              <a:off x="9271014" y="2452924"/>
              <a:ext cx="2515104" cy="410547"/>
            </a:xfrm>
            <a:prstGeom prst="borderCallout2">
              <a:avLst>
                <a:gd name="adj1" fmla="val 43750"/>
                <a:gd name="adj2" fmla="val -4273"/>
                <a:gd name="adj3" fmla="val 46023"/>
                <a:gd name="adj4" fmla="val -16298"/>
                <a:gd name="adj5" fmla="val 182427"/>
                <a:gd name="adj6" fmla="val -31250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th-TH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แสดงยอดรวมที่เกิดจาก </a:t>
              </a:r>
              <a:r>
                <a:rPr lang="en-US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AP Payment</a:t>
              </a:r>
              <a:endPara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4" name="Callout: Bent Line 13">
              <a:extLst>
                <a:ext uri="{FF2B5EF4-FFF2-40B4-BE49-F238E27FC236}">
                  <a16:creationId xmlns:a16="http://schemas.microsoft.com/office/drawing/2014/main" id="{F434D4AE-CB1B-4AC2-B543-9FEA451B1E8F}"/>
                </a:ext>
              </a:extLst>
            </p:cNvPr>
            <p:cNvSpPr/>
            <p:nvPr/>
          </p:nvSpPr>
          <p:spPr>
            <a:xfrm>
              <a:off x="9283386" y="2978286"/>
              <a:ext cx="2515104" cy="410547"/>
            </a:xfrm>
            <a:prstGeom prst="borderCallout2">
              <a:avLst>
                <a:gd name="adj1" fmla="val 36932"/>
                <a:gd name="adj2" fmla="val -6849"/>
                <a:gd name="adj3" fmla="val 39205"/>
                <a:gd name="adj4" fmla="val -16667"/>
                <a:gd name="adj5" fmla="val 157252"/>
                <a:gd name="adj6" fmla="val -3242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th-TH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แสดงยอดรวมที่เกิดจาก </a:t>
              </a:r>
              <a:r>
                <a:rPr lang="en-US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Bank Adjustment</a:t>
              </a:r>
              <a:endPara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" name="Callout: Bent Line 14">
              <a:extLst>
                <a:ext uri="{FF2B5EF4-FFF2-40B4-BE49-F238E27FC236}">
                  <a16:creationId xmlns:a16="http://schemas.microsoft.com/office/drawing/2014/main" id="{971A84C4-8737-4F3D-8E86-0DD79DE48F99}"/>
                </a:ext>
              </a:extLst>
            </p:cNvPr>
            <p:cNvSpPr/>
            <p:nvPr/>
          </p:nvSpPr>
          <p:spPr>
            <a:xfrm>
              <a:off x="9283384" y="3506492"/>
              <a:ext cx="2515105" cy="410547"/>
            </a:xfrm>
            <a:prstGeom prst="borderCallout2">
              <a:avLst>
                <a:gd name="adj1" fmla="val 9659"/>
                <a:gd name="adj2" fmla="val -5365"/>
                <a:gd name="adj3" fmla="val 14205"/>
                <a:gd name="adj4" fmla="val -16667"/>
                <a:gd name="adj5" fmla="val 68791"/>
                <a:gd name="adj6" fmla="val -30912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th-TH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แสดงยอดรวมที่เกิดจาก </a:t>
              </a:r>
              <a:r>
                <a:rPr lang="en-US" sz="1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Bank Funds Transfer</a:t>
              </a:r>
              <a:endPara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3166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BCAE44-D34C-4CCC-9D8D-AC5BA88F0405}"/>
              </a:ext>
            </a:extLst>
          </p:cNvPr>
          <p:cNvGrpSpPr/>
          <p:nvPr/>
        </p:nvGrpSpPr>
        <p:grpSpPr>
          <a:xfrm>
            <a:off x="1278294" y="634482"/>
            <a:ext cx="9999306" cy="5910158"/>
            <a:chOff x="1240972" y="256545"/>
            <a:chExt cx="10363200" cy="623128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8B7E795-DF6E-4717-BCC1-A7B5278E08F0}"/>
                </a:ext>
              </a:extLst>
            </p:cNvPr>
            <p:cNvSpPr txBox="1"/>
            <p:nvPr/>
          </p:nvSpPr>
          <p:spPr>
            <a:xfrm>
              <a:off x="1240972" y="256545"/>
              <a:ext cx="10363200" cy="646331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วิธีการตรวจสอบยอด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Bank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ว่าตรงกับ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GL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หรือไม่ 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เมนู 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เลือก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Account Tracker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5B4EB71-3E12-47AC-B404-7831D8B8B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0972" y="912207"/>
              <a:ext cx="10363200" cy="55756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D22525-1647-4AF6-AE21-87AAEFA0D13C}"/>
                </a:ext>
              </a:extLst>
            </p:cNvPr>
            <p:cNvSpPr/>
            <p:nvPr/>
          </p:nvSpPr>
          <p:spPr>
            <a:xfrm>
              <a:off x="1635968" y="2295330"/>
              <a:ext cx="2506824" cy="5411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5049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67D4ADF-4360-4A31-AD4C-46A7FF7E8AAF}"/>
              </a:ext>
            </a:extLst>
          </p:cNvPr>
          <p:cNvGrpSpPr/>
          <p:nvPr/>
        </p:nvGrpSpPr>
        <p:grpSpPr>
          <a:xfrm>
            <a:off x="2015705" y="643812"/>
            <a:ext cx="8160589" cy="6039351"/>
            <a:chOff x="1352939" y="254136"/>
            <a:chExt cx="8327955" cy="63963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E043961-A788-4948-BEA4-79B40589D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939" y="650435"/>
              <a:ext cx="8327954" cy="60000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3EE980-50A3-4626-845C-8424EB70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522" y="1101012"/>
              <a:ext cx="4487371" cy="509890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22C9AA-CA59-4A79-A183-6D2FC3B29633}"/>
                </a:ext>
              </a:extLst>
            </p:cNvPr>
            <p:cNvSpPr txBox="1"/>
            <p:nvPr/>
          </p:nvSpPr>
          <p:spPr>
            <a:xfrm>
              <a:off x="1352940" y="254136"/>
              <a:ext cx="8327954" cy="423762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เลือกบัญชีที่ต้องการโดยการ 1.กด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Account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2.กด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Search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3.เลือกบัญชี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4.กด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OK 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A509E1-8092-4648-88B4-10E21B7CC49D}"/>
                </a:ext>
              </a:extLst>
            </p:cNvPr>
            <p:cNvSpPr/>
            <p:nvPr/>
          </p:nvSpPr>
          <p:spPr>
            <a:xfrm>
              <a:off x="3940110" y="1912776"/>
              <a:ext cx="855825" cy="2052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6005F2-E97A-40ED-BBF8-EBABFD8DF91B}"/>
                </a:ext>
              </a:extLst>
            </p:cNvPr>
            <p:cNvSpPr/>
            <p:nvPr/>
          </p:nvSpPr>
          <p:spPr>
            <a:xfrm>
              <a:off x="8655177" y="1922107"/>
              <a:ext cx="824725" cy="2052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F75F09-AE52-4E67-8C72-48021B5DFEEB}"/>
                </a:ext>
              </a:extLst>
            </p:cNvPr>
            <p:cNvSpPr/>
            <p:nvPr/>
          </p:nvSpPr>
          <p:spPr>
            <a:xfrm>
              <a:off x="5345919" y="3312367"/>
              <a:ext cx="4133983" cy="13840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A3EABD-B739-428E-9B9F-76CAD25DD6A6}"/>
                </a:ext>
              </a:extLst>
            </p:cNvPr>
            <p:cNvSpPr/>
            <p:nvPr/>
          </p:nvSpPr>
          <p:spPr>
            <a:xfrm>
              <a:off x="5202852" y="5825413"/>
              <a:ext cx="824725" cy="2052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2" name="Heptagon 11">
            <a:extLst>
              <a:ext uri="{FF2B5EF4-FFF2-40B4-BE49-F238E27FC236}">
                <a16:creationId xmlns:a16="http://schemas.microsoft.com/office/drawing/2014/main" id="{0E20B4CF-6204-4EF0-8AD1-B8FFFC6E8B05}"/>
              </a:ext>
            </a:extLst>
          </p:cNvPr>
          <p:cNvSpPr/>
          <p:nvPr/>
        </p:nvSpPr>
        <p:spPr>
          <a:xfrm>
            <a:off x="4218647" y="2143733"/>
            <a:ext cx="270568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E4B64AAF-A27A-47A3-985E-0DE85A5CF94B}"/>
              </a:ext>
            </a:extLst>
          </p:cNvPr>
          <p:cNvSpPr/>
          <p:nvPr/>
        </p:nvSpPr>
        <p:spPr>
          <a:xfrm>
            <a:off x="8824952" y="2193671"/>
            <a:ext cx="302883" cy="25995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47F5D859-931C-4A6E-A9BA-5286178DBA50}"/>
              </a:ext>
            </a:extLst>
          </p:cNvPr>
          <p:cNvSpPr/>
          <p:nvPr/>
        </p:nvSpPr>
        <p:spPr>
          <a:xfrm>
            <a:off x="5431191" y="5867126"/>
            <a:ext cx="315652" cy="267826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4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40AF91B9-01B8-41DF-9914-8454DDF78D69}"/>
              </a:ext>
            </a:extLst>
          </p:cNvPr>
          <p:cNvSpPr/>
          <p:nvPr/>
        </p:nvSpPr>
        <p:spPr>
          <a:xfrm>
            <a:off x="5589017" y="3429000"/>
            <a:ext cx="289249" cy="267826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63054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5412C6-5AE1-4597-BB17-6445F45796C2}"/>
              </a:ext>
            </a:extLst>
          </p:cNvPr>
          <p:cNvGrpSpPr/>
          <p:nvPr/>
        </p:nvGrpSpPr>
        <p:grpSpPr>
          <a:xfrm>
            <a:off x="1308618" y="662473"/>
            <a:ext cx="9574763" cy="5928564"/>
            <a:chOff x="1049694" y="53665"/>
            <a:chExt cx="10092612" cy="63054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746879D-5E5B-442D-928B-8376A9EB0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694" y="766505"/>
              <a:ext cx="10092612" cy="55925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6F7D86-9F73-4663-B564-94FA92724D15}"/>
                </a:ext>
              </a:extLst>
            </p:cNvPr>
            <p:cNvSpPr/>
            <p:nvPr/>
          </p:nvSpPr>
          <p:spPr>
            <a:xfrm>
              <a:off x="3109685" y="1156995"/>
              <a:ext cx="2068805" cy="2052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EFA8B-9524-491C-AEF2-126C15864FEA}"/>
                </a:ext>
              </a:extLst>
            </p:cNvPr>
            <p:cNvSpPr/>
            <p:nvPr/>
          </p:nvSpPr>
          <p:spPr>
            <a:xfrm>
              <a:off x="6677090" y="2603241"/>
              <a:ext cx="1085979" cy="1586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310F6D-1E63-4936-8021-0B7ABD2B1A9E}"/>
                </a:ext>
              </a:extLst>
            </p:cNvPr>
            <p:cNvSpPr txBox="1"/>
            <p:nvPr/>
          </p:nvSpPr>
          <p:spPr>
            <a:xfrm>
              <a:off x="1049694" y="53665"/>
              <a:ext cx="10092612" cy="707886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ดูยอด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Closing Balance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ว่าตรงกับ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Statement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หรือไม่ (ในกรณีที่มีหลาย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Payment Method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ให้นำแต่ละบัญชีมาบวกกัน แล้วไปกระทบกับ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GL ACCOUNT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ว่าตรงกันหรือไม่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859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358B01-1E15-4720-A264-09A7A2B5DB0F}"/>
              </a:ext>
            </a:extLst>
          </p:cNvPr>
          <p:cNvSpPr/>
          <p:nvPr/>
        </p:nvSpPr>
        <p:spPr>
          <a:xfrm>
            <a:off x="9010270" y="6177066"/>
            <a:ext cx="277428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Create by Arunee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90521-C9D0-4899-9CF1-8A29FFB68801}"/>
              </a:ext>
            </a:extLst>
          </p:cNvPr>
          <p:cNvSpPr/>
          <p:nvPr/>
        </p:nvSpPr>
        <p:spPr>
          <a:xfrm>
            <a:off x="4334941" y="2228671"/>
            <a:ext cx="352211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END</a:t>
            </a:r>
            <a:endParaRPr lang="th-TH" sz="7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13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479</Words>
  <Application>Microsoft Office PowerPoint</Application>
  <PresentationFormat>Widescreen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Angsana New</vt:lpstr>
      <vt:lpstr>AngsanaUPC</vt:lpstr>
      <vt:lpstr>Arial</vt:lpstr>
      <vt:lpstr>Calibri</vt:lpstr>
      <vt:lpstr>Calibri Light</vt:lpstr>
      <vt:lpstr>Office Theme</vt:lpstr>
      <vt:lpstr>APP180 การกระทบยอดบัญชีธนาคาร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การกระทบยอดบัญชีธนาคาร</dc:title>
  <dc:creator>Arunee Songprasert</dc:creator>
  <cp:lastModifiedBy>Arunee Songprasert</cp:lastModifiedBy>
  <cp:revision>57</cp:revision>
  <cp:lastPrinted>2024-12-10T08:53:28Z</cp:lastPrinted>
  <dcterms:created xsi:type="dcterms:W3CDTF">2024-03-23T09:31:07Z</dcterms:created>
  <dcterms:modified xsi:type="dcterms:W3CDTF">2024-12-10T09:03:52Z</dcterms:modified>
</cp:coreProperties>
</file>