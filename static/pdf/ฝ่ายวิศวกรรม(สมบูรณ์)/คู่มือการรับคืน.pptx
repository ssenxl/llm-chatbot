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9FCA93-19EE-4E7E-8ADB-D034010AF72F}" type="datetimeFigureOut">
              <a:rPr lang="th-TH" smtClean="0"/>
              <a:t>18/10/68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58C12A-6691-4580-9FAF-89C405911F74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91918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2CC943-DEEF-479F-8930-CEC05063A22B}" type="slidenum">
              <a:rPr lang="th-TH" smtClean="0"/>
              <a:pPr/>
              <a:t>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3486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36153-7D48-4284-B30A-BD2A04620C56}" type="datetimeFigureOut">
              <a:rPr lang="th-TH" smtClean="0"/>
              <a:pPr/>
              <a:t>18/10/68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3E038-4BCE-47FF-884B-64DB7DA4458B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36153-7D48-4284-B30A-BD2A04620C56}" type="datetimeFigureOut">
              <a:rPr lang="th-TH" smtClean="0"/>
              <a:pPr/>
              <a:t>18/10/68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3E038-4BCE-47FF-884B-64DB7DA4458B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36153-7D48-4284-B30A-BD2A04620C56}" type="datetimeFigureOut">
              <a:rPr lang="th-TH" smtClean="0"/>
              <a:pPr/>
              <a:t>18/10/68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3E038-4BCE-47FF-884B-64DB7DA4458B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36153-7D48-4284-B30A-BD2A04620C56}" type="datetimeFigureOut">
              <a:rPr lang="th-TH" smtClean="0"/>
              <a:pPr/>
              <a:t>18/10/68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3E038-4BCE-47FF-884B-64DB7DA4458B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36153-7D48-4284-B30A-BD2A04620C56}" type="datetimeFigureOut">
              <a:rPr lang="th-TH" smtClean="0"/>
              <a:pPr/>
              <a:t>18/10/68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3E038-4BCE-47FF-884B-64DB7DA4458B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36153-7D48-4284-B30A-BD2A04620C56}" type="datetimeFigureOut">
              <a:rPr lang="th-TH" smtClean="0"/>
              <a:pPr/>
              <a:t>18/10/68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3E038-4BCE-47FF-884B-64DB7DA4458B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36153-7D48-4284-B30A-BD2A04620C56}" type="datetimeFigureOut">
              <a:rPr lang="th-TH" smtClean="0"/>
              <a:pPr/>
              <a:t>18/10/68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3E038-4BCE-47FF-884B-64DB7DA4458B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36153-7D48-4284-B30A-BD2A04620C56}" type="datetimeFigureOut">
              <a:rPr lang="th-TH" smtClean="0"/>
              <a:pPr/>
              <a:t>18/10/68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3E038-4BCE-47FF-884B-64DB7DA4458B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36153-7D48-4284-B30A-BD2A04620C56}" type="datetimeFigureOut">
              <a:rPr lang="th-TH" smtClean="0"/>
              <a:pPr/>
              <a:t>18/10/68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3E038-4BCE-47FF-884B-64DB7DA4458B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36153-7D48-4284-B30A-BD2A04620C56}" type="datetimeFigureOut">
              <a:rPr lang="th-TH" smtClean="0"/>
              <a:pPr/>
              <a:t>18/10/68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3E038-4BCE-47FF-884B-64DB7DA4458B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36153-7D48-4284-B30A-BD2A04620C56}" type="datetimeFigureOut">
              <a:rPr lang="th-TH" smtClean="0"/>
              <a:pPr/>
              <a:t>18/10/68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3E038-4BCE-47FF-884B-64DB7DA4458B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136153-7D48-4284-B30A-BD2A04620C56}" type="datetimeFigureOut">
              <a:rPr lang="th-TH" smtClean="0"/>
              <a:pPr/>
              <a:t>18/10/68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B3E038-4BCE-47FF-884B-64DB7DA4458B}" type="slidenum">
              <a:rPr lang="th-TH" smtClean="0"/>
              <a:pPr/>
              <a:t>‹#›</a:t>
            </a:fld>
            <a:endParaRPr lang="th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674EBC27-13C4-4C46-8F2B-2AA633DAD5C6}"/>
              </a:ext>
            </a:extLst>
          </p:cNvPr>
          <p:cNvSpPr txBox="1"/>
          <p:nvPr/>
        </p:nvSpPr>
        <p:spPr>
          <a:xfrm>
            <a:off x="1907704" y="1268760"/>
            <a:ext cx="59112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INV-04 : Return Miscellaneous Material</a:t>
            </a:r>
            <a:endParaRPr lang="th-TH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="" xmlns:a16="http://schemas.microsoft.com/office/drawing/2014/main" id="{C589AB3B-755D-492D-9C9B-94B4F1E1DB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2312823"/>
              </p:ext>
            </p:extLst>
          </p:nvPr>
        </p:nvGraphicFramePr>
        <p:xfrm>
          <a:off x="971600" y="1991767"/>
          <a:ext cx="7411808" cy="374148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5904">
                  <a:extLst>
                    <a:ext uri="{9D8B030D-6E8A-4147-A177-3AD203B41FA5}">
                      <a16:colId xmlns="" xmlns:a16="http://schemas.microsoft.com/office/drawing/2014/main" val="1371482394"/>
                    </a:ext>
                  </a:extLst>
                </a:gridCol>
                <a:gridCol w="3705904">
                  <a:extLst>
                    <a:ext uri="{9D8B030D-6E8A-4147-A177-3AD203B41FA5}">
                      <a16:colId xmlns="" xmlns:a16="http://schemas.microsoft.com/office/drawing/2014/main" val="3465317202"/>
                    </a:ext>
                  </a:extLst>
                </a:gridCol>
              </a:tblGrid>
              <a:tr h="852365"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INV-04 : Return Miscellaneous Material</a:t>
                      </a:r>
                      <a:endParaRPr lang="th-TH" sz="2000" dirty="0" smtClean="0"/>
                    </a:p>
                    <a:p>
                      <a:pPr algn="l" rtl="0" fontAlgn="ctr"/>
                      <a:r>
                        <a:rPr lang="en-US" sz="20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(</a:t>
                      </a:r>
                      <a:r>
                        <a:rPr lang="th-TH" sz="20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การรับคืน)</a:t>
                      </a:r>
                      <a:endParaRPr lang="th-TH" sz="2000" b="1" i="0" u="none" strike="noStrike" dirty="0">
                        <a:solidFill>
                          <a:srgbClr val="C0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793788566"/>
                  </a:ext>
                </a:extLst>
              </a:tr>
              <a:tr h="789860">
                <a:tc>
                  <a:txBody>
                    <a:bodyPr/>
                    <a:lstStyle/>
                    <a:p>
                      <a:pPr algn="l" fontAlgn="ctr"/>
                      <a:r>
                        <a:rPr lang="th-TH" sz="2000" u="none" strike="noStrike" dirty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 กระบวนการ (</a:t>
                      </a:r>
                      <a:r>
                        <a:rPr lang="en-US" sz="2000" u="none" strike="noStrike" dirty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Process)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h-TH" sz="2000" u="none" strike="noStrike" dirty="0" smtClean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การรับคืน</a:t>
                      </a:r>
                      <a:endParaRPr lang="th-TH" sz="2000" b="0" i="0" u="none" strike="noStrike" dirty="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2568776913"/>
                  </a:ext>
                </a:extLst>
              </a:tr>
              <a:tr h="524816">
                <a:tc>
                  <a:txBody>
                    <a:bodyPr/>
                    <a:lstStyle/>
                    <a:p>
                      <a:pPr algn="l" fontAlgn="ctr"/>
                      <a:r>
                        <a:rPr lang="th-TH" sz="2000" u="none" strike="noStrike" dirty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2. ข้อมูลที่ต้องใช้ (</a:t>
                      </a:r>
                      <a:r>
                        <a:rPr lang="en-US" sz="2000" u="none" strike="noStrike" dirty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Input)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h-TH" sz="20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เอกสาร</a:t>
                      </a:r>
                      <a:r>
                        <a:rPr lang="th-TH" sz="2000" b="0" i="0" u="none" strike="noStrike" baseline="0" dirty="0" smtClean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/ </a:t>
                      </a:r>
                      <a:r>
                        <a:rPr lang="th-TH" sz="2000" b="0" i="0" u="none" strike="noStrike" baseline="0" dirty="0" smtClean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ยอดรับคืน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220554461"/>
                  </a:ext>
                </a:extLst>
              </a:tr>
              <a:tr h="524816">
                <a:tc>
                  <a:txBody>
                    <a:bodyPr/>
                    <a:lstStyle/>
                    <a:p>
                      <a:pPr algn="l" fontAlgn="ctr"/>
                      <a:r>
                        <a:rPr lang="th-TH" sz="2000" u="none" strike="noStrike" dirty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3. ขั้นตอนย่อย (</a:t>
                      </a:r>
                      <a:r>
                        <a:rPr lang="en-US" sz="2000" u="none" strike="noStrike" dirty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Sub Process)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h-TH" sz="20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การคืนของ</a:t>
                      </a:r>
                      <a:r>
                        <a:rPr lang="th-TH" sz="20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วิศวกรรม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2749088920"/>
                  </a:ext>
                </a:extLst>
              </a:tr>
              <a:tr h="524816">
                <a:tc>
                  <a:txBody>
                    <a:bodyPr/>
                    <a:lstStyle/>
                    <a:p>
                      <a:pPr algn="l" fontAlgn="ctr"/>
                      <a:r>
                        <a:rPr lang="th-TH" sz="2000" u="none" strike="noStrike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4. ความเสี่ยง (</a:t>
                      </a:r>
                      <a:r>
                        <a:rPr lang="en-US" sz="2000" u="none" strike="noStrike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Risk)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h-TH" sz="20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ยอดไม่ตรง</a:t>
                      </a:r>
                      <a:r>
                        <a:rPr lang="th-TH" sz="2000" b="0" i="0" u="none" strike="noStrike" baseline="0" dirty="0" smtClean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/ ขาด, เกิน</a:t>
                      </a:r>
                      <a:endParaRPr lang="th-TH" sz="2000" b="0" i="0" u="none" strike="noStrike" dirty="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672853554"/>
                  </a:ext>
                </a:extLst>
              </a:tr>
              <a:tr h="524816">
                <a:tc>
                  <a:txBody>
                    <a:bodyPr/>
                    <a:lstStyle/>
                    <a:p>
                      <a:pPr algn="l" fontAlgn="ctr"/>
                      <a:r>
                        <a:rPr lang="th-TH" sz="2000" u="none" strike="noStrike" dirty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5. จุดควบคุม (</a:t>
                      </a:r>
                      <a:r>
                        <a:rPr lang="en-US" sz="2000" u="none" strike="noStrike" dirty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Control Point)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h-TH" sz="2000" u="none" strike="noStrike" dirty="0" smtClean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คอยตรวจสอบ</a:t>
                      </a:r>
                      <a:r>
                        <a:rPr lang="th-TH" sz="2000" u="none" strike="noStrike" baseline="0" dirty="0" smtClean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/ เช็คสต็อก</a:t>
                      </a:r>
                      <a:endParaRPr lang="th-TH" sz="2000" b="0" i="0" u="none" strike="noStrike" dirty="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3151553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39307"/>
      </p:ext>
    </p:extLst>
  </p:cSld>
  <p:clrMapOvr>
    <a:masterClrMapping/>
  </p:clrMapOvr>
  <p:transition spd="slow">
    <p:randomBa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60000"/>
            <a:lum/>
          </a:blip>
          <a:srcRect/>
          <a:stretch>
            <a:fillRect l="-11000" r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11560" y="1052736"/>
            <a:ext cx="7920880" cy="1800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6000" b="1" i="0" u="none" strike="noStrike" kern="1200" cap="none" spc="0" normalizeH="0" baseline="0" noProof="0" dirty="0">
                <a:ln w="11430"/>
                <a:solidFill>
                  <a:srgbClr val="FF0000"/>
                </a:solidFill>
                <a:effectLst>
                  <a:glow rad="101600">
                    <a:srgbClr val="FFFF00">
                      <a:alpha val="40000"/>
                    </a:srgbClr>
                  </a:glow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AngsanaUPC" pitchFamily="18" charset="-34"/>
                <a:ea typeface="+mj-ea"/>
                <a:cs typeface="AngsanaUPC" pitchFamily="18" charset="-34"/>
              </a:rPr>
              <a:t>คู่มือการรับคืน</a:t>
            </a:r>
            <a:br>
              <a:rPr kumimoji="0" lang="th-TH" sz="6000" b="1" i="0" u="none" strike="noStrike" kern="1200" cap="none" spc="0" normalizeH="0" baseline="0" noProof="0" dirty="0">
                <a:ln w="11430"/>
                <a:solidFill>
                  <a:srgbClr val="FF0000"/>
                </a:solidFill>
                <a:effectLst>
                  <a:glow rad="101600">
                    <a:srgbClr val="FFFF00">
                      <a:alpha val="40000"/>
                    </a:srgbClr>
                  </a:glow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AngsanaUPC" pitchFamily="18" charset="-34"/>
                <a:ea typeface="+mj-ea"/>
                <a:cs typeface="AngsanaUPC" pitchFamily="18" charset="-34"/>
              </a:rPr>
            </a:br>
            <a:r>
              <a:rPr kumimoji="0" lang="th-TH" sz="6000" b="1" i="0" u="none" strike="noStrike" kern="1200" cap="none" spc="0" normalizeH="0" baseline="0" noProof="0" dirty="0">
                <a:ln w="11430"/>
                <a:solidFill>
                  <a:srgbClr val="FF0000"/>
                </a:solidFill>
                <a:effectLst>
                  <a:glow rad="101600">
                    <a:srgbClr val="FFFF00">
                      <a:alpha val="40000"/>
                    </a:srgbClr>
                  </a:glow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AngsanaUPC" pitchFamily="18" charset="-34"/>
                <a:ea typeface="+mj-ea"/>
                <a:cs typeface="AngsanaUPC" pitchFamily="18" charset="-34"/>
              </a:rPr>
              <a:t> ระบบ </a:t>
            </a:r>
            <a:r>
              <a:rPr kumimoji="0" lang="en-US" sz="6000" b="1" i="0" u="none" strike="noStrike" kern="1200" cap="none" spc="0" normalizeH="0" baseline="0" noProof="0" dirty="0" err="1">
                <a:ln w="11430"/>
                <a:solidFill>
                  <a:srgbClr val="FF0000"/>
                </a:solidFill>
                <a:effectLst>
                  <a:glow rad="101600">
                    <a:srgbClr val="FFFF00">
                      <a:alpha val="40000"/>
                    </a:srgbClr>
                  </a:glow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AngsanaUPC" pitchFamily="18" charset="-34"/>
                <a:ea typeface="+mj-ea"/>
                <a:cs typeface="AngsanaUPC" pitchFamily="18" charset="-34"/>
              </a:rPr>
              <a:t>Epicor</a:t>
            </a:r>
            <a:r>
              <a:rPr kumimoji="0" lang="en-US" sz="6000" b="1" i="0" u="none" strike="noStrike" kern="1200" cap="none" spc="0" normalizeH="0" baseline="0" noProof="0" dirty="0">
                <a:ln w="11430"/>
                <a:solidFill>
                  <a:srgbClr val="FF0000"/>
                </a:solidFill>
                <a:effectLst>
                  <a:glow rad="101600">
                    <a:srgbClr val="FFFF00">
                      <a:alpha val="40000"/>
                    </a:srgbClr>
                  </a:glow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AngsanaUPC" pitchFamily="18" charset="-34"/>
                <a:ea typeface="+mj-ea"/>
                <a:cs typeface="AngsanaUPC" pitchFamily="18" charset="-34"/>
              </a:rPr>
              <a:t> UAT Environment</a:t>
            </a:r>
            <a:endParaRPr kumimoji="0" lang="th-TH" sz="6000" b="1" i="0" u="none" strike="noStrike" kern="1200" cap="none" spc="0" normalizeH="0" baseline="0" noProof="0" dirty="0">
              <a:ln w="11430"/>
              <a:solidFill>
                <a:srgbClr val="FF0000"/>
              </a:solidFill>
              <a:effectLst>
                <a:glow rad="101600">
                  <a:srgbClr val="FFFF00">
                    <a:alpha val="40000"/>
                  </a:srgbClr>
                </a:glow>
                <a:outerShdw blurRad="80000" dist="40000" dir="5040000" algn="tl">
                  <a:srgbClr val="000000">
                    <a:alpha val="30000"/>
                  </a:srgbClr>
                </a:outerShdw>
              </a:effectLst>
              <a:uLnTx/>
              <a:uFillTx/>
              <a:latin typeface="AngsanaUPC" pitchFamily="18" charset="-34"/>
              <a:ea typeface="+mj-ea"/>
              <a:cs typeface="AngsanaUPC" pitchFamily="18" charset="-34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4128" y="3209739"/>
            <a:ext cx="1440000" cy="173142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26" name="Picture 2" descr="D:\รูปไม่มีพื้นหลัง\พระอาทิตย์png-clipart-cartoon-drawing-sun-sunglasses-computer-wallpaper-smiley-thumbnail-removebg-preview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rot="21029275">
            <a:off x="1352720" y="3205089"/>
            <a:ext cx="2699000" cy="2163853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 l="-11000" r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2195736" y="764704"/>
            <a:ext cx="4680520" cy="115212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h-TH" sz="6000" b="1" cap="all" dirty="0">
                <a:ln w="9000" cmpd="sng">
                  <a:gradFill>
                    <a:gsLst>
                      <a:gs pos="0">
                        <a:srgbClr val="3399FF"/>
                      </a:gs>
                      <a:gs pos="16000">
                        <a:srgbClr val="00CCCC"/>
                      </a:gs>
                      <a:gs pos="47000">
                        <a:srgbClr val="9999FF"/>
                      </a:gs>
                      <a:gs pos="60001">
                        <a:srgbClr val="2E6792"/>
                      </a:gs>
                      <a:gs pos="71001">
                        <a:srgbClr val="3333CC"/>
                      </a:gs>
                      <a:gs pos="81000">
                        <a:srgbClr val="1170FF"/>
                      </a:gs>
                      <a:gs pos="100000">
                        <a:srgbClr val="006699"/>
                      </a:gs>
                    </a:gsLst>
                    <a:lin ang="5400000" scaled="0"/>
                  </a:gradFill>
                  <a:prstDash val="solid"/>
                </a:ln>
                <a:solidFill>
                  <a:srgbClr val="3333CC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  <a:reflection blurRad="12700" stA="28000" endPos="45000" dist="1000" dir="5400000" sy="-100000" algn="bl" rotWithShape="0"/>
                </a:effectLst>
                <a:latin typeface="AngsanaUPC" pitchFamily="18" charset="-34"/>
                <a:ea typeface="+mj-ea"/>
                <a:cs typeface="AngsanaUPC" pitchFamily="18" charset="-34"/>
              </a:rPr>
              <a:t>ก า ร เ ข้ า สู่ ร ะ บ บ</a:t>
            </a:r>
            <a:endParaRPr kumimoji="0" lang="th-TH" sz="6000" b="1" i="0" u="none" strike="noStrike" kern="1200" cap="all" normalizeH="0" baseline="0" noProof="0" dirty="0">
              <a:ln w="9000" cmpd="sng">
                <a:gradFill>
                  <a:gsLst>
                    <a:gs pos="0">
                      <a:srgbClr val="3399FF"/>
                    </a:gs>
                    <a:gs pos="16000">
                      <a:srgbClr val="00CCCC"/>
                    </a:gs>
                    <a:gs pos="47000">
                      <a:srgbClr val="9999FF"/>
                    </a:gs>
                    <a:gs pos="60001">
                      <a:srgbClr val="2E6792"/>
                    </a:gs>
                    <a:gs pos="71001">
                      <a:srgbClr val="3333CC"/>
                    </a:gs>
                    <a:gs pos="81000">
                      <a:srgbClr val="1170FF"/>
                    </a:gs>
                    <a:gs pos="100000">
                      <a:srgbClr val="006699"/>
                    </a:gs>
                  </a:gsLst>
                  <a:lin ang="5400000" scaled="0"/>
                </a:gradFill>
                <a:prstDash val="solid"/>
              </a:ln>
              <a:solidFill>
                <a:srgbClr val="3333CC"/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  <a:reflection blurRad="12700" stA="28000" endPos="45000" dist="1000" dir="5400000" sy="-100000" algn="bl" rotWithShape="0"/>
              </a:effectLst>
              <a:uLnTx/>
              <a:uFillTx/>
              <a:latin typeface="AngsanaUPC" pitchFamily="18" charset="-34"/>
              <a:ea typeface="+mj-ea"/>
              <a:cs typeface="AngsanaUPC" pitchFamily="18" charset="-34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608" y="2192238"/>
            <a:ext cx="5734050" cy="3829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ounded Rectangle 5"/>
          <p:cNvSpPr/>
          <p:nvPr/>
        </p:nvSpPr>
        <p:spPr>
          <a:xfrm>
            <a:off x="4355976" y="2336254"/>
            <a:ext cx="2232248" cy="1944216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th-TH" dirty="0">
                <a:latin typeface="AngsanaUPC" pitchFamily="18" charset="-34"/>
                <a:cs typeface="AngsanaUPC" pitchFamily="18" charset="-34"/>
              </a:rPr>
              <a:t>1.เลือกโปรแกรม</a:t>
            </a:r>
          </a:p>
          <a:p>
            <a:r>
              <a:rPr lang="th-TH" dirty="0">
                <a:latin typeface="AngsanaUPC" pitchFamily="18" charset="-34"/>
                <a:cs typeface="AngsanaUPC" pitchFamily="18" charset="-34"/>
              </a:rPr>
              <a:t>2.ระบุ </a:t>
            </a:r>
            <a:r>
              <a:rPr lang="en-US" dirty="0">
                <a:latin typeface="AngsanaUPC" pitchFamily="18" charset="-34"/>
                <a:cs typeface="AngsanaUPC" pitchFamily="18" charset="-34"/>
              </a:rPr>
              <a:t>User :</a:t>
            </a:r>
          </a:p>
          <a:p>
            <a:r>
              <a:rPr lang="en-US" dirty="0">
                <a:latin typeface="AngsanaUPC" pitchFamily="18" charset="-34"/>
                <a:cs typeface="AngsanaUPC" pitchFamily="18" charset="-34"/>
              </a:rPr>
              <a:t>3.</a:t>
            </a:r>
            <a:r>
              <a:rPr lang="th-TH" dirty="0">
                <a:latin typeface="AngsanaUPC" pitchFamily="18" charset="-34"/>
                <a:cs typeface="AngsanaUPC" pitchFamily="18" charset="-34"/>
              </a:rPr>
              <a:t>ระบุ </a:t>
            </a:r>
            <a:r>
              <a:rPr lang="en-US" dirty="0">
                <a:latin typeface="AngsanaUPC" pitchFamily="18" charset="-34"/>
                <a:cs typeface="AngsanaUPC" pitchFamily="18" charset="-34"/>
              </a:rPr>
              <a:t>Password :</a:t>
            </a:r>
          </a:p>
          <a:p>
            <a:r>
              <a:rPr lang="en-US" dirty="0">
                <a:latin typeface="AngsanaUPC" pitchFamily="18" charset="-34"/>
                <a:cs typeface="AngsanaUPC" pitchFamily="18" charset="-34"/>
              </a:rPr>
              <a:t>4.</a:t>
            </a:r>
            <a:r>
              <a:rPr lang="th-TH" dirty="0">
                <a:latin typeface="AngsanaUPC" pitchFamily="18" charset="-34"/>
                <a:cs typeface="AngsanaUPC" pitchFamily="18" charset="-34"/>
              </a:rPr>
              <a:t>คลิกปุ่ม </a:t>
            </a:r>
          </a:p>
        </p:txBody>
      </p:sp>
      <p:sp>
        <p:nvSpPr>
          <p:cNvPr id="8" name="Flowchart: Process 7"/>
          <p:cNvSpPr>
            <a:spLocks/>
          </p:cNvSpPr>
          <p:nvPr/>
        </p:nvSpPr>
        <p:spPr>
          <a:xfrm>
            <a:off x="5796136" y="4980661"/>
            <a:ext cx="352800" cy="352800"/>
          </a:xfrm>
          <a:prstGeom prst="flowChartProcess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9" name="Picture 8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53900" y="3683703"/>
            <a:ext cx="34290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4" name="Picture 2" descr="D:\รูปไม่มีพื้นหลัง\จระเข้png-clipart-alligators-crocodile-cartoon-crocodile-animals-fauna-thumbnail-removebg-preview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 rot="339337">
            <a:off x="6804248" y="4077072"/>
            <a:ext cx="2090564" cy="2511080"/>
          </a:xfrm>
          <a:prstGeom prst="rect">
            <a:avLst/>
          </a:prstGeom>
          <a:noFill/>
        </p:spPr>
      </p:pic>
      <p:pic>
        <p:nvPicPr>
          <p:cNvPr id="3075" name="Picture 3" descr="D:\รูปไม่มีพื้นหลัง\ลูกศรชมพูimages-7-removebg-preview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 rot="8365294">
            <a:off x="3136344" y="2857440"/>
            <a:ext cx="1412776" cy="1412776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4" dur="10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60000"/>
            <a:lum/>
          </a:blip>
          <a:srcRect/>
          <a:stretch>
            <a:fillRect l="-37000" r="-3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3568" y="1268760"/>
            <a:ext cx="30963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>
                <a:latin typeface="AngsanaUPC" pitchFamily="18" charset="-34"/>
                <a:cs typeface="AngsanaUPC" pitchFamily="18" charset="-34"/>
              </a:rPr>
              <a:t>    5.คลิกปุ่ม</a:t>
            </a:r>
            <a:r>
              <a:rPr lang="en-US" dirty="0">
                <a:latin typeface="AngsanaUPC" pitchFamily="18" charset="-34"/>
                <a:cs typeface="AngsanaUPC" pitchFamily="18" charset="-34"/>
              </a:rPr>
              <a:t>       </a:t>
            </a:r>
            <a:r>
              <a:rPr lang="th-TH" dirty="0">
                <a:latin typeface="AngsanaUPC" pitchFamily="18" charset="-34"/>
                <a:cs typeface="AngsanaUPC" pitchFamily="18" charset="-34"/>
              </a:rPr>
              <a:t> ที่หน้า</a:t>
            </a:r>
            <a:r>
              <a:rPr lang="en-US" dirty="0">
                <a:latin typeface="AngsanaUPC" pitchFamily="18" charset="-34"/>
                <a:cs typeface="AngsanaUPC" pitchFamily="18" charset="-34"/>
              </a:rPr>
              <a:t> Home</a:t>
            </a:r>
          </a:p>
          <a:p>
            <a:endParaRPr lang="th-TH" dirty="0">
              <a:latin typeface="AngsanaUPC" pitchFamily="18" charset="-34"/>
              <a:cs typeface="AngsanaUPC" pitchFamily="18" charset="-34"/>
            </a:endParaRPr>
          </a:p>
        </p:txBody>
      </p:sp>
      <p:pic>
        <p:nvPicPr>
          <p:cNvPr id="6" name="Picture 5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01044" y="1340768"/>
            <a:ext cx="2667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0" name="Group 29"/>
          <p:cNvGrpSpPr/>
          <p:nvPr/>
        </p:nvGrpSpPr>
        <p:grpSpPr>
          <a:xfrm>
            <a:off x="2411760" y="2492896"/>
            <a:ext cx="5731510" cy="2990850"/>
            <a:chOff x="2411760" y="2492896"/>
            <a:chExt cx="5731510" cy="2990850"/>
          </a:xfrm>
        </p:grpSpPr>
        <p:pic>
          <p:nvPicPr>
            <p:cNvPr id="4" name="Picture 3"/>
            <p:cNvPicPr/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411760" y="2492896"/>
              <a:ext cx="5731510" cy="2990850"/>
            </a:xfrm>
            <a:prstGeom prst="rect">
              <a:avLst/>
            </a:prstGeom>
            <a:noFill/>
            <a:ln w="1270" cmpd="sng">
              <a:solidFill>
                <a:schemeClr val="tx1"/>
              </a:solidFill>
              <a:miter lim="800000"/>
              <a:headEnd/>
              <a:tailEnd/>
            </a:ln>
          </p:spPr>
        </p:pic>
        <p:sp>
          <p:nvSpPr>
            <p:cNvPr id="19" name="Flowchart: Process 18"/>
            <p:cNvSpPr>
              <a:spLocks/>
            </p:cNvSpPr>
            <p:nvPr/>
          </p:nvSpPr>
          <p:spPr>
            <a:xfrm>
              <a:off x="2451964" y="2757075"/>
              <a:ext cx="144000" cy="144000"/>
            </a:xfrm>
            <a:prstGeom prst="flowChartProcess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pic>
        <p:nvPicPr>
          <p:cNvPr id="4098" name="Picture 2" descr="D:\รูปไม่มีพื้นหลัง\ลูกศรแดงimages-28-removebg-preview (1)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043608" y="2109018"/>
            <a:ext cx="1511574" cy="887934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7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39752" y="1124744"/>
            <a:ext cx="518457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>
                <a:latin typeface="AngsanaUPC" pitchFamily="18" charset="-34"/>
                <a:cs typeface="AngsanaUPC" pitchFamily="18" charset="-34"/>
              </a:rPr>
              <a:t>6. ค้นหาเมนู </a:t>
            </a:r>
            <a:r>
              <a:rPr lang="en-US" dirty="0">
                <a:latin typeface="AngsanaUPC" pitchFamily="18" charset="-34"/>
                <a:cs typeface="AngsanaUPC" pitchFamily="18" charset="-34"/>
              </a:rPr>
              <a:t>Return Miscellaneous Material </a:t>
            </a:r>
            <a:endParaRPr lang="th-TH" dirty="0">
              <a:latin typeface="AngsanaUPC" pitchFamily="18" charset="-34"/>
              <a:cs typeface="AngsanaUPC" pitchFamily="18" charset="-34"/>
            </a:endParaRPr>
          </a:p>
          <a:p>
            <a:r>
              <a:rPr lang="th-TH" dirty="0">
                <a:latin typeface="AngsanaUPC" pitchFamily="18" charset="-34"/>
                <a:cs typeface="AngsanaUPC" pitchFamily="18" charset="-34"/>
              </a:rPr>
              <a:t>และ </a:t>
            </a:r>
            <a:r>
              <a:rPr lang="en-US" dirty="0">
                <a:latin typeface="AngsanaUPC" pitchFamily="18" charset="-34"/>
                <a:cs typeface="AngsanaUPC" pitchFamily="18" charset="-34"/>
              </a:rPr>
              <a:t>Double Click </a:t>
            </a:r>
            <a:r>
              <a:rPr lang="th-TH" dirty="0">
                <a:latin typeface="AngsanaUPC" pitchFamily="18" charset="-34"/>
                <a:cs typeface="AngsanaUPC" pitchFamily="18" charset="-34"/>
              </a:rPr>
              <a:t>เพื่อทำการรับคืน</a:t>
            </a:r>
            <a:endParaRPr lang="en-US" dirty="0">
              <a:latin typeface="AngsanaUPC" pitchFamily="18" charset="-34"/>
              <a:cs typeface="AngsanaUPC" pitchFamily="18" charset="-34"/>
            </a:endParaRPr>
          </a:p>
          <a:p>
            <a:endParaRPr lang="en-US" dirty="0">
              <a:latin typeface="AngsanaUPC" pitchFamily="18" charset="-34"/>
              <a:cs typeface="AngsanaUPC" pitchFamily="18" charset="-34"/>
            </a:endParaRPr>
          </a:p>
          <a:p>
            <a:endParaRPr lang="th-TH" dirty="0">
              <a:latin typeface="AngsanaUPC" pitchFamily="18" charset="-34"/>
              <a:cs typeface="AngsanaUPC" pitchFamily="18" charset="-34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1691680" y="2132856"/>
            <a:ext cx="5731510" cy="2990850"/>
            <a:chOff x="1691680" y="2132856"/>
            <a:chExt cx="5731510" cy="2990850"/>
          </a:xfrm>
        </p:grpSpPr>
        <p:pic>
          <p:nvPicPr>
            <p:cNvPr id="2" name="Picture 1"/>
            <p:cNvPicPr/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691680" y="2132856"/>
              <a:ext cx="5731510" cy="2990850"/>
            </a:xfrm>
            <a:prstGeom prst="rect">
              <a:avLst/>
            </a:prstGeom>
            <a:noFill/>
            <a:ln w="1270" cmpd="sng">
              <a:solidFill>
                <a:schemeClr val="tx1"/>
              </a:solidFill>
              <a:miter lim="800000"/>
              <a:headEnd/>
              <a:tailEnd/>
            </a:ln>
          </p:spPr>
        </p:pic>
        <p:sp>
          <p:nvSpPr>
            <p:cNvPr id="6" name="Flowchart: Process 5"/>
            <p:cNvSpPr>
              <a:spLocks/>
            </p:cNvSpPr>
            <p:nvPr/>
          </p:nvSpPr>
          <p:spPr>
            <a:xfrm>
              <a:off x="1945804" y="2780928"/>
              <a:ext cx="1224136" cy="432048"/>
            </a:xfrm>
            <a:prstGeom prst="flowChartProcess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pic>
        <p:nvPicPr>
          <p:cNvPr id="5123" name="Picture 3" descr="D:\รูปไม่มีพื้นหลัง\images-100-removebg-preview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rot="20805531">
            <a:off x="3172836" y="2109379"/>
            <a:ext cx="931381" cy="931381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1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2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19872" y="1412776"/>
            <a:ext cx="5069923" cy="39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>
            <a:spLocks noChangeAspect="1"/>
          </p:cNvSpPr>
          <p:nvPr/>
        </p:nvSpPr>
        <p:spPr>
          <a:xfrm>
            <a:off x="827584" y="1527750"/>
            <a:ext cx="237600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200" dirty="0">
                <a:latin typeface="AngsanaUPC" pitchFamily="18" charset="-34"/>
                <a:cs typeface="AngsanaUPC" pitchFamily="18" charset="-34"/>
              </a:rPr>
              <a:t>7. การรับคืนสินค้า</a:t>
            </a:r>
            <a:endParaRPr lang="en-US" sz="2200" dirty="0">
              <a:latin typeface="AngsanaUPC" pitchFamily="18" charset="-34"/>
              <a:cs typeface="AngsanaUPC" pitchFamily="18" charset="-34"/>
            </a:endParaRPr>
          </a:p>
          <a:p>
            <a:r>
              <a:rPr lang="th-TH" sz="2200" dirty="0">
                <a:latin typeface="AngsanaUPC" pitchFamily="18" charset="-34"/>
                <a:cs typeface="AngsanaUPC" pitchFamily="18" charset="-34"/>
              </a:rPr>
              <a:t>-</a:t>
            </a:r>
            <a:r>
              <a:rPr lang="en-US" sz="2200" dirty="0">
                <a:latin typeface="AngsanaUPC" pitchFamily="18" charset="-34"/>
                <a:cs typeface="AngsanaUPC" pitchFamily="18" charset="-34"/>
              </a:rPr>
              <a:t>Part : </a:t>
            </a:r>
            <a:r>
              <a:rPr lang="th-TH" sz="2200" dirty="0">
                <a:latin typeface="AngsanaUPC" pitchFamily="18" charset="-34"/>
                <a:cs typeface="AngsanaUPC" pitchFamily="18" charset="-34"/>
              </a:rPr>
              <a:t>ใส่โค้ด </a:t>
            </a:r>
            <a:r>
              <a:rPr lang="en-US" sz="2200" dirty="0">
                <a:latin typeface="AngsanaUPC" pitchFamily="18" charset="-34"/>
                <a:cs typeface="AngsanaUPC" pitchFamily="18" charset="-34"/>
              </a:rPr>
              <a:t>| </a:t>
            </a:r>
            <a:r>
              <a:rPr lang="th-TH" sz="2200" dirty="0">
                <a:latin typeface="AngsanaUPC" pitchFamily="18" charset="-34"/>
                <a:cs typeface="AngsanaUPC" pitchFamily="18" charset="-34"/>
              </a:rPr>
              <a:t>กด </a:t>
            </a:r>
            <a:r>
              <a:rPr lang="en-US" sz="2200" dirty="0">
                <a:latin typeface="AngsanaUPC" pitchFamily="18" charset="-34"/>
                <a:cs typeface="AngsanaUPC" pitchFamily="18" charset="-34"/>
              </a:rPr>
              <a:t>Tab</a:t>
            </a:r>
          </a:p>
          <a:p>
            <a:r>
              <a:rPr lang="en-US" sz="2200" dirty="0">
                <a:latin typeface="AngsanaUPC" pitchFamily="18" charset="-34"/>
                <a:cs typeface="AngsanaUPC" pitchFamily="18" charset="-34"/>
              </a:rPr>
              <a:t>-Quantity : </a:t>
            </a:r>
            <a:r>
              <a:rPr lang="th-TH" sz="2200" dirty="0">
                <a:latin typeface="AngsanaUPC" pitchFamily="18" charset="-34"/>
                <a:cs typeface="AngsanaUPC" pitchFamily="18" charset="-34"/>
              </a:rPr>
              <a:t>ใส่จำนวน</a:t>
            </a:r>
            <a:endParaRPr lang="en-US" sz="2200" dirty="0">
              <a:latin typeface="AngsanaUPC" pitchFamily="18" charset="-34"/>
              <a:cs typeface="AngsanaUPC" pitchFamily="18" charset="-34"/>
            </a:endParaRPr>
          </a:p>
          <a:p>
            <a:r>
              <a:rPr lang="en-US" sz="2200" dirty="0">
                <a:latin typeface="AngsanaUPC" pitchFamily="18" charset="-34"/>
                <a:cs typeface="AngsanaUPC" pitchFamily="18" charset="-34"/>
              </a:rPr>
              <a:t>-Reference : </a:t>
            </a:r>
            <a:r>
              <a:rPr lang="th-TH" sz="2200" dirty="0">
                <a:latin typeface="AngsanaUPC" pitchFamily="18" charset="-34"/>
                <a:cs typeface="AngsanaUPC" pitchFamily="18" charset="-34"/>
              </a:rPr>
              <a:t>ใส่เลขที่ใบคืน / หมายเหตุ</a:t>
            </a:r>
            <a:endParaRPr lang="en-US" sz="2200" dirty="0">
              <a:latin typeface="AngsanaUPC" pitchFamily="18" charset="-34"/>
              <a:cs typeface="AngsanaUPC" pitchFamily="18" charset="-34"/>
            </a:endParaRPr>
          </a:p>
          <a:p>
            <a:r>
              <a:rPr lang="en-US" sz="2200" dirty="0">
                <a:latin typeface="AngsanaUPC" pitchFamily="18" charset="-34"/>
                <a:cs typeface="AngsanaUPC" pitchFamily="18" charset="-34"/>
              </a:rPr>
              <a:t>-Reason : </a:t>
            </a:r>
            <a:r>
              <a:rPr lang="th-TH" sz="2200" dirty="0">
                <a:latin typeface="AngsanaUPC" pitchFamily="18" charset="-34"/>
                <a:cs typeface="AngsanaUPC" pitchFamily="18" charset="-34"/>
              </a:rPr>
              <a:t>เลือกประเภทการใช้งานเดิม (ดูจากตอนที่ทำใบเบิกออก)</a:t>
            </a:r>
            <a:endParaRPr lang="en-US" sz="2200" dirty="0">
              <a:latin typeface="AngsanaUPC" pitchFamily="18" charset="-34"/>
              <a:cs typeface="AngsanaUPC" pitchFamily="18" charset="-34"/>
            </a:endParaRPr>
          </a:p>
          <a:p>
            <a:r>
              <a:rPr lang="th-TH" sz="2200" dirty="0">
                <a:latin typeface="AngsanaUPC" pitchFamily="18" charset="-34"/>
                <a:cs typeface="AngsanaUPC" pitchFamily="18" charset="-34"/>
              </a:rPr>
              <a:t>-เสร็จแล้วกด </a:t>
            </a:r>
            <a:r>
              <a:rPr lang="en-US" sz="2200" dirty="0">
                <a:latin typeface="AngsanaUPC" pitchFamily="18" charset="-34"/>
                <a:cs typeface="AngsanaUPC" pitchFamily="18" charset="-34"/>
              </a:rPr>
              <a:t>Return </a:t>
            </a:r>
            <a:r>
              <a:rPr lang="th-TH" sz="2200" dirty="0">
                <a:latin typeface="AngsanaUPC" pitchFamily="18" charset="-34"/>
                <a:cs typeface="AngsanaUPC" pitchFamily="18" charset="-34"/>
              </a:rPr>
              <a:t>(ด้านล่าง)</a:t>
            </a:r>
            <a:r>
              <a:rPr lang="en-US" sz="2200" dirty="0">
                <a:latin typeface="AngsanaUPC" pitchFamily="18" charset="-34"/>
                <a:cs typeface="AngsanaUPC" pitchFamily="18" charset="-34"/>
              </a:rPr>
              <a:t> </a:t>
            </a:r>
            <a:endParaRPr lang="th-TH" sz="2200" dirty="0">
              <a:latin typeface="AngsanaUPC" pitchFamily="18" charset="-34"/>
              <a:cs typeface="AngsanaUPC" pitchFamily="18" charset="-34"/>
            </a:endParaRPr>
          </a:p>
          <a:p>
            <a:r>
              <a:rPr lang="th-TH" sz="2200" dirty="0">
                <a:latin typeface="AngsanaUPC" pitchFamily="18" charset="-34"/>
                <a:cs typeface="AngsanaUPC" pitchFamily="18" charset="-34"/>
              </a:rPr>
              <a:t>-เลขใบคืนจะขึ้น </a:t>
            </a:r>
            <a:r>
              <a:rPr lang="en-US" sz="2200" dirty="0">
                <a:latin typeface="AngsanaUPC" pitchFamily="18" charset="-34"/>
                <a:cs typeface="AngsanaUPC" pitchFamily="18" charset="-34"/>
              </a:rPr>
              <a:t>|</a:t>
            </a:r>
            <a:r>
              <a:rPr lang="th-TH" sz="2200" dirty="0">
                <a:latin typeface="AngsanaUPC" pitchFamily="18" charset="-34"/>
                <a:cs typeface="AngsanaUPC" pitchFamily="18" charset="-34"/>
              </a:rPr>
              <a:t> กด </a:t>
            </a:r>
            <a:r>
              <a:rPr lang="en-US" sz="2200" dirty="0">
                <a:latin typeface="AngsanaUPC" pitchFamily="18" charset="-34"/>
                <a:cs typeface="AngsanaUPC" pitchFamily="18" charset="-34"/>
              </a:rPr>
              <a:t>OK </a:t>
            </a:r>
          </a:p>
          <a:p>
            <a:endParaRPr lang="en-US" sz="2200" dirty="0">
              <a:latin typeface="AngsanaUPC" pitchFamily="18" charset="-34"/>
              <a:cs typeface="AngsanaUPC" pitchFamily="18" charset="-34"/>
            </a:endParaRPr>
          </a:p>
          <a:p>
            <a:endParaRPr lang="th-TH" sz="2200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4" name="Flowchart: Process 3"/>
          <p:cNvSpPr>
            <a:spLocks/>
          </p:cNvSpPr>
          <p:nvPr/>
        </p:nvSpPr>
        <p:spPr>
          <a:xfrm>
            <a:off x="4499992" y="2501950"/>
            <a:ext cx="648072" cy="144000"/>
          </a:xfrm>
          <a:prstGeom prst="flowChartProcess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Flowchart: Process 4"/>
          <p:cNvSpPr>
            <a:spLocks/>
          </p:cNvSpPr>
          <p:nvPr/>
        </p:nvSpPr>
        <p:spPr>
          <a:xfrm>
            <a:off x="4697956" y="4135499"/>
            <a:ext cx="432000" cy="126000"/>
          </a:xfrm>
          <a:prstGeom prst="flowChartProcess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Flowchart: Process 5"/>
          <p:cNvSpPr>
            <a:spLocks/>
          </p:cNvSpPr>
          <p:nvPr/>
        </p:nvSpPr>
        <p:spPr>
          <a:xfrm>
            <a:off x="4697908" y="4274988"/>
            <a:ext cx="432000" cy="126000"/>
          </a:xfrm>
          <a:prstGeom prst="flowChartProcess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Flowchart: Process 6"/>
          <p:cNvSpPr>
            <a:spLocks/>
          </p:cNvSpPr>
          <p:nvPr/>
        </p:nvSpPr>
        <p:spPr>
          <a:xfrm>
            <a:off x="4697956" y="4409280"/>
            <a:ext cx="432000" cy="126000"/>
          </a:xfrm>
          <a:prstGeom prst="flowChartProcess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Flowchart: Process 7"/>
          <p:cNvSpPr>
            <a:spLocks/>
          </p:cNvSpPr>
          <p:nvPr/>
        </p:nvSpPr>
        <p:spPr>
          <a:xfrm>
            <a:off x="4450619" y="5039914"/>
            <a:ext cx="504000" cy="136800"/>
          </a:xfrm>
          <a:prstGeom prst="flowChartProcess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2699792" y="2132856"/>
            <a:ext cx="1675234" cy="419348"/>
          </a:xfrm>
          <a:prstGeom prst="straightConnector1">
            <a:avLst/>
          </a:prstGeom>
          <a:ln w="12700" cmpd="sng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urved Connector 16"/>
          <p:cNvCxnSpPr/>
          <p:nvPr/>
        </p:nvCxnSpPr>
        <p:spPr>
          <a:xfrm>
            <a:off x="2568476" y="2420888"/>
            <a:ext cx="2088232" cy="1768450"/>
          </a:xfrm>
          <a:prstGeom prst="curvedConnector3">
            <a:avLst>
              <a:gd name="adj1" fmla="val 50000"/>
            </a:avLst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/>
          <p:cNvCxnSpPr/>
          <p:nvPr/>
        </p:nvCxnSpPr>
        <p:spPr>
          <a:xfrm>
            <a:off x="1691680" y="3068960"/>
            <a:ext cx="2965028" cy="1264394"/>
          </a:xfrm>
          <a:prstGeom prst="curvedConnector3">
            <a:avLst>
              <a:gd name="adj1" fmla="val 50000"/>
            </a:avLst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urved Connector 28"/>
          <p:cNvCxnSpPr/>
          <p:nvPr/>
        </p:nvCxnSpPr>
        <p:spPr>
          <a:xfrm>
            <a:off x="1691680" y="4077072"/>
            <a:ext cx="2965028" cy="400298"/>
          </a:xfrm>
          <a:prstGeom prst="curvedConnector3">
            <a:avLst>
              <a:gd name="adj1" fmla="val 50000"/>
            </a:avLst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urved Connector 32"/>
          <p:cNvCxnSpPr/>
          <p:nvPr/>
        </p:nvCxnSpPr>
        <p:spPr>
          <a:xfrm>
            <a:off x="1763688" y="4725144"/>
            <a:ext cx="2638896" cy="366390"/>
          </a:xfrm>
          <a:prstGeom prst="curvedConnector3">
            <a:avLst>
              <a:gd name="adj1" fmla="val 50000"/>
            </a:avLst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3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4" dur="1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5" dur="400" decel="50000" autoRev="1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6" dur="400" decel="100000" autoRev="1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7" dur="400" decel="100000" autoRev="1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3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1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400" decel="50000" autoRev="1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400" decel="100000" autoRev="1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400" decel="100000" autoRev="1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6000"/>
                            </p:stCondLst>
                            <p:childTnLst>
                              <p:par>
                                <p:cTn id="36" presetID="3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600" decel="100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400" accel="1000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00" accel="1000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000"/>
                            </p:stCondLst>
                            <p:childTnLst>
                              <p:par>
                                <p:cTn id="45" presetID="54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60000"/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504056" y="2276872"/>
            <a:ext cx="1979712" cy="1759329"/>
            <a:chOff x="504056" y="2276872"/>
            <a:chExt cx="1979712" cy="1759329"/>
          </a:xfrm>
        </p:grpSpPr>
        <p:pic>
          <p:nvPicPr>
            <p:cNvPr id="1026" name="Picture 2" descr="D:\รูปไม่มีพื้นหลัง\images-46-removebg-preview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04056" y="2276872"/>
              <a:ext cx="1979712" cy="1759329"/>
            </a:xfrm>
            <a:prstGeom prst="rect">
              <a:avLst/>
            </a:prstGeom>
            <a:noFill/>
          </p:spPr>
        </p:pic>
        <p:sp>
          <p:nvSpPr>
            <p:cNvPr id="4" name="TextBox 3"/>
            <p:cNvSpPr txBox="1"/>
            <p:nvPr/>
          </p:nvSpPr>
          <p:spPr>
            <a:xfrm rot="355541">
              <a:off x="1154463" y="2907606"/>
              <a:ext cx="129357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b="1" dirty="0">
                  <a:latin typeface="AngsanaUPC" pitchFamily="18" charset="-34"/>
                  <a:cs typeface="AngsanaUPC" pitchFamily="18" charset="-34"/>
                </a:rPr>
                <a:t>ตัวอย่าง 1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440890" y="1340768"/>
            <a:ext cx="5731510" cy="4476750"/>
            <a:chOff x="2440890" y="1340768"/>
            <a:chExt cx="5731510" cy="4476750"/>
          </a:xfrm>
        </p:grpSpPr>
        <p:pic>
          <p:nvPicPr>
            <p:cNvPr id="2" name="Picture 1"/>
            <p:cNvPicPr/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440890" y="1340768"/>
              <a:ext cx="5731510" cy="4476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" name="Flowchart: Process 4"/>
            <p:cNvSpPr>
              <a:spLocks/>
            </p:cNvSpPr>
            <p:nvPr/>
          </p:nvSpPr>
          <p:spPr>
            <a:xfrm>
              <a:off x="3686386" y="2576124"/>
              <a:ext cx="720000" cy="144000"/>
            </a:xfrm>
            <a:prstGeom prst="flowChartProcess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6" name="Flowchart: Process 5"/>
            <p:cNvSpPr>
              <a:spLocks/>
            </p:cNvSpPr>
            <p:nvPr/>
          </p:nvSpPr>
          <p:spPr>
            <a:xfrm>
              <a:off x="3836012" y="4409078"/>
              <a:ext cx="540000" cy="144000"/>
            </a:xfrm>
            <a:prstGeom prst="flowChartProcess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7" name="Flowchart: Process 6"/>
            <p:cNvSpPr>
              <a:spLocks/>
            </p:cNvSpPr>
            <p:nvPr/>
          </p:nvSpPr>
          <p:spPr>
            <a:xfrm>
              <a:off x="3835090" y="4564314"/>
              <a:ext cx="540000" cy="144000"/>
            </a:xfrm>
            <a:prstGeom prst="flowChartProcess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8" name="Flowchart: Process 7"/>
            <p:cNvSpPr>
              <a:spLocks/>
            </p:cNvSpPr>
            <p:nvPr/>
          </p:nvSpPr>
          <p:spPr>
            <a:xfrm>
              <a:off x="3835090" y="4716714"/>
              <a:ext cx="540000" cy="144000"/>
            </a:xfrm>
            <a:prstGeom prst="flowChartProcess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</p:cSld>
  <p:clrMapOvr>
    <a:masterClrMapping/>
  </p:clrMapOvr>
  <p:transition spd="med">
    <p:pull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043608" y="1191135"/>
            <a:ext cx="5731510" cy="4475730"/>
            <a:chOff x="1043608" y="1191135"/>
            <a:chExt cx="5731510" cy="4475730"/>
          </a:xfrm>
        </p:grpSpPr>
        <p:pic>
          <p:nvPicPr>
            <p:cNvPr id="2" name="Picture 1"/>
            <p:cNvPicPr/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043608" y="1191135"/>
              <a:ext cx="5731510" cy="44757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" name="Flowchart: Process 2"/>
            <p:cNvSpPr>
              <a:spLocks/>
            </p:cNvSpPr>
            <p:nvPr/>
          </p:nvSpPr>
          <p:spPr>
            <a:xfrm>
              <a:off x="2231661" y="5289988"/>
              <a:ext cx="547200" cy="151200"/>
            </a:xfrm>
            <a:prstGeom prst="flowChartProcess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4" name="Flowchart: Process 3"/>
            <p:cNvSpPr>
              <a:spLocks/>
            </p:cNvSpPr>
            <p:nvPr/>
          </p:nvSpPr>
          <p:spPr>
            <a:xfrm>
              <a:off x="2973259" y="3046520"/>
              <a:ext cx="2052000" cy="1116000"/>
            </a:xfrm>
            <a:prstGeom prst="flowChartProcess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6806518" y="2337588"/>
            <a:ext cx="1810519" cy="1374653"/>
            <a:chOff x="6806518" y="2337588"/>
            <a:chExt cx="1810519" cy="1374653"/>
          </a:xfrm>
        </p:grpSpPr>
        <p:pic>
          <p:nvPicPr>
            <p:cNvPr id="2051" name="Picture 3" descr="D:\รูปไม่มีพื้นหลัง\ลูกศรส้มimages-26-removebg-preview (1).pn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 rot="19889358">
              <a:off x="6806518" y="2337588"/>
              <a:ext cx="1810519" cy="1374653"/>
            </a:xfrm>
            <a:prstGeom prst="rect">
              <a:avLst/>
            </a:prstGeom>
            <a:noFill/>
          </p:spPr>
        </p:pic>
        <p:sp>
          <p:nvSpPr>
            <p:cNvPr id="6" name="TextBox 5"/>
            <p:cNvSpPr txBox="1"/>
            <p:nvPr/>
          </p:nvSpPr>
          <p:spPr>
            <a:xfrm rot="20064935">
              <a:off x="7291733" y="2728203"/>
              <a:ext cx="113364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h-TH" b="1" dirty="0">
                  <a:latin typeface="AngsanaUPC" pitchFamily="18" charset="-34"/>
                  <a:cs typeface="AngsanaUPC" pitchFamily="18" charset="-34"/>
                </a:rPr>
                <a:t>ตัวอย่าง 2</a:t>
              </a:r>
            </a:p>
          </p:txBody>
        </p:sp>
      </p:grpSp>
    </p:spTree>
  </p:cSld>
  <p:clrMapOvr>
    <a:masterClrMapping/>
  </p:clrMapOvr>
  <p:transition spd="med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043608" y="1556792"/>
            <a:ext cx="5472608" cy="1800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 dirty="0">
                <a:ln w="11430"/>
                <a:solidFill>
                  <a:srgbClr val="FF0000"/>
                </a:solidFill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AngsanaUPC" pitchFamily="18" charset="-34"/>
                <a:ea typeface="+mj-ea"/>
                <a:cs typeface="AngsanaUPC" pitchFamily="18" charset="-34"/>
              </a:rPr>
              <a:t>END….</a:t>
            </a:r>
            <a:endParaRPr kumimoji="0" lang="th-TH" sz="13800" b="1" i="0" u="none" strike="noStrike" kern="1200" cap="none" spc="0" normalizeH="0" baseline="0" noProof="0" dirty="0">
              <a:ln w="11430"/>
              <a:solidFill>
                <a:srgbClr val="FF0000"/>
              </a:solidFill>
              <a:effectLst>
                <a:glow rad="101600">
                  <a:schemeClr val="accent3">
                    <a:satMod val="175000"/>
                    <a:alpha val="40000"/>
                  </a:schemeClr>
                </a:glow>
                <a:outerShdw blurRad="80000" dist="40000" dir="5040000" algn="tl">
                  <a:srgbClr val="000000">
                    <a:alpha val="30000"/>
                  </a:srgbClr>
                </a:outerShdw>
              </a:effectLst>
              <a:uLnTx/>
              <a:uFillTx/>
              <a:latin typeface="AngsanaUPC" pitchFamily="18" charset="-34"/>
              <a:ea typeface="+mj-ea"/>
              <a:cs typeface="AngsanaUPC" pitchFamily="18" charset="-34"/>
            </a:endParaRPr>
          </a:p>
        </p:txBody>
      </p:sp>
      <p:pic>
        <p:nvPicPr>
          <p:cNvPr id="1027" name="Picture 3" descr="D:\รูปตกแต่ง\png-clipart-pencil-drawing-cartoon-cartoon-pencil-box-book-cartoon-character-pencil-thumbnail-removebg-preview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88024" y="2636912"/>
            <a:ext cx="3314700" cy="2590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</TotalTime>
  <Words>200</Words>
  <Application>Microsoft Office PowerPoint</Application>
  <PresentationFormat>On-screen Show (4:3)</PresentationFormat>
  <Paragraphs>33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Angsana New</vt:lpstr>
      <vt:lpstr>AngsanaUPC</vt:lpstr>
      <vt:lpstr>Arial</vt:lpstr>
      <vt:lpstr>Calibri</vt:lpstr>
      <vt:lpstr>Cordia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ENGINEER12</dc:creator>
  <cp:lastModifiedBy>Pornpan Pakdeekum</cp:lastModifiedBy>
  <cp:revision>26</cp:revision>
  <dcterms:created xsi:type="dcterms:W3CDTF">2024-08-05T10:23:01Z</dcterms:created>
  <dcterms:modified xsi:type="dcterms:W3CDTF">2025-10-18T06:57:54Z</dcterms:modified>
</cp:coreProperties>
</file>