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56" r:id="rId3"/>
    <p:sldId id="257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3" autoAdjust="0"/>
    <p:restoredTop sz="94637" autoAdjust="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753A5E-79AE-4B03-BCD3-EE83A7F45D0A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CC943-DEEF-479F-8930-CEC05063A22B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10345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2CC943-DEEF-479F-8930-CEC05063A22B}" type="slidenum">
              <a:rPr lang="th-TH" smtClean="0"/>
              <a:pPr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3486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2CC943-DEEF-479F-8930-CEC05063A22B}" type="slidenum">
              <a:rPr lang="th-TH" smtClean="0"/>
              <a:pPr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50124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2CC943-DEEF-479F-8930-CEC05063A22B}" type="slidenum">
              <a:rPr lang="th-TH" smtClean="0"/>
              <a:pPr/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3240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53187-AE7C-4097-88A4-0DFCD64D46EB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CC1F-51F0-4401-A74B-467EE21F3BA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53187-AE7C-4097-88A4-0DFCD64D46EB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CC1F-51F0-4401-A74B-467EE21F3BA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53187-AE7C-4097-88A4-0DFCD64D46EB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CC1F-51F0-4401-A74B-467EE21F3BA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53187-AE7C-4097-88A4-0DFCD64D46EB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CC1F-51F0-4401-A74B-467EE21F3BA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53187-AE7C-4097-88A4-0DFCD64D46EB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CC1F-51F0-4401-A74B-467EE21F3BA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53187-AE7C-4097-88A4-0DFCD64D46EB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CC1F-51F0-4401-A74B-467EE21F3BA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53187-AE7C-4097-88A4-0DFCD64D46EB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CC1F-51F0-4401-A74B-467EE21F3BA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53187-AE7C-4097-88A4-0DFCD64D46EB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CC1F-51F0-4401-A74B-467EE21F3BA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53187-AE7C-4097-88A4-0DFCD64D46EB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CC1F-51F0-4401-A74B-467EE21F3BA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53187-AE7C-4097-88A4-0DFCD64D46EB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CC1F-51F0-4401-A74B-467EE21F3BA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53187-AE7C-4097-88A4-0DFCD64D46EB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CC1F-51F0-4401-A74B-467EE21F3BA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53187-AE7C-4097-88A4-0DFCD64D46EB}" type="datetimeFigureOut">
              <a:rPr lang="th-TH" smtClean="0"/>
              <a:pPr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CCC1F-51F0-4401-A74B-467EE21F3BAA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="" xmlns:a16="http://schemas.microsoft.com/office/drawing/2014/main" id="{A26CEB0A-E547-4CC1-80C3-17826671BC3F}"/>
              </a:ext>
            </a:extLst>
          </p:cNvPr>
          <p:cNvSpPr txBox="1">
            <a:spLocks/>
          </p:cNvSpPr>
          <p:nvPr/>
        </p:nvSpPr>
        <p:spPr>
          <a:xfrm>
            <a:off x="1518591" y="774119"/>
            <a:ext cx="6439583" cy="4616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b="1" dirty="0" smtClean="0">
                <a:latin typeface="AngsanaUPC" pitchFamily="18" charset="-34"/>
                <a:cs typeface="AngsanaUPC" pitchFamily="18" charset="-34"/>
              </a:rPr>
              <a:t>การสร้างข้อมูล </a:t>
            </a:r>
            <a:r>
              <a:rPr lang="en-US" sz="2400" b="1" dirty="0" smtClean="0">
                <a:latin typeface="AngsanaUPC" pitchFamily="18" charset="-34"/>
                <a:cs typeface="AngsanaUPC" pitchFamily="18" charset="-34"/>
              </a:rPr>
              <a:t>Fiscal Calendar/Year/Period </a:t>
            </a:r>
            <a:r>
              <a:rPr lang="th-TH" sz="2400" b="1" dirty="0" smtClean="0">
                <a:latin typeface="AngsanaUPC" pitchFamily="18" charset="-34"/>
                <a:cs typeface="AngsanaUPC" pitchFamily="18" charset="-34"/>
              </a:rPr>
              <a:t>สำหรับ ตัดสต็อกวิศวกรรม</a:t>
            </a:r>
            <a:endParaRPr lang="th-TH" sz="2400" dirty="0">
              <a:latin typeface="AngsanaUPC" pitchFamily="18" charset="-34"/>
              <a:cs typeface="AngsanaUPC" pitchFamily="18" charset="-34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C589AB3B-755D-492D-9C9B-94B4F1E1D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958348"/>
              </p:ext>
            </p:extLst>
          </p:nvPr>
        </p:nvGraphicFramePr>
        <p:xfrm>
          <a:off x="971600" y="1991767"/>
          <a:ext cx="7411808" cy="37414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5904">
                  <a:extLst>
                    <a:ext uri="{9D8B030D-6E8A-4147-A177-3AD203B41FA5}">
                      <a16:colId xmlns="" xmlns:a16="http://schemas.microsoft.com/office/drawing/2014/main" val="1371482394"/>
                    </a:ext>
                  </a:extLst>
                </a:gridCol>
                <a:gridCol w="3705904">
                  <a:extLst>
                    <a:ext uri="{9D8B030D-6E8A-4147-A177-3AD203B41FA5}">
                      <a16:colId xmlns="" xmlns:a16="http://schemas.microsoft.com/office/drawing/2014/main" val="3465317202"/>
                    </a:ext>
                  </a:extLst>
                </a:gridCol>
              </a:tblGrid>
              <a:tr h="852365"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INV-03 : Issue Miscellaneous Material</a:t>
                      </a:r>
                      <a:endParaRPr lang="th-TH" sz="2000" dirty="0" smtClean="0"/>
                    </a:p>
                    <a:p>
                      <a:pPr algn="l" rtl="0" fontAlgn="ctr"/>
                      <a:r>
                        <a:rPr lang="th-TH" sz="2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สำหรับ </a:t>
                      </a:r>
                      <a:r>
                        <a:rPr lang="en-US" sz="2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</a:t>
                      </a:r>
                      <a:r>
                        <a:rPr lang="th-TH" sz="20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การตัดสต็อก)</a:t>
                      </a:r>
                      <a:endParaRPr lang="th-TH" sz="2000" b="1" i="0" u="none" strike="noStrike" dirty="0">
                        <a:solidFill>
                          <a:srgbClr val="C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793788566"/>
                  </a:ext>
                </a:extLst>
              </a:tr>
              <a:tr h="789860"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 กระบวนการ (</a:t>
                      </a:r>
                      <a:r>
                        <a:rPr lang="en-US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Process)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u="none" strike="noStrike" baseline="0" dirty="0" smtClean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</a:t>
                      </a:r>
                      <a:r>
                        <a:rPr lang="th-TH" sz="2000" u="none" strike="noStrike" baseline="0" dirty="0" smtClean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ตัดเบิก</a:t>
                      </a:r>
                      <a:endParaRPr lang="th-TH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568776913"/>
                  </a:ext>
                </a:extLst>
              </a:tr>
              <a:tr h="524816"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 ข้อมูลที่ต้องใช้ (</a:t>
                      </a:r>
                      <a:r>
                        <a:rPr lang="en-US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Input)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เอกสาร</a:t>
                      </a:r>
                      <a:r>
                        <a:rPr lang="th-TH" sz="20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/ ยอดคงหลือ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220554461"/>
                  </a:ext>
                </a:extLst>
              </a:tr>
              <a:tr h="524816"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 ขั้นตอนย่อย (</a:t>
                      </a:r>
                      <a:r>
                        <a:rPr lang="en-US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Sub Process)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การเบิกของวิศวกรรม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749088920"/>
                  </a:ext>
                </a:extLst>
              </a:tr>
              <a:tr h="524816"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u="none" strike="noStrike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 ความเสี่ยง (</a:t>
                      </a:r>
                      <a:r>
                        <a:rPr lang="en-US" sz="2000" u="none" strike="noStrike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Risk)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ยอดไม่ตรง</a:t>
                      </a:r>
                      <a:r>
                        <a:rPr lang="th-TH" sz="20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/ ขาด, เกิน</a:t>
                      </a:r>
                      <a:endParaRPr lang="th-TH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672853554"/>
                  </a:ext>
                </a:extLst>
              </a:tr>
              <a:tr h="524816"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 จุดควบคุม (</a:t>
                      </a:r>
                      <a:r>
                        <a:rPr lang="en-US" sz="2000" u="none" strike="noStrike" dirty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Control Point)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th-TH" sz="2000" u="none" strike="noStrike" dirty="0" smtClean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คอยตรวจสอบ</a:t>
                      </a:r>
                      <a:r>
                        <a:rPr lang="th-TH" sz="2000" u="none" strike="noStrike" baseline="0" dirty="0" smtClean="0"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/ เช็คสต็อก</a:t>
                      </a:r>
                      <a:endParaRPr lang="th-TH" sz="2000" b="0" i="0" u="none" strike="noStrike" dirty="0">
                        <a:solidFill>
                          <a:srgbClr val="00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315155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39307"/>
      </p:ext>
    </p:extLst>
  </p:cSld>
  <p:clrMapOvr>
    <a:masterClrMapping/>
  </p:clrMapOvr>
  <p:transition spd="slow"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alphaModFix amt="80000"/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908720"/>
            <a:ext cx="7920880" cy="1800200"/>
          </a:xfrm>
        </p:spPr>
        <p:txBody>
          <a:bodyPr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th-TH" sz="6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6">
                      <a:lumMod val="50000"/>
                      <a:alpha val="60000"/>
                    </a:schemeClr>
                  </a:glow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        คู่มือการตัดสต็อกวิศวกรรม</a:t>
            </a:r>
            <a:br>
              <a:rPr lang="th-TH" sz="6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6">
                      <a:lumMod val="50000"/>
                      <a:alpha val="60000"/>
                    </a:schemeClr>
                  </a:glow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</a:br>
            <a:r>
              <a:rPr lang="th-TH" sz="6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6">
                      <a:lumMod val="50000"/>
                      <a:alpha val="60000"/>
                    </a:schemeClr>
                  </a:glow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ระบบ </a:t>
            </a:r>
            <a:r>
              <a:rPr lang="en-US" sz="60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6">
                      <a:lumMod val="50000"/>
                      <a:alpha val="60000"/>
                    </a:schemeClr>
                  </a:glow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Epicor</a:t>
            </a:r>
            <a:r>
              <a:rPr lang="en-US" sz="6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glow rad="101600">
                    <a:schemeClr val="accent6">
                      <a:lumMod val="50000"/>
                      <a:alpha val="60000"/>
                    </a:schemeClr>
                  </a:glow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 UAT Environment</a:t>
            </a:r>
            <a:endParaRPr lang="th-TH" sz="60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glow rad="101600">
                  <a:schemeClr val="accent6">
                    <a:lumMod val="50000"/>
                    <a:alpha val="60000"/>
                  </a:schemeClr>
                </a:glow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4" name="Picture 3"/>
          <p:cNvPicPr/>
          <p:nvPr/>
        </p:nvPicPr>
        <p:blipFill>
          <a:blip r:embed="rId4" cstate="print"/>
          <a:srcRect l="81009" t="39349" r="10834" b="46124"/>
          <a:stretch>
            <a:fillRect/>
          </a:stretch>
        </p:blipFill>
        <p:spPr bwMode="auto">
          <a:xfrm>
            <a:off x="3419872" y="2924944"/>
            <a:ext cx="1944216" cy="19442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32" name="Picture 8" descr="D:\รูปมีพื้นหลัง\images-677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5536" y="404664"/>
            <a:ext cx="1152128" cy="11521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4" name="Picture 10" descr="D:\รูปไม่มีพื้นหลัง\png-clipart-cartoon-planet-cartoon-planet-orange-thumbnail-removebg-preview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21123575">
            <a:off x="1818521" y="3843873"/>
            <a:ext cx="1369318" cy="1369318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95736" y="692696"/>
            <a:ext cx="4680520" cy="11521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6000" b="1" cap="all" dirty="0">
                <a:ln w="9000" cmpd="sng">
                  <a:gradFill>
                    <a:gsLst>
                      <a:gs pos="0">
                        <a:srgbClr val="3399FF"/>
                      </a:gs>
                      <a:gs pos="16000">
                        <a:srgbClr val="00CCCC"/>
                      </a:gs>
                      <a:gs pos="47000">
                        <a:srgbClr val="9999FF"/>
                      </a:gs>
                      <a:gs pos="60001">
                        <a:srgbClr val="2E6792"/>
                      </a:gs>
                      <a:gs pos="71001">
                        <a:srgbClr val="3333CC"/>
                      </a:gs>
                      <a:gs pos="81000">
                        <a:srgbClr val="1170FF"/>
                      </a:gs>
                      <a:gs pos="100000">
                        <a:srgbClr val="006699"/>
                      </a:gs>
                    </a:gsLst>
                    <a:lin ang="5400000" scaled="0"/>
                  </a:gra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ngsanaUPC" pitchFamily="18" charset="-34"/>
                <a:ea typeface="+mj-ea"/>
                <a:cs typeface="AngsanaUPC" pitchFamily="18" charset="-34"/>
              </a:rPr>
              <a:t>ก า ร เ ข้ า สู่ ร ะ บ บ</a:t>
            </a:r>
            <a:endParaRPr kumimoji="0" lang="th-TH" sz="6000" b="1" i="0" u="none" strike="noStrike" kern="1200" cap="all" normalizeH="0" baseline="0" noProof="0" dirty="0">
              <a:ln w="9000" cmpd="sng">
                <a:gradFill>
                  <a:gsLst>
                    <a:gs pos="0">
                      <a:srgbClr val="3399FF"/>
                    </a:gs>
                    <a:gs pos="16000">
                      <a:srgbClr val="00CCCC"/>
                    </a:gs>
                    <a:gs pos="47000">
                      <a:srgbClr val="9999FF"/>
                    </a:gs>
                    <a:gs pos="60001">
                      <a:srgbClr val="2E6792"/>
                    </a:gs>
                    <a:gs pos="71001">
                      <a:srgbClr val="3333CC"/>
                    </a:gs>
                    <a:gs pos="81000">
                      <a:srgbClr val="1170FF"/>
                    </a:gs>
                    <a:gs pos="100000">
                      <a:srgbClr val="006699"/>
                    </a:gs>
                  </a:gsLst>
                  <a:lin ang="5400000" scaled="0"/>
                </a:gra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uLnTx/>
              <a:uFillTx/>
              <a:latin typeface="AngsanaUPC" pitchFamily="18" charset="-34"/>
              <a:ea typeface="+mj-ea"/>
              <a:cs typeface="AngsanaUPC" pitchFamily="18" charset="-34"/>
            </a:endParaRPr>
          </a:p>
        </p:txBody>
      </p:sp>
      <p:pic>
        <p:nvPicPr>
          <p:cNvPr id="2" name="Picture 2" descr="D:\รูปไม่มีพื้นหลัง\png-clipart-chili-con-carne-jalapeno-chili-pepper-cartoon-cartoon-chilli-food-tomato-thumbnail-removebg-preview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1310294">
            <a:off x="395536" y="4335801"/>
            <a:ext cx="1083485" cy="1631454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06302" y="2060848"/>
            <a:ext cx="5734050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ounded Rectangle 5"/>
          <p:cNvSpPr/>
          <p:nvPr/>
        </p:nvSpPr>
        <p:spPr>
          <a:xfrm>
            <a:off x="5390678" y="1916832"/>
            <a:ext cx="2232248" cy="194421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dirty="0">
                <a:latin typeface="AngsanaUPC" pitchFamily="18" charset="-34"/>
                <a:cs typeface="AngsanaUPC" pitchFamily="18" charset="-34"/>
              </a:rPr>
              <a:t>1. เลือกโปรแกรม</a:t>
            </a:r>
          </a:p>
          <a:p>
            <a:r>
              <a:rPr lang="th-TH" dirty="0">
                <a:latin typeface="AngsanaUPC" pitchFamily="18" charset="-34"/>
                <a:cs typeface="AngsanaUPC" pitchFamily="18" charset="-34"/>
              </a:rPr>
              <a:t>2. ระบุ </a:t>
            </a:r>
            <a:r>
              <a:rPr lang="en-US" dirty="0">
                <a:latin typeface="AngsanaUPC" pitchFamily="18" charset="-34"/>
                <a:cs typeface="AngsanaUPC" pitchFamily="18" charset="-34"/>
              </a:rPr>
              <a:t>User :</a:t>
            </a:r>
          </a:p>
          <a:p>
            <a:r>
              <a:rPr lang="en-US" dirty="0"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dirty="0">
                <a:latin typeface="AngsanaUPC" pitchFamily="18" charset="-34"/>
                <a:cs typeface="AngsanaUPC" pitchFamily="18" charset="-34"/>
              </a:rPr>
              <a:t>ระบุ </a:t>
            </a:r>
            <a:r>
              <a:rPr lang="en-US" dirty="0">
                <a:latin typeface="AngsanaUPC" pitchFamily="18" charset="-34"/>
                <a:cs typeface="AngsanaUPC" pitchFamily="18" charset="-34"/>
              </a:rPr>
              <a:t>Password :</a:t>
            </a:r>
          </a:p>
          <a:p>
            <a:r>
              <a:rPr lang="en-US" dirty="0">
                <a:latin typeface="AngsanaUPC" pitchFamily="18" charset="-34"/>
                <a:cs typeface="AngsanaUPC" pitchFamily="18" charset="-34"/>
              </a:rPr>
              <a:t>4. </a:t>
            </a:r>
            <a:r>
              <a:rPr lang="th-TH" dirty="0">
                <a:latin typeface="AngsanaUPC" pitchFamily="18" charset="-34"/>
                <a:cs typeface="AngsanaUPC" pitchFamily="18" charset="-34"/>
              </a:rPr>
              <a:t>คลิกปุ่ม </a:t>
            </a:r>
          </a:p>
        </p:txBody>
      </p:sp>
      <p:pic>
        <p:nvPicPr>
          <p:cNvPr id="7" name="Picture 6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14814" y="3292599"/>
            <a:ext cx="3429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 descr="D:\รูปไม่มีพื้นหลัง\ลูกศรเขียวimages-86-removebg-preview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rot="15369599">
            <a:off x="3958261" y="2572647"/>
            <a:ext cx="1444089" cy="1444089"/>
          </a:xfrm>
          <a:prstGeom prst="rect">
            <a:avLst/>
          </a:prstGeom>
          <a:noFill/>
        </p:spPr>
      </p:pic>
      <p:sp>
        <p:nvSpPr>
          <p:cNvPr id="12" name="Flowchart: Process 11"/>
          <p:cNvSpPr>
            <a:spLocks/>
          </p:cNvSpPr>
          <p:nvPr/>
        </p:nvSpPr>
        <p:spPr>
          <a:xfrm>
            <a:off x="6772478" y="4841864"/>
            <a:ext cx="352800" cy="352800"/>
          </a:xfrm>
          <a:prstGeom prst="flowChartProcess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/>
          <p:cNvCxnSpPr/>
          <p:nvPr/>
        </p:nvCxnSpPr>
        <p:spPr>
          <a:xfrm flipV="1">
            <a:off x="2627784" y="2420888"/>
            <a:ext cx="1368152" cy="576064"/>
          </a:xfrm>
          <a:prstGeom prst="straightConnector1">
            <a:avLst/>
          </a:prstGeom>
          <a:ln w="63500" cmpd="sng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251520" y="2996951"/>
            <a:ext cx="4105194" cy="3456385"/>
            <a:chOff x="251520" y="2996951"/>
            <a:chExt cx="4105194" cy="3456385"/>
          </a:xfrm>
        </p:grpSpPr>
        <p:pic>
          <p:nvPicPr>
            <p:cNvPr id="4101" name="Picture 5" descr="D:\png-clipart-child-cartoon-illustration-cartoon-student-cartoon-character-text-thumbnail-removebg-preview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51520" y="2996951"/>
              <a:ext cx="4105194" cy="3456385"/>
            </a:xfrm>
            <a:prstGeom prst="rect">
              <a:avLst/>
            </a:prstGeom>
            <a:noFill/>
          </p:spPr>
        </p:pic>
        <p:sp>
          <p:nvSpPr>
            <p:cNvPr id="20" name="Rectangle 19"/>
            <p:cNvSpPr/>
            <p:nvPr/>
          </p:nvSpPr>
          <p:spPr>
            <a:xfrm>
              <a:off x="1259632" y="3485325"/>
              <a:ext cx="2664296" cy="181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th-TH" dirty="0">
                  <a:solidFill>
                    <a:schemeClr val="tx1"/>
                  </a:solidFill>
                  <a:latin typeface="AngsanaUPC" pitchFamily="18" charset="-34"/>
                  <a:cs typeface="AngsanaUPC" pitchFamily="18" charset="-34"/>
                </a:rPr>
                <a:t>คลิก      ค้นหาเมนู </a:t>
              </a:r>
              <a:r>
                <a:rPr lang="en-US" dirty="0">
                  <a:solidFill>
                    <a:schemeClr val="tx1"/>
                  </a:solidFill>
                  <a:latin typeface="AngsanaUPC" pitchFamily="18" charset="-34"/>
                  <a:cs typeface="AngsanaUPC" pitchFamily="18" charset="-34"/>
                </a:rPr>
                <a:t>Issue </a:t>
              </a:r>
              <a:r>
                <a:rPr lang="en-US" dirty="0" err="1">
                  <a:solidFill>
                    <a:schemeClr val="tx1"/>
                  </a:solidFill>
                  <a:latin typeface="AngsanaUPC" pitchFamily="18" charset="-34"/>
                  <a:cs typeface="AngsanaUPC" pitchFamily="18" charset="-34"/>
                </a:rPr>
                <a:t>Miscellaneoue</a:t>
              </a:r>
              <a:r>
                <a:rPr lang="en-US" dirty="0">
                  <a:solidFill>
                    <a:schemeClr val="tx1"/>
                  </a:solidFill>
                  <a:latin typeface="AngsanaUPC" pitchFamily="18" charset="-34"/>
                  <a:cs typeface="AngsanaUPC" pitchFamily="18" charset="-34"/>
                </a:rPr>
                <a:t> Material </a:t>
              </a:r>
              <a:r>
                <a:rPr lang="th-TH" dirty="0">
                  <a:solidFill>
                    <a:schemeClr val="tx1"/>
                  </a:solidFill>
                  <a:latin typeface="AngsanaUPC" pitchFamily="18" charset="-34"/>
                  <a:cs typeface="AngsanaUPC" pitchFamily="18" charset="-34"/>
                </a:rPr>
                <a:t>และ </a:t>
              </a:r>
              <a:r>
                <a:rPr lang="en-US" dirty="0">
                  <a:solidFill>
                    <a:schemeClr val="tx1"/>
                  </a:solidFill>
                  <a:latin typeface="AngsanaUPC" pitchFamily="18" charset="-34"/>
                  <a:cs typeface="AngsanaUPC" pitchFamily="18" charset="-34"/>
                </a:rPr>
                <a:t>Double Click </a:t>
              </a:r>
              <a:r>
                <a:rPr lang="th-TH" dirty="0">
                  <a:solidFill>
                    <a:schemeClr val="tx1"/>
                  </a:solidFill>
                  <a:latin typeface="AngsanaUPC" pitchFamily="18" charset="-34"/>
                  <a:cs typeface="AngsanaUPC" pitchFamily="18" charset="-34"/>
                </a:rPr>
                <a:t>เพื่อทำการตัดสต็อกเบิกอะไหล่</a:t>
              </a:r>
            </a:p>
          </p:txBody>
        </p:sp>
      </p:grpSp>
      <p:pic>
        <p:nvPicPr>
          <p:cNvPr id="21" name="Picture 20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04070" y="3613398"/>
            <a:ext cx="24765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D:\รูปไม่มีพื้นหลัง\-clipart-wow-comics-speech-balloon-comic-book-planet-hulk-pop-art-comic-text-superhero-thumbnail-removebg-preview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20272078">
            <a:off x="1342060" y="1026625"/>
            <a:ext cx="1752569" cy="1687099"/>
          </a:xfrm>
          <a:prstGeom prst="rect">
            <a:avLst/>
          </a:prstGeom>
          <a:noFill/>
        </p:spPr>
      </p:pic>
      <p:grpSp>
        <p:nvGrpSpPr>
          <p:cNvPr id="17" name="Group 16"/>
          <p:cNvGrpSpPr/>
          <p:nvPr/>
        </p:nvGrpSpPr>
        <p:grpSpPr>
          <a:xfrm>
            <a:off x="4211960" y="1412776"/>
            <a:ext cx="4538455" cy="3888432"/>
            <a:chOff x="4211960" y="1412776"/>
            <a:chExt cx="4538455" cy="3888432"/>
          </a:xfrm>
        </p:grpSpPr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6" cstate="print"/>
            <a:srcRect t="1416"/>
            <a:stretch>
              <a:fillRect/>
            </a:stretch>
          </p:blipFill>
          <p:spPr bwMode="auto">
            <a:xfrm>
              <a:off x="4211960" y="1412776"/>
              <a:ext cx="4538455" cy="3888432"/>
            </a:xfrm>
            <a:prstGeom prst="rect">
              <a:avLst/>
            </a:prstGeom>
            <a:noFill/>
            <a:ln w="9525" cmpd="sng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10" name="Flowchart: Process 9"/>
            <p:cNvSpPr>
              <a:spLocks/>
            </p:cNvSpPr>
            <p:nvPr/>
          </p:nvSpPr>
          <p:spPr>
            <a:xfrm>
              <a:off x="5103352" y="4193792"/>
              <a:ext cx="3384376" cy="1026576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Flowchart: Process 12"/>
            <p:cNvSpPr>
              <a:spLocks/>
            </p:cNvSpPr>
            <p:nvPr/>
          </p:nvSpPr>
          <p:spPr>
            <a:xfrm>
              <a:off x="4315032" y="2119409"/>
              <a:ext cx="432048" cy="432048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cxnSp>
        <p:nvCxnSpPr>
          <p:cNvPr id="8" name="Straight Arrow Connector 7"/>
          <p:cNvCxnSpPr/>
          <p:nvPr/>
        </p:nvCxnSpPr>
        <p:spPr>
          <a:xfrm>
            <a:off x="3707904" y="4293096"/>
            <a:ext cx="1296144" cy="216024"/>
          </a:xfrm>
          <a:prstGeom prst="straightConnector1">
            <a:avLst/>
          </a:prstGeom>
          <a:ln w="63500" cmpd="sng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4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2891248" y="1550941"/>
            <a:ext cx="5713200" cy="3966291"/>
            <a:chOff x="2915816" y="1556792"/>
            <a:chExt cx="5713200" cy="3966291"/>
          </a:xfrm>
        </p:grpSpPr>
        <p:pic>
          <p:nvPicPr>
            <p:cNvPr id="614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15816" y="1556792"/>
              <a:ext cx="5713200" cy="3966291"/>
            </a:xfrm>
            <a:prstGeom prst="rect">
              <a:avLst/>
            </a:prstGeom>
            <a:noFill/>
            <a:ln w="1270" cmpd="sng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6" name="Flowchart: Process 5"/>
            <p:cNvSpPr>
              <a:spLocks/>
            </p:cNvSpPr>
            <p:nvPr/>
          </p:nvSpPr>
          <p:spPr>
            <a:xfrm>
              <a:off x="3025928" y="2137635"/>
              <a:ext cx="7056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7" name="Flowchart: Process 6"/>
            <p:cNvSpPr>
              <a:spLocks/>
            </p:cNvSpPr>
            <p:nvPr/>
          </p:nvSpPr>
          <p:spPr>
            <a:xfrm>
              <a:off x="3220860" y="1973982"/>
              <a:ext cx="5400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Flowchart: Process 7"/>
            <p:cNvSpPr>
              <a:spLocks/>
            </p:cNvSpPr>
            <p:nvPr/>
          </p:nvSpPr>
          <p:spPr>
            <a:xfrm>
              <a:off x="2990880" y="4378752"/>
              <a:ext cx="7200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Flowchart: Process 8"/>
            <p:cNvSpPr>
              <a:spLocks/>
            </p:cNvSpPr>
            <p:nvPr/>
          </p:nvSpPr>
          <p:spPr>
            <a:xfrm>
              <a:off x="2987824" y="4715634"/>
              <a:ext cx="7200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" name="Flowchart: Process 9"/>
            <p:cNvSpPr>
              <a:spLocks/>
            </p:cNvSpPr>
            <p:nvPr/>
          </p:nvSpPr>
          <p:spPr>
            <a:xfrm>
              <a:off x="2987824" y="4547224"/>
              <a:ext cx="7200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Flowchart: Process 10"/>
            <p:cNvSpPr>
              <a:spLocks/>
            </p:cNvSpPr>
            <p:nvPr/>
          </p:nvSpPr>
          <p:spPr>
            <a:xfrm>
              <a:off x="4593775" y="5334549"/>
              <a:ext cx="536400" cy="162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539552" y="1455743"/>
            <a:ext cx="23762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1.Date: </a:t>
            </a:r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ใส่วันที่เบิกอะไหล่</a:t>
            </a:r>
            <a:endParaRPr lang="en-US" sz="2200" b="1" dirty="0">
              <a:solidFill>
                <a:schemeClr val="accent4">
                  <a:lumMod val="75000"/>
                </a:schemeClr>
              </a:solidFill>
              <a:latin typeface="AngsanaUPC" pitchFamily="18" charset="-34"/>
              <a:cs typeface="AngsanaUPC" pitchFamily="18" charset="-34"/>
            </a:endParaRPr>
          </a:p>
          <a:p>
            <a:r>
              <a:rPr lang="en-US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2.Part: </a:t>
            </a:r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ใส่รหัสสินค้า / กด </a:t>
            </a:r>
            <a:r>
              <a:rPr lang="en-US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Tab</a:t>
            </a:r>
          </a:p>
          <a:p>
            <a:r>
              <a:rPr lang="en-US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3.Quantity: </a:t>
            </a:r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ใส่จำนวน</a:t>
            </a:r>
          </a:p>
          <a:p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4.</a:t>
            </a:r>
            <a:r>
              <a:rPr lang="en-US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Reference: </a:t>
            </a:r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ใส่เลขที่ใบเบิก / เลขใบแจ้ง / หมายเหตุ</a:t>
            </a:r>
          </a:p>
          <a:p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5.</a:t>
            </a:r>
            <a:r>
              <a:rPr lang="en-US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Reason: </a:t>
            </a:r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เลือกประเภทการใช้งาน</a:t>
            </a:r>
          </a:p>
          <a:p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6.เสร็จแล้วกด </a:t>
            </a:r>
            <a:r>
              <a:rPr lang="en-US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Issue </a:t>
            </a:r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/ เลขที่ใบเบิกจะขึ้น / กด</a:t>
            </a:r>
            <a:r>
              <a:rPr lang="en-US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 OK </a:t>
            </a:r>
            <a:endParaRPr lang="th-TH" sz="2200" b="1" dirty="0">
              <a:solidFill>
                <a:schemeClr val="accent4">
                  <a:lumMod val="75000"/>
                </a:schemeClr>
              </a:solidFill>
              <a:latin typeface="AngsanaUPC" pitchFamily="18" charset="-34"/>
              <a:cs typeface="AngsanaUPC" pitchFamily="18" charset="-34"/>
            </a:endParaRPr>
          </a:p>
          <a:p>
            <a:r>
              <a:rPr lang="th-TH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7.กด </a:t>
            </a:r>
            <a:r>
              <a:rPr lang="en-US" sz="2200" b="1" dirty="0">
                <a:solidFill>
                  <a:schemeClr val="accent4">
                    <a:lumMod val="75000"/>
                  </a:schemeClr>
                </a:solidFill>
                <a:latin typeface="AngsanaUPC" pitchFamily="18" charset="-34"/>
                <a:cs typeface="AngsanaUPC" pitchFamily="18" charset="-34"/>
              </a:rPr>
              <a:t>Save </a:t>
            </a:r>
          </a:p>
          <a:p>
            <a:endParaRPr lang="th-TH" sz="1000" dirty="0">
              <a:latin typeface="AngsanaUPC" pitchFamily="18" charset="-34"/>
              <a:cs typeface="AngsanaUPC" pitchFamily="18" charset="-34"/>
            </a:endParaRPr>
          </a:p>
          <a:p>
            <a:endParaRPr lang="th-TH" sz="1000" dirty="0">
              <a:latin typeface="AngsanaUPC" pitchFamily="18" charset="-34"/>
              <a:cs typeface="AngsanaUPC" pitchFamily="18" charset="-34"/>
            </a:endParaRPr>
          </a:p>
          <a:p>
            <a:endParaRPr lang="th-TH" sz="1000" dirty="0">
              <a:latin typeface="AngsanaUPC" pitchFamily="18" charset="-34"/>
              <a:cs typeface="AngsanaUPC" pitchFamily="18" charset="-34"/>
            </a:endParaRPr>
          </a:p>
          <a:p>
            <a:endParaRPr lang="th-TH" sz="1000" dirty="0">
              <a:latin typeface="AngsanaUPC" pitchFamily="18" charset="-34"/>
              <a:cs typeface="AngsanaUPC" pitchFamily="18" charset="-34"/>
            </a:endParaRPr>
          </a:p>
          <a:p>
            <a:endParaRPr lang="en-US" sz="1000" dirty="0">
              <a:latin typeface="AngsanaUPC" pitchFamily="18" charset="-34"/>
              <a:cs typeface="AngsanaUPC" pitchFamily="18" charset="-34"/>
            </a:endParaRPr>
          </a:p>
          <a:p>
            <a:r>
              <a:rPr lang="en-US" sz="2200" b="1" dirty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*** 1 </a:t>
            </a:r>
            <a:r>
              <a:rPr lang="th-TH" sz="2200" b="1" dirty="0">
                <a:solidFill>
                  <a:srgbClr val="FF0000"/>
                </a:solidFill>
                <a:latin typeface="AngsanaUPC" pitchFamily="18" charset="-34"/>
                <a:cs typeface="AngsanaUPC" pitchFamily="18" charset="-34"/>
              </a:rPr>
              <a:t>รายการ / 1 ใบเบิก</a:t>
            </a:r>
          </a:p>
          <a:p>
            <a:endParaRPr lang="th-TH" sz="2200" dirty="0"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5656" y="4869160"/>
            <a:ext cx="288000" cy="25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" name="Straight Arrow Connector 14"/>
          <p:cNvCxnSpPr/>
          <p:nvPr/>
        </p:nvCxnSpPr>
        <p:spPr>
          <a:xfrm>
            <a:off x="2627784" y="1700808"/>
            <a:ext cx="547489" cy="326132"/>
          </a:xfrm>
          <a:prstGeom prst="straightConnector1">
            <a:avLst/>
          </a:prstGeom>
          <a:ln w="12700" cmpd="sng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1043608" y="2204864"/>
            <a:ext cx="1800200" cy="144016"/>
          </a:xfrm>
          <a:prstGeom prst="straightConnector1">
            <a:avLst/>
          </a:prstGeom>
          <a:ln w="12700" cmpd="sng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339752" y="2708920"/>
            <a:ext cx="648072" cy="1656184"/>
          </a:xfrm>
          <a:prstGeom prst="straightConnector1">
            <a:avLst/>
          </a:prstGeom>
          <a:ln w="12700" cmpd="sng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/>
          <p:cNvCxnSpPr/>
          <p:nvPr/>
        </p:nvCxnSpPr>
        <p:spPr>
          <a:xfrm rot="16200000" flipH="1">
            <a:off x="1943708" y="3743511"/>
            <a:ext cx="1296144" cy="504056"/>
          </a:xfrm>
          <a:prstGeom prst="curvedConnector3">
            <a:avLst>
              <a:gd name="adj1" fmla="val 99971"/>
            </a:avLst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/>
          <p:nvPr/>
        </p:nvCxnSpPr>
        <p:spPr>
          <a:xfrm>
            <a:off x="1187624" y="4005064"/>
            <a:ext cx="1644501" cy="784721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2326305" y="4783705"/>
            <a:ext cx="2229455" cy="612546"/>
          </a:xfrm>
          <a:prstGeom prst="straightConnector1">
            <a:avLst/>
          </a:prstGeom>
          <a:ln w="12700" cmpd="sng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34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8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9" dur="400" decel="5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60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61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000"/>
                            </p:stCondLst>
                            <p:childTnLst>
                              <p:par>
                                <p:cTn id="63" presetID="3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65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66" dur="400" decel="5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67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68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0"/>
                            </p:stCondLst>
                            <p:childTnLst>
                              <p:par>
                                <p:cTn id="7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Arrow 39"/>
          <p:cNvSpPr/>
          <p:nvPr/>
        </p:nvSpPr>
        <p:spPr>
          <a:xfrm>
            <a:off x="683568" y="1844824"/>
            <a:ext cx="1944216" cy="1296144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latin typeface="AngsanaUPC" pitchFamily="18" charset="-34"/>
                <a:cs typeface="AngsanaUPC" pitchFamily="18" charset="-34"/>
              </a:rPr>
              <a:t>ตัวอย่าง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843808" y="1326629"/>
            <a:ext cx="5712679" cy="3974579"/>
            <a:chOff x="2843808" y="1340768"/>
            <a:chExt cx="5712679" cy="3974579"/>
          </a:xfrm>
        </p:grpSpPr>
        <p:pic>
          <p:nvPicPr>
            <p:cNvPr id="5123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843808" y="1340768"/>
              <a:ext cx="5712679" cy="3974579"/>
            </a:xfrm>
            <a:prstGeom prst="rect">
              <a:avLst/>
            </a:prstGeom>
            <a:noFill/>
            <a:ln w="1270" cmpd="sng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25" name="Flowchart: Process 24"/>
            <p:cNvSpPr>
              <a:spLocks/>
            </p:cNvSpPr>
            <p:nvPr/>
          </p:nvSpPr>
          <p:spPr>
            <a:xfrm>
              <a:off x="5106927" y="2830704"/>
              <a:ext cx="2052000" cy="1116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6" name="Flowchart: Process 25"/>
            <p:cNvSpPr>
              <a:spLocks/>
            </p:cNvSpPr>
            <p:nvPr/>
          </p:nvSpPr>
          <p:spPr>
            <a:xfrm>
              <a:off x="4560296" y="5157192"/>
              <a:ext cx="5220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Flowchart: Process 13"/>
            <p:cNvSpPr>
              <a:spLocks/>
            </p:cNvSpPr>
            <p:nvPr/>
          </p:nvSpPr>
          <p:spPr>
            <a:xfrm>
              <a:off x="2987828" y="1941231"/>
              <a:ext cx="7056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5" name="Flowchart: Process 14"/>
            <p:cNvSpPr>
              <a:spLocks/>
            </p:cNvSpPr>
            <p:nvPr/>
          </p:nvSpPr>
          <p:spPr>
            <a:xfrm>
              <a:off x="3182760" y="1777578"/>
              <a:ext cx="5400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7" name="Flowchart: Process 16"/>
            <p:cNvSpPr>
              <a:spLocks/>
            </p:cNvSpPr>
            <p:nvPr/>
          </p:nvSpPr>
          <p:spPr>
            <a:xfrm>
              <a:off x="2934021" y="4533587"/>
              <a:ext cx="7200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8" name="Flowchart: Process 17"/>
            <p:cNvSpPr>
              <a:spLocks/>
            </p:cNvSpPr>
            <p:nvPr/>
          </p:nvSpPr>
          <p:spPr>
            <a:xfrm>
              <a:off x="2934021" y="4367951"/>
              <a:ext cx="7200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9" name="Flowchart: Process 18"/>
            <p:cNvSpPr>
              <a:spLocks/>
            </p:cNvSpPr>
            <p:nvPr/>
          </p:nvSpPr>
          <p:spPr>
            <a:xfrm>
              <a:off x="2934350" y="4198504"/>
              <a:ext cx="720000" cy="144000"/>
            </a:xfrm>
            <a:prstGeom prst="flowChartProcess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pic>
        <p:nvPicPr>
          <p:cNvPr id="3074" name="Picture 2" descr="D:\รูปไม่มีพื้นหลัง\png-clipart-graphy-cartoon-cute-butterfly-miscellaneous-brush-footed-butterfly-thumbnail-removebg-preview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0808992">
            <a:off x="7604347" y="401987"/>
            <a:ext cx="963005" cy="885522"/>
          </a:xfrm>
          <a:prstGeom prst="rect">
            <a:avLst/>
          </a:prstGeom>
          <a:noFill/>
        </p:spPr>
      </p:pic>
      <p:pic>
        <p:nvPicPr>
          <p:cNvPr id="21" name="Picture 2" descr="D:\รูปไม่มีพื้นหลัง\png-clipart-graphy-cartoon-cute-butterfly-miscellaneous-brush-footed-butterfly-thumbnail-removebg-preview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0808992">
            <a:off x="6604507" y="430803"/>
            <a:ext cx="963005" cy="885522"/>
          </a:xfrm>
          <a:prstGeom prst="rect">
            <a:avLst/>
          </a:prstGeom>
          <a:noFill/>
        </p:spPr>
      </p:pic>
      <p:pic>
        <p:nvPicPr>
          <p:cNvPr id="3075" name="Picture 3" descr="D:\รูปไม่มีพื้นหลัง\png-clipart-mushroom-drawing-fungus-cartoon-mushrooms-food-photography-thumbnail-removebg-preview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1190" y="4221088"/>
            <a:ext cx="1790997" cy="1929954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70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835696" y="1772816"/>
            <a:ext cx="5472608" cy="1800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i="0" u="none" strike="noStrike" kern="1200" cap="none" spc="0" normalizeH="0" baseline="0" noProof="0" dirty="0">
                <a:ln w="11430"/>
                <a:solidFill>
                  <a:srgbClr val="FF0000"/>
                </a:solidFill>
                <a:effectLst>
                  <a:glow rad="101600">
                    <a:srgbClr val="FFFF00">
                      <a:alpha val="40000"/>
                    </a:srgbClr>
                  </a:glow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AngsanaUPC" pitchFamily="18" charset="-34"/>
                <a:ea typeface="+mj-ea"/>
                <a:cs typeface="AngsanaUPC" pitchFamily="18" charset="-34"/>
              </a:rPr>
              <a:t>END….</a:t>
            </a:r>
            <a:endParaRPr kumimoji="0" lang="th-TH" sz="13800" b="1" i="0" u="none" strike="noStrike" kern="1200" cap="none" spc="0" normalizeH="0" baseline="0" noProof="0" dirty="0">
              <a:ln w="11430"/>
              <a:solidFill>
                <a:srgbClr val="FF0000"/>
              </a:solidFill>
              <a:effectLst>
                <a:glow rad="101600">
                  <a:srgbClr val="FFFF00">
                    <a:alpha val="40000"/>
                  </a:srgbClr>
                </a:glow>
                <a:outerShdw blurRad="80000" dist="40000" dir="5040000" algn="tl">
                  <a:srgbClr val="000000">
                    <a:alpha val="30000"/>
                  </a:srgbClr>
                </a:outerShdw>
              </a:effectLst>
              <a:uLnTx/>
              <a:uFillTx/>
              <a:latin typeface="AngsanaUPC" pitchFamily="18" charset="-34"/>
              <a:ea typeface="+mj-ea"/>
              <a:cs typeface="AngsanaUPC" pitchFamily="18" charset="-34"/>
            </a:endParaRPr>
          </a:p>
        </p:txBody>
      </p:sp>
      <p:pic>
        <p:nvPicPr>
          <p:cNvPr id="1026" name="Picture 2" descr="D:\รูปไม่มีพื้นหลัง\คนpng-clipart-cartoon-graphy-the-little-boy-wanted-to-question-child-photography-thumbnail-removebg-previe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99026" y="1916832"/>
            <a:ext cx="2017390" cy="3379708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accel="5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accel="5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4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2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960</TotalTime>
  <Words>202</Words>
  <Application>Microsoft Office PowerPoint</Application>
  <PresentationFormat>On-screen Show (4:3)</PresentationFormat>
  <Paragraphs>38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Angsana New</vt:lpstr>
      <vt:lpstr>AngsanaUPC</vt:lpstr>
      <vt:lpstr>Arial</vt:lpstr>
      <vt:lpstr>Calibri</vt:lpstr>
      <vt:lpstr>Cordia New</vt:lpstr>
      <vt:lpstr>Office Theme</vt:lpstr>
      <vt:lpstr>PowerPoint Presentation</vt:lpstr>
      <vt:lpstr>        คู่มือการตัดสต็อกวิศวกรรม ระบบ Epicor UAT Environment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ENGINEER12</dc:creator>
  <cp:lastModifiedBy>Pornpan Pakdeekum</cp:lastModifiedBy>
  <cp:revision>90</cp:revision>
  <dcterms:created xsi:type="dcterms:W3CDTF">2024-07-30T03:54:44Z</dcterms:created>
  <dcterms:modified xsi:type="dcterms:W3CDTF">2025-10-18T06:57:59Z</dcterms:modified>
</cp:coreProperties>
</file>