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0" r:id="rId4"/>
    <p:sldId id="272" r:id="rId5"/>
    <p:sldId id="297" r:id="rId6"/>
    <p:sldId id="287" r:id="rId7"/>
    <p:sldId id="288" r:id="rId8"/>
    <p:sldId id="289" r:id="rId9"/>
    <p:sldId id="290" r:id="rId10"/>
    <p:sldId id="291" r:id="rId11"/>
    <p:sldId id="292" r:id="rId12"/>
    <p:sldId id="294" r:id="rId13"/>
    <p:sldId id="293" r:id="rId14"/>
    <p:sldId id="296" r:id="rId15"/>
    <p:sldId id="298" r:id="rId16"/>
    <p:sldId id="273" r:id="rId17"/>
    <p:sldId id="299" r:id="rId18"/>
    <p:sldId id="301" r:id="rId19"/>
    <p:sldId id="302" r:id="rId20"/>
    <p:sldId id="305" r:id="rId21"/>
    <p:sldId id="303" r:id="rId22"/>
    <p:sldId id="304" r:id="rId23"/>
    <p:sldId id="306" r:id="rId24"/>
    <p:sldId id="307" r:id="rId25"/>
    <p:sldId id="308" r:id="rId26"/>
    <p:sldId id="309" r:id="rId27"/>
    <p:sldId id="311" r:id="rId28"/>
    <p:sldId id="312" r:id="rId29"/>
    <p:sldId id="313" r:id="rId30"/>
    <p:sldId id="314" r:id="rId31"/>
    <p:sldId id="317" r:id="rId32"/>
    <p:sldId id="310" r:id="rId33"/>
    <p:sldId id="315" r:id="rId34"/>
    <p:sldId id="318" r:id="rId35"/>
    <p:sldId id="319" r:id="rId36"/>
    <p:sldId id="320" r:id="rId37"/>
    <p:sldId id="321" r:id="rId38"/>
    <p:sldId id="322" r:id="rId39"/>
    <p:sldId id="323" r:id="rId40"/>
    <p:sldId id="279" r:id="rId41"/>
    <p:sldId id="324" r:id="rId42"/>
    <p:sldId id="368" r:id="rId43"/>
  </p:sldIdLst>
  <p:sldSz cx="12192000" cy="6858000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undit Singkaew" initials="BS" lastIdx="0" clrIdx="0">
    <p:extLst>
      <p:ext uri="{19B8F6BF-5375-455C-9EA6-DF929625EA0E}">
        <p15:presenceInfo xmlns:p15="http://schemas.microsoft.com/office/powerpoint/2012/main" userId="S-1-5-21-4059006370-2331511250-3142268630-15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396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4556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2703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010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949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621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54098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018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038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460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960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57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968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15086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808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8619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6076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321C48C-F135-4093-8206-9B12712BB1AD}" type="datetimeFigureOut">
              <a:rPr lang="th-TH" smtClean="0"/>
              <a:t>18/10/68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40782-A2E6-4BDB-BF1C-0BDA12C7BEE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887143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006B22-C47F-4911-AB3B-C014EF84C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703822"/>
            <a:ext cx="8825658" cy="1912377"/>
          </a:xfrm>
        </p:spPr>
        <p:txBody>
          <a:bodyPr>
            <a:noAutofit/>
          </a:bodyPr>
          <a:lstStyle/>
          <a:p>
            <a:r>
              <a:rPr lang="th-TH" sz="4800" b="1" dirty="0">
                <a:solidFill>
                  <a:schemeClr val="tx1"/>
                </a:solidFill>
                <a:cs typeface="+mn-cs"/>
              </a:rPr>
              <a:t>คู่มือ การใช้ โปรแกรม  </a:t>
            </a:r>
            <a:endParaRPr lang="en-US" sz="4800" b="1" dirty="0">
              <a:solidFill>
                <a:schemeClr val="tx1"/>
              </a:solidFill>
              <a:cs typeface="+mn-cs"/>
            </a:endParaRPr>
          </a:p>
          <a:p>
            <a:r>
              <a:rPr lang="en-US" sz="4800" b="1" dirty="0">
                <a:solidFill>
                  <a:schemeClr val="tx1"/>
                </a:solidFill>
                <a:cs typeface="+mn-cs"/>
              </a:rPr>
              <a:t>EPICOR</a:t>
            </a:r>
            <a:endParaRPr lang="th-TH" sz="4800" b="1" dirty="0">
              <a:solidFill>
                <a:schemeClr val="tx1"/>
              </a:solidFill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67FCF0-80B3-472E-8192-1D87E3CCF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700" y="3310466"/>
            <a:ext cx="8824913" cy="1466321"/>
          </a:xfrm>
        </p:spPr>
        <p:txBody>
          <a:bodyPr anchor="ctr"/>
          <a:lstStyle/>
          <a:p>
            <a:r>
              <a:rPr lang="en-US" sz="4800" b="1" dirty="0">
                <a:cs typeface="+mn-cs"/>
              </a:rPr>
              <a:t>Process Scheduling &amp; </a:t>
            </a:r>
            <a:r>
              <a:rPr lang="th-TH" sz="4800" b="1" dirty="0">
                <a:cs typeface="+mn-cs"/>
              </a:rPr>
              <a:t>วางแผน</a:t>
            </a:r>
          </a:p>
        </p:txBody>
      </p:sp>
    </p:spTree>
    <p:extLst>
      <p:ext uri="{BB962C8B-B14F-4D97-AF65-F5344CB8AC3E}">
        <p14:creationId xmlns:p14="http://schemas.microsoft.com/office/powerpoint/2010/main" val="308516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7D98-9F5B-4652-9E67-11CBD009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79749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Process Scheduling &amp; </a:t>
            </a:r>
            <a:r>
              <a:rPr lang="th-TH" b="1" dirty="0">
                <a:solidFill>
                  <a:srgbClr val="FFFF00"/>
                </a:solidFill>
              </a:rPr>
              <a:t>วางแผน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FB9C-1E52-4EAD-B0F4-272F71DDF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52600"/>
            <a:ext cx="8946541" cy="477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cs typeface="+mn-cs"/>
              </a:rPr>
              <a:t>Process </a:t>
            </a:r>
            <a:r>
              <a:rPr lang="th-TH" sz="1600" dirty="0">
                <a:cs typeface="+mn-cs"/>
              </a:rPr>
              <a:t>วางแผน </a:t>
            </a:r>
            <a:r>
              <a:rPr lang="en-US" sz="1600" dirty="0">
                <a:cs typeface="+mn-cs"/>
              </a:rPr>
              <a:t>Even List</a:t>
            </a:r>
          </a:p>
          <a:p>
            <a:r>
              <a:rPr lang="en-US" sz="1600" dirty="0">
                <a:cs typeface="+mn-cs"/>
              </a:rPr>
              <a:t>PLN-01 : </a:t>
            </a:r>
            <a:r>
              <a:rPr lang="th-TH" sz="1600" dirty="0">
                <a:cs typeface="+mn-cs"/>
              </a:rPr>
              <a:t>การยืนยัน</a:t>
            </a:r>
            <a:r>
              <a:rPr lang="en-US" sz="1600" dirty="0">
                <a:cs typeface="+mn-cs"/>
              </a:rPr>
              <a:t>Order (Order Confirm Due Date)</a:t>
            </a:r>
          </a:p>
          <a:p>
            <a:r>
              <a:rPr lang="en-US" sz="1600" dirty="0">
                <a:cs typeface="+mn-cs"/>
              </a:rPr>
              <a:t>PLN-03 : </a:t>
            </a:r>
            <a:r>
              <a:rPr lang="th-TH" sz="1600" dirty="0">
                <a:cs typeface="+mn-cs"/>
              </a:rPr>
              <a:t>การยืนยันแผนการผลิต สินค้า (</a:t>
            </a:r>
            <a:r>
              <a:rPr lang="en-US" sz="1600" dirty="0">
                <a:cs typeface="+mn-cs"/>
              </a:rPr>
              <a:t>Firm Job)</a:t>
            </a:r>
          </a:p>
          <a:p>
            <a:r>
              <a:rPr lang="en-US" sz="1600" dirty="0">
                <a:cs typeface="+mn-cs"/>
              </a:rPr>
              <a:t>PLN-05 : </a:t>
            </a:r>
            <a:r>
              <a:rPr lang="th-TH" sz="1600" dirty="0">
                <a:cs typeface="+mn-cs"/>
              </a:rPr>
              <a:t>การวางแผนการผลิต สินค้า </a:t>
            </a:r>
            <a:endParaRPr lang="en-US" sz="1600" dirty="0">
              <a:cs typeface="+mn-cs"/>
            </a:endParaRPr>
          </a:p>
          <a:p>
            <a:r>
              <a:rPr lang="en-US" sz="1600" dirty="0">
                <a:cs typeface="+mn-cs"/>
              </a:rPr>
              <a:t>PLN-06 : </a:t>
            </a:r>
            <a:r>
              <a:rPr lang="th-TH" sz="1600" dirty="0">
                <a:cs typeface="+mn-cs"/>
              </a:rPr>
              <a:t>การจัดการ </a:t>
            </a:r>
            <a:r>
              <a:rPr lang="en-US" sz="1600" dirty="0">
                <a:cs typeface="+mn-cs"/>
              </a:rPr>
              <a:t>Job Scheduling</a:t>
            </a:r>
          </a:p>
          <a:p>
            <a:r>
              <a:rPr lang="en-US" sz="1600" dirty="0">
                <a:cs typeface="+mn-cs"/>
              </a:rPr>
              <a:t>PLN-07 : Process Scheduling</a:t>
            </a:r>
          </a:p>
          <a:p>
            <a:r>
              <a:rPr lang="en-US" sz="1600" dirty="0">
                <a:cs typeface="+mn-cs"/>
              </a:rPr>
              <a:t>PLN-08 :</a:t>
            </a:r>
            <a:r>
              <a:rPr lang="th-TH" sz="1600" dirty="0">
                <a:cs typeface="+mn-cs"/>
              </a:rPr>
              <a:t>การปรับแผนการผลิต สินค้า </a:t>
            </a:r>
            <a:endParaRPr lang="en-US" sz="1600" dirty="0">
              <a:cs typeface="+mn-cs"/>
            </a:endParaRPr>
          </a:p>
          <a:p>
            <a:r>
              <a:rPr lang="en-US" sz="1600" dirty="0">
                <a:cs typeface="+mn-cs"/>
              </a:rPr>
              <a:t>PLN-09 : Job Process Detail</a:t>
            </a:r>
          </a:p>
          <a:p>
            <a:r>
              <a:rPr lang="en-US" sz="1600" dirty="0">
                <a:cs typeface="+mn-cs"/>
              </a:rPr>
              <a:t>PLN-10 :</a:t>
            </a:r>
            <a:r>
              <a:rPr lang="th-TH" sz="1600" dirty="0">
                <a:cs typeface="+mn-cs"/>
              </a:rPr>
              <a:t>การยกเลิกการผลิต สินค้า </a:t>
            </a:r>
            <a:endParaRPr lang="en-US" sz="1600" dirty="0">
              <a:cs typeface="+mn-cs"/>
            </a:endParaRPr>
          </a:p>
          <a:p>
            <a:r>
              <a:rPr lang="en-US" sz="1600" dirty="0">
                <a:cs typeface="+mn-cs"/>
              </a:rPr>
              <a:t>PLN-11 :</a:t>
            </a:r>
            <a:r>
              <a:rPr lang="th-TH" sz="1600" dirty="0">
                <a:cs typeface="+mn-cs"/>
              </a:rPr>
              <a:t>กรณีต้องการรับ</a:t>
            </a:r>
            <a:r>
              <a:rPr lang="en-US" sz="1600" dirty="0">
                <a:cs typeface="+mn-cs"/>
              </a:rPr>
              <a:t>WIP</a:t>
            </a:r>
            <a:r>
              <a:rPr lang="th-TH" sz="1600" dirty="0">
                <a:cs typeface="+mn-cs"/>
              </a:rPr>
              <a:t>เนื้อน้ำจิ้มที่เกินหรือ ผลิตไม่จบจาก </a:t>
            </a:r>
            <a:r>
              <a:rPr lang="en-US" sz="1600" dirty="0">
                <a:cs typeface="+mn-cs"/>
              </a:rPr>
              <a:t>WIP</a:t>
            </a:r>
            <a:r>
              <a:rPr lang="th-TH" sz="1600" dirty="0">
                <a:cs typeface="+mn-cs"/>
              </a:rPr>
              <a:t>ขวด</a:t>
            </a:r>
          </a:p>
          <a:p>
            <a:pPr marL="0" indent="0">
              <a:buNone/>
            </a:pPr>
            <a:endParaRPr lang="th-TH" sz="1600" dirty="0">
              <a:cs typeface="+mn-cs"/>
            </a:endParaRPr>
          </a:p>
          <a:p>
            <a:pPr marL="0" indent="0" algn="ctr">
              <a:buNone/>
            </a:pPr>
            <a:r>
              <a:rPr lang="th-TH" sz="3200" b="1" dirty="0">
                <a:solidFill>
                  <a:srgbClr val="FFFF00"/>
                </a:solidFill>
                <a:cs typeface="+mn-cs"/>
              </a:rPr>
              <a:t>ตามโปรแกรม ตามโฟลว์ การออกแบบของ  </a:t>
            </a:r>
            <a:r>
              <a:rPr lang="en-US" sz="3200" b="1" dirty="0">
                <a:solidFill>
                  <a:srgbClr val="FFFF00"/>
                </a:solidFill>
                <a:cs typeface="+mn-cs"/>
              </a:rPr>
              <a:t>EPICOR</a:t>
            </a:r>
            <a:endParaRPr lang="th-TH" sz="3200" b="1" dirty="0">
              <a:solidFill>
                <a:srgbClr val="FFFF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226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98E0-ED07-4586-BBDD-135FB990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7149"/>
          </a:xfrm>
        </p:spPr>
        <p:txBody>
          <a:bodyPr/>
          <a:lstStyle/>
          <a:p>
            <a:r>
              <a:rPr lang="th-TH" sz="3600" b="1" dirty="0">
                <a:solidFill>
                  <a:srgbClr val="FFFF00"/>
                </a:solidFill>
              </a:rPr>
              <a:t>การวางแผนการผลิต สินค้า </a:t>
            </a:r>
            <a:br>
              <a:rPr lang="en-US" sz="3600" b="1" dirty="0">
                <a:solidFill>
                  <a:srgbClr val="FFFF00"/>
                </a:solidFill>
              </a:rPr>
            </a:br>
            <a:endParaRPr lang="th-TH" sz="3600" b="1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3EB7-4A4D-41F5-A2E5-256FE215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43318"/>
            <a:ext cx="8946541" cy="4195481"/>
          </a:xfrm>
        </p:spPr>
        <p:txBody>
          <a:bodyPr>
            <a:normAutofit/>
          </a:bodyPr>
          <a:lstStyle/>
          <a:p>
            <a:r>
              <a:rPr lang="th-TH" sz="2400" dirty="0"/>
              <a:t>กิจกรรมที่ 1  การติดตามดู </a:t>
            </a:r>
            <a:r>
              <a:rPr lang="en-US" sz="2400" dirty="0"/>
              <a:t>Job </a:t>
            </a:r>
            <a:r>
              <a:rPr lang="th-TH" sz="2400" dirty="0"/>
              <a:t>ทั้งหมดด้วย </a:t>
            </a:r>
            <a:r>
              <a:rPr lang="en-US" sz="2400" dirty="0"/>
              <a:t>: Job status Maintenance</a:t>
            </a:r>
          </a:p>
          <a:p>
            <a:r>
              <a:rPr lang="th-TH" sz="2400" dirty="0"/>
              <a:t>กิจกรรมที่  2  การจัด</a:t>
            </a:r>
            <a:r>
              <a:rPr lang="en-US" sz="2400" dirty="0"/>
              <a:t> Job </a:t>
            </a:r>
            <a:r>
              <a:rPr lang="th-TH" sz="2400" dirty="0"/>
              <a:t>เข้าใส่แผนประจำเดือน / ประจำสัปดาห์ / ประจำวัน</a:t>
            </a:r>
          </a:p>
          <a:p>
            <a:r>
              <a:rPr lang="th-TH" sz="2400" dirty="0"/>
              <a:t>กิจกรรมที่  3  การปรับแผน โยกไลน์  หม้อต้ม / บรรจุ / ติดฉลาก </a:t>
            </a:r>
            <a:r>
              <a:rPr lang="en-US" sz="2400" dirty="0"/>
              <a:t>Process Scheduling</a:t>
            </a:r>
            <a:endParaRPr lang="th-TH" sz="2400" dirty="0"/>
          </a:p>
          <a:p>
            <a:r>
              <a:rPr lang="th-TH" sz="2400" dirty="0"/>
              <a:t>กิจกรรมที่  4  การปล่อยแผน </a:t>
            </a:r>
            <a:r>
              <a:rPr lang="en-US" sz="2400" dirty="0"/>
              <a:t>Job </a:t>
            </a:r>
            <a:r>
              <a:rPr lang="en-US" sz="2400" dirty="0" err="1"/>
              <a:t>Releas</a:t>
            </a:r>
            <a:endParaRPr lang="en-US" sz="2400" dirty="0"/>
          </a:p>
          <a:p>
            <a:r>
              <a:rPr lang="th-TH" sz="2400" dirty="0"/>
              <a:t>กิจกรรมที่  5  การติดตามแผน ปิด </a:t>
            </a:r>
            <a:r>
              <a:rPr lang="en-US" sz="2400" dirty="0"/>
              <a:t>Job / </a:t>
            </a:r>
            <a:r>
              <a:rPr lang="th-TH" sz="2400" dirty="0"/>
              <a:t>เปิด</a:t>
            </a:r>
            <a:r>
              <a:rPr lang="en-US" sz="2400" dirty="0"/>
              <a:t>Job </a:t>
            </a:r>
            <a:r>
              <a:rPr lang="th-TH" sz="2400" dirty="0"/>
              <a:t>เพิ่ม(ผลิตไม่ครบ / เกิน)</a:t>
            </a:r>
          </a:p>
          <a:p>
            <a:pPr marL="0" indent="0">
              <a:buNone/>
            </a:pPr>
            <a:r>
              <a:rPr lang="th-TH" sz="2400" dirty="0"/>
              <a:t>			  การเปิด </a:t>
            </a:r>
            <a:r>
              <a:rPr lang="en-US" sz="2400" dirty="0"/>
              <a:t>Job </a:t>
            </a:r>
            <a:r>
              <a:rPr lang="th-TH" sz="2400" dirty="0"/>
              <a:t>ใส่ฝา/ฟลอยด์</a:t>
            </a:r>
            <a:endParaRPr lang="en-US" sz="2400" dirty="0"/>
          </a:p>
          <a:p>
            <a:pPr marL="0" indent="0">
              <a:buNone/>
            </a:pPr>
            <a:endParaRPr lang="th-TH" sz="24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782D6-62D7-4FAE-84B9-77DDB24A899D}"/>
              </a:ext>
            </a:extLst>
          </p:cNvPr>
          <p:cNvSpPr txBox="1">
            <a:spLocks/>
          </p:cNvSpPr>
          <p:nvPr/>
        </p:nvSpPr>
        <p:spPr>
          <a:xfrm>
            <a:off x="815444" y="4817533"/>
            <a:ext cx="9404723" cy="5971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h-TH" sz="3600" b="1" dirty="0">
                <a:solidFill>
                  <a:srgbClr val="FFFF00"/>
                </a:solidFill>
              </a:rPr>
              <a:t>การวางแผนการผลิต สินค้าตามกิจกรรม </a:t>
            </a:r>
            <a:r>
              <a:rPr lang="en-US" sz="3600" b="1" dirty="0">
                <a:solidFill>
                  <a:srgbClr val="FFFF00"/>
                </a:solidFill>
              </a:rPr>
              <a:t>SUREE</a:t>
            </a:r>
            <a:r>
              <a:rPr lang="th-TH" sz="3600" b="1" dirty="0">
                <a:solidFill>
                  <a:srgbClr val="FFFF00"/>
                </a:solidFill>
              </a:rPr>
              <a:t> </a:t>
            </a:r>
            <a:br>
              <a:rPr lang="en-US" sz="3600" b="1" dirty="0">
                <a:solidFill>
                  <a:srgbClr val="FFFF00"/>
                </a:solidFill>
              </a:rPr>
            </a:br>
            <a:endParaRPr lang="th-TH" sz="3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40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31" y="405902"/>
            <a:ext cx="10293803" cy="1092698"/>
          </a:xfrm>
        </p:spPr>
        <p:txBody>
          <a:bodyPr/>
          <a:lstStyle/>
          <a:p>
            <a:pPr algn="ctr"/>
            <a:r>
              <a:rPr lang="th-TH" sz="3200" b="1" dirty="0"/>
              <a:t>กิจกรรมที่ 1  การติดตามดู </a:t>
            </a:r>
            <a:r>
              <a:rPr lang="en-US" sz="3200" b="1" dirty="0"/>
              <a:t>Job </a:t>
            </a:r>
            <a:r>
              <a:rPr lang="th-TH" sz="3200" b="1" dirty="0"/>
              <a:t>ทั้งหมดด้วย </a:t>
            </a:r>
            <a:r>
              <a:rPr lang="en-US" sz="3200" b="1" dirty="0"/>
              <a:t>: Job status Maintenance</a:t>
            </a:r>
            <a:br>
              <a:rPr lang="en-US" sz="3200" b="1" dirty="0"/>
            </a:br>
            <a:r>
              <a:rPr lang="th-TH" sz="3200" b="1" dirty="0"/>
              <a:t> (</a:t>
            </a:r>
            <a:r>
              <a:rPr lang="en-US" sz="3200" b="1" dirty="0"/>
              <a:t>Firm Job)</a:t>
            </a:r>
            <a:br>
              <a:rPr lang="en-US" sz="3200" b="1" dirty="0"/>
            </a:br>
            <a:endParaRPr lang="th-TH" sz="32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1027111" y="1837267"/>
            <a:ext cx="9404723" cy="435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หลังการยืนยัน 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Order</a:t>
            </a:r>
          </a:p>
          <a:p>
            <a:endParaRPr lang="en-US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2400" dirty="0"/>
              <a:t>ระบบ </a:t>
            </a:r>
            <a:r>
              <a:rPr lang="en-US" sz="2400" dirty="0"/>
              <a:t>MRP </a:t>
            </a:r>
            <a:r>
              <a:rPr lang="th-TH" sz="2400" dirty="0"/>
              <a:t>จะสร้าง </a:t>
            </a:r>
            <a:r>
              <a:rPr lang="en-US" sz="2400" dirty="0"/>
              <a:t>Job  </a:t>
            </a:r>
            <a:r>
              <a:rPr lang="th-TH" sz="2400" dirty="0"/>
              <a:t>ที่มีชื่อขึ้นต้นด้วย  </a:t>
            </a:r>
            <a:r>
              <a:rPr lang="en-US" sz="2400" dirty="0"/>
              <a:t>SU-</a:t>
            </a:r>
            <a:r>
              <a:rPr lang="en-US" sz="2400" dirty="0" err="1"/>
              <a:t>Pxxxx</a:t>
            </a:r>
            <a:r>
              <a:rPr lang="en-US" sz="2400" dirty="0"/>
              <a:t> </a:t>
            </a:r>
            <a:endParaRPr lang="th-TH" sz="2400" dirty="0"/>
          </a:p>
          <a:p>
            <a:r>
              <a:rPr lang="en-US" sz="2400" dirty="0"/>
              <a:t>Job  : SU-</a:t>
            </a:r>
            <a:r>
              <a:rPr lang="en-US" sz="2400" dirty="0" err="1"/>
              <a:t>Pxxxx</a:t>
            </a:r>
            <a:r>
              <a:rPr lang="en-US" sz="2400" dirty="0"/>
              <a:t>  </a:t>
            </a:r>
            <a:r>
              <a:rPr lang="th-TH" sz="2400" dirty="0"/>
              <a:t>เป็นเพียงสินค้าที่ต้องการ จาก </a:t>
            </a:r>
            <a:r>
              <a:rPr lang="en-US" sz="2400" dirty="0"/>
              <a:t>Order </a:t>
            </a:r>
            <a:r>
              <a:rPr lang="th-TH" sz="2400" dirty="0"/>
              <a:t>ที่จะรอเข้าไปใช้ วัตถุดิบ บรรจุภัณฑ์ และ</a:t>
            </a:r>
          </a:p>
          <a:p>
            <a:r>
              <a:rPr lang="th-TH" sz="2400" dirty="0"/>
              <a:t>                  เครื่องจักร ไลน์การผลิต</a:t>
            </a:r>
          </a:p>
          <a:p>
            <a:endParaRPr lang="th-TH" sz="2400" dirty="0"/>
          </a:p>
          <a:p>
            <a:r>
              <a:rPr lang="th-TH" sz="2400" dirty="0"/>
              <a:t>เพื่อให้เกิดการเข้าไปจองการใช้ วัตถุดิบที่จะผลิตสินค้า จึงต้องมีการ </a:t>
            </a:r>
            <a:r>
              <a:rPr lang="en-US" sz="2400" dirty="0"/>
              <a:t>Firm Job  </a:t>
            </a:r>
          </a:p>
          <a:p>
            <a:endParaRPr lang="th-TH" sz="2400" dirty="0"/>
          </a:p>
          <a:p>
            <a:pPr algn="ctr"/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</a:p>
          <a:p>
            <a:pPr algn="ctr"/>
            <a:r>
              <a:rPr lang="th-TH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</a:p>
          <a:p>
            <a:br>
              <a:rPr lang="en-US" sz="2400" dirty="0"/>
            </a:b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287977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741082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68ED63F-FA43-4CCA-9AFF-BF888D8AA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7826" y="2175933"/>
            <a:ext cx="7992974" cy="429309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1027111" y="1130051"/>
            <a:ext cx="9404723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th-TH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</a:p>
          <a:p>
            <a:br>
              <a:rPr lang="en-US" sz="2400" dirty="0"/>
            </a:br>
            <a:endParaRPr lang="th-TH" sz="2400" dirty="0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394EEAF9-F53C-4A34-BAFC-534240A7F2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t="6679" r="80993" b="73430"/>
          <a:stretch/>
        </p:blipFill>
        <p:spPr>
          <a:xfrm>
            <a:off x="3896218" y="3012181"/>
            <a:ext cx="4079873" cy="246152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99D504-DE8A-4E2F-A97B-FE551D56A5FA}"/>
              </a:ext>
            </a:extLst>
          </p:cNvPr>
          <p:cNvSpPr/>
          <p:nvPr/>
        </p:nvSpPr>
        <p:spPr>
          <a:xfrm>
            <a:off x="4336318" y="4122787"/>
            <a:ext cx="3466453" cy="8291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CFE979-30AE-4412-9372-AC0C34FF4A11}"/>
              </a:ext>
            </a:extLst>
          </p:cNvPr>
          <p:cNvSpPr/>
          <p:nvPr/>
        </p:nvSpPr>
        <p:spPr>
          <a:xfrm>
            <a:off x="2387599" y="2409607"/>
            <a:ext cx="1320605" cy="6823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AAD5F08-315B-4EE5-AAEC-3F979D6A536F}"/>
              </a:ext>
            </a:extLst>
          </p:cNvPr>
          <p:cNvCxnSpPr>
            <a:cxnSpLocks/>
            <a:stCxn id="23" idx="3"/>
            <a:endCxn id="10" idx="1"/>
          </p:cNvCxnSpPr>
          <p:nvPr/>
        </p:nvCxnSpPr>
        <p:spPr>
          <a:xfrm>
            <a:off x="3708204" y="2750766"/>
            <a:ext cx="628114" cy="1786594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7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741082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130051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B810A-09C4-48F2-9865-333DB0B70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1291" y="2179638"/>
            <a:ext cx="7459132" cy="419576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28A8929-EE26-4BA6-93A6-3C3A6C42D1A2}"/>
              </a:ext>
            </a:extLst>
          </p:cNvPr>
          <p:cNvSpPr txBox="1">
            <a:spLocks/>
          </p:cNvSpPr>
          <p:nvPr/>
        </p:nvSpPr>
        <p:spPr>
          <a:xfrm>
            <a:off x="645130" y="1570718"/>
            <a:ext cx="3283403" cy="608920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/>
              <a:t>  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          :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กด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SEARCH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ของ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Status…</a:t>
            </a: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13735CCB-4ABE-4049-968D-7994CB6D7F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4" t="8784" r="68776" b="70260"/>
          <a:stretch/>
        </p:blipFill>
        <p:spPr>
          <a:xfrm>
            <a:off x="4851745" y="3429000"/>
            <a:ext cx="5758224" cy="221736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DFDF06-52DE-4DCC-BDA0-7CE0996A62C3}"/>
              </a:ext>
            </a:extLst>
          </p:cNvPr>
          <p:cNvSpPr/>
          <p:nvPr/>
        </p:nvSpPr>
        <p:spPr>
          <a:xfrm>
            <a:off x="6646333" y="3903133"/>
            <a:ext cx="804334" cy="63500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766ABC-AD4A-4B0C-8CA8-1FC1E7066CB5}"/>
              </a:ext>
            </a:extLst>
          </p:cNvPr>
          <p:cNvSpPr/>
          <p:nvPr/>
        </p:nvSpPr>
        <p:spPr>
          <a:xfrm>
            <a:off x="4543156" y="2582862"/>
            <a:ext cx="684000" cy="468000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0EA8E01-FD66-4B99-9AAC-CA76CD4DE78D}"/>
              </a:ext>
            </a:extLst>
          </p:cNvPr>
          <p:cNvCxnSpPr>
            <a:cxnSpLocks/>
            <a:stCxn id="17" idx="3"/>
            <a:endCxn id="11" idx="0"/>
          </p:cNvCxnSpPr>
          <p:nvPr/>
        </p:nvCxnSpPr>
        <p:spPr>
          <a:xfrm>
            <a:off x="5227156" y="2816862"/>
            <a:ext cx="1821344" cy="108627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30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130051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28A8929-EE26-4BA6-93A6-3C3A6C42D1A2}"/>
              </a:ext>
            </a:extLst>
          </p:cNvPr>
          <p:cNvSpPr txBox="1">
            <a:spLocks/>
          </p:cNvSpPr>
          <p:nvPr/>
        </p:nvSpPr>
        <p:spPr>
          <a:xfrm>
            <a:off x="645129" y="2170773"/>
            <a:ext cx="3283403" cy="859119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/>
              <a:t>  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          : </a:t>
            </a:r>
            <a:r>
              <a:rPr lang="th-TH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1.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กด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SEARCH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ของ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Status…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จะได้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</a:rPr>
              <a:t>Job Status Search</a:t>
            </a: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D74D37-7000-46B5-BEC3-5544A5D8E631}"/>
              </a:ext>
            </a:extLst>
          </p:cNvPr>
          <p:cNvGrpSpPr/>
          <p:nvPr/>
        </p:nvGrpSpPr>
        <p:grpSpPr>
          <a:xfrm>
            <a:off x="7069930" y="1592320"/>
            <a:ext cx="4182188" cy="1497920"/>
            <a:chOff x="5512145" y="851271"/>
            <a:chExt cx="5758224" cy="2217367"/>
          </a:xfrm>
        </p:grpSpPr>
        <p:pic>
          <p:nvPicPr>
            <p:cNvPr id="13" name="Content Placeholder 4">
              <a:extLst>
                <a:ext uri="{FF2B5EF4-FFF2-40B4-BE49-F238E27FC236}">
                  <a16:creationId xmlns:a16="http://schemas.microsoft.com/office/drawing/2014/main" id="{13735CCB-4ABE-4049-968D-7994CB6D7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14" t="8784" r="68776" b="70260"/>
            <a:stretch/>
          </p:blipFill>
          <p:spPr>
            <a:xfrm>
              <a:off x="5512145" y="851271"/>
              <a:ext cx="5758224" cy="2217367"/>
            </a:xfrm>
            <a:prstGeom prst="rect">
              <a:avLst/>
            </a:prstGeom>
            <a:ln w="28575">
              <a:solidFill>
                <a:srgbClr val="0000FF"/>
              </a:solidFill>
            </a:ln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BDFDF06-52DE-4DCC-BDA0-7CE0996A62C3}"/>
                </a:ext>
              </a:extLst>
            </p:cNvPr>
            <p:cNvSpPr/>
            <p:nvPr/>
          </p:nvSpPr>
          <p:spPr>
            <a:xfrm>
              <a:off x="7349067" y="1261812"/>
              <a:ext cx="804334" cy="74108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8DE30E0B-4E65-45C9-94F0-0F207F60F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5130" y="3200399"/>
            <a:ext cx="10625240" cy="347133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F5F9BD-AAE6-43B7-B75D-5EA9CC11F40F}"/>
              </a:ext>
            </a:extLst>
          </p:cNvPr>
          <p:cNvCxnSpPr>
            <a:cxnSpLocks/>
            <a:stCxn id="13" idx="1"/>
            <a:endCxn id="10" idx="0"/>
          </p:cNvCxnSpPr>
          <p:nvPr/>
        </p:nvCxnSpPr>
        <p:spPr>
          <a:xfrm rot="10800000" flipV="1">
            <a:off x="5957750" y="2341279"/>
            <a:ext cx="1112180" cy="859119"/>
          </a:xfrm>
          <a:prstGeom prst="bentConnector2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9E8BBCD-8353-4D9D-A686-7924DB353F73}"/>
              </a:ext>
            </a:extLst>
          </p:cNvPr>
          <p:cNvSpPr/>
          <p:nvPr/>
        </p:nvSpPr>
        <p:spPr>
          <a:xfrm>
            <a:off x="10607085" y="4513639"/>
            <a:ext cx="648000" cy="36000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44F4C-EBD5-45C6-B418-120EA8823DC2}"/>
              </a:ext>
            </a:extLst>
          </p:cNvPr>
          <p:cNvSpPr txBox="1"/>
          <p:nvPr/>
        </p:nvSpPr>
        <p:spPr>
          <a:xfrm>
            <a:off x="4343399" y="3429000"/>
            <a:ext cx="3242733" cy="523220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highlight>
                  <a:srgbClr val="FFFF00"/>
                </a:highlight>
              </a:rPr>
              <a:t>Job Status Search</a:t>
            </a:r>
            <a:endParaRPr lang="th-TH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2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F3A9A39-765A-4788-8696-E6808C8C5B61}"/>
              </a:ext>
            </a:extLst>
          </p:cNvPr>
          <p:cNvGrpSpPr/>
          <p:nvPr/>
        </p:nvGrpSpPr>
        <p:grpSpPr>
          <a:xfrm>
            <a:off x="766990" y="2480804"/>
            <a:ext cx="7459133" cy="4195762"/>
            <a:chOff x="1164924" y="2480804"/>
            <a:chExt cx="7459133" cy="4195762"/>
          </a:xfrm>
        </p:grpSpPr>
        <p:pic>
          <p:nvPicPr>
            <p:cNvPr id="19" name="Content Placeholder 6">
              <a:extLst>
                <a:ext uri="{FF2B5EF4-FFF2-40B4-BE49-F238E27FC236}">
                  <a16:creationId xmlns:a16="http://schemas.microsoft.com/office/drawing/2014/main" id="{3DDB5328-321F-4466-B7D9-E2D134E2B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4925" y="2480804"/>
              <a:ext cx="7459132" cy="4195762"/>
            </a:xfrm>
            <a:prstGeom prst="rect">
              <a:avLst/>
            </a:prstGeom>
            <a:ln w="38100">
              <a:solidFill>
                <a:srgbClr val="FFFF00"/>
              </a:solidFill>
            </a:ln>
          </p:spPr>
        </p:pic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A6A9D06-AD80-4ED3-9BE2-D60B72FAA4AD}"/>
                </a:ext>
              </a:extLst>
            </p:cNvPr>
            <p:cNvSpPr/>
            <p:nvPr/>
          </p:nvSpPr>
          <p:spPr>
            <a:xfrm>
              <a:off x="1164924" y="3610219"/>
              <a:ext cx="2314875" cy="285881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1" name="Arrow: Left-Right 20">
              <a:extLst>
                <a:ext uri="{FF2B5EF4-FFF2-40B4-BE49-F238E27FC236}">
                  <a16:creationId xmlns:a16="http://schemas.microsoft.com/office/drawing/2014/main" id="{4C7ED8E1-F511-4E72-835B-FB1F841A886C}"/>
                </a:ext>
              </a:extLst>
            </p:cNvPr>
            <p:cNvSpPr/>
            <p:nvPr/>
          </p:nvSpPr>
          <p:spPr>
            <a:xfrm>
              <a:off x="3557505" y="3561947"/>
              <a:ext cx="2196000" cy="360000"/>
            </a:xfrm>
            <a:prstGeom prst="leftRightArrow">
              <a:avLst/>
            </a:prstGeom>
            <a:solidFill>
              <a:srgbClr val="FFFF00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130051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8DE30E0B-4E65-45C9-94F0-0F207F60F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60449" y="1680421"/>
            <a:ext cx="5665436" cy="2201333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BF1848DF-D4DF-49ED-B11C-8A9B1A7FE7A0}"/>
              </a:ext>
            </a:extLst>
          </p:cNvPr>
          <p:cNvSpPr txBox="1">
            <a:spLocks/>
          </p:cNvSpPr>
          <p:nvPr/>
        </p:nvSpPr>
        <p:spPr>
          <a:xfrm>
            <a:off x="728684" y="1616505"/>
            <a:ext cx="4139337" cy="1693962"/>
          </a:xfrm>
          <a:prstGeom prst="rect">
            <a:avLst/>
          </a:prstGeom>
          <a:solidFill>
            <a:srgbClr val="FFFF00"/>
          </a:solidFill>
          <a:ln w="1905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/>
              <a:t>  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</a:p>
          <a:p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            : </a:t>
            </a:r>
            <a:r>
              <a:rPr lang="th-TH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1</a:t>
            </a:r>
            <a:r>
              <a:rPr lang="th-TH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.  กด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SEARCH</a:t>
            </a:r>
            <a:r>
              <a:rPr lang="th-TH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ของ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Status…</a:t>
            </a:r>
          </a:p>
          <a:p>
            <a:r>
              <a:rPr lang="th-TH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                               จะได้ </a:t>
            </a:r>
            <a:r>
              <a:rPr lang="en-US" sz="1100" b="1" dirty="0">
                <a:solidFill>
                  <a:srgbClr val="00B050"/>
                </a:solidFill>
                <a:highlight>
                  <a:srgbClr val="FFFF00"/>
                </a:highlight>
              </a:rPr>
              <a:t>Job Status Search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	</a:t>
            </a:r>
            <a:r>
              <a:rPr lang="en-US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: </a:t>
            </a:r>
            <a:r>
              <a:rPr lang="th-TH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2.  กด </a:t>
            </a:r>
            <a:r>
              <a:rPr lang="en-US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SEARCH  </a:t>
            </a:r>
            <a:r>
              <a:rPr lang="th-TH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ของ </a:t>
            </a:r>
            <a:r>
              <a:rPr lang="en-US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Search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	      </a:t>
            </a:r>
            <a:r>
              <a:rPr lang="th-TH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จะได้ </a:t>
            </a:r>
            <a:r>
              <a:rPr lang="th-TH" sz="1600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sz="1600" b="1" dirty="0">
                <a:solidFill>
                  <a:srgbClr val="00B050"/>
                </a:solidFill>
                <a:highlight>
                  <a:srgbClr val="FFFF00"/>
                </a:highlight>
              </a:rPr>
              <a:t>List </a:t>
            </a:r>
            <a:r>
              <a:rPr lang="th-TH" sz="1600" b="1" dirty="0">
                <a:solidFill>
                  <a:srgbClr val="00B050"/>
                </a:solidFill>
                <a:highlight>
                  <a:srgbClr val="FFFF00"/>
                </a:highlight>
              </a:rPr>
              <a:t>ของ</a:t>
            </a:r>
            <a:r>
              <a:rPr lang="en-US" sz="1600" b="1" dirty="0">
                <a:solidFill>
                  <a:srgbClr val="00B050"/>
                </a:solidFill>
                <a:highlight>
                  <a:srgbClr val="FFFF00"/>
                </a:highlight>
              </a:rPr>
              <a:t>Job</a:t>
            </a: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7269374D-4845-4569-A3BE-8668DD533A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199" t="29616" b="19230"/>
          <a:stretch/>
        </p:blipFill>
        <p:spPr>
          <a:xfrm>
            <a:off x="8483600" y="1949854"/>
            <a:ext cx="1717071" cy="181529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4B47B0-7E75-4549-9FEF-79A0CD7BFFE9}"/>
              </a:ext>
            </a:extLst>
          </p:cNvPr>
          <p:cNvSpPr/>
          <p:nvPr/>
        </p:nvSpPr>
        <p:spPr>
          <a:xfrm>
            <a:off x="9616485" y="2170773"/>
            <a:ext cx="584186" cy="500630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3E1399-BED0-4CA5-B8D8-037C74050FE8}"/>
              </a:ext>
            </a:extLst>
          </p:cNvPr>
          <p:cNvSpPr/>
          <p:nvPr/>
        </p:nvSpPr>
        <p:spPr>
          <a:xfrm>
            <a:off x="11165885" y="2480804"/>
            <a:ext cx="360000" cy="25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EF2CE137-9CD3-4380-9B4D-D009700E7156}"/>
              </a:ext>
            </a:extLst>
          </p:cNvPr>
          <p:cNvSpPr/>
          <p:nvPr/>
        </p:nvSpPr>
        <p:spPr>
          <a:xfrm>
            <a:off x="10323278" y="2421088"/>
            <a:ext cx="756000" cy="360000"/>
          </a:xfrm>
          <a:prstGeom prst="leftRightArrow">
            <a:avLst/>
          </a:prstGeom>
          <a:solidFill>
            <a:srgbClr val="FFFF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6189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1095EC9-1147-435F-BF5C-AAED8DB1D30F}"/>
              </a:ext>
            </a:extLst>
          </p:cNvPr>
          <p:cNvGrpSpPr/>
          <p:nvPr/>
        </p:nvGrpSpPr>
        <p:grpSpPr>
          <a:xfrm>
            <a:off x="877055" y="2430002"/>
            <a:ext cx="7459132" cy="4195762"/>
            <a:chOff x="877055" y="2430002"/>
            <a:chExt cx="7459132" cy="4195762"/>
          </a:xfrm>
        </p:grpSpPr>
        <p:pic>
          <p:nvPicPr>
            <p:cNvPr id="19" name="Content Placeholder 6">
              <a:extLst>
                <a:ext uri="{FF2B5EF4-FFF2-40B4-BE49-F238E27FC236}">
                  <a16:creationId xmlns:a16="http://schemas.microsoft.com/office/drawing/2014/main" id="{3DDB5328-321F-4466-B7D9-E2D134E2B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7055" y="2430002"/>
              <a:ext cx="7459132" cy="4195762"/>
            </a:xfrm>
            <a:prstGeom prst="rect">
              <a:avLst/>
            </a:prstGeom>
            <a:ln w="38100">
              <a:solidFill>
                <a:srgbClr val="FFFF00"/>
              </a:solidFill>
            </a:ln>
          </p:spPr>
        </p:pic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A6A9D06-AD80-4ED3-9BE2-D60B72FAA4AD}"/>
                </a:ext>
              </a:extLst>
            </p:cNvPr>
            <p:cNvSpPr/>
            <p:nvPr/>
          </p:nvSpPr>
          <p:spPr>
            <a:xfrm>
              <a:off x="877055" y="3572935"/>
              <a:ext cx="2314875" cy="2858811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130051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1848DF-D4DF-49ED-B11C-8A9B1A7FE7A0}"/>
              </a:ext>
            </a:extLst>
          </p:cNvPr>
          <p:cNvSpPr txBox="1">
            <a:spLocks/>
          </p:cNvSpPr>
          <p:nvPr/>
        </p:nvSpPr>
        <p:spPr>
          <a:xfrm>
            <a:off x="728684" y="1616505"/>
            <a:ext cx="4139337" cy="1679548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/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</a:p>
          <a:p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	: </a:t>
            </a:r>
            <a:r>
              <a:rPr lang="th-TH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2.  กด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SEARCH  </a:t>
            </a:r>
            <a:r>
              <a:rPr lang="th-TH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ของ </a:t>
            </a:r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Search</a:t>
            </a:r>
          </a:p>
          <a:p>
            <a:r>
              <a:rPr lang="en-US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	     </a:t>
            </a:r>
            <a:r>
              <a:rPr lang="th-TH" sz="11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จะได้ </a:t>
            </a:r>
            <a:r>
              <a:rPr lang="th-TH" sz="1100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sz="1100" b="1" dirty="0">
                <a:solidFill>
                  <a:srgbClr val="00B050"/>
                </a:solidFill>
                <a:highlight>
                  <a:srgbClr val="FFFF00"/>
                </a:highlight>
              </a:rPr>
              <a:t>List </a:t>
            </a:r>
            <a:r>
              <a:rPr lang="th-TH" sz="1100" b="1" dirty="0">
                <a:solidFill>
                  <a:srgbClr val="00B050"/>
                </a:solidFill>
                <a:highlight>
                  <a:srgbClr val="FFFF00"/>
                </a:highlight>
              </a:rPr>
              <a:t>ของ</a:t>
            </a:r>
            <a:r>
              <a:rPr lang="en-US" sz="1100" b="1" dirty="0">
                <a:solidFill>
                  <a:srgbClr val="00B050"/>
                </a:solidFill>
                <a:highlight>
                  <a:srgbClr val="FFFF00"/>
                </a:highlight>
              </a:rPr>
              <a:t>Job</a:t>
            </a: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</a:t>
            </a:r>
            <a:r>
              <a:rPr lang="th-TH" sz="2000" b="1" dirty="0">
                <a:solidFill>
                  <a:srgbClr val="0000FF"/>
                </a:solidFill>
                <a:highlight>
                  <a:srgbClr val="FFFF00"/>
                </a:highlight>
              </a:rPr>
              <a:t>3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.  จัดการลำดับ ก่อนหลังใน 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</a:rPr>
              <a:t>List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</a:rPr>
              <a:t>ของ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</a:rPr>
              <a:t>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โดยให้ความสำคัญที่ </a:t>
            </a:r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</a:t>
            </a:r>
            <a:r>
              <a:rPr lang="en-US" sz="1800" b="1" dirty="0">
                <a:solidFill>
                  <a:srgbClr val="00B050"/>
                </a:solidFill>
                <a:highlight>
                  <a:srgbClr val="FFFF00"/>
                </a:highlight>
              </a:rPr>
              <a:t>“Start Date”</a:t>
            </a: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6920D2-9BDB-4C2B-844F-A403BF1EBBE3}"/>
              </a:ext>
            </a:extLst>
          </p:cNvPr>
          <p:cNvGrpSpPr/>
          <p:nvPr/>
        </p:nvGrpSpPr>
        <p:grpSpPr>
          <a:xfrm>
            <a:off x="7031167" y="1594610"/>
            <a:ext cx="4179810" cy="5153323"/>
            <a:chOff x="7031167" y="1467612"/>
            <a:chExt cx="4179810" cy="5292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46C6845-BCB4-4160-8122-C67BEE36C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1167" y="1467612"/>
              <a:ext cx="4179810" cy="5292000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C3D7418-59A7-47A5-995C-0D222C77CCC4}"/>
                </a:ext>
              </a:extLst>
            </p:cNvPr>
            <p:cNvSpPr/>
            <p:nvPr/>
          </p:nvSpPr>
          <p:spPr>
            <a:xfrm>
              <a:off x="10295818" y="1540932"/>
              <a:ext cx="762759" cy="282786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6E3209D-06DC-4C6C-8D4E-DC0E6086843A}"/>
                </a:ext>
              </a:extLst>
            </p:cNvPr>
            <p:cNvSpPr/>
            <p:nvPr/>
          </p:nvSpPr>
          <p:spPr>
            <a:xfrm>
              <a:off x="7041941" y="6431746"/>
              <a:ext cx="697025" cy="2520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" name="Star: 10 Points 8">
              <a:extLst>
                <a:ext uri="{FF2B5EF4-FFF2-40B4-BE49-F238E27FC236}">
                  <a16:creationId xmlns:a16="http://schemas.microsoft.com/office/drawing/2014/main" id="{93728ED7-2DA2-455C-A652-AB5A76153D2A}"/>
                </a:ext>
              </a:extLst>
            </p:cNvPr>
            <p:cNvSpPr/>
            <p:nvPr/>
          </p:nvSpPr>
          <p:spPr>
            <a:xfrm>
              <a:off x="9895130" y="1540304"/>
              <a:ext cx="339018" cy="386588"/>
            </a:xfrm>
            <a:prstGeom prst="star10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1</a:t>
              </a:r>
              <a:endParaRPr lang="th-TH" b="1" dirty="0">
                <a:solidFill>
                  <a:srgbClr val="0000FF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FDF5CAB-7DA8-4E53-951D-4D71B0C9C436}"/>
                </a:ext>
              </a:extLst>
            </p:cNvPr>
            <p:cNvSpPr/>
            <p:nvPr/>
          </p:nvSpPr>
          <p:spPr>
            <a:xfrm>
              <a:off x="7041941" y="1535348"/>
              <a:ext cx="762759" cy="282786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Star: 10 Points 24">
              <a:extLst>
                <a:ext uri="{FF2B5EF4-FFF2-40B4-BE49-F238E27FC236}">
                  <a16:creationId xmlns:a16="http://schemas.microsoft.com/office/drawing/2014/main" id="{49FB28C2-4E3B-49F5-B1B3-198CDF8E8705}"/>
                </a:ext>
              </a:extLst>
            </p:cNvPr>
            <p:cNvSpPr/>
            <p:nvPr/>
          </p:nvSpPr>
          <p:spPr>
            <a:xfrm>
              <a:off x="7878741" y="1926892"/>
              <a:ext cx="339018" cy="386588"/>
            </a:xfrm>
            <a:prstGeom prst="star10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2</a:t>
              </a:r>
              <a:endParaRPr lang="th-TH" b="1" dirty="0">
                <a:solidFill>
                  <a:srgbClr val="0000FF"/>
                </a:solidFill>
              </a:endParaRPr>
            </a:p>
          </p:txBody>
        </p:sp>
        <p:sp>
          <p:nvSpPr>
            <p:cNvPr id="26" name="Star: 10 Points 25">
              <a:extLst>
                <a:ext uri="{FF2B5EF4-FFF2-40B4-BE49-F238E27FC236}">
                  <a16:creationId xmlns:a16="http://schemas.microsoft.com/office/drawing/2014/main" id="{30F76F91-EE59-48AE-AAA7-7CCEA38E91DC}"/>
                </a:ext>
              </a:extLst>
            </p:cNvPr>
            <p:cNvSpPr/>
            <p:nvPr/>
          </p:nvSpPr>
          <p:spPr>
            <a:xfrm>
              <a:off x="7804700" y="6321452"/>
              <a:ext cx="339018" cy="386588"/>
            </a:xfrm>
            <a:prstGeom prst="star10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00FF"/>
                  </a:solidFill>
                </a:rPr>
                <a:t>3</a:t>
              </a:r>
              <a:endParaRPr lang="th-TH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BBE427-9D9C-4965-8C27-08F7AF9EDB0C}"/>
              </a:ext>
            </a:extLst>
          </p:cNvPr>
          <p:cNvGrpSpPr/>
          <p:nvPr/>
        </p:nvGrpSpPr>
        <p:grpSpPr>
          <a:xfrm>
            <a:off x="2798352" y="4363215"/>
            <a:ext cx="4139337" cy="1822427"/>
            <a:chOff x="2793471" y="3782506"/>
            <a:chExt cx="4139337" cy="1822427"/>
          </a:xfrm>
        </p:grpSpPr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21FC555C-CCDE-422C-9D53-93B3C5573BFC}"/>
                </a:ext>
              </a:extLst>
            </p:cNvPr>
            <p:cNvSpPr txBox="1">
              <a:spLocks/>
            </p:cNvSpPr>
            <p:nvPr/>
          </p:nvSpPr>
          <p:spPr>
            <a:xfrm>
              <a:off x="2793471" y="3782506"/>
              <a:ext cx="4139337" cy="1822427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B050"/>
              </a:solidFill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4200" b="0" i="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: </a:t>
              </a:r>
              <a:r>
                <a:rPr lang="th-TH" sz="20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3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.  จัดการลำดับ ก่อนหลังใน  </a:t>
              </a:r>
              <a:r>
                <a:rPr lang="th-TH" sz="1400" b="1" dirty="0">
                  <a:solidFill>
                    <a:srgbClr val="00B050"/>
                  </a:solidFill>
                  <a:highlight>
                    <a:srgbClr val="FFFF00"/>
                  </a:highlight>
                </a:rPr>
                <a:t> </a:t>
              </a:r>
              <a:r>
                <a:rPr lang="en-US" sz="1400" b="1" dirty="0">
                  <a:solidFill>
                    <a:srgbClr val="00B050"/>
                  </a:solidFill>
                  <a:highlight>
                    <a:srgbClr val="FFFF00"/>
                  </a:highlight>
                </a:rPr>
                <a:t>List </a:t>
              </a:r>
              <a:r>
                <a:rPr lang="th-TH" sz="1400" b="1" dirty="0">
                  <a:solidFill>
                    <a:srgbClr val="00B050"/>
                  </a:solidFill>
                  <a:highlight>
                    <a:srgbClr val="FFFF00"/>
                  </a:highlight>
                </a:rPr>
                <a:t>ของ</a:t>
              </a:r>
              <a:r>
                <a:rPr lang="en-US" sz="1400" b="1" dirty="0">
                  <a:solidFill>
                    <a:srgbClr val="00B050"/>
                  </a:solidFill>
                  <a:highlight>
                    <a:srgbClr val="FFFF00"/>
                  </a:highlight>
                </a:rPr>
                <a:t>Job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โดยให้ความสำคัญที่ </a:t>
              </a:r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	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  กด             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ในช่อง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“Start Date”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เพื่อเรียงลำดับวันที่</a:t>
              </a:r>
            </a:p>
            <a:p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	</a:t>
              </a:r>
              <a:endParaRPr lang="th-TH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	  กด คลุมเลือก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Job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ที่ขึ้นต้นด้วย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“ SU-P…”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ที่ต้องการ</a:t>
              </a:r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endParaRPr lang="th-TH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	  กด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 “ OK ”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เพื่อทำการ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Firm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 </a:t>
              </a:r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B050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br>
                <a:rPr lang="en-US" sz="1400" dirty="0"/>
              </a:br>
              <a:endParaRPr lang="th-TH" sz="1400" dirty="0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E211FE89-D0E4-4BF9-8498-30E814E71489}"/>
                </a:ext>
              </a:extLst>
            </p:cNvPr>
            <p:cNvSpPr/>
            <p:nvPr/>
          </p:nvSpPr>
          <p:spPr>
            <a:xfrm rot="10800000">
              <a:off x="3701238" y="4157552"/>
              <a:ext cx="153844" cy="110066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8" name="Star: 10 Points 27">
              <a:extLst>
                <a:ext uri="{FF2B5EF4-FFF2-40B4-BE49-F238E27FC236}">
                  <a16:creationId xmlns:a16="http://schemas.microsoft.com/office/drawing/2014/main" id="{38218E56-0126-4EB5-B3B1-9A4639E27072}"/>
                </a:ext>
              </a:extLst>
            </p:cNvPr>
            <p:cNvSpPr/>
            <p:nvPr/>
          </p:nvSpPr>
          <p:spPr>
            <a:xfrm>
              <a:off x="3076191" y="4129683"/>
              <a:ext cx="265346" cy="263866"/>
            </a:xfrm>
            <a:prstGeom prst="star10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0000FF"/>
                  </a:solidFill>
                </a:rPr>
                <a:t>1</a:t>
              </a:r>
              <a:endParaRPr lang="th-TH" sz="1400" b="1" dirty="0">
                <a:solidFill>
                  <a:srgbClr val="0000FF"/>
                </a:solidFill>
              </a:endParaRPr>
            </a:p>
          </p:txBody>
        </p:sp>
        <p:sp>
          <p:nvSpPr>
            <p:cNvPr id="29" name="Star: 10 Points 28">
              <a:extLst>
                <a:ext uri="{FF2B5EF4-FFF2-40B4-BE49-F238E27FC236}">
                  <a16:creationId xmlns:a16="http://schemas.microsoft.com/office/drawing/2014/main" id="{EF7A1E9F-5228-441E-BB70-10B2C6D42603}"/>
                </a:ext>
              </a:extLst>
            </p:cNvPr>
            <p:cNvSpPr/>
            <p:nvPr/>
          </p:nvSpPr>
          <p:spPr>
            <a:xfrm>
              <a:off x="3076191" y="4510071"/>
              <a:ext cx="265346" cy="263866"/>
            </a:xfrm>
            <a:prstGeom prst="star10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0000FF"/>
                  </a:solidFill>
                </a:rPr>
                <a:t>2</a:t>
              </a:r>
              <a:endParaRPr lang="th-TH" sz="1400" b="1" dirty="0">
                <a:solidFill>
                  <a:srgbClr val="0000FF"/>
                </a:solidFill>
              </a:endParaRPr>
            </a:p>
          </p:txBody>
        </p:sp>
        <p:sp>
          <p:nvSpPr>
            <p:cNvPr id="30" name="Star: 10 Points 29">
              <a:extLst>
                <a:ext uri="{FF2B5EF4-FFF2-40B4-BE49-F238E27FC236}">
                  <a16:creationId xmlns:a16="http://schemas.microsoft.com/office/drawing/2014/main" id="{C5A85548-D793-4B1A-AEEF-C343A6FE1ADB}"/>
                </a:ext>
              </a:extLst>
            </p:cNvPr>
            <p:cNvSpPr/>
            <p:nvPr/>
          </p:nvSpPr>
          <p:spPr>
            <a:xfrm>
              <a:off x="3077585" y="4949060"/>
              <a:ext cx="265346" cy="263866"/>
            </a:xfrm>
            <a:prstGeom prst="star10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0000FF"/>
                  </a:solidFill>
                </a:rPr>
                <a:t>3</a:t>
              </a:r>
              <a:endParaRPr lang="th-TH" sz="1400" b="1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4065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130051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1FC555C-CCDE-422C-9D53-93B3C5573BFC}"/>
              </a:ext>
            </a:extLst>
          </p:cNvPr>
          <p:cNvSpPr txBox="1">
            <a:spLocks/>
          </p:cNvSpPr>
          <p:nvPr/>
        </p:nvSpPr>
        <p:spPr>
          <a:xfrm>
            <a:off x="803804" y="1714252"/>
            <a:ext cx="4139337" cy="783416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หลัง กด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“ OK ”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จากหน้าต่าง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Search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จะได้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List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อยู่ใน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335D7-3DBA-4E58-BE9C-06CE46DED4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319"/>
          <a:stretch/>
        </p:blipFill>
        <p:spPr>
          <a:xfrm>
            <a:off x="863600" y="2633133"/>
            <a:ext cx="10800000" cy="32004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1115142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130051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1FC555C-CCDE-422C-9D53-93B3C5573BFC}"/>
              </a:ext>
            </a:extLst>
          </p:cNvPr>
          <p:cNvSpPr txBox="1">
            <a:spLocks/>
          </p:cNvSpPr>
          <p:nvPr/>
        </p:nvSpPr>
        <p:spPr>
          <a:xfrm>
            <a:off x="803804" y="1714252"/>
            <a:ext cx="4139337" cy="783416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“Firm All “</a:t>
            </a: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DBCD66-FAC6-4080-9D68-1DF9898FC3E4}"/>
              </a:ext>
            </a:extLst>
          </p:cNvPr>
          <p:cNvGrpSpPr/>
          <p:nvPr/>
        </p:nvGrpSpPr>
        <p:grpSpPr>
          <a:xfrm>
            <a:off x="837672" y="2641598"/>
            <a:ext cx="10800000" cy="3200400"/>
            <a:chOff x="837671" y="2760133"/>
            <a:chExt cx="10800000" cy="32004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6A335D7-3DBA-4E58-BE9C-06CE46DED4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7319"/>
            <a:stretch/>
          </p:blipFill>
          <p:spPr>
            <a:xfrm>
              <a:off x="837671" y="2760133"/>
              <a:ext cx="10800000" cy="3200400"/>
            </a:xfrm>
            <a:prstGeom prst="rect">
              <a:avLst/>
            </a:prstGeom>
            <a:ln w="38100">
              <a:solidFill>
                <a:srgbClr val="FFFF00"/>
              </a:solidFill>
            </a:ln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BF19A1A-640B-41DB-A91C-D7E555BC685B}"/>
                </a:ext>
              </a:extLst>
            </p:cNvPr>
            <p:cNvSpPr/>
            <p:nvPr/>
          </p:nvSpPr>
          <p:spPr>
            <a:xfrm>
              <a:off x="1954151" y="3388669"/>
              <a:ext cx="543516" cy="2520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5ED3C5-37A0-4D5A-81BB-C2F77B7AD2BF}"/>
                </a:ext>
              </a:extLst>
            </p:cNvPr>
            <p:cNvSpPr/>
            <p:nvPr/>
          </p:nvSpPr>
          <p:spPr>
            <a:xfrm>
              <a:off x="4787041" y="3727334"/>
              <a:ext cx="543516" cy="216546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A5085E2-07E6-49BF-908D-D3DFF1977001}"/>
              </a:ext>
            </a:extLst>
          </p:cNvPr>
          <p:cNvSpPr txBox="1"/>
          <p:nvPr/>
        </p:nvSpPr>
        <p:spPr>
          <a:xfrm>
            <a:off x="2873472" y="3152802"/>
            <a:ext cx="70273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00FF"/>
                </a:solidFill>
              </a:rPr>
              <a:t>กดปุ่ม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51FF4987-3B13-4F0B-895A-EEBB73CAC466}"/>
              </a:ext>
            </a:extLst>
          </p:cNvPr>
          <p:cNvSpPr/>
          <p:nvPr/>
        </p:nvSpPr>
        <p:spPr>
          <a:xfrm rot="10800000">
            <a:off x="2559570" y="3234134"/>
            <a:ext cx="252000" cy="288000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5897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096183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1FC555C-CCDE-422C-9D53-93B3C5573BFC}"/>
              </a:ext>
            </a:extLst>
          </p:cNvPr>
          <p:cNvSpPr txBox="1">
            <a:spLocks/>
          </p:cNvSpPr>
          <p:nvPr/>
        </p:nvSpPr>
        <p:spPr>
          <a:xfrm>
            <a:off x="803804" y="1714252"/>
            <a:ext cx="4139337" cy="783416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“Firm All “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จะได้    </a:t>
            </a:r>
            <a:r>
              <a:rPr lang="th-TH" sz="1400" b="1" dirty="0">
                <a:solidFill>
                  <a:srgbClr val="00B0F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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ในช่อง 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To Firm</a:t>
            </a:r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A335D7-3DBA-4E58-BE9C-06CE46DED4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319"/>
          <a:stretch/>
        </p:blipFill>
        <p:spPr>
          <a:xfrm>
            <a:off x="837672" y="2641598"/>
            <a:ext cx="10800000" cy="320040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7DD2E5-D4C5-470E-BB18-E21AB6ABF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34" y="3145333"/>
            <a:ext cx="9862338" cy="36000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475A3D-0E13-432F-9FFD-8561274EBFD4}"/>
              </a:ext>
            </a:extLst>
          </p:cNvPr>
          <p:cNvSpPr/>
          <p:nvPr/>
        </p:nvSpPr>
        <p:spPr>
          <a:xfrm>
            <a:off x="2020090" y="3513667"/>
            <a:ext cx="765444" cy="252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2C9177B-AD7C-4974-BCB9-B4275818FB0B}"/>
              </a:ext>
            </a:extLst>
          </p:cNvPr>
          <p:cNvSpPr/>
          <p:nvPr/>
        </p:nvSpPr>
        <p:spPr>
          <a:xfrm>
            <a:off x="6222256" y="3871067"/>
            <a:ext cx="468000" cy="28827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</a:t>
            </a:r>
            <a:endParaRPr lang="th-TH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158777-05F5-4383-BF75-4C7CD349354C}"/>
              </a:ext>
            </a:extLst>
          </p:cNvPr>
          <p:cNvSpPr txBox="1"/>
          <p:nvPr/>
        </p:nvSpPr>
        <p:spPr>
          <a:xfrm>
            <a:off x="3161339" y="3413269"/>
            <a:ext cx="10102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00FF"/>
                </a:solidFill>
              </a:rPr>
              <a:t>1. กดปุ่ม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19C9EB99-70E4-4FFE-A611-4962A3BFB6DA}"/>
              </a:ext>
            </a:extLst>
          </p:cNvPr>
          <p:cNvSpPr/>
          <p:nvPr/>
        </p:nvSpPr>
        <p:spPr>
          <a:xfrm rot="10800000">
            <a:off x="2847437" y="3494601"/>
            <a:ext cx="252000" cy="288000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55CB6F-2B7B-4DA5-A3D8-F67CC11C5450}"/>
              </a:ext>
            </a:extLst>
          </p:cNvPr>
          <p:cNvSpPr txBox="1"/>
          <p:nvPr/>
        </p:nvSpPr>
        <p:spPr>
          <a:xfrm>
            <a:off x="4961468" y="4097867"/>
            <a:ext cx="8636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00FF"/>
                </a:solidFill>
              </a:rPr>
              <a:t>2. ผลที่ได้</a:t>
            </a:r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CAF0346E-D1AF-4252-A6B6-F52C01E5BD97}"/>
              </a:ext>
            </a:extLst>
          </p:cNvPr>
          <p:cNvSpPr/>
          <p:nvPr/>
        </p:nvSpPr>
        <p:spPr>
          <a:xfrm>
            <a:off x="5858867" y="4153798"/>
            <a:ext cx="252000" cy="288000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6082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88969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994583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82167C-1A86-4EE6-B622-9D62B5B4CFE1}"/>
              </a:ext>
            </a:extLst>
          </p:cNvPr>
          <p:cNvGrpSpPr/>
          <p:nvPr/>
        </p:nvGrpSpPr>
        <p:grpSpPr>
          <a:xfrm>
            <a:off x="1664929" y="1513091"/>
            <a:ext cx="9881473" cy="5065509"/>
            <a:chOff x="1664929" y="1513091"/>
            <a:chExt cx="9881473" cy="5065509"/>
          </a:xfrm>
        </p:grpSpPr>
        <p:sp>
          <p:nvSpPr>
            <p:cNvPr id="27" name="Title 1">
              <a:extLst>
                <a:ext uri="{FF2B5EF4-FFF2-40B4-BE49-F238E27FC236}">
                  <a16:creationId xmlns:a16="http://schemas.microsoft.com/office/drawing/2014/main" id="{21FC555C-CCDE-422C-9D53-93B3C5573BFC}"/>
                </a:ext>
              </a:extLst>
            </p:cNvPr>
            <p:cNvSpPr txBox="1">
              <a:spLocks/>
            </p:cNvSpPr>
            <p:nvPr/>
          </p:nvSpPr>
          <p:spPr>
            <a:xfrm>
              <a:off x="1664929" y="1513091"/>
              <a:ext cx="3872271" cy="1314216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B050"/>
              </a:solidFill>
            </a:ln>
          </p:spPr>
          <p:txBody>
            <a:bodyPr vert="horz" lIns="91440" tIns="45720" rIns="91440" bIns="45720" rtlCol="0" anchor="t">
              <a:noAutofit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4200" b="0" i="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en-US" sz="1400" dirty="0">
                  <a:highlight>
                    <a:srgbClr val="FFFF00"/>
                  </a:highlight>
                </a:rPr>
                <a:t>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ใช้คำสั่ง 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: Job Status Maintenance</a:t>
              </a:r>
              <a:endParaRPr lang="th-TH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  ทำการ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Firm Job </a:t>
              </a:r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ที่เลือกมา ด้วยการ </a:t>
              </a:r>
            </a:p>
            <a:p>
              <a:endParaRPr lang="th-TH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  	1. ไปกดที่ปุ่ม  </a:t>
              </a:r>
              <a:r>
                <a:rPr lang="en-US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“Firm All “</a:t>
              </a:r>
            </a:p>
            <a:p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	2. จะได้    </a:t>
              </a:r>
              <a:r>
                <a:rPr lang="th-TH" sz="1400" b="1" dirty="0">
                  <a:solidFill>
                    <a:srgbClr val="00B0F0"/>
                  </a:solidFill>
                  <a:highlight>
                    <a:srgbClr val="FFFF00"/>
                  </a:highlight>
                  <a:sym typeface="Wingdings 2" panose="05020102010507070707" pitchFamily="18" charset="2"/>
                </a:rPr>
                <a:t> </a:t>
              </a:r>
              <a:r>
                <a:rPr lang="th-TH" sz="1400" b="1" dirty="0">
                  <a:solidFill>
                    <a:srgbClr val="00B050"/>
                  </a:solidFill>
                  <a:highlight>
                    <a:srgbClr val="FFFF00"/>
                  </a:highlight>
                  <a:sym typeface="Wingdings 2" panose="05020102010507070707" pitchFamily="18" charset="2"/>
                </a:rPr>
                <a:t>ในช่อง  </a:t>
              </a:r>
              <a:r>
                <a:rPr lang="en-US" sz="1400" b="1" dirty="0">
                  <a:solidFill>
                    <a:srgbClr val="00B050"/>
                  </a:solidFill>
                  <a:highlight>
                    <a:srgbClr val="FFFF00"/>
                  </a:highlight>
                  <a:sym typeface="Wingdings 2" panose="05020102010507070707" pitchFamily="18" charset="2"/>
                </a:rPr>
                <a:t>To Firm</a:t>
              </a:r>
            </a:p>
            <a:p>
              <a:r>
                <a:rPr lang="th-TH" sz="1400" b="1" dirty="0">
                  <a:solidFill>
                    <a:srgbClr val="0000FF"/>
                  </a:solidFill>
                  <a:highlight>
                    <a:srgbClr val="FFFF00"/>
                  </a:highlight>
                </a:rPr>
                <a:t>	</a:t>
              </a:r>
              <a:endPara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endParaRPr>
            </a:p>
            <a:p>
              <a:endPara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endParaRPr>
            </a:p>
            <a:p>
              <a:endParaRPr lang="en-US" sz="1400" b="1" dirty="0">
                <a:solidFill>
                  <a:srgbClr val="00B050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B050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endParaRPr lang="en-US" sz="1400" b="1" dirty="0">
                <a:solidFill>
                  <a:srgbClr val="0000FF"/>
                </a:solidFill>
                <a:highlight>
                  <a:srgbClr val="FFFF00"/>
                </a:highlight>
              </a:endParaRPr>
            </a:p>
            <a:p>
              <a:br>
                <a:rPr lang="en-US" sz="1400" dirty="0"/>
              </a:br>
              <a:endParaRPr lang="th-TH" sz="140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7DD2E5-D4C5-470E-BB18-E21AB6ABF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84064" y="2951734"/>
              <a:ext cx="9862338" cy="3600000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0475A3D-0E13-432F-9FFD-8561274EBFD4}"/>
                </a:ext>
              </a:extLst>
            </p:cNvPr>
            <p:cNvSpPr/>
            <p:nvPr/>
          </p:nvSpPr>
          <p:spPr>
            <a:xfrm>
              <a:off x="1929289" y="3338467"/>
              <a:ext cx="765444" cy="252000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2C9177B-AD7C-4974-BCB9-B4275818FB0B}"/>
                </a:ext>
              </a:extLst>
            </p:cNvPr>
            <p:cNvSpPr/>
            <p:nvPr/>
          </p:nvSpPr>
          <p:spPr>
            <a:xfrm>
              <a:off x="6182999" y="3736400"/>
              <a:ext cx="389467" cy="2842200"/>
            </a:xfrm>
            <a:prstGeom prst="round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000</a:t>
              </a:r>
              <a:endParaRPr lang="th-TH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158777-05F5-4383-BF75-4C7CD349354C}"/>
                </a:ext>
              </a:extLst>
            </p:cNvPr>
            <p:cNvSpPr txBox="1"/>
            <p:nvPr/>
          </p:nvSpPr>
          <p:spPr>
            <a:xfrm>
              <a:off x="3070538" y="3238069"/>
              <a:ext cx="1010200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solidFill>
                    <a:srgbClr val="0000FF"/>
                  </a:solidFill>
                </a:rPr>
                <a:t>1. กดปุ่ม</a:t>
              </a:r>
            </a:p>
          </p:txBody>
        </p:sp>
        <p:sp>
          <p:nvSpPr>
            <p:cNvPr id="13" name="Arrow: Striped Right 12">
              <a:extLst>
                <a:ext uri="{FF2B5EF4-FFF2-40B4-BE49-F238E27FC236}">
                  <a16:creationId xmlns:a16="http://schemas.microsoft.com/office/drawing/2014/main" id="{19C9EB99-70E4-4FFE-A611-4962A3BFB6DA}"/>
                </a:ext>
              </a:extLst>
            </p:cNvPr>
            <p:cNvSpPr/>
            <p:nvPr/>
          </p:nvSpPr>
          <p:spPr>
            <a:xfrm rot="10800000">
              <a:off x="2756636" y="3319401"/>
              <a:ext cx="252000" cy="288000"/>
            </a:xfrm>
            <a:prstGeom prst="striped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55CB6F-2B7B-4DA5-A3D8-F67CC11C5450}"/>
                </a:ext>
              </a:extLst>
            </p:cNvPr>
            <p:cNvSpPr txBox="1"/>
            <p:nvPr/>
          </p:nvSpPr>
          <p:spPr>
            <a:xfrm>
              <a:off x="4870667" y="3922667"/>
              <a:ext cx="863600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solidFill>
                    <a:srgbClr val="0000FF"/>
                  </a:solidFill>
                </a:rPr>
                <a:t>2. ผลที่ได้</a:t>
              </a:r>
            </a:p>
          </p:txBody>
        </p:sp>
        <p:sp>
          <p:nvSpPr>
            <p:cNvPr id="15" name="Arrow: Striped Right 14">
              <a:extLst>
                <a:ext uri="{FF2B5EF4-FFF2-40B4-BE49-F238E27FC236}">
                  <a16:creationId xmlns:a16="http://schemas.microsoft.com/office/drawing/2014/main" id="{CAF0346E-D1AF-4252-A6B6-F52C01E5BD97}"/>
                </a:ext>
              </a:extLst>
            </p:cNvPr>
            <p:cNvSpPr/>
            <p:nvPr/>
          </p:nvSpPr>
          <p:spPr>
            <a:xfrm>
              <a:off x="5768066" y="3978598"/>
              <a:ext cx="252000" cy="288000"/>
            </a:xfrm>
            <a:prstGeom prst="striped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  <a:p>
              <a:pPr algn="ctr"/>
              <a:endParaRPr lang="th-TH" dirty="0"/>
            </a:p>
            <a:p>
              <a:pPr algn="ctr"/>
              <a:endParaRPr lang="th-TH" dirty="0"/>
            </a:p>
            <a:p>
              <a:pPr algn="ctr"/>
              <a:endParaRPr lang="th-TH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4430F38-6701-4413-B454-2EE40DB687C5}"/>
                </a:ext>
              </a:extLst>
            </p:cNvPr>
            <p:cNvSpPr/>
            <p:nvPr/>
          </p:nvSpPr>
          <p:spPr>
            <a:xfrm>
              <a:off x="6283313" y="3336467"/>
              <a:ext cx="765444" cy="2520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0B43C0-284C-44A6-BC38-68D82F926642}"/>
                </a:ext>
              </a:extLst>
            </p:cNvPr>
            <p:cNvSpPr txBox="1"/>
            <p:nvPr/>
          </p:nvSpPr>
          <p:spPr>
            <a:xfrm>
              <a:off x="7424562" y="3236069"/>
              <a:ext cx="1010200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solidFill>
                    <a:srgbClr val="0000FF"/>
                  </a:solidFill>
                </a:rPr>
                <a:t>3. กดปุ่ม</a:t>
              </a:r>
            </a:p>
          </p:txBody>
        </p:sp>
        <p:sp>
          <p:nvSpPr>
            <p:cNvPr id="18" name="Arrow: Striped Right 17">
              <a:extLst>
                <a:ext uri="{FF2B5EF4-FFF2-40B4-BE49-F238E27FC236}">
                  <a16:creationId xmlns:a16="http://schemas.microsoft.com/office/drawing/2014/main" id="{9E919E0F-E5FB-4956-AE82-40200087AB2F}"/>
                </a:ext>
              </a:extLst>
            </p:cNvPr>
            <p:cNvSpPr/>
            <p:nvPr/>
          </p:nvSpPr>
          <p:spPr>
            <a:xfrm rot="10800000">
              <a:off x="7110660" y="3317401"/>
              <a:ext cx="252000" cy="288000"/>
            </a:xfrm>
            <a:prstGeom prst="striped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0547A2C-2181-4938-8988-68C3B489C29A}"/>
                </a:ext>
              </a:extLst>
            </p:cNvPr>
            <p:cNvSpPr/>
            <p:nvPr/>
          </p:nvSpPr>
          <p:spPr>
            <a:xfrm>
              <a:off x="6572466" y="3727933"/>
              <a:ext cx="389467" cy="28422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000</a:t>
              </a:r>
              <a:endParaRPr lang="th-TH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F464FF-5D87-49E3-998D-30CC94BAAEBD}"/>
                </a:ext>
              </a:extLst>
            </p:cNvPr>
            <p:cNvSpPr txBox="1"/>
            <p:nvPr/>
          </p:nvSpPr>
          <p:spPr>
            <a:xfrm>
              <a:off x="7424562" y="3929465"/>
              <a:ext cx="863600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solidFill>
                    <a:srgbClr val="0000FF"/>
                  </a:solidFill>
                </a:rPr>
                <a:t>4. ผลที่ได้</a:t>
              </a:r>
            </a:p>
          </p:txBody>
        </p:sp>
        <p:sp>
          <p:nvSpPr>
            <p:cNvPr id="21" name="Arrow: Striped Right 20">
              <a:extLst>
                <a:ext uri="{FF2B5EF4-FFF2-40B4-BE49-F238E27FC236}">
                  <a16:creationId xmlns:a16="http://schemas.microsoft.com/office/drawing/2014/main" id="{2E817DB6-7770-429A-8F9F-F9B5CCED2D31}"/>
                </a:ext>
              </a:extLst>
            </p:cNvPr>
            <p:cNvSpPr/>
            <p:nvPr/>
          </p:nvSpPr>
          <p:spPr>
            <a:xfrm rot="10800000">
              <a:off x="7075714" y="3940934"/>
              <a:ext cx="252000" cy="288000"/>
            </a:xfrm>
            <a:prstGeom prst="striped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  <a:p>
              <a:pPr algn="ctr"/>
              <a:endParaRPr lang="th-TH" dirty="0"/>
            </a:p>
            <a:p>
              <a:pPr algn="ctr"/>
              <a:endParaRPr lang="th-TH" dirty="0"/>
            </a:p>
            <a:p>
              <a:pPr algn="ctr"/>
              <a:endParaRPr lang="th-TH" dirty="0"/>
            </a:p>
          </p:txBody>
        </p:sp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FC778C6-20FF-467F-99D0-2A4860196794}"/>
              </a:ext>
            </a:extLst>
          </p:cNvPr>
          <p:cNvSpPr/>
          <p:nvPr/>
        </p:nvSpPr>
        <p:spPr>
          <a:xfrm>
            <a:off x="2036999" y="3709534"/>
            <a:ext cx="971637" cy="28422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</a:t>
            </a:r>
            <a:endParaRPr lang="th-TH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90FF23-2310-4C59-8AAD-208575992A12}"/>
              </a:ext>
            </a:extLst>
          </p:cNvPr>
          <p:cNvSpPr txBox="1"/>
          <p:nvPr/>
        </p:nvSpPr>
        <p:spPr>
          <a:xfrm>
            <a:off x="3398103" y="4341199"/>
            <a:ext cx="8636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00FF"/>
                </a:solidFill>
              </a:rPr>
              <a:t>5. ผลที่ได้</a:t>
            </a:r>
          </a:p>
        </p:txBody>
      </p:sp>
      <p:sp>
        <p:nvSpPr>
          <p:cNvPr id="28" name="Arrow: Striped Right 27">
            <a:extLst>
              <a:ext uri="{FF2B5EF4-FFF2-40B4-BE49-F238E27FC236}">
                <a16:creationId xmlns:a16="http://schemas.microsoft.com/office/drawing/2014/main" id="{C310C7D7-EC51-414F-AD94-A5806C839B83}"/>
              </a:ext>
            </a:extLst>
          </p:cNvPr>
          <p:cNvSpPr/>
          <p:nvPr/>
        </p:nvSpPr>
        <p:spPr>
          <a:xfrm rot="10800000">
            <a:off x="3049255" y="4352668"/>
            <a:ext cx="252000" cy="288000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E762026-038F-4FF4-8DC2-D4B4D5CDC1C2}"/>
              </a:ext>
            </a:extLst>
          </p:cNvPr>
          <p:cNvSpPr txBox="1">
            <a:spLocks/>
          </p:cNvSpPr>
          <p:nvPr/>
        </p:nvSpPr>
        <p:spPr>
          <a:xfrm>
            <a:off x="5734267" y="1527651"/>
            <a:ext cx="3872271" cy="1314216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	3.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“Process “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4.  </a:t>
            </a:r>
            <a:r>
              <a:rPr lang="th-TH" sz="1400" b="1" dirty="0">
                <a:solidFill>
                  <a:srgbClr val="00B0F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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จะย้ายจาก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ช่อง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To Firm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ไปอยู่ที่ช่อง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Firm</a:t>
            </a: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382619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87365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926843"/>
            <a:ext cx="9404723" cy="5209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หลังการยืนยัน  </a:t>
            </a:r>
            <a:r>
              <a:rPr lang="en-US" sz="2400" dirty="0"/>
              <a:t>Order  </a:t>
            </a:r>
            <a:r>
              <a:rPr lang="th-TH" sz="2400" dirty="0"/>
              <a:t>จะยืนยันแผนการผลิต สินค้า (</a:t>
            </a:r>
            <a:r>
              <a:rPr lang="en-US" sz="2400" dirty="0"/>
              <a:t>Firm Job)</a:t>
            </a:r>
            <a:endParaRPr lang="th-TH" sz="2400" dirty="0"/>
          </a:p>
        </p:txBody>
      </p:sp>
      <p:pic>
        <p:nvPicPr>
          <p:cNvPr id="22" name="Content Placeholder 3">
            <a:extLst>
              <a:ext uri="{FF2B5EF4-FFF2-40B4-BE49-F238E27FC236}">
                <a16:creationId xmlns:a16="http://schemas.microsoft.com/office/drawing/2014/main" id="{0517AD6F-F14C-4103-958C-3921026B4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851" y="2743701"/>
            <a:ext cx="10123487" cy="382693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436861F-4058-4167-86B0-A93A40332478}"/>
              </a:ext>
            </a:extLst>
          </p:cNvPr>
          <p:cNvGrpSpPr/>
          <p:nvPr/>
        </p:nvGrpSpPr>
        <p:grpSpPr>
          <a:xfrm>
            <a:off x="3930047" y="3029273"/>
            <a:ext cx="2165953" cy="3451798"/>
            <a:chOff x="3930047" y="3029273"/>
            <a:chExt cx="2165953" cy="345179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FC43DC2-F6A8-488E-AD4F-74F3A438CFC7}"/>
                </a:ext>
              </a:extLst>
            </p:cNvPr>
            <p:cNvSpPr/>
            <p:nvPr/>
          </p:nvSpPr>
          <p:spPr>
            <a:xfrm>
              <a:off x="3930047" y="3130403"/>
              <a:ext cx="765444" cy="2520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EA69B9-4B57-48F7-88CB-7BCAF4CDDADB}"/>
                </a:ext>
              </a:extLst>
            </p:cNvPr>
            <p:cNvSpPr txBox="1"/>
            <p:nvPr/>
          </p:nvSpPr>
          <p:spPr>
            <a:xfrm>
              <a:off x="5085800" y="3029273"/>
              <a:ext cx="1010200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solidFill>
                    <a:srgbClr val="0000FF"/>
                  </a:solidFill>
                </a:rPr>
                <a:t>3. กดปุ่ม</a:t>
              </a:r>
            </a:p>
          </p:txBody>
        </p:sp>
        <p:sp>
          <p:nvSpPr>
            <p:cNvPr id="26" name="Arrow: Striped Right 25">
              <a:extLst>
                <a:ext uri="{FF2B5EF4-FFF2-40B4-BE49-F238E27FC236}">
                  <a16:creationId xmlns:a16="http://schemas.microsoft.com/office/drawing/2014/main" id="{876CB1AD-B636-408B-83B6-CF187C8E5B5D}"/>
                </a:ext>
              </a:extLst>
            </p:cNvPr>
            <p:cNvSpPr/>
            <p:nvPr/>
          </p:nvSpPr>
          <p:spPr>
            <a:xfrm rot="10800000">
              <a:off x="4757394" y="3111337"/>
              <a:ext cx="252000" cy="288000"/>
            </a:xfrm>
            <a:prstGeom prst="striped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D16E6E7-3545-496A-8F9F-A88FEDED7249}"/>
                </a:ext>
              </a:extLst>
            </p:cNvPr>
            <p:cNvSpPr/>
            <p:nvPr/>
          </p:nvSpPr>
          <p:spPr>
            <a:xfrm>
              <a:off x="4153547" y="3565671"/>
              <a:ext cx="389467" cy="2915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000</a:t>
              </a:r>
              <a:endParaRPr lang="th-TH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7A644AB-8AE2-4E36-909C-B1D8B2E31104}"/>
                </a:ext>
              </a:extLst>
            </p:cNvPr>
            <p:cNvSpPr txBox="1"/>
            <p:nvPr/>
          </p:nvSpPr>
          <p:spPr>
            <a:xfrm>
              <a:off x="5005643" y="3767203"/>
              <a:ext cx="863600" cy="3693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th-TH" b="1" dirty="0">
                  <a:solidFill>
                    <a:srgbClr val="0000FF"/>
                  </a:solidFill>
                </a:rPr>
                <a:t>4. ผลที่ได้</a:t>
              </a:r>
            </a:p>
          </p:txBody>
        </p:sp>
        <p:sp>
          <p:nvSpPr>
            <p:cNvPr id="30" name="Arrow: Striped Right 29">
              <a:extLst>
                <a:ext uri="{FF2B5EF4-FFF2-40B4-BE49-F238E27FC236}">
                  <a16:creationId xmlns:a16="http://schemas.microsoft.com/office/drawing/2014/main" id="{E58CAE12-E0E3-4DE3-B747-BB899B5C50F9}"/>
                </a:ext>
              </a:extLst>
            </p:cNvPr>
            <p:cNvSpPr/>
            <p:nvPr/>
          </p:nvSpPr>
          <p:spPr>
            <a:xfrm rot="10800000">
              <a:off x="4656795" y="3778671"/>
              <a:ext cx="252000" cy="295417"/>
            </a:xfrm>
            <a:prstGeom prst="striped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  <a:p>
              <a:pPr algn="ctr"/>
              <a:endParaRPr lang="th-TH" dirty="0"/>
            </a:p>
            <a:p>
              <a:pPr algn="ctr"/>
              <a:endParaRPr lang="th-TH" dirty="0"/>
            </a:p>
            <a:p>
              <a:pPr algn="ctr"/>
              <a:endParaRPr lang="th-TH" dirty="0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09D202-8B1E-4181-99BB-74143798D5F2}"/>
              </a:ext>
            </a:extLst>
          </p:cNvPr>
          <p:cNvSpPr/>
          <p:nvPr/>
        </p:nvSpPr>
        <p:spPr>
          <a:xfrm>
            <a:off x="885533" y="3551664"/>
            <a:ext cx="816268" cy="29154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</a:t>
            </a:r>
            <a:endParaRPr lang="th-TH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B84843-D655-4F45-89FB-6EC760C6C7FB}"/>
              </a:ext>
            </a:extLst>
          </p:cNvPr>
          <p:cNvSpPr txBox="1"/>
          <p:nvPr/>
        </p:nvSpPr>
        <p:spPr>
          <a:xfrm>
            <a:off x="2246635" y="4256529"/>
            <a:ext cx="91143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0000FF"/>
                </a:solidFill>
              </a:rPr>
              <a:t>5. ผลที่ได้</a:t>
            </a:r>
          </a:p>
        </p:txBody>
      </p:sp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99649D3E-80FF-43D8-8CB0-80E251B8B0B9}"/>
              </a:ext>
            </a:extLst>
          </p:cNvPr>
          <p:cNvSpPr/>
          <p:nvPr/>
        </p:nvSpPr>
        <p:spPr>
          <a:xfrm rot="10800000">
            <a:off x="1784007" y="4260579"/>
            <a:ext cx="325485" cy="295417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5813FF0-DFB7-46CC-B2E3-CDC9C3F5228D}"/>
              </a:ext>
            </a:extLst>
          </p:cNvPr>
          <p:cNvSpPr txBox="1">
            <a:spLocks/>
          </p:cNvSpPr>
          <p:nvPr/>
        </p:nvSpPr>
        <p:spPr>
          <a:xfrm>
            <a:off x="823220" y="1492546"/>
            <a:ext cx="3872271" cy="1147584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	1.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“Firm All “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2. จะได้    </a:t>
            </a:r>
            <a:r>
              <a:rPr lang="th-TH" sz="1400" b="1" dirty="0">
                <a:solidFill>
                  <a:srgbClr val="00B0F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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ในช่อง 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To Firm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</a:t>
            </a:r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9B99C4E-C51C-407A-AD3C-545D8B33A59B}"/>
              </a:ext>
            </a:extLst>
          </p:cNvPr>
          <p:cNvSpPr txBox="1">
            <a:spLocks/>
          </p:cNvSpPr>
          <p:nvPr/>
        </p:nvSpPr>
        <p:spPr>
          <a:xfrm>
            <a:off x="5725800" y="1492546"/>
            <a:ext cx="3872271" cy="1147584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	3.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“Process “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4.  </a:t>
            </a:r>
            <a:r>
              <a:rPr lang="th-TH" sz="1400" b="1" dirty="0">
                <a:solidFill>
                  <a:srgbClr val="00B0F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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จะย้ายจาก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ช่อง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To Firm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ไปอยู่ที่ช่อง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Firm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5. 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หมายเลข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จาก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SU-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Pxxx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เป็น  </a:t>
            </a:r>
            <a:r>
              <a:rPr lang="en-US" sz="1400" b="1" dirty="0" err="1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SUxxx</a:t>
            </a:r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2416958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917C6-6A2F-4D1E-9E48-224F07FF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87365"/>
            <a:ext cx="9404723" cy="677831"/>
          </a:xfrm>
        </p:spPr>
        <p:txBody>
          <a:bodyPr/>
          <a:lstStyle/>
          <a:p>
            <a:r>
              <a:rPr lang="en-US" sz="3600" dirty="0"/>
              <a:t>PLN-03 : </a:t>
            </a:r>
            <a:r>
              <a:rPr lang="th-TH" sz="3600" dirty="0"/>
              <a:t>การยืนยันแผนการผลิต สินค้า (</a:t>
            </a:r>
            <a:r>
              <a:rPr lang="en-US" sz="3600" dirty="0"/>
              <a:t>Firm Job)</a:t>
            </a:r>
            <a:br>
              <a:rPr lang="en-US" sz="3600" dirty="0"/>
            </a:br>
            <a:endParaRPr lang="th-TH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83A820-EB85-4A31-B14D-C7E6D1444802}"/>
              </a:ext>
            </a:extLst>
          </p:cNvPr>
          <p:cNvSpPr txBox="1">
            <a:spLocks/>
          </p:cNvSpPr>
          <p:nvPr/>
        </p:nvSpPr>
        <p:spPr>
          <a:xfrm>
            <a:off x="645129" y="1028447"/>
            <a:ext cx="9404723" cy="49659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h-TH" sz="2400" dirty="0"/>
              <a:t>การยืนยันแผนการผลิต สินค้า (</a:t>
            </a:r>
            <a:r>
              <a:rPr lang="en-US" sz="2400" dirty="0"/>
              <a:t>Firm Job)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th-TH" sz="2400" dirty="0"/>
              <a:t>การใช้คำสั่ง </a:t>
            </a:r>
            <a:r>
              <a:rPr lang="en-US" sz="2400" b="1" dirty="0">
                <a:solidFill>
                  <a:srgbClr val="00B050"/>
                </a:solidFill>
                <a:highlight>
                  <a:srgbClr val="FFFF00"/>
                </a:highlight>
              </a:rPr>
              <a:t>Time Phase Inquiry </a:t>
            </a:r>
            <a:r>
              <a:rPr lang="th-TH" sz="2400" dirty="0"/>
              <a:t>เพื่อใช้ ติดตาม ตรวจสอบ วัตถุดิบ บรรจุภัณฑ์ ให้พอกับการผลิต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algn="ctr"/>
            <a:r>
              <a:rPr lang="th-TH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เสร็จสมบูรณ์  </a:t>
            </a:r>
          </a:p>
          <a:p>
            <a:pPr algn="ctr"/>
            <a:r>
              <a:rPr lang="th-TH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เตรียมเข้าสู่ การวางแผนผลิตสินค้า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95813FF0-DFB7-46CC-B2E3-CDC9C3F5228D}"/>
              </a:ext>
            </a:extLst>
          </p:cNvPr>
          <p:cNvSpPr txBox="1">
            <a:spLocks/>
          </p:cNvSpPr>
          <p:nvPr/>
        </p:nvSpPr>
        <p:spPr>
          <a:xfrm>
            <a:off x="823220" y="1941279"/>
            <a:ext cx="3872271" cy="1147584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	1.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“Firm All “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2. จะได้    </a:t>
            </a:r>
            <a:r>
              <a:rPr lang="th-TH" sz="1400" b="1" dirty="0">
                <a:solidFill>
                  <a:srgbClr val="00B0F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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ในช่อง 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To Firm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</a:t>
            </a:r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th-TH" sz="1400" dirty="0"/>
          </a:p>
          <a:p>
            <a:br>
              <a:rPr lang="en-US" sz="1400" dirty="0"/>
            </a:br>
            <a:endParaRPr lang="th-TH" sz="1400" dirty="0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09B99C4E-C51C-407A-AD3C-545D8B33A59B}"/>
              </a:ext>
            </a:extLst>
          </p:cNvPr>
          <p:cNvSpPr txBox="1">
            <a:spLocks/>
          </p:cNvSpPr>
          <p:nvPr/>
        </p:nvSpPr>
        <p:spPr>
          <a:xfrm>
            <a:off x="5725800" y="1941279"/>
            <a:ext cx="3872271" cy="1147584"/>
          </a:xfrm>
          <a:prstGeom prst="rect">
            <a:avLst/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400" dirty="0">
                <a:highlight>
                  <a:srgbClr val="FFFF00"/>
                </a:highlight>
              </a:rPr>
              <a:t>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ใช้คำสั่ง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: Job Status Maintenance</a:t>
            </a:r>
            <a:endParaRPr lang="th-TH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ทำการ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Firm 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ที่เลือกมา ด้วยการ 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  	3. ไปกดที่ปุ่ม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“Process “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4.  </a:t>
            </a:r>
            <a:r>
              <a:rPr lang="th-TH" sz="1400" b="1" dirty="0">
                <a:solidFill>
                  <a:srgbClr val="00B0F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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จะย้ายจาก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ช่อง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To Firm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ไปอยู่ที่ช่อง </a:t>
            </a:r>
            <a:r>
              <a:rPr lang="en-US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Firm</a:t>
            </a:r>
          </a:p>
          <a:p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</a:rPr>
              <a:t>	5. 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หมายเลข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Job </a:t>
            </a:r>
            <a:r>
              <a:rPr lang="th-TH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จาก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SU-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Pxxx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 </a:t>
            </a:r>
            <a:r>
              <a:rPr lang="th-TH" sz="1400" b="1" dirty="0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เป็น  </a:t>
            </a:r>
            <a:r>
              <a:rPr lang="en-US" sz="1400" b="1" dirty="0" err="1">
                <a:solidFill>
                  <a:srgbClr val="00B050"/>
                </a:solidFill>
                <a:highlight>
                  <a:srgbClr val="FFFF00"/>
                </a:highlight>
                <a:sym typeface="Wingdings 2" panose="05020102010507070707" pitchFamily="18" charset="2"/>
              </a:rPr>
              <a:t>SUxxx</a:t>
            </a:r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  <a:sym typeface="Wingdings 2" panose="05020102010507070707" pitchFamily="18" charset="2"/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B050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br>
              <a:rPr lang="en-US" sz="1400" dirty="0"/>
            </a:br>
            <a:endParaRPr lang="th-TH" sz="1400" dirty="0"/>
          </a:p>
        </p:txBody>
      </p:sp>
    </p:spTree>
    <p:extLst>
      <p:ext uri="{BB962C8B-B14F-4D97-AF65-F5344CB8AC3E}">
        <p14:creationId xmlns:p14="http://schemas.microsoft.com/office/powerpoint/2010/main" val="1259536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98E0-ED07-4586-BBDD-135FB990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7149"/>
          </a:xfrm>
        </p:spPr>
        <p:txBody>
          <a:bodyPr/>
          <a:lstStyle/>
          <a:p>
            <a:r>
              <a:rPr lang="th-TH" sz="3600" dirty="0"/>
              <a:t>การวางแผนการผลิต สินค้า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3EB7-4A4D-41F5-A2E5-256FE215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43318"/>
            <a:ext cx="8946541" cy="4195481"/>
          </a:xfrm>
        </p:spPr>
        <p:txBody>
          <a:bodyPr>
            <a:normAutofit/>
          </a:bodyPr>
          <a:lstStyle/>
          <a:p>
            <a:r>
              <a:rPr lang="th-TH" sz="2400" dirty="0"/>
              <a:t>กิจกรรมที่ 1  การติดตามดู </a:t>
            </a:r>
            <a:r>
              <a:rPr lang="en-US" sz="2400" dirty="0"/>
              <a:t>Job </a:t>
            </a:r>
            <a:r>
              <a:rPr lang="th-TH" sz="2400" dirty="0"/>
              <a:t>ทั้งหมดด้วย </a:t>
            </a:r>
            <a:r>
              <a:rPr lang="en-US" sz="2400" dirty="0"/>
              <a:t>: Job status Maintenance</a:t>
            </a:r>
          </a:p>
          <a:p>
            <a:r>
              <a:rPr lang="th-TH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กิจกรรมที่  2  การจัด</a:t>
            </a:r>
            <a:r>
              <a:rPr lang="en-US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 Job </a:t>
            </a:r>
            <a:r>
              <a:rPr lang="th-TH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เพื่อเตรียม ทำเป็นแผนประจำเดือน / ประจำสัปดาห์ / ประจำวัน</a:t>
            </a:r>
          </a:p>
          <a:p>
            <a:r>
              <a:rPr lang="th-TH" sz="2400" dirty="0"/>
              <a:t>กิจกรรมที่  3  การปรับแผน โยกไลน์  หม้อต้ม / บรรจุ / ติดฉลาก </a:t>
            </a:r>
            <a:r>
              <a:rPr lang="en-US" sz="2400" dirty="0"/>
              <a:t>Process Scheduling</a:t>
            </a:r>
            <a:endParaRPr lang="th-TH" sz="2400" dirty="0"/>
          </a:p>
          <a:p>
            <a:r>
              <a:rPr lang="th-TH" sz="2400" dirty="0"/>
              <a:t>กิจกรรมที่  4  การปล่อยแผน </a:t>
            </a:r>
            <a:r>
              <a:rPr lang="en-US" sz="2400" dirty="0"/>
              <a:t>Job </a:t>
            </a:r>
            <a:r>
              <a:rPr lang="en-US" sz="2400" dirty="0" err="1"/>
              <a:t>Releas</a:t>
            </a:r>
            <a:endParaRPr lang="en-US" sz="2400" dirty="0"/>
          </a:p>
          <a:p>
            <a:r>
              <a:rPr lang="th-TH" sz="2400" dirty="0"/>
              <a:t>กิจกรรมที่  5  การติดตามแผน ปิด </a:t>
            </a:r>
            <a:r>
              <a:rPr lang="en-US" sz="2400" dirty="0"/>
              <a:t>Job / </a:t>
            </a:r>
            <a:r>
              <a:rPr lang="th-TH" sz="2400" dirty="0"/>
              <a:t>เปิด</a:t>
            </a:r>
            <a:r>
              <a:rPr lang="en-US" sz="2400" dirty="0"/>
              <a:t>Job </a:t>
            </a:r>
            <a:r>
              <a:rPr lang="th-TH" sz="2400" dirty="0"/>
              <a:t>เพิ่ม(ผลิตไม่ครบ / เกิน)</a:t>
            </a:r>
          </a:p>
          <a:p>
            <a:pPr marL="0" indent="0">
              <a:buNone/>
            </a:pPr>
            <a:r>
              <a:rPr lang="th-TH" sz="2400" dirty="0"/>
              <a:t>			  การเปิด </a:t>
            </a:r>
            <a:r>
              <a:rPr lang="en-US" sz="2400" dirty="0"/>
              <a:t>Job </a:t>
            </a:r>
            <a:r>
              <a:rPr lang="th-TH" sz="2400" dirty="0"/>
              <a:t>ใส่ฝา/ฟลอยด์</a:t>
            </a:r>
            <a:endParaRPr lang="en-US" sz="2400" dirty="0"/>
          </a:p>
          <a:p>
            <a:pPr marL="0" indent="0">
              <a:buNone/>
            </a:pP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204634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313D-C917-4783-AC28-E367A5F8A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7" y="351114"/>
            <a:ext cx="9404723" cy="749549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2800" b="1" dirty="0">
                <a:solidFill>
                  <a:srgbClr val="0000FF"/>
                </a:solidFill>
              </a:rPr>
              <a:t>กิจกรรมที่  2  การจัด</a:t>
            </a:r>
            <a:r>
              <a:rPr lang="en-US" sz="2800" b="1" dirty="0">
                <a:solidFill>
                  <a:srgbClr val="0000FF"/>
                </a:solidFill>
              </a:rPr>
              <a:t> Job </a:t>
            </a:r>
            <a:r>
              <a:rPr lang="th-TH" sz="2800" b="1" dirty="0">
                <a:solidFill>
                  <a:srgbClr val="0000FF"/>
                </a:solidFill>
              </a:rPr>
              <a:t>เพื่อเตรียม ทำเป็นแผนประจำเดือน / ประจำสัปดาห์ / ประจำวัน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1. เริ่มจัดลำดับวันที่ต้องเริ่มผลิต 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1.1  กดในช่อง </a:t>
            </a:r>
            <a:r>
              <a:rPr lang="en-US" sz="2600" dirty="0"/>
              <a:t>Start Date </a:t>
            </a:r>
            <a:r>
              <a:rPr lang="th-TH" sz="2600" dirty="0"/>
              <a:t>เพื่อให้ระบบ จัดเรียงวันที่ต้องการ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E0CD0-6064-4B9F-9ED5-7B2A4CD8FE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319"/>
          <a:stretch/>
        </p:blipFill>
        <p:spPr>
          <a:xfrm>
            <a:off x="1103312" y="2480733"/>
            <a:ext cx="10343621" cy="3924549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C2DF75-373B-4B4B-8A82-CA21170E6948}"/>
              </a:ext>
            </a:extLst>
          </p:cNvPr>
          <p:cNvSpPr/>
          <p:nvPr/>
        </p:nvSpPr>
        <p:spPr>
          <a:xfrm>
            <a:off x="7427600" y="3716866"/>
            <a:ext cx="556467" cy="26884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67701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1. เริ่มจัดลำดับวันที่ต้องเริ่มผลิต 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1.2  ตรวจสอบสถานะ  </a:t>
            </a:r>
            <a:r>
              <a:rPr lang="en-US" sz="2600" dirty="0"/>
              <a:t>Job </a:t>
            </a:r>
            <a:r>
              <a:rPr lang="th-TH" sz="2600" dirty="0"/>
              <a:t>ต้องถูก </a:t>
            </a:r>
            <a:r>
              <a:rPr lang="en-US" sz="2600" dirty="0"/>
              <a:t>Firm </a:t>
            </a:r>
            <a:r>
              <a:rPr lang="th-TH" sz="2600" dirty="0"/>
              <a:t>เรียบร้อยก่อน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E0CD0-6064-4B9F-9ED5-7B2A4CD8FE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319"/>
          <a:stretch/>
        </p:blipFill>
        <p:spPr>
          <a:xfrm>
            <a:off x="1103312" y="2480733"/>
            <a:ext cx="10343621" cy="3924549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C2DF75-373B-4B4B-8A82-CA21170E6948}"/>
              </a:ext>
            </a:extLst>
          </p:cNvPr>
          <p:cNvSpPr/>
          <p:nvPr/>
        </p:nvSpPr>
        <p:spPr>
          <a:xfrm>
            <a:off x="4896067" y="3649133"/>
            <a:ext cx="649600" cy="26884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3C1F0FE-E366-44CD-A975-BDE48CF0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645" y="351114"/>
            <a:ext cx="9404723" cy="749549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2800" b="1" dirty="0">
                <a:solidFill>
                  <a:srgbClr val="0000FF"/>
                </a:solidFill>
              </a:rPr>
              <a:t>กิจกรรมที่  2  การจัด</a:t>
            </a:r>
            <a:r>
              <a:rPr lang="en-US" sz="2800" b="1" dirty="0">
                <a:solidFill>
                  <a:srgbClr val="0000FF"/>
                </a:solidFill>
              </a:rPr>
              <a:t> Job </a:t>
            </a:r>
            <a:r>
              <a:rPr lang="th-TH" sz="2800" b="1" dirty="0">
                <a:solidFill>
                  <a:srgbClr val="0000FF"/>
                </a:solidFill>
              </a:rPr>
              <a:t>เพื่อเตรียม ทำเป็นแผนประจำเดือน / ประจำสัปดาห์ / 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3679401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1. เริ่มจัดลำดับวันที่ต้องเริ่มผลิต 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1.3  ตรวจสอบสถานะ  </a:t>
            </a:r>
            <a:r>
              <a:rPr lang="en-US" sz="2600" dirty="0"/>
              <a:t>Job </a:t>
            </a:r>
            <a:r>
              <a:rPr lang="th-TH" sz="2600" dirty="0"/>
              <a:t>ต้องถูก </a:t>
            </a:r>
            <a:r>
              <a:rPr lang="en-US" sz="2600" dirty="0"/>
              <a:t>Firm </a:t>
            </a:r>
            <a:r>
              <a:rPr lang="th-TH" sz="2600" dirty="0"/>
              <a:t>เรียบร้อย ก็ไป  </a:t>
            </a:r>
            <a:r>
              <a:rPr lang="th-TH" sz="3200" b="1" dirty="0">
                <a:solidFill>
                  <a:srgbClr val="0000FF"/>
                </a:solidFill>
                <a:highlight>
                  <a:srgbClr val="FFFF00"/>
                </a:highlight>
              </a:rPr>
              <a:t>กิจกรรมที่ 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907E05-31AE-4721-BAD1-03EE8045C5D3}"/>
              </a:ext>
            </a:extLst>
          </p:cNvPr>
          <p:cNvGrpSpPr/>
          <p:nvPr/>
        </p:nvGrpSpPr>
        <p:grpSpPr>
          <a:xfrm>
            <a:off x="1034256" y="2421469"/>
            <a:ext cx="10123487" cy="3826934"/>
            <a:chOff x="1103312" y="2446870"/>
            <a:chExt cx="10123487" cy="3826934"/>
          </a:xfrm>
        </p:grpSpPr>
        <p:pic>
          <p:nvPicPr>
            <p:cNvPr id="6" name="Content Placeholder 3">
              <a:extLst>
                <a:ext uri="{FF2B5EF4-FFF2-40B4-BE49-F238E27FC236}">
                  <a16:creationId xmlns:a16="http://schemas.microsoft.com/office/drawing/2014/main" id="{BC7972F8-B5F3-4F5D-89C5-2A8641B6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3312" y="2446870"/>
              <a:ext cx="10123487" cy="3826934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DC6DCDB-3C60-44B9-8790-C41D3AD941A1}"/>
                </a:ext>
              </a:extLst>
            </p:cNvPr>
            <p:cNvSpPr/>
            <p:nvPr/>
          </p:nvSpPr>
          <p:spPr>
            <a:xfrm>
              <a:off x="4447008" y="3192637"/>
              <a:ext cx="389467" cy="2915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2F00A05-A09C-40DA-83FE-AF1C01AF25F9}"/>
                </a:ext>
              </a:extLst>
            </p:cNvPr>
            <p:cNvSpPr/>
            <p:nvPr/>
          </p:nvSpPr>
          <p:spPr>
            <a:xfrm>
              <a:off x="1178994" y="3178630"/>
              <a:ext cx="816268" cy="2915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351114"/>
            <a:ext cx="9404723" cy="749549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2800" b="1" dirty="0">
                <a:solidFill>
                  <a:srgbClr val="0000FF"/>
                </a:solidFill>
              </a:rPr>
              <a:t>กิจกรรมที่  2  การจัด</a:t>
            </a:r>
            <a:r>
              <a:rPr lang="en-US" sz="2800" b="1" dirty="0">
                <a:solidFill>
                  <a:srgbClr val="0000FF"/>
                </a:solidFill>
              </a:rPr>
              <a:t> Job </a:t>
            </a:r>
            <a:r>
              <a:rPr lang="th-TH" sz="2800" b="1" dirty="0">
                <a:solidFill>
                  <a:srgbClr val="0000FF"/>
                </a:solidFill>
              </a:rPr>
              <a:t>เพื่อเตรียม ทำเป็นแผนประจำเดือน / ประจำสัปดาห์ / 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2614577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98E0-ED07-4586-BBDD-135FB990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7149"/>
          </a:xfrm>
        </p:spPr>
        <p:txBody>
          <a:bodyPr/>
          <a:lstStyle/>
          <a:p>
            <a:r>
              <a:rPr lang="th-TH" sz="3600" dirty="0"/>
              <a:t>การวางแผนการผลิต สินค้า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3EB7-4A4D-41F5-A2E5-256FE215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43318"/>
            <a:ext cx="8946541" cy="4195481"/>
          </a:xfrm>
        </p:spPr>
        <p:txBody>
          <a:bodyPr>
            <a:normAutofit/>
          </a:bodyPr>
          <a:lstStyle/>
          <a:p>
            <a:r>
              <a:rPr lang="th-TH" sz="2400" dirty="0"/>
              <a:t>กิจกรรมที่ 1  การติดตามดู </a:t>
            </a:r>
            <a:r>
              <a:rPr lang="en-US" sz="2400" dirty="0"/>
              <a:t>Job </a:t>
            </a:r>
            <a:r>
              <a:rPr lang="th-TH" sz="2400" dirty="0"/>
              <a:t>ทั้งหมดด้วย </a:t>
            </a:r>
            <a:r>
              <a:rPr lang="en-US" sz="2400" dirty="0"/>
              <a:t>: Job status Maintenance</a:t>
            </a:r>
          </a:p>
          <a:p>
            <a:r>
              <a:rPr lang="th-TH" sz="2400" dirty="0"/>
              <a:t>กิจกรรมที่  2  การจัด</a:t>
            </a:r>
            <a:r>
              <a:rPr lang="en-US" sz="2400" dirty="0"/>
              <a:t> Job </a:t>
            </a:r>
            <a:r>
              <a:rPr lang="th-TH" sz="2400" dirty="0"/>
              <a:t>เพื่อเตรียม ทำเป็นแผนประจำเดือน / ประจำสัปดาห์ / ประจำวัน</a:t>
            </a:r>
          </a:p>
          <a:p>
            <a:r>
              <a:rPr lang="th-TH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กิจกรรมที่  3  การปรับแผน โยกไลน์  หม้อต้ม / บรรจุ / ติดฉลาก </a:t>
            </a:r>
            <a:r>
              <a:rPr lang="en-US" sz="2400" b="1" dirty="0">
                <a:solidFill>
                  <a:srgbClr val="0000FF"/>
                </a:solidFill>
                <a:highlight>
                  <a:srgbClr val="FFFF00"/>
                </a:highlight>
              </a:rPr>
              <a:t>Process Scheduling</a:t>
            </a:r>
            <a:endParaRPr lang="th-TH" sz="24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2400" dirty="0"/>
              <a:t>กิจกรรมที่  4  การปล่อยแผน </a:t>
            </a:r>
            <a:r>
              <a:rPr lang="en-US" sz="2400" dirty="0"/>
              <a:t>Job </a:t>
            </a:r>
            <a:r>
              <a:rPr lang="en-US" sz="2400" dirty="0" err="1"/>
              <a:t>Releas</a:t>
            </a:r>
            <a:endParaRPr lang="en-US" sz="2400" dirty="0"/>
          </a:p>
          <a:p>
            <a:r>
              <a:rPr lang="th-TH" sz="2400" dirty="0"/>
              <a:t>กิจกรรมที่  5  การติดตามแผน ปิด </a:t>
            </a:r>
            <a:r>
              <a:rPr lang="en-US" sz="2400" dirty="0"/>
              <a:t>Job / </a:t>
            </a:r>
            <a:r>
              <a:rPr lang="th-TH" sz="2400" dirty="0"/>
              <a:t>เปิด</a:t>
            </a:r>
            <a:r>
              <a:rPr lang="en-US" sz="2400" dirty="0"/>
              <a:t>Job </a:t>
            </a:r>
            <a:r>
              <a:rPr lang="th-TH" sz="2400" dirty="0"/>
              <a:t>เพิ่ม(ผลิตไม่ครบ / เกิน)</a:t>
            </a:r>
          </a:p>
          <a:p>
            <a:pPr marL="0" indent="0">
              <a:buNone/>
            </a:pPr>
            <a:r>
              <a:rPr lang="th-TH" sz="2400" dirty="0"/>
              <a:t>			  การเปิด </a:t>
            </a:r>
            <a:r>
              <a:rPr lang="en-US" sz="2400" dirty="0"/>
              <a:t>Job </a:t>
            </a:r>
            <a:r>
              <a:rPr lang="th-TH" sz="2400" dirty="0"/>
              <a:t>ใส่ฝา/ฟลอยด์</a:t>
            </a:r>
            <a:endParaRPr lang="en-US" sz="2400" dirty="0"/>
          </a:p>
          <a:p>
            <a:pPr marL="0" indent="0">
              <a:buNone/>
            </a:pP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3080832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162" y="1286935"/>
            <a:ext cx="8946541" cy="931330"/>
          </a:xfrm>
        </p:spPr>
        <p:txBody>
          <a:bodyPr>
            <a:normAutofit fontScale="92500" lnSpcReduction="20000"/>
          </a:bodyPr>
          <a:lstStyle/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3.1  ใน </a:t>
            </a:r>
            <a:r>
              <a:rPr lang="en-US" sz="1900" b="1" dirty="0">
                <a:solidFill>
                  <a:srgbClr val="0000FF"/>
                </a:solidFill>
                <a:highlight>
                  <a:srgbClr val="FFFF00"/>
                </a:highlight>
              </a:rPr>
              <a:t>Multi Resource Scheduling Board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89DE55-94AC-4B10-B49D-2615BDC7DAC2}"/>
              </a:ext>
            </a:extLst>
          </p:cNvPr>
          <p:cNvGrpSpPr/>
          <p:nvPr/>
        </p:nvGrpSpPr>
        <p:grpSpPr>
          <a:xfrm>
            <a:off x="1957123" y="2294472"/>
            <a:ext cx="8277754" cy="4394194"/>
            <a:chOff x="1957123" y="2108206"/>
            <a:chExt cx="8277754" cy="439419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096EC8E-DA6A-4E4B-9A9F-3F8982190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7123" y="2108206"/>
              <a:ext cx="8277754" cy="4394194"/>
            </a:xfrm>
            <a:prstGeom prst="rect">
              <a:avLst/>
            </a:prstGeom>
            <a:ln w="19050">
              <a:solidFill>
                <a:srgbClr val="FF0000"/>
              </a:solidFill>
            </a:ln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EB8DDF5-5A85-4842-894B-A5B71F57EE6D}"/>
                </a:ext>
              </a:extLst>
            </p:cNvPr>
            <p:cNvSpPr/>
            <p:nvPr/>
          </p:nvSpPr>
          <p:spPr>
            <a:xfrm rot="5400000">
              <a:off x="3336419" y="2870752"/>
              <a:ext cx="745067" cy="260662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1855924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44213-FF51-4110-8C0C-59F3F324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206" y="2302936"/>
            <a:ext cx="8659433" cy="422486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3.2  เลือกคำสั่งใน  </a:t>
            </a:r>
            <a:r>
              <a:rPr lang="en-US" sz="1900" b="1" dirty="0">
                <a:solidFill>
                  <a:srgbClr val="0000FF"/>
                </a:solidFill>
                <a:highlight>
                  <a:srgbClr val="FFFF00"/>
                </a:highlight>
              </a:rPr>
              <a:t>Multi Resource Scheduling Board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7DBC4A-1DFC-4D56-84DF-9A15F6A95928}"/>
              </a:ext>
            </a:extLst>
          </p:cNvPr>
          <p:cNvSpPr/>
          <p:nvPr/>
        </p:nvSpPr>
        <p:spPr>
          <a:xfrm rot="16200000">
            <a:off x="6287052" y="1046185"/>
            <a:ext cx="414867" cy="5993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5958B49-3A90-4D61-B2C1-2A9A33B47F8D}"/>
              </a:ext>
            </a:extLst>
          </p:cNvPr>
          <p:cNvSpPr/>
          <p:nvPr/>
        </p:nvSpPr>
        <p:spPr>
          <a:xfrm rot="5400000">
            <a:off x="7181613" y="3377133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7333A5-30B0-470A-97C6-7F497EC79C43}"/>
              </a:ext>
            </a:extLst>
          </p:cNvPr>
          <p:cNvSpPr/>
          <p:nvPr/>
        </p:nvSpPr>
        <p:spPr>
          <a:xfrm rot="5400000">
            <a:off x="2067746" y="2572799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10E94EE-F976-48F0-B60B-6245DE346C55}"/>
              </a:ext>
            </a:extLst>
          </p:cNvPr>
          <p:cNvSpPr/>
          <p:nvPr/>
        </p:nvSpPr>
        <p:spPr>
          <a:xfrm rot="5400000">
            <a:off x="5462877" y="2586465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1922A-7170-44A0-B078-A3AA66143786}"/>
              </a:ext>
            </a:extLst>
          </p:cNvPr>
          <p:cNvSpPr txBox="1"/>
          <p:nvPr/>
        </p:nvSpPr>
        <p:spPr>
          <a:xfrm>
            <a:off x="3149600" y="4670331"/>
            <a:ext cx="5892800" cy="92333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เลือก วันเริ่ม – สิ้นสุด ที่จะต้องจัดทำเป็น แผนผลิต ประจำเดือน / สัปดาห์ / วัน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Refresh </a:t>
            </a:r>
            <a:r>
              <a:rPr lang="th-TH" dirty="0">
                <a:solidFill>
                  <a:srgbClr val="0000FF"/>
                </a:solidFill>
              </a:rPr>
              <a:t>เพื่อให้ระบบ ตั้งคืนค่า เริ่มต้นทุกครั้ง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Search </a:t>
            </a:r>
            <a:r>
              <a:rPr lang="th-TH" dirty="0">
                <a:solidFill>
                  <a:srgbClr val="0000FF"/>
                </a:solidFill>
              </a:rPr>
              <a:t>เพื่อค้นหา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  <a:endParaRPr lang="th-TH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344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44213-FF51-4110-8C0C-59F3F324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206" y="2302936"/>
            <a:ext cx="8659433" cy="422486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3.2  เลือกคำสั่งใน  </a:t>
            </a:r>
            <a:r>
              <a:rPr lang="en-US" sz="1900" b="1" dirty="0">
                <a:solidFill>
                  <a:srgbClr val="0000FF"/>
                </a:solidFill>
                <a:highlight>
                  <a:srgbClr val="FFFF00"/>
                </a:highlight>
              </a:rPr>
              <a:t>Multi Resource Scheduling Board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7DBC4A-1DFC-4D56-84DF-9A15F6A95928}"/>
              </a:ext>
            </a:extLst>
          </p:cNvPr>
          <p:cNvSpPr/>
          <p:nvPr/>
        </p:nvSpPr>
        <p:spPr>
          <a:xfrm rot="16200000">
            <a:off x="6287052" y="1046185"/>
            <a:ext cx="414867" cy="59932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5958B49-3A90-4D61-B2C1-2A9A33B47F8D}"/>
              </a:ext>
            </a:extLst>
          </p:cNvPr>
          <p:cNvSpPr/>
          <p:nvPr/>
        </p:nvSpPr>
        <p:spPr>
          <a:xfrm rot="5400000">
            <a:off x="7181613" y="3377133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7333A5-30B0-470A-97C6-7F497EC79C43}"/>
              </a:ext>
            </a:extLst>
          </p:cNvPr>
          <p:cNvSpPr/>
          <p:nvPr/>
        </p:nvSpPr>
        <p:spPr>
          <a:xfrm rot="5400000">
            <a:off x="2067746" y="2572799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10E94EE-F976-48F0-B60B-6245DE346C55}"/>
              </a:ext>
            </a:extLst>
          </p:cNvPr>
          <p:cNvSpPr/>
          <p:nvPr/>
        </p:nvSpPr>
        <p:spPr>
          <a:xfrm rot="5400000">
            <a:off x="5462877" y="2586465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11922A-7170-44A0-B078-A3AA66143786}"/>
              </a:ext>
            </a:extLst>
          </p:cNvPr>
          <p:cNvSpPr txBox="1"/>
          <p:nvPr/>
        </p:nvSpPr>
        <p:spPr>
          <a:xfrm>
            <a:off x="3149600" y="4670331"/>
            <a:ext cx="5892800" cy="147732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เลือก วันเริ่ม – สิ้นสุด ที่จะต้องจัดทำเป็น แผนผลิต ประจำเดือน / สัปดาห์ / วัน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Refresh </a:t>
            </a:r>
            <a:r>
              <a:rPr lang="th-TH" dirty="0">
                <a:solidFill>
                  <a:srgbClr val="0000FF"/>
                </a:solidFill>
              </a:rPr>
              <a:t>เพื่อให้ระบบ ตั้งคืนค่า เริ่มต้นทุกครั้ง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Search </a:t>
            </a:r>
            <a:r>
              <a:rPr lang="th-TH" dirty="0">
                <a:solidFill>
                  <a:srgbClr val="0000FF"/>
                </a:solidFill>
              </a:rPr>
              <a:t>ของ </a:t>
            </a:r>
            <a:r>
              <a:rPr lang="en-US" dirty="0">
                <a:solidFill>
                  <a:srgbClr val="0000FF"/>
                </a:solidFill>
              </a:rPr>
              <a:t>Multi Re..</a:t>
            </a:r>
            <a:r>
              <a:rPr lang="th-TH" dirty="0">
                <a:solidFill>
                  <a:srgbClr val="0000FF"/>
                </a:solidFill>
              </a:rPr>
              <a:t>เพื่อค้นหา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</a:p>
          <a:p>
            <a:pPr marL="342900" indent="-342900">
              <a:buFontTx/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Search </a:t>
            </a:r>
            <a:r>
              <a:rPr lang="th-TH" dirty="0">
                <a:solidFill>
                  <a:srgbClr val="0000FF"/>
                </a:solidFill>
              </a:rPr>
              <a:t>ของ </a:t>
            </a:r>
            <a:r>
              <a:rPr lang="en-US" dirty="0">
                <a:solidFill>
                  <a:srgbClr val="0000FF"/>
                </a:solidFill>
              </a:rPr>
              <a:t>Resource..</a:t>
            </a:r>
            <a:r>
              <a:rPr lang="th-TH" dirty="0">
                <a:solidFill>
                  <a:srgbClr val="0000FF"/>
                </a:solidFill>
              </a:rPr>
              <a:t>เพื่อเรียกดู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</a:p>
          <a:p>
            <a:pPr marL="342900" indent="-342900">
              <a:buAutoNum type="arabicPeriod"/>
            </a:pPr>
            <a:endParaRPr lang="th-TH" dirty="0">
              <a:solidFill>
                <a:srgbClr val="0000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385054-EB88-4748-B7D9-08A321F31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18" y="2294467"/>
            <a:ext cx="4557579" cy="2719577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DEEF0C28-CBFC-43E3-969F-FCA461FB5F52}"/>
              </a:ext>
            </a:extLst>
          </p:cNvPr>
          <p:cNvSpPr/>
          <p:nvPr/>
        </p:nvSpPr>
        <p:spPr>
          <a:xfrm rot="5400000">
            <a:off x="10349026" y="3179133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9710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2B910-17DA-4020-A40B-4CEFB4B36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720" b="49088"/>
          <a:stretch/>
        </p:blipFill>
        <p:spPr>
          <a:xfrm>
            <a:off x="1954606" y="2218266"/>
            <a:ext cx="3955127" cy="2362202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9055BB-45F8-4428-BBE1-200552BB20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570" b="1169"/>
          <a:stretch/>
        </p:blipFill>
        <p:spPr>
          <a:xfrm>
            <a:off x="5636341" y="2218265"/>
            <a:ext cx="5708920" cy="4351868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2CD142-8329-4272-AB47-2215A12AC637}"/>
              </a:ext>
            </a:extLst>
          </p:cNvPr>
          <p:cNvSpPr/>
          <p:nvPr/>
        </p:nvSpPr>
        <p:spPr>
          <a:xfrm rot="16200000">
            <a:off x="6661701" y="2021967"/>
            <a:ext cx="2967569" cy="48926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717094-49B0-4CD2-9372-21ED0C6847BE}"/>
              </a:ext>
            </a:extLst>
          </p:cNvPr>
          <p:cNvSpPr/>
          <p:nvPr/>
        </p:nvSpPr>
        <p:spPr>
          <a:xfrm rot="16200000">
            <a:off x="6020354" y="5757883"/>
            <a:ext cx="321733" cy="9640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E5EC6C4-72B4-45BE-8400-77C81D41F8FB}"/>
              </a:ext>
            </a:extLst>
          </p:cNvPr>
          <p:cNvSpPr/>
          <p:nvPr/>
        </p:nvSpPr>
        <p:spPr>
          <a:xfrm rot="5400000">
            <a:off x="7731485" y="2570495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4DB80B2-7F6B-4B3E-90D6-FFAC38B25313}"/>
              </a:ext>
            </a:extLst>
          </p:cNvPr>
          <p:cNvSpPr/>
          <p:nvPr/>
        </p:nvSpPr>
        <p:spPr>
          <a:xfrm rot="5400000">
            <a:off x="5957248" y="5622733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616E7-CC33-432E-8F23-BBF0DF87761D}"/>
              </a:ext>
            </a:extLst>
          </p:cNvPr>
          <p:cNvSpPr txBox="1"/>
          <p:nvPr/>
        </p:nvSpPr>
        <p:spPr>
          <a:xfrm>
            <a:off x="1954606" y="4804602"/>
            <a:ext cx="3600721" cy="646331"/>
          </a:xfrm>
          <a:prstGeom prst="rect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กดเลือกคลุมไลน์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ที่ต้องการ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  <a:endParaRPr lang="th-TH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951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07BFF62-B853-4042-9444-3C76520B9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87" y="2228671"/>
            <a:ext cx="8468907" cy="4292603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717094-49B0-4CD2-9372-21ED0C6847BE}"/>
              </a:ext>
            </a:extLst>
          </p:cNvPr>
          <p:cNvSpPr/>
          <p:nvPr/>
        </p:nvSpPr>
        <p:spPr>
          <a:xfrm rot="16200000">
            <a:off x="2379334" y="2764915"/>
            <a:ext cx="321733" cy="9640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E5EC6C4-72B4-45BE-8400-77C81D41F8FB}"/>
              </a:ext>
            </a:extLst>
          </p:cNvPr>
          <p:cNvSpPr/>
          <p:nvPr/>
        </p:nvSpPr>
        <p:spPr>
          <a:xfrm rot="5400000">
            <a:off x="2339206" y="2602427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616E7-CC33-432E-8F23-BBF0DF87761D}"/>
              </a:ext>
            </a:extLst>
          </p:cNvPr>
          <p:cNvSpPr txBox="1"/>
          <p:nvPr/>
        </p:nvSpPr>
        <p:spPr>
          <a:xfrm>
            <a:off x="6193873" y="5259738"/>
            <a:ext cx="3600721" cy="120032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กดเลือกคลุมไลน์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ที่ต้องการ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ได้ไลน์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ที่ต้องจัดแผน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กดไปเลือด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  <a:endParaRPr lang="th-TH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319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5EFB8-DF55-4880-84BE-4461F58B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1" y="2287936"/>
            <a:ext cx="9088118" cy="4222931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717094-49B0-4CD2-9372-21ED0C6847BE}"/>
              </a:ext>
            </a:extLst>
          </p:cNvPr>
          <p:cNvSpPr/>
          <p:nvPr/>
        </p:nvSpPr>
        <p:spPr>
          <a:xfrm rot="16200000">
            <a:off x="2531734" y="2762621"/>
            <a:ext cx="321733" cy="9640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616E7-CC33-432E-8F23-BBF0DF87761D}"/>
              </a:ext>
            </a:extLst>
          </p:cNvPr>
          <p:cNvSpPr txBox="1"/>
          <p:nvPr/>
        </p:nvSpPr>
        <p:spPr>
          <a:xfrm>
            <a:off x="6997058" y="2313337"/>
            <a:ext cx="3600721" cy="1200329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กดเลือกคลุมไลน์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ที่ต้องการ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ได้ไลน์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ที่ต้องจัดแผน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  <a:endParaRPr lang="th-TH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516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975053-1216-4324-A6DD-5D6ABFA9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62" y="2293499"/>
            <a:ext cx="9761613" cy="4278751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616E7-CC33-432E-8F23-BBF0DF87761D}"/>
              </a:ext>
            </a:extLst>
          </p:cNvPr>
          <p:cNvSpPr txBox="1"/>
          <p:nvPr/>
        </p:nvSpPr>
        <p:spPr>
          <a:xfrm>
            <a:off x="7534004" y="2312549"/>
            <a:ext cx="3600721" cy="646331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กดปรับเลื่อน วัน / เวลา โดยโยกเลือน</a:t>
            </a:r>
          </a:p>
        </p:txBody>
      </p:sp>
    </p:spTree>
    <p:extLst>
      <p:ext uri="{BB962C8B-B14F-4D97-AF65-F5344CB8AC3E}">
        <p14:creationId xmlns:p14="http://schemas.microsoft.com/office/powerpoint/2010/main" val="2197868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904482B-232B-442F-B459-1D4223EF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67" y="2201331"/>
            <a:ext cx="9644660" cy="4315885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717094-49B0-4CD2-9372-21ED0C6847BE}"/>
              </a:ext>
            </a:extLst>
          </p:cNvPr>
          <p:cNvSpPr/>
          <p:nvPr/>
        </p:nvSpPr>
        <p:spPr>
          <a:xfrm rot="16200000">
            <a:off x="1967992" y="5816092"/>
            <a:ext cx="321733" cy="111438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616E7-CC33-432E-8F23-BBF0DF87761D}"/>
              </a:ext>
            </a:extLst>
          </p:cNvPr>
          <p:cNvSpPr txBox="1"/>
          <p:nvPr/>
        </p:nvSpPr>
        <p:spPr>
          <a:xfrm>
            <a:off x="7405373" y="2297575"/>
            <a:ext cx="3600721" cy="147732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กดปรับเลื่อน วัน / เวลา โดยโยกเลือน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ปรับแก้ / ตรวจสอบที่เรา จัดงาน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ตรวจสอบ ปรับเลือก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  <a:endParaRPr lang="th-TH" dirty="0">
              <a:solidFill>
                <a:srgbClr val="0000FF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838A7-DC56-4CBB-A859-13319B7A57A8}"/>
              </a:ext>
            </a:extLst>
          </p:cNvPr>
          <p:cNvSpPr/>
          <p:nvPr/>
        </p:nvSpPr>
        <p:spPr>
          <a:xfrm rot="16200000">
            <a:off x="8140192" y="3300429"/>
            <a:ext cx="617011" cy="392425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26D65A-D28A-4699-9089-73397E046B65}"/>
              </a:ext>
            </a:extLst>
          </p:cNvPr>
          <p:cNvSpPr/>
          <p:nvPr/>
        </p:nvSpPr>
        <p:spPr>
          <a:xfrm rot="16200000">
            <a:off x="3325296" y="3286130"/>
            <a:ext cx="931329" cy="42671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23CE2C8-91D4-4CF3-95A2-0E4E59808E68}"/>
              </a:ext>
            </a:extLst>
          </p:cNvPr>
          <p:cNvSpPr/>
          <p:nvPr/>
        </p:nvSpPr>
        <p:spPr>
          <a:xfrm rot="5400000">
            <a:off x="8466697" y="4428934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3C321BE-58CC-44FC-BFD0-27DF494D7EC6}"/>
              </a:ext>
            </a:extLst>
          </p:cNvPr>
          <p:cNvSpPr/>
          <p:nvPr/>
        </p:nvSpPr>
        <p:spPr>
          <a:xfrm rot="5400000">
            <a:off x="3592960" y="4423736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966A4A-104F-44CE-85AF-30CA3830F5E3}"/>
              </a:ext>
            </a:extLst>
          </p:cNvPr>
          <p:cNvSpPr/>
          <p:nvPr/>
        </p:nvSpPr>
        <p:spPr>
          <a:xfrm rot="5400000">
            <a:off x="1930858" y="5781482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85749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975053-1216-4324-A6DD-5D6ABFA9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62" y="2293499"/>
            <a:ext cx="9761613" cy="4278751"/>
          </a:xfrm>
          <a:prstGeom prst="rect">
            <a:avLst/>
          </a:prstGeom>
          <a:ln w="28575">
            <a:solidFill>
              <a:srgbClr val="FFFF00"/>
            </a:solidFill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8BE83-105D-4423-A4A8-F6613080A111}"/>
              </a:ext>
            </a:extLst>
          </p:cNvPr>
          <p:cNvSpPr txBox="1"/>
          <p:nvPr/>
        </p:nvSpPr>
        <p:spPr>
          <a:xfrm>
            <a:off x="1461335" y="2293499"/>
            <a:ext cx="3959074" cy="175432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กดปรับเลื่อน วัน / เวลา โดยโยกเลือน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ปรับแก้ / ตรวจสอบที่เรา จัดงาน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ตรวจสอบ ปรับเลือก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sz="1200" b="1" dirty="0">
                <a:solidFill>
                  <a:srgbClr val="0000FF"/>
                </a:solidFill>
              </a:rPr>
              <a:t>Actions </a:t>
            </a: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sz="1200" b="1" dirty="0">
                <a:solidFill>
                  <a:srgbClr val="0000FF"/>
                </a:solidFill>
              </a:rPr>
              <a:t>Accept All Changes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191134-F3D8-46B1-84BD-14589B282C2A}"/>
              </a:ext>
            </a:extLst>
          </p:cNvPr>
          <p:cNvSpPr/>
          <p:nvPr/>
        </p:nvSpPr>
        <p:spPr>
          <a:xfrm rot="16200000">
            <a:off x="7286311" y="2596358"/>
            <a:ext cx="333376" cy="6461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E3E66A-3DAB-4ECB-85AB-10B84BD2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3136750"/>
            <a:ext cx="2214764" cy="168117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036510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09BC4EE1-C282-4DB8-95F8-F6C0A6695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1233" y="2188630"/>
            <a:ext cx="6258351" cy="4195762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8BE83-105D-4423-A4A8-F6613080A111}"/>
              </a:ext>
            </a:extLst>
          </p:cNvPr>
          <p:cNvSpPr txBox="1"/>
          <p:nvPr/>
        </p:nvSpPr>
        <p:spPr>
          <a:xfrm>
            <a:off x="7329970" y="4934340"/>
            <a:ext cx="3959074" cy="175432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กดปรับเลื่อน วัน / เวลา โดยโยกเลือน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ปรับแก้ / ตรวจสอบที่เรา จัดงาน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ตรวจสอบ ปรับเลือก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sz="1200" b="1" dirty="0">
                <a:solidFill>
                  <a:srgbClr val="0000FF"/>
                </a:solidFill>
              </a:rPr>
              <a:t>Actions </a:t>
            </a: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sz="1200" b="1" dirty="0">
                <a:solidFill>
                  <a:srgbClr val="0000FF"/>
                </a:solidFill>
              </a:rPr>
              <a:t>Accept All Changes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191134-F3D8-46B1-84BD-14589B282C2A}"/>
              </a:ext>
            </a:extLst>
          </p:cNvPr>
          <p:cNvSpPr/>
          <p:nvPr/>
        </p:nvSpPr>
        <p:spPr>
          <a:xfrm rot="16200000">
            <a:off x="7486336" y="2434433"/>
            <a:ext cx="333376" cy="6461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E3E66A-3DAB-4ECB-85AB-10B84BD2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970" y="3093239"/>
            <a:ext cx="2214764" cy="168117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029479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08BE83-105D-4423-A4A8-F6613080A111}"/>
              </a:ext>
            </a:extLst>
          </p:cNvPr>
          <p:cNvSpPr txBox="1"/>
          <p:nvPr/>
        </p:nvSpPr>
        <p:spPr>
          <a:xfrm>
            <a:off x="7463320" y="2326079"/>
            <a:ext cx="3959074" cy="24929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กดปรับเลื่อน วัน / เวลา โดยโยกเลือน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ปรับแก้ / ตรวจสอบที่เรา จัดงาน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ตรวจสอบ ปรับเลือก </a:t>
            </a:r>
            <a:r>
              <a:rPr lang="en-US" dirty="0">
                <a:solidFill>
                  <a:srgbClr val="0000FF"/>
                </a:solidFill>
              </a:rPr>
              <a:t>Resource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</a:p>
          <a:p>
            <a:pPr marL="800100" lvl="1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sz="1200" b="1" dirty="0">
                <a:solidFill>
                  <a:srgbClr val="0000FF"/>
                </a:solidFill>
              </a:rPr>
              <a:t>Actions </a:t>
            </a: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sz="1200" b="1" dirty="0">
                <a:solidFill>
                  <a:srgbClr val="0000FF"/>
                </a:solidFill>
              </a:rPr>
              <a:t>Accept All Changes</a:t>
            </a:r>
          </a:p>
          <a:p>
            <a:pPr lvl="1"/>
            <a:endParaRPr lang="en-US" sz="1200" b="1" dirty="0">
              <a:solidFill>
                <a:srgbClr val="0000FF"/>
              </a:solidFill>
            </a:endParaRPr>
          </a:p>
          <a:p>
            <a:pPr lvl="1"/>
            <a:r>
              <a:rPr lang="th-TH" b="1" dirty="0">
                <a:solidFill>
                  <a:srgbClr val="0000FF"/>
                </a:solidFill>
                <a:highlight>
                  <a:srgbClr val="FFFF00"/>
                </a:highlight>
              </a:rPr>
              <a:t>สินสุดการจัดวางแผน หลัง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</a:rPr>
              <a:t>MRP Run   </a:t>
            </a:r>
          </a:p>
          <a:p>
            <a:pPr lvl="1"/>
            <a:r>
              <a:rPr lang="th-TH" b="1" dirty="0">
                <a:solidFill>
                  <a:srgbClr val="0000FF"/>
                </a:solidFill>
                <a:highlight>
                  <a:srgbClr val="FFFF00"/>
                </a:highlight>
              </a:rPr>
              <a:t>สามารถ ปล่อยแผน / </a:t>
            </a:r>
            <a:r>
              <a:rPr lang="en-US" b="1" dirty="0" err="1">
                <a:solidFill>
                  <a:srgbClr val="0000FF"/>
                </a:solidFill>
                <a:highlight>
                  <a:srgbClr val="FFFF00"/>
                </a:highlight>
              </a:rPr>
              <a:t>Releas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</a:rPr>
              <a:t> </a:t>
            </a:r>
            <a:r>
              <a:rPr lang="th-TH" b="1" dirty="0">
                <a:solidFill>
                  <a:srgbClr val="0000FF"/>
                </a:solidFill>
                <a:highlight>
                  <a:srgbClr val="FFFF00"/>
                </a:highlight>
              </a:rPr>
              <a:t>แผนได้</a:t>
            </a:r>
            <a:endParaRPr lang="en-US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85FB32F4-BEC8-4CF8-B3E9-A1AE92268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4955" y="2290236"/>
            <a:ext cx="6258351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99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A0C347-FE40-4F4A-B7E1-CEE8A92B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221" y="2218265"/>
            <a:ext cx="9488646" cy="2479964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2D7395D8-DA3B-497B-80AE-D2269D4C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980" y="16933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th-TH" sz="2800" b="1" dirty="0">
                <a:solidFill>
                  <a:srgbClr val="0000FF"/>
                </a:solidFill>
              </a:rPr>
              <a:t>กิจกรรมที่  3  การปรับแผน โยกไลน์  หม้อต้ม / บรรจุ / ติดฉลาก </a:t>
            </a:r>
            <a:br>
              <a:rPr lang="en-US" sz="2800" b="1" dirty="0">
                <a:solidFill>
                  <a:srgbClr val="0000FF"/>
                </a:solidFill>
              </a:rPr>
            </a:br>
            <a:r>
              <a:rPr lang="en-US" sz="2800" b="1" dirty="0">
                <a:solidFill>
                  <a:srgbClr val="0000FF"/>
                </a:solidFill>
              </a:rPr>
              <a:t>Process Scheduling</a:t>
            </a:r>
            <a:endParaRPr lang="th-TH" sz="2800" b="1" dirty="0">
              <a:solidFill>
                <a:srgbClr val="0000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7E126A5-AECB-412D-9C1E-19C9E49AD17F}"/>
              </a:ext>
            </a:extLst>
          </p:cNvPr>
          <p:cNvSpPr txBox="1">
            <a:spLocks/>
          </p:cNvSpPr>
          <p:nvPr/>
        </p:nvSpPr>
        <p:spPr>
          <a:xfrm>
            <a:off x="1392162" y="1286935"/>
            <a:ext cx="8946541" cy="9313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th-TH" sz="3100" b="1" dirty="0"/>
              <a:t>3. เริ่มจัดลำดับ </a:t>
            </a:r>
            <a:r>
              <a:rPr lang="en-US" sz="3100" b="1" dirty="0"/>
              <a:t>Job </a:t>
            </a:r>
            <a:r>
              <a:rPr lang="th-TH" sz="3100" b="1" dirty="0"/>
              <a:t>ที่ต้องเริ่มผลิต</a:t>
            </a:r>
          </a:p>
          <a:p>
            <a:pPr lvl="1"/>
            <a:r>
              <a:rPr lang="th-TH" sz="2600" dirty="0"/>
              <a:t> 3.3  เลือก</a:t>
            </a:r>
            <a:r>
              <a:rPr lang="en-US" sz="2600" dirty="0"/>
              <a:t> Resource </a:t>
            </a:r>
            <a:r>
              <a:rPr lang="th-TH" sz="2600" dirty="0"/>
              <a:t>หรือไลน์ เพื่อจะ </a:t>
            </a:r>
            <a:r>
              <a:rPr lang="en-US" sz="2600" dirty="0"/>
              <a:t>Scheduling</a:t>
            </a:r>
            <a:endParaRPr lang="th-TH" sz="19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717094-49B0-4CD2-9372-21ED0C6847BE}"/>
              </a:ext>
            </a:extLst>
          </p:cNvPr>
          <p:cNvSpPr/>
          <p:nvPr/>
        </p:nvSpPr>
        <p:spPr>
          <a:xfrm rot="16200000">
            <a:off x="2839248" y="3215627"/>
            <a:ext cx="321733" cy="4852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E5EC6C4-72B4-45BE-8400-77C81D41F8FB}"/>
              </a:ext>
            </a:extLst>
          </p:cNvPr>
          <p:cNvSpPr/>
          <p:nvPr/>
        </p:nvSpPr>
        <p:spPr>
          <a:xfrm rot="5400000">
            <a:off x="2775495" y="2832581"/>
            <a:ext cx="396000" cy="432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th-TH" sz="2400" b="1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0616E7-CC33-432E-8F23-BBF0DF87761D}"/>
              </a:ext>
            </a:extLst>
          </p:cNvPr>
          <p:cNvSpPr txBox="1"/>
          <p:nvPr/>
        </p:nvSpPr>
        <p:spPr>
          <a:xfrm>
            <a:off x="7482146" y="4782895"/>
            <a:ext cx="3600721" cy="175432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กดเลือกคลุมไลน์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ที่ต้องการ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 </a:t>
            </a:r>
            <a:r>
              <a:rPr lang="en-US" dirty="0">
                <a:solidFill>
                  <a:srgbClr val="0000FF"/>
                </a:solidFill>
              </a:rPr>
              <a:t>OK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ได้ไลน์ / </a:t>
            </a:r>
            <a:r>
              <a:rPr lang="en-US" dirty="0">
                <a:solidFill>
                  <a:srgbClr val="0000FF"/>
                </a:solidFill>
              </a:rPr>
              <a:t>Resource </a:t>
            </a:r>
            <a:r>
              <a:rPr lang="th-TH" dirty="0">
                <a:solidFill>
                  <a:srgbClr val="0000FF"/>
                </a:solidFill>
              </a:rPr>
              <a:t>ที่ต้องจัดแผน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กดไปเลือก </a:t>
            </a:r>
            <a:r>
              <a:rPr lang="en-US" dirty="0">
                <a:solidFill>
                  <a:srgbClr val="0000FF"/>
                </a:solidFill>
              </a:rPr>
              <a:t>Schedule </a:t>
            </a:r>
            <a:r>
              <a:rPr lang="th-TH" dirty="0">
                <a:solidFill>
                  <a:srgbClr val="0000FF"/>
                </a:solidFill>
              </a:rPr>
              <a:t>เพื่อจัดลำดับงาน</a:t>
            </a:r>
          </a:p>
          <a:p>
            <a:pPr marL="342900" indent="-342900">
              <a:buAutoNum type="arabicPeriod"/>
            </a:pPr>
            <a:r>
              <a:rPr lang="th-TH" dirty="0">
                <a:solidFill>
                  <a:srgbClr val="0000FF"/>
                </a:solidFill>
              </a:rPr>
              <a:t>กดเลือก </a:t>
            </a:r>
            <a:r>
              <a:rPr lang="en-US" dirty="0">
                <a:solidFill>
                  <a:srgbClr val="0000FF"/>
                </a:solidFill>
              </a:rPr>
              <a:t>List </a:t>
            </a:r>
            <a:r>
              <a:rPr lang="th-TH" dirty="0">
                <a:solidFill>
                  <a:srgbClr val="0000FF"/>
                </a:solidFill>
              </a:rPr>
              <a:t>ตรวจเช็ครายละเอียด </a:t>
            </a:r>
            <a:r>
              <a:rPr lang="en-US" dirty="0">
                <a:solidFill>
                  <a:srgbClr val="0000FF"/>
                </a:solidFill>
              </a:rPr>
              <a:t>Job</a:t>
            </a:r>
          </a:p>
          <a:p>
            <a:pPr marL="342900" indent="-342900">
              <a:buAutoNum type="arabicPeriod"/>
            </a:pPr>
            <a:endParaRPr lang="th-TH" dirty="0">
              <a:solidFill>
                <a:srgbClr val="0000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17C81D-6256-4E76-B661-49764F6E3804}"/>
              </a:ext>
            </a:extLst>
          </p:cNvPr>
          <p:cNvSpPr/>
          <p:nvPr/>
        </p:nvSpPr>
        <p:spPr>
          <a:xfrm rot="16200000">
            <a:off x="3755958" y="3658203"/>
            <a:ext cx="494915" cy="6461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0109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98E0-ED07-4586-BBDD-135FB990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7149"/>
          </a:xfrm>
        </p:spPr>
        <p:txBody>
          <a:bodyPr/>
          <a:lstStyle/>
          <a:p>
            <a:r>
              <a:rPr lang="th-TH" sz="3600" dirty="0"/>
              <a:t>การวางแผนการผลิต สินค้า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73EB7-4A4D-41F5-A2E5-256FE215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43318"/>
            <a:ext cx="8946541" cy="4195481"/>
          </a:xfrm>
          <a:ln>
            <a:solidFill>
              <a:srgbClr val="FFFF00"/>
            </a:solidFill>
          </a:ln>
        </p:spPr>
        <p:txBody>
          <a:bodyPr>
            <a:normAutofit/>
          </a:bodyPr>
          <a:lstStyle/>
          <a:p>
            <a:r>
              <a:rPr lang="th-TH" sz="2400" dirty="0"/>
              <a:t>กิจกรรมที่ 1  การติดตามดู </a:t>
            </a:r>
            <a:r>
              <a:rPr lang="en-US" sz="2400" dirty="0"/>
              <a:t>Job </a:t>
            </a:r>
            <a:r>
              <a:rPr lang="th-TH" sz="2400" dirty="0"/>
              <a:t>ทั้งหมดด้วย </a:t>
            </a:r>
            <a:r>
              <a:rPr lang="en-US" sz="2400" dirty="0"/>
              <a:t>: Job status Maintenance</a:t>
            </a:r>
          </a:p>
          <a:p>
            <a:r>
              <a:rPr lang="th-TH" sz="2400" dirty="0"/>
              <a:t>กิจกรรมที่  2  การจัด</a:t>
            </a:r>
            <a:r>
              <a:rPr lang="en-US" sz="2400" dirty="0"/>
              <a:t> Job </a:t>
            </a:r>
            <a:r>
              <a:rPr lang="th-TH" sz="2400" dirty="0"/>
              <a:t>เพื่อเตรียม ทำเป็นแผนประจำเดือน / ประจำสัปดาห์ / ประจำวัน</a:t>
            </a:r>
          </a:p>
          <a:p>
            <a:r>
              <a:rPr lang="th-TH" sz="2400" b="1" dirty="0"/>
              <a:t>กิจกรรมที่  3  การปรับแผน โยกไลน์  หม้อต้ม / บรรจุ / ติดฉลาก </a:t>
            </a:r>
            <a:r>
              <a:rPr lang="en-US" sz="2400" b="1" dirty="0"/>
              <a:t>Process Scheduling</a:t>
            </a:r>
            <a:endParaRPr lang="th-TH" sz="2400" b="1" dirty="0"/>
          </a:p>
          <a:p>
            <a:r>
              <a:rPr lang="th-TH" sz="2400" dirty="0">
                <a:solidFill>
                  <a:srgbClr val="0000FF"/>
                </a:solidFill>
                <a:highlight>
                  <a:srgbClr val="FFFF00"/>
                </a:highlight>
              </a:rPr>
              <a:t>กิจกรรมที่  4  การปล่อยแผน 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Job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00"/>
                </a:highlight>
              </a:rPr>
              <a:t>Releas</a:t>
            </a:r>
            <a:endParaRPr lang="en-US" sz="2400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r>
              <a:rPr lang="th-TH" sz="2400" dirty="0"/>
              <a:t>กิจกรรมที่  5  การติดตามแผน ปิด </a:t>
            </a:r>
            <a:r>
              <a:rPr lang="en-US" sz="2400" dirty="0"/>
              <a:t>Job / </a:t>
            </a:r>
            <a:r>
              <a:rPr lang="th-TH" sz="2400" dirty="0"/>
              <a:t>เปิด</a:t>
            </a:r>
            <a:r>
              <a:rPr lang="en-US" sz="2400" dirty="0"/>
              <a:t>Job </a:t>
            </a:r>
            <a:r>
              <a:rPr lang="th-TH" sz="2400" dirty="0"/>
              <a:t>เพิ่ม(ผลิตไม่ครบ / เกิน)</a:t>
            </a:r>
          </a:p>
          <a:p>
            <a:pPr marL="0" indent="0">
              <a:buNone/>
            </a:pPr>
            <a:r>
              <a:rPr lang="th-TH" sz="2400" dirty="0"/>
              <a:t>			  การเปิด </a:t>
            </a:r>
            <a:r>
              <a:rPr lang="en-US" sz="2400" dirty="0"/>
              <a:t>Job </a:t>
            </a:r>
            <a:r>
              <a:rPr lang="th-TH" sz="2400" dirty="0"/>
              <a:t>ใส่ฝา/ฟลอยด์</a:t>
            </a:r>
            <a:endParaRPr lang="en-US" sz="2400" dirty="0"/>
          </a:p>
          <a:p>
            <a:pPr marL="0" indent="0">
              <a:buNone/>
            </a:pP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991667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4. เริ่มจาก </a:t>
            </a:r>
            <a:r>
              <a:rPr lang="en-US" sz="2800" dirty="0"/>
              <a:t>Job </a:t>
            </a:r>
            <a:r>
              <a:rPr lang="th-TH" sz="2800" dirty="0"/>
              <a:t>ที่ </a:t>
            </a:r>
            <a:r>
              <a:rPr lang="en-US" sz="2800" dirty="0"/>
              <a:t>Firm </a:t>
            </a:r>
            <a:r>
              <a:rPr lang="th-TH" sz="2800" dirty="0"/>
              <a:t>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4.1  ตรวจสอบสถานะ  </a:t>
            </a:r>
            <a:r>
              <a:rPr lang="en-US" sz="2600" dirty="0"/>
              <a:t>Job </a:t>
            </a:r>
            <a:r>
              <a:rPr lang="th-TH" sz="2600" dirty="0"/>
              <a:t>ต้องถูก </a:t>
            </a:r>
            <a:r>
              <a:rPr lang="en-US" sz="2600" dirty="0"/>
              <a:t>Firm </a:t>
            </a:r>
            <a:r>
              <a:rPr lang="th-TH" sz="2600" dirty="0"/>
              <a:t>เรียบร้อย</a:t>
            </a:r>
            <a:endParaRPr lang="th-TH" sz="32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7907E05-31AE-4721-BAD1-03EE8045C5D3}"/>
              </a:ext>
            </a:extLst>
          </p:cNvPr>
          <p:cNvGrpSpPr/>
          <p:nvPr/>
        </p:nvGrpSpPr>
        <p:grpSpPr>
          <a:xfrm>
            <a:off x="1034256" y="2421469"/>
            <a:ext cx="10123487" cy="3826934"/>
            <a:chOff x="1103312" y="2446870"/>
            <a:chExt cx="10123487" cy="3826934"/>
          </a:xfrm>
        </p:grpSpPr>
        <p:pic>
          <p:nvPicPr>
            <p:cNvPr id="6" name="Content Placeholder 3">
              <a:extLst>
                <a:ext uri="{FF2B5EF4-FFF2-40B4-BE49-F238E27FC236}">
                  <a16:creationId xmlns:a16="http://schemas.microsoft.com/office/drawing/2014/main" id="{BC7972F8-B5F3-4F5D-89C5-2A8641B6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3312" y="2446870"/>
              <a:ext cx="10123487" cy="3826934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DC6DCDB-3C60-44B9-8790-C41D3AD941A1}"/>
                </a:ext>
              </a:extLst>
            </p:cNvPr>
            <p:cNvSpPr/>
            <p:nvPr/>
          </p:nvSpPr>
          <p:spPr>
            <a:xfrm>
              <a:off x="4447008" y="3192637"/>
              <a:ext cx="389467" cy="2915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2F00A05-A09C-40DA-83FE-AF1C01AF25F9}"/>
                </a:ext>
              </a:extLst>
            </p:cNvPr>
            <p:cNvSpPr/>
            <p:nvPr/>
          </p:nvSpPr>
          <p:spPr>
            <a:xfrm>
              <a:off x="1178994" y="3178630"/>
              <a:ext cx="816268" cy="29154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AACBC9A-537F-4596-B588-BC3C931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30" y="18895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3200" b="1" dirty="0">
                <a:solidFill>
                  <a:srgbClr val="0000FF"/>
                </a:solidFill>
              </a:rPr>
              <a:t>กิจกรรมที่  4  การปล่อยแผน </a:t>
            </a:r>
            <a:r>
              <a:rPr lang="en-US" sz="3200" b="1" dirty="0">
                <a:solidFill>
                  <a:srgbClr val="0000FF"/>
                </a:solidFill>
              </a:rPr>
              <a:t>Job </a:t>
            </a:r>
            <a:r>
              <a:rPr lang="en-US" sz="3200" b="1" dirty="0" err="1">
                <a:solidFill>
                  <a:srgbClr val="0000FF"/>
                </a:solidFill>
              </a:rPr>
              <a:t>Releas</a:t>
            </a:r>
            <a:endParaRPr lang="en-US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45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4. เริ่มจาก </a:t>
            </a:r>
            <a:r>
              <a:rPr lang="en-US" sz="2800" dirty="0"/>
              <a:t>Job </a:t>
            </a:r>
            <a:r>
              <a:rPr lang="th-TH" sz="2800" dirty="0"/>
              <a:t>ที่ </a:t>
            </a:r>
            <a:r>
              <a:rPr lang="en-US" sz="2800" dirty="0"/>
              <a:t>Firm </a:t>
            </a:r>
            <a:r>
              <a:rPr lang="th-TH" sz="2800" dirty="0"/>
              <a:t>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4.2  เลือก  </a:t>
            </a:r>
            <a:r>
              <a:rPr lang="en-US" sz="2600" dirty="0"/>
              <a:t>Job </a:t>
            </a:r>
            <a:r>
              <a:rPr lang="th-TH" sz="2600" dirty="0"/>
              <a:t>ต้องถูก </a:t>
            </a:r>
            <a:r>
              <a:rPr lang="en-US" sz="2600" dirty="0"/>
              <a:t>Firm </a:t>
            </a:r>
            <a:r>
              <a:rPr lang="th-TH" sz="2600" dirty="0"/>
              <a:t>ตามวันที่ต้องการปล่อยแผน กด </a:t>
            </a:r>
            <a:r>
              <a:rPr lang="en-US" sz="2600" dirty="0"/>
              <a:t>OK</a:t>
            </a:r>
            <a:endParaRPr lang="th-TH" sz="32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ACBC9A-537F-4596-B588-BC3C931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30" y="18895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3200" b="1" dirty="0">
                <a:solidFill>
                  <a:srgbClr val="0000FF"/>
                </a:solidFill>
              </a:rPr>
              <a:t>กิจกรรมที่  4  การปล่อยแผน </a:t>
            </a:r>
            <a:r>
              <a:rPr lang="en-US" sz="3200" b="1" dirty="0">
                <a:solidFill>
                  <a:srgbClr val="0000FF"/>
                </a:solidFill>
              </a:rPr>
              <a:t>Job </a:t>
            </a:r>
            <a:r>
              <a:rPr lang="en-US" sz="3200" b="1" dirty="0" err="1">
                <a:solidFill>
                  <a:srgbClr val="0000FF"/>
                </a:solidFill>
              </a:rPr>
              <a:t>Releas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AD385ED8-437E-4B77-B1A6-5168B3DE97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225"/>
          <a:stretch/>
        </p:blipFill>
        <p:spPr>
          <a:xfrm>
            <a:off x="1103312" y="2452651"/>
            <a:ext cx="4287838" cy="251908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84FA0A-AF3D-4922-BE3F-A65D57BB259F}"/>
              </a:ext>
            </a:extLst>
          </p:cNvPr>
          <p:cNvSpPr/>
          <p:nvPr/>
        </p:nvSpPr>
        <p:spPr>
          <a:xfrm rot="16200000">
            <a:off x="4906174" y="3308707"/>
            <a:ext cx="321733" cy="4852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F1879007-E78B-4C4B-92DE-DACAD06F6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050"/>
          <a:stretch/>
        </p:blipFill>
        <p:spPr>
          <a:xfrm>
            <a:off x="5576582" y="2413053"/>
            <a:ext cx="5624818" cy="3949647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A962D8-855B-4D72-B203-7FA14D56833D}"/>
              </a:ext>
            </a:extLst>
          </p:cNvPr>
          <p:cNvSpPr/>
          <p:nvPr/>
        </p:nvSpPr>
        <p:spPr>
          <a:xfrm rot="16200000">
            <a:off x="5737144" y="5956657"/>
            <a:ext cx="321733" cy="4852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909684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DC1BBB-5CFA-4AB0-848D-D944B6E9C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51" y="2235699"/>
            <a:ext cx="9404723" cy="44333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4. เริ่มจาก </a:t>
            </a:r>
            <a:r>
              <a:rPr lang="en-US" sz="2800" dirty="0"/>
              <a:t>Job </a:t>
            </a:r>
            <a:r>
              <a:rPr lang="th-TH" sz="2800" dirty="0"/>
              <a:t>ที่ </a:t>
            </a:r>
            <a:r>
              <a:rPr lang="en-US" sz="2800" dirty="0"/>
              <a:t>Firm </a:t>
            </a:r>
            <a:r>
              <a:rPr lang="th-TH" sz="2800" dirty="0"/>
              <a:t>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4.3 ได้ </a:t>
            </a:r>
            <a:r>
              <a:rPr lang="en-US" sz="2600" dirty="0"/>
              <a:t>List Job </a:t>
            </a:r>
            <a:r>
              <a:rPr lang="th-TH" sz="2600" dirty="0"/>
              <a:t>ต้องถูก </a:t>
            </a:r>
            <a:r>
              <a:rPr lang="en-US" sz="2600" dirty="0"/>
              <a:t>Firm</a:t>
            </a:r>
            <a:r>
              <a:rPr lang="th-TH" sz="2600" dirty="0"/>
              <a:t> ไปที่ </a:t>
            </a:r>
            <a:r>
              <a:rPr lang="en-US" sz="2600" dirty="0" err="1"/>
              <a:t>Releas</a:t>
            </a:r>
            <a:r>
              <a:rPr lang="en-US" sz="2600" dirty="0"/>
              <a:t> All </a:t>
            </a:r>
            <a:r>
              <a:rPr lang="th-TH" sz="2600" dirty="0"/>
              <a:t>แล้ว กด  </a:t>
            </a:r>
            <a:r>
              <a:rPr lang="en-US" sz="2600" dirty="0"/>
              <a:t>Process</a:t>
            </a:r>
            <a:endParaRPr lang="th-TH" sz="32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ACBC9A-537F-4596-B588-BC3C931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30" y="18895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3200" b="1" dirty="0">
                <a:solidFill>
                  <a:srgbClr val="0000FF"/>
                </a:solidFill>
              </a:rPr>
              <a:t>กิจกรรมที่  4  การปล่อยแผน </a:t>
            </a:r>
            <a:r>
              <a:rPr lang="en-US" sz="3200" b="1" dirty="0">
                <a:solidFill>
                  <a:srgbClr val="0000FF"/>
                </a:solidFill>
              </a:rPr>
              <a:t>Job </a:t>
            </a:r>
            <a:r>
              <a:rPr lang="en-US" sz="3200" b="1" dirty="0" err="1">
                <a:solidFill>
                  <a:srgbClr val="0000FF"/>
                </a:solidFill>
              </a:rPr>
              <a:t>Releas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84FA0A-AF3D-4922-BE3F-A65D57BB259F}"/>
              </a:ext>
            </a:extLst>
          </p:cNvPr>
          <p:cNvSpPr/>
          <p:nvPr/>
        </p:nvSpPr>
        <p:spPr>
          <a:xfrm rot="16200000">
            <a:off x="3648875" y="2725236"/>
            <a:ext cx="321733" cy="4852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A962D8-855B-4D72-B203-7FA14D56833D}"/>
              </a:ext>
            </a:extLst>
          </p:cNvPr>
          <p:cNvSpPr/>
          <p:nvPr/>
        </p:nvSpPr>
        <p:spPr>
          <a:xfrm rot="16200000">
            <a:off x="5336036" y="2701138"/>
            <a:ext cx="321733" cy="4852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0414D5-9441-48EE-A86D-32CE9C203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462" b="66853"/>
          <a:stretch/>
        </p:blipFill>
        <p:spPr>
          <a:xfrm>
            <a:off x="1434223" y="3540944"/>
            <a:ext cx="9262351" cy="297415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47BAB3-E835-4DD5-B28B-C28BE6C44242}"/>
              </a:ext>
            </a:extLst>
          </p:cNvPr>
          <p:cNvSpPr/>
          <p:nvPr/>
        </p:nvSpPr>
        <p:spPr>
          <a:xfrm rot="16200000">
            <a:off x="5720804" y="4480314"/>
            <a:ext cx="321733" cy="109541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8E148C-591F-4A96-B997-FC47CCCCE959}"/>
              </a:ext>
            </a:extLst>
          </p:cNvPr>
          <p:cNvSpPr/>
          <p:nvPr/>
        </p:nvSpPr>
        <p:spPr>
          <a:xfrm rot="16200000">
            <a:off x="8702147" y="4556534"/>
            <a:ext cx="321733" cy="9429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545292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F63635-9380-433D-AAD5-66136F2EC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363966"/>
            <a:ext cx="9648825" cy="417971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4. เริ่มจาก </a:t>
            </a:r>
            <a:r>
              <a:rPr lang="en-US" sz="2800" dirty="0"/>
              <a:t>Job </a:t>
            </a:r>
            <a:r>
              <a:rPr lang="th-TH" sz="2800" dirty="0"/>
              <a:t>ที่ </a:t>
            </a:r>
            <a:r>
              <a:rPr lang="en-US" sz="2800" dirty="0"/>
              <a:t>Firm </a:t>
            </a:r>
            <a:r>
              <a:rPr lang="th-TH" sz="2800" dirty="0"/>
              <a:t>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4.4 </a:t>
            </a:r>
            <a:r>
              <a:rPr lang="en-US" sz="2600" dirty="0"/>
              <a:t> </a:t>
            </a:r>
            <a:r>
              <a:rPr lang="en-US" sz="2600" dirty="0" err="1"/>
              <a:t>Releas</a:t>
            </a:r>
            <a:r>
              <a:rPr lang="en-US" sz="2600" dirty="0"/>
              <a:t> All </a:t>
            </a:r>
            <a:r>
              <a:rPr lang="th-TH" sz="2600" dirty="0"/>
              <a:t>แล้ว กด  </a:t>
            </a:r>
            <a:r>
              <a:rPr lang="en-US" sz="2600" dirty="0"/>
              <a:t>Process  </a:t>
            </a:r>
            <a:r>
              <a:rPr lang="th-TH" sz="2600" dirty="0"/>
              <a:t>แล้ว จะได้ </a:t>
            </a:r>
            <a:r>
              <a:rPr lang="en-US" sz="2600" dirty="0"/>
              <a:t>Job </a:t>
            </a:r>
            <a:r>
              <a:rPr lang="en-US" sz="2600" dirty="0" err="1"/>
              <a:t>Releas</a:t>
            </a:r>
            <a:endParaRPr lang="th-TH" sz="32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ACBC9A-537F-4596-B588-BC3C931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30" y="18895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3200" b="1" dirty="0">
                <a:solidFill>
                  <a:srgbClr val="0000FF"/>
                </a:solidFill>
              </a:rPr>
              <a:t>กิจกรรมที่  4  การปล่อยแผน </a:t>
            </a:r>
            <a:r>
              <a:rPr lang="en-US" sz="3200" b="1" dirty="0">
                <a:solidFill>
                  <a:srgbClr val="0000FF"/>
                </a:solidFill>
              </a:rPr>
              <a:t>Job </a:t>
            </a:r>
            <a:r>
              <a:rPr lang="en-US" sz="3200" b="1" dirty="0" err="1">
                <a:solidFill>
                  <a:srgbClr val="0000FF"/>
                </a:solidFill>
              </a:rPr>
              <a:t>Releas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84FA0A-AF3D-4922-BE3F-A65D57BB259F}"/>
              </a:ext>
            </a:extLst>
          </p:cNvPr>
          <p:cNvSpPr/>
          <p:nvPr/>
        </p:nvSpPr>
        <p:spPr>
          <a:xfrm rot="16200000">
            <a:off x="5866744" y="4816036"/>
            <a:ext cx="2970040" cy="4852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47BAB3-E835-4DD5-B28B-C28BE6C44242}"/>
              </a:ext>
            </a:extLst>
          </p:cNvPr>
          <p:cNvSpPr/>
          <p:nvPr/>
        </p:nvSpPr>
        <p:spPr>
          <a:xfrm rot="16200000">
            <a:off x="9266492" y="4664899"/>
            <a:ext cx="2970038" cy="7875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00684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C58DA5-A6F7-4A86-9ED6-974B86DC9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74" y="2191117"/>
            <a:ext cx="9889514" cy="44779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/>
          </a:bodyPr>
          <a:lstStyle/>
          <a:p>
            <a:r>
              <a:rPr lang="th-TH" sz="2800" dirty="0"/>
              <a:t>4. เริ่มจาก </a:t>
            </a:r>
            <a:r>
              <a:rPr lang="en-US" sz="2800" dirty="0"/>
              <a:t>Job </a:t>
            </a:r>
            <a:r>
              <a:rPr lang="th-TH" sz="2800" dirty="0"/>
              <a:t>ที่ </a:t>
            </a:r>
            <a:r>
              <a:rPr lang="en-US" sz="2800" dirty="0"/>
              <a:t>Firm </a:t>
            </a:r>
            <a:r>
              <a:rPr lang="th-TH" sz="2800" dirty="0"/>
              <a:t>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4.4 </a:t>
            </a:r>
            <a:r>
              <a:rPr lang="en-US" sz="2600" dirty="0"/>
              <a:t> </a:t>
            </a:r>
            <a:r>
              <a:rPr lang="th-TH" sz="2600" dirty="0"/>
              <a:t>ทำการ </a:t>
            </a:r>
            <a:r>
              <a:rPr lang="en-US" sz="2600" dirty="0"/>
              <a:t>Export to Excel  </a:t>
            </a:r>
            <a:r>
              <a:rPr lang="th-TH" sz="2600" dirty="0"/>
              <a:t>เพื่อให้ แบทช์ สินค้า แล้ว </a:t>
            </a:r>
            <a:r>
              <a:rPr lang="en-US" sz="2600" dirty="0"/>
              <a:t>DMT File</a:t>
            </a:r>
            <a:endParaRPr lang="th-TH" sz="32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ACBC9A-537F-4596-B588-BC3C931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30" y="18895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3200" b="1" dirty="0">
                <a:solidFill>
                  <a:srgbClr val="0000FF"/>
                </a:solidFill>
              </a:rPr>
              <a:t>กิจกรรมที่  4  การปล่อยแผน </a:t>
            </a:r>
            <a:r>
              <a:rPr lang="en-US" sz="3200" b="1" dirty="0">
                <a:solidFill>
                  <a:srgbClr val="0000FF"/>
                </a:solidFill>
              </a:rPr>
              <a:t>Job </a:t>
            </a:r>
            <a:r>
              <a:rPr lang="en-US" sz="3200" b="1" dirty="0" err="1">
                <a:solidFill>
                  <a:srgbClr val="0000FF"/>
                </a:solidFill>
              </a:rPr>
              <a:t>Releas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A962D8-855B-4D72-B203-7FA14D56833D}"/>
              </a:ext>
            </a:extLst>
          </p:cNvPr>
          <p:cNvSpPr/>
          <p:nvPr/>
        </p:nvSpPr>
        <p:spPr>
          <a:xfrm rot="16200000">
            <a:off x="-375193" y="4007848"/>
            <a:ext cx="4375897" cy="94649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8E148C-591F-4A96-B997-FC47CCCCE959}"/>
              </a:ext>
            </a:extLst>
          </p:cNvPr>
          <p:cNvSpPr/>
          <p:nvPr/>
        </p:nvSpPr>
        <p:spPr>
          <a:xfrm rot="16200000">
            <a:off x="6534229" y="4106898"/>
            <a:ext cx="4375897" cy="7483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2781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DCA1-0113-4D80-A102-E2707077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2268"/>
            <a:ext cx="8946541" cy="1168399"/>
          </a:xfrm>
        </p:spPr>
        <p:txBody>
          <a:bodyPr>
            <a:normAutofit fontScale="77500" lnSpcReduction="20000"/>
          </a:bodyPr>
          <a:lstStyle/>
          <a:p>
            <a:r>
              <a:rPr lang="th-TH" sz="2800" dirty="0"/>
              <a:t>4. เริ่มจาก </a:t>
            </a:r>
            <a:r>
              <a:rPr lang="en-US" sz="2800" dirty="0"/>
              <a:t>Job </a:t>
            </a:r>
            <a:r>
              <a:rPr lang="th-TH" sz="2800" dirty="0"/>
              <a:t>ที่ </a:t>
            </a:r>
            <a:r>
              <a:rPr lang="en-US" sz="2800" dirty="0"/>
              <a:t>Firm </a:t>
            </a:r>
            <a:r>
              <a:rPr lang="th-TH" sz="2800" dirty="0"/>
              <a:t>ใน </a:t>
            </a:r>
            <a:r>
              <a:rPr lang="en-US" sz="2800" b="1" dirty="0">
                <a:solidFill>
                  <a:srgbClr val="0000FF"/>
                </a:solidFill>
                <a:highlight>
                  <a:srgbClr val="FFFF00"/>
                </a:highlight>
              </a:rPr>
              <a:t>Job Status Maintenance</a:t>
            </a:r>
            <a:endParaRPr lang="th-TH" sz="28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pPr lvl="1"/>
            <a:r>
              <a:rPr lang="th-TH" sz="2600" dirty="0"/>
              <a:t>4.4 </a:t>
            </a:r>
            <a:r>
              <a:rPr lang="en-US" sz="2600" dirty="0"/>
              <a:t> </a:t>
            </a:r>
            <a:r>
              <a:rPr lang="th-TH" sz="2600" dirty="0"/>
              <a:t>ทำการ </a:t>
            </a:r>
            <a:r>
              <a:rPr lang="en-US" sz="2600" dirty="0"/>
              <a:t>Export to Excel  </a:t>
            </a:r>
            <a:r>
              <a:rPr lang="th-TH" sz="2600" dirty="0"/>
              <a:t>เพื่อให้ แบทช์ สินค้า แล้ว </a:t>
            </a:r>
            <a:r>
              <a:rPr lang="en-US" sz="2600" dirty="0"/>
              <a:t>DMT File</a:t>
            </a:r>
          </a:p>
          <a:p>
            <a:pPr lvl="1"/>
            <a:r>
              <a:rPr lang="en-US" sz="2600" dirty="0"/>
              <a:t>4.5  </a:t>
            </a:r>
            <a:r>
              <a:rPr lang="th-TH" sz="2600" dirty="0"/>
              <a:t>ทำการ พิมพ์ </a:t>
            </a:r>
            <a:r>
              <a:rPr lang="en-US" sz="2600" dirty="0"/>
              <a:t>Job Traveler </a:t>
            </a:r>
            <a:r>
              <a:rPr lang="th-TH" sz="2600" dirty="0"/>
              <a:t>ให้ผลิต ต่อไป</a:t>
            </a:r>
            <a:endParaRPr lang="en-US" sz="2600" dirty="0"/>
          </a:p>
          <a:p>
            <a:pPr lvl="1"/>
            <a:endParaRPr lang="th-TH" sz="3200" b="1" dirty="0">
              <a:solidFill>
                <a:srgbClr val="0000FF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AACBC9A-537F-4596-B588-BC3C931F3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30" y="188954"/>
            <a:ext cx="9404723" cy="931330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/>
          <a:p>
            <a:r>
              <a:rPr lang="th-TH" sz="3200" b="1" dirty="0">
                <a:solidFill>
                  <a:srgbClr val="0000FF"/>
                </a:solidFill>
              </a:rPr>
              <a:t>กิจกรรมที่  4  การปล่อยแผน </a:t>
            </a:r>
            <a:r>
              <a:rPr lang="en-US" sz="3200" b="1" dirty="0">
                <a:solidFill>
                  <a:srgbClr val="0000FF"/>
                </a:solidFill>
              </a:rPr>
              <a:t>Job </a:t>
            </a:r>
            <a:r>
              <a:rPr lang="en-US" sz="3200" b="1" dirty="0" err="1">
                <a:solidFill>
                  <a:srgbClr val="0000FF"/>
                </a:solidFill>
              </a:rPr>
              <a:t>Releas</a:t>
            </a:r>
            <a:endParaRPr lang="en-US" sz="3200" b="1" dirty="0">
              <a:solidFill>
                <a:srgbClr val="0000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DF5D7C-923B-4185-BE47-A6F86A9EDFBF}"/>
              </a:ext>
            </a:extLst>
          </p:cNvPr>
          <p:cNvGrpSpPr/>
          <p:nvPr/>
        </p:nvGrpSpPr>
        <p:grpSpPr>
          <a:xfrm>
            <a:off x="1392465" y="2247900"/>
            <a:ext cx="9696223" cy="4248149"/>
            <a:chOff x="1199174" y="2191118"/>
            <a:chExt cx="8525851" cy="20161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CC58DA5-A6F7-4A86-9ED6-974B86DC94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419" t="-4010" r="15208" b="61263"/>
            <a:stretch/>
          </p:blipFill>
          <p:spPr>
            <a:xfrm>
              <a:off x="1199174" y="2191118"/>
              <a:ext cx="8525851" cy="1914158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6A962D8-855B-4D72-B203-7FA14D56833D}"/>
                </a:ext>
              </a:extLst>
            </p:cNvPr>
            <p:cNvSpPr/>
            <p:nvPr/>
          </p:nvSpPr>
          <p:spPr>
            <a:xfrm rot="16200000">
              <a:off x="946164" y="2686492"/>
              <a:ext cx="1914156" cy="112746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A8E148C-591F-4A96-B997-FC47CCCCE959}"/>
                </a:ext>
              </a:extLst>
            </p:cNvPr>
            <p:cNvSpPr/>
            <p:nvPr/>
          </p:nvSpPr>
          <p:spPr>
            <a:xfrm rot="16200000">
              <a:off x="7907974" y="2876027"/>
              <a:ext cx="1914157" cy="748395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31839427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ABA735-4243-4002-9F8E-9136166D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498139" cy="5567082"/>
          </a:xfrm>
        </p:spPr>
        <p:txBody>
          <a:bodyPr anchor="ctr"/>
          <a:lstStyle/>
          <a:p>
            <a:pPr algn="ctr"/>
            <a:r>
              <a:rPr lang="th-TH" sz="6000" b="1" dirty="0"/>
              <a:t>สิ้นสุด กระบวนการวางแผนผลิต</a:t>
            </a:r>
          </a:p>
        </p:txBody>
      </p:sp>
    </p:spTree>
    <p:extLst>
      <p:ext uri="{BB962C8B-B14F-4D97-AF65-F5344CB8AC3E}">
        <p14:creationId xmlns:p14="http://schemas.microsoft.com/office/powerpoint/2010/main" val="2846829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32CDB2-FA18-8840-8F1F-021F43A36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52600"/>
            <a:ext cx="8946541" cy="477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cs typeface="+mn-cs"/>
              </a:rPr>
              <a:t>Process </a:t>
            </a:r>
            <a:r>
              <a:rPr lang="th-TH" sz="1600" dirty="0">
                <a:cs typeface="+mn-cs"/>
              </a:rPr>
              <a:t>วางแผน </a:t>
            </a:r>
            <a:r>
              <a:rPr lang="en-US" sz="1600" dirty="0">
                <a:cs typeface="+mn-cs"/>
              </a:rPr>
              <a:t>Even List</a:t>
            </a:r>
          </a:p>
          <a:p>
            <a:r>
              <a:rPr lang="en-US" sz="1600" dirty="0">
                <a:cs typeface="+mn-cs"/>
              </a:rPr>
              <a:t>PLN-01 : </a:t>
            </a:r>
            <a:r>
              <a:rPr lang="th-TH" sz="1600" dirty="0">
                <a:cs typeface="+mn-cs"/>
              </a:rPr>
              <a:t>การยืนยัน</a:t>
            </a:r>
            <a:r>
              <a:rPr lang="en-US" sz="1600" dirty="0">
                <a:cs typeface="+mn-cs"/>
              </a:rPr>
              <a:t>Order (Order Confirm Due Date)</a:t>
            </a:r>
          </a:p>
          <a:p>
            <a:r>
              <a:rPr lang="en-US" sz="1600" dirty="0">
                <a:cs typeface="+mn-cs"/>
              </a:rPr>
              <a:t>PLN-03 : </a:t>
            </a:r>
            <a:r>
              <a:rPr lang="th-TH" sz="1600" dirty="0">
                <a:cs typeface="+mn-cs"/>
              </a:rPr>
              <a:t>การยืนยันแผนการผลิต สินค้า (</a:t>
            </a:r>
            <a:r>
              <a:rPr lang="en-US" sz="1600" dirty="0">
                <a:cs typeface="+mn-cs"/>
              </a:rPr>
              <a:t>Firm Job)</a:t>
            </a:r>
          </a:p>
          <a:p>
            <a:r>
              <a:rPr lang="en-US" sz="1600" dirty="0">
                <a:cs typeface="+mn-cs"/>
              </a:rPr>
              <a:t>PLN-05 : </a:t>
            </a:r>
            <a:r>
              <a:rPr lang="th-TH" sz="1600" dirty="0">
                <a:cs typeface="+mn-cs"/>
              </a:rPr>
              <a:t>การวางแผนการผลิต สินค้า </a:t>
            </a:r>
            <a:endParaRPr lang="en-US" sz="1600" dirty="0">
              <a:cs typeface="+mn-cs"/>
            </a:endParaRPr>
          </a:p>
          <a:p>
            <a:r>
              <a:rPr lang="en-US" sz="1600" dirty="0">
                <a:cs typeface="+mn-cs"/>
              </a:rPr>
              <a:t>PLN-06 : </a:t>
            </a:r>
            <a:r>
              <a:rPr lang="th-TH" sz="1600" dirty="0">
                <a:cs typeface="+mn-cs"/>
              </a:rPr>
              <a:t>การจัดการ </a:t>
            </a:r>
            <a:r>
              <a:rPr lang="en-US" sz="1600" dirty="0">
                <a:cs typeface="+mn-cs"/>
              </a:rPr>
              <a:t>Job Scheduling</a:t>
            </a:r>
          </a:p>
          <a:p>
            <a:r>
              <a:rPr lang="en-US" sz="1600" dirty="0">
                <a:cs typeface="+mn-cs"/>
              </a:rPr>
              <a:t>PLN-07 : Process Scheduling</a:t>
            </a:r>
          </a:p>
          <a:p>
            <a:r>
              <a:rPr lang="en-US" sz="1600" dirty="0">
                <a:cs typeface="+mn-cs"/>
              </a:rPr>
              <a:t>PLN-08 :</a:t>
            </a:r>
            <a:r>
              <a:rPr lang="th-TH" sz="1600" dirty="0">
                <a:cs typeface="+mn-cs"/>
              </a:rPr>
              <a:t>การปรับแผนการผลิต สินค้า </a:t>
            </a:r>
            <a:endParaRPr lang="en-US" sz="1600" dirty="0">
              <a:cs typeface="+mn-cs"/>
            </a:endParaRPr>
          </a:p>
          <a:p>
            <a:r>
              <a:rPr lang="en-US" sz="1600" dirty="0">
                <a:cs typeface="+mn-cs"/>
              </a:rPr>
              <a:t>PLN-09 : Job Process Detail</a:t>
            </a:r>
          </a:p>
          <a:p>
            <a:r>
              <a:rPr lang="en-US" sz="1600" dirty="0">
                <a:cs typeface="+mn-cs"/>
              </a:rPr>
              <a:t>PLN-10 :</a:t>
            </a:r>
            <a:r>
              <a:rPr lang="th-TH" sz="1600" dirty="0">
                <a:cs typeface="+mn-cs"/>
              </a:rPr>
              <a:t>การยกเลิกการผลิต สินค้า </a:t>
            </a:r>
            <a:endParaRPr lang="en-US" sz="1600" dirty="0">
              <a:cs typeface="+mn-cs"/>
            </a:endParaRPr>
          </a:p>
          <a:p>
            <a:r>
              <a:rPr lang="en-US" sz="1600" dirty="0">
                <a:cs typeface="+mn-cs"/>
              </a:rPr>
              <a:t>PLN-11 :</a:t>
            </a:r>
            <a:r>
              <a:rPr lang="th-TH" sz="1600" dirty="0">
                <a:cs typeface="+mn-cs"/>
              </a:rPr>
              <a:t>กรณีต้องการรับ</a:t>
            </a:r>
            <a:r>
              <a:rPr lang="en-US" sz="1600" dirty="0">
                <a:cs typeface="+mn-cs"/>
              </a:rPr>
              <a:t>WIP</a:t>
            </a:r>
            <a:r>
              <a:rPr lang="th-TH" sz="1600" dirty="0">
                <a:cs typeface="+mn-cs"/>
              </a:rPr>
              <a:t>เนื้อน้ำจิ้มที่เกินหรือ ผลิตไม่จบจาก </a:t>
            </a:r>
            <a:r>
              <a:rPr lang="en-US" sz="1600" dirty="0">
                <a:cs typeface="+mn-cs"/>
              </a:rPr>
              <a:t>WIP</a:t>
            </a:r>
            <a:r>
              <a:rPr lang="th-TH" sz="1600" dirty="0">
                <a:cs typeface="+mn-cs"/>
              </a:rPr>
              <a:t>ขวด</a:t>
            </a:r>
          </a:p>
          <a:p>
            <a:pPr marL="0" indent="0">
              <a:buNone/>
            </a:pPr>
            <a:endParaRPr lang="th-TH" sz="1600" dirty="0">
              <a:cs typeface="+mn-cs"/>
            </a:endParaRPr>
          </a:p>
          <a:p>
            <a:pPr marL="0" indent="0" algn="ctr">
              <a:buNone/>
            </a:pPr>
            <a:r>
              <a:rPr lang="th-TH" sz="3200" b="1" dirty="0">
                <a:solidFill>
                  <a:srgbClr val="FFFF00"/>
                </a:solidFill>
                <a:cs typeface="+mn-cs"/>
              </a:rPr>
              <a:t>ตามโปรแกรม ตามโฟลว์ การออกแบบของ  </a:t>
            </a:r>
            <a:r>
              <a:rPr lang="en-US" sz="3200" b="1" dirty="0">
                <a:solidFill>
                  <a:srgbClr val="FFFF00"/>
                </a:solidFill>
                <a:cs typeface="+mn-cs"/>
              </a:rPr>
              <a:t>EPICOR</a:t>
            </a:r>
            <a:endParaRPr lang="th-TH" sz="3200" b="1" dirty="0">
              <a:solidFill>
                <a:srgbClr val="FFFF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468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0914" y="515155"/>
          <a:ext cx="11062951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06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165889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693933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1. </a:t>
                      </a: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กระบวนการ (</a:t>
                      </a:r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ENG-02/04/05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การสร้างแก้ไขข้อมูลสูตรการผลิต (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BOM)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ของรายการ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WIP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999264">
                <a:tc>
                  <a:txBody>
                    <a:bodyPr/>
                    <a:lstStyle/>
                    <a:p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2. </a:t>
                      </a:r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ข้อมูลที่ต้องใช้</a:t>
                      </a:r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endParaRPr lang="en-US" sz="2100" i="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 put)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เอกสารสูตรการผลิต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วัตถุดิบ /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Premix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Revision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609925">
                <a:tc>
                  <a:txBody>
                    <a:bodyPr/>
                    <a:lstStyle/>
                    <a:p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3.</a:t>
                      </a:r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ขั้นตอนย่อย </a:t>
                      </a:r>
                      <a:endParaRPr lang="en-US" sz="2100" i="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Sub process)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การสร้างแฟ้มงาน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revision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/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แก้ไข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Bill of Material (BOM) (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เลือกรายการที่ต้องการจัดทำ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Check out part)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การจัดเก็บข้อมูลเข้าระบบ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(Check in all)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ตรวจสอบการนำเข้าข้อมูลในระบบ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304595">
                <a:tc>
                  <a:txBody>
                    <a:bodyPr/>
                    <a:lstStyle/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4. ความเสี่ยง </a:t>
                      </a:r>
                    </a:p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R1.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วัตถุดิบ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ไม่ครบถ้วน หรือไม่ถูกต้อง</a:t>
                      </a: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R2.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Premix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ไม่ครบถ้วน หรือไม่ถูกต้อง</a:t>
                      </a: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R3.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อ้างอิงเอกสารสูตรการผลิตผิด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Revision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4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ข้อมูลสูตรการผลิตผิด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084745">
                <a:tc>
                  <a:txBody>
                    <a:bodyPr/>
                    <a:lstStyle/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5. จุดควบคุม</a:t>
                      </a: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Control point)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ตรวจสอบข้อมูลกับฝ่ายต้นทุน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ตรวจสอบข้อมูลการรัน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Code 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ของแผนก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RD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ตรวจสอบข้อมูลจากบัญชีแม่บท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ตรวจสอบข้อมูลเปรียบเทียบกับสูตรทดลองจากแฟ้มพัฒนาผลิตภัณฑ์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0" y="64395"/>
            <a:ext cx="6599724" cy="45076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ENG-02/04/05 </a:t>
            </a:r>
            <a:r>
              <a:rPr lang="th-TH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การสร้างแก้ไขข้อมูลสูตรการผลิต</a:t>
            </a:r>
            <a:r>
              <a:rPr lang="en-US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sz="3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8872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2818</TotalTime>
  <Words>2810</Words>
  <Application>Microsoft Office PowerPoint</Application>
  <PresentationFormat>Widescreen</PresentationFormat>
  <Paragraphs>426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Century Gothic</vt:lpstr>
      <vt:lpstr>Cordia New</vt:lpstr>
      <vt:lpstr>Wingdings 2</vt:lpstr>
      <vt:lpstr>Wingdings 3</vt:lpstr>
      <vt:lpstr>Ion</vt:lpstr>
      <vt:lpstr>Process Scheduling &amp; วางแผน</vt:lpstr>
      <vt:lpstr>Process Scheduling &amp; วางแผน</vt:lpstr>
      <vt:lpstr>การวางแผนการผลิต สินค้า  </vt:lpstr>
      <vt:lpstr>กิจกรรมที่ 1  การติดตามดู Job ทั้งหมดด้วย : Job status Maintenance 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PLN-03 : การยืนยันแผนการผลิต สินค้า (Firm Job) </vt:lpstr>
      <vt:lpstr>การวางแผนการผลิต สินค้า </vt:lpstr>
      <vt:lpstr>กิจกรรมที่  2  การจัด Job เพื่อเตรียม ทำเป็นแผนประจำเดือน / ประจำสัปดาห์ / ประจำวัน</vt:lpstr>
      <vt:lpstr>กิจกรรมที่  2  การจัด Job เพื่อเตรียม ทำเป็นแผนประจำเดือน / ประจำสัปดาห์ / ประจำวัน</vt:lpstr>
      <vt:lpstr>กิจกรรมที่  2  การจัด Job เพื่อเตรียม ทำเป็นแผนประจำเดือน / ประจำสัปดาห์ / ประจำวัน</vt:lpstr>
      <vt:lpstr>การวางแผนการผลิต สินค้า 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กิจกรรมที่  3  การปรับแผน โยกไลน์  หม้อต้ม / บรรจุ / ติดฉลาก  Process Scheduling</vt:lpstr>
      <vt:lpstr>การวางแผนการผลิต สินค้า </vt:lpstr>
      <vt:lpstr>กิจกรรมที่  4  การปล่อยแผน Job Releas</vt:lpstr>
      <vt:lpstr>กิจกรรมที่  4  การปล่อยแผน Job Releas</vt:lpstr>
      <vt:lpstr>กิจกรรมที่  4  การปล่อยแผน Job Releas</vt:lpstr>
      <vt:lpstr>กิจกรรมที่  4  การปล่อยแผน Job Releas</vt:lpstr>
      <vt:lpstr>กิจกรรมที่  4  การปล่อยแผน Job Releas</vt:lpstr>
      <vt:lpstr>กิจกรรมที่  4  การปล่อยแผน Job Releas</vt:lpstr>
      <vt:lpstr>สิ้นสุด กระบวนการวางแผนผลิต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Bundit Singkaew</dc:creator>
  <cp:lastModifiedBy>Bundit Singkaew</cp:lastModifiedBy>
  <cp:revision>114</cp:revision>
  <cp:lastPrinted>2025-10-18T08:37:40Z</cp:lastPrinted>
  <dcterms:created xsi:type="dcterms:W3CDTF">2024-08-04T12:01:13Z</dcterms:created>
  <dcterms:modified xsi:type="dcterms:W3CDTF">2025-10-18T10:36:38Z</dcterms:modified>
</cp:coreProperties>
</file>