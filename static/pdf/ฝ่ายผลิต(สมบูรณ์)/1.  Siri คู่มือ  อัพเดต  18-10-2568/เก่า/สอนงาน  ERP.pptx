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7" r:id="rId3"/>
    <p:sldId id="258" r:id="rId4"/>
    <p:sldId id="270" r:id="rId5"/>
    <p:sldId id="260" r:id="rId6"/>
    <p:sldId id="261" r:id="rId7"/>
    <p:sldId id="262" r:id="rId8"/>
    <p:sldId id="274" r:id="rId9"/>
    <p:sldId id="272" r:id="rId10"/>
    <p:sldId id="267" r:id="rId11"/>
    <p:sldId id="263" r:id="rId12"/>
    <p:sldId id="265" r:id="rId13"/>
    <p:sldId id="268" r:id="rId14"/>
    <p:sldId id="273" r:id="rId15"/>
    <p:sldId id="275" r:id="rId16"/>
    <p:sldId id="276" r:id="rId17"/>
  </p:sldIdLst>
  <p:sldSz cx="12192000" cy="6858000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800080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B78A697-9D75-4DE8-8C28-1296A6CF43C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D967-1B7E-40AA-AAF7-BA98E0E039F7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490F-3E6A-4544-9694-22B6007FE3C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F9620-38BC-4982-922B-C904A70C41DD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FC6-E80E-40CB-B83C-A6FFE3EF0BA6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863F-52DC-41B2-9D00-5A4E5632AC32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14-3909-43DC-A067-7F9842F8B81D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9323-6A73-409C-86A6-9EAF0F85112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0176-F1D3-49EC-82F4-0915A3AC4184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075A-B3CA-4308-8288-4AA3FDE33D80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4B8D-FEEF-4ACC-AE11-BD533592BCDC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26006-7E0B-4944-9FC8-8FFECA54B11C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3413-B80B-4905-8668-7292F4C8B0D5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9662-C6A4-45F9-A235-129F0C1DEF43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B764-976A-4040-BDCA-252C91CEE939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C935-CE77-4008-BAD9-6108F00BE393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62D5-4244-4B26-B385-E71032EABECD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0172865-FBF0-458A-BAFF-4F75173770F5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99259" y="670460"/>
            <a:ext cx="11041281" cy="2766528"/>
          </a:xfrm>
        </p:spPr>
        <p:txBody>
          <a:bodyPr>
            <a:noAutofit/>
          </a:bodyPr>
          <a:lstStyle/>
          <a:p>
            <a:pPr algn="ctr"/>
            <a:r>
              <a:rPr lang="th-TH" sz="144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สอนงาน  ระบบ </a:t>
            </a:r>
            <a:r>
              <a:rPr lang="en-US" sz="144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ERP</a:t>
            </a:r>
            <a:endParaRPr lang="th-TH" sz="14400" dirty="0">
              <a:solidFill>
                <a:srgbClr val="FF000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E9238F-C0CB-452D-8FE6-4BFB42092443}"/>
              </a:ext>
            </a:extLst>
          </p:cNvPr>
          <p:cNvSpPr/>
          <p:nvPr/>
        </p:nvSpPr>
        <p:spPr>
          <a:xfrm>
            <a:off x="6891368" y="4677601"/>
            <a:ext cx="4314001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Britannic Bold" panose="020B0903060703020204" pitchFamily="34" charset="0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417702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73805-352B-468A-AA94-42EC0902B528}"/>
              </a:ext>
            </a:extLst>
          </p:cNvPr>
          <p:cNvSpPr/>
          <p:nvPr/>
        </p:nvSpPr>
        <p:spPr>
          <a:xfrm>
            <a:off x="4805599" y="330199"/>
            <a:ext cx="6443133" cy="527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PLN-08 : Job Process Detail 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JOB-01 :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</a:rPr>
              <a:t>Issue Material to Job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JOB-02 : Issue Material to Production Floor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JOB-03 : Issue Material from Production Floor to Job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JOB-04 : Return Material from Job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JOB-05 : Return Material from Job Case </a:t>
            </a:r>
            <a:r>
              <a:rPr lang="th-TH" sz="1600" dirty="0">
                <a:solidFill>
                  <a:srgbClr val="000000"/>
                </a:solidFill>
                <a:latin typeface="Tahoma" panose="020B0604030504040204" pitchFamily="34" charset="0"/>
              </a:rPr>
              <a:t>กระเทียม-บ้านบ่อ</a:t>
            </a:r>
            <a:endParaRPr lang="th-TH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JOB-06 : Return Material from Production Floor to W/H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JOB-07 :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</a:rPr>
              <a:t>Inventory Transfer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JOB-08 :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</a:rPr>
              <a:t>Issue Miscellaneous Material</a:t>
            </a: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  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JOB-09 :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</a:rPr>
              <a:t>Return Miscellaneous Material</a:t>
            </a: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  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JOB-10 :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</a:rPr>
              <a:t>Time and Expense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JOB-11 :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</a:rPr>
              <a:t>Job Receipt to Inventory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JOB-12 : Receipt </a:t>
            </a:r>
            <a:r>
              <a:rPr lang="th-TH" sz="1600" dirty="0">
                <a:solidFill>
                  <a:srgbClr val="000000"/>
                </a:solidFill>
                <a:latin typeface="Tahoma" panose="020B0604030504040204" pitchFamily="34" charset="0"/>
              </a:rPr>
              <a:t>ผลิต </a:t>
            </a: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Scrap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JOB-13 :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</a:rPr>
              <a:t>Job Closing Process</a:t>
            </a: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 </a:t>
            </a:r>
            <a:endParaRPr lang="en-US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</a:rPr>
              <a:t>PLN-11 :</a:t>
            </a:r>
            <a:r>
              <a:rPr lang="th-TH" sz="1600" dirty="0">
                <a:solidFill>
                  <a:srgbClr val="0070C0"/>
                </a:solidFill>
                <a:latin typeface="Tahoma" panose="020B0604030504040204" pitchFamily="34" charset="0"/>
              </a:rPr>
              <a:t>กรณีต้องการรับ</a:t>
            </a:r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</a:rPr>
              <a:t>WIP</a:t>
            </a:r>
            <a:r>
              <a:rPr lang="th-TH" sz="1600" dirty="0">
                <a:solidFill>
                  <a:srgbClr val="0070C0"/>
                </a:solidFill>
                <a:latin typeface="Tahoma" panose="020B0604030504040204" pitchFamily="34" charset="0"/>
              </a:rPr>
              <a:t>เนื้อน้ำจิ้มที่เกินหรือผลิตไม่จบจาก </a:t>
            </a:r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</a:rPr>
              <a:t>WIP</a:t>
            </a:r>
            <a:r>
              <a:rPr lang="th-TH" sz="1600" dirty="0">
                <a:solidFill>
                  <a:srgbClr val="0070C0"/>
                </a:solidFill>
                <a:latin typeface="Tahoma" panose="020B0604030504040204" pitchFamily="34" charset="0"/>
              </a:rPr>
              <a:t>ขวด</a:t>
            </a:r>
            <a:endParaRPr lang="th-TH" sz="1600" dirty="0">
              <a:solidFill>
                <a:srgbClr val="0070C0"/>
              </a:solidFill>
            </a:endParaRPr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70C0"/>
                </a:solidFill>
                <a:latin typeface="Tahoma" panose="020B0604030504040204" pitchFamily="34" charset="0"/>
              </a:rPr>
              <a:t>JOB-14 : </a:t>
            </a:r>
            <a:r>
              <a:rPr lang="th-TH" sz="1600" dirty="0">
                <a:solidFill>
                  <a:srgbClr val="0070C0"/>
                </a:solidFill>
                <a:latin typeface="Tahoma" panose="020B0604030504040204" pitchFamily="34" charset="0"/>
              </a:rPr>
              <a:t>กรณีการผลิตฝาใส่ฟรอยด์-บ้านบ่อ</a:t>
            </a:r>
            <a:endParaRPr lang="th-TH" sz="1600" dirty="0">
              <a:solidFill>
                <a:srgbClr val="0070C0"/>
              </a:solidFill>
            </a:endParaRPr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JOB-15 : </a:t>
            </a:r>
            <a:r>
              <a:rPr lang="th-TH" sz="1600" dirty="0">
                <a:solidFill>
                  <a:srgbClr val="000000"/>
                </a:solidFill>
                <a:latin typeface="Tahoma" panose="020B0604030504040204" pitchFamily="34" charset="0"/>
              </a:rPr>
              <a:t>กรณี </a:t>
            </a: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Case </a:t>
            </a:r>
            <a:r>
              <a:rPr lang="th-TH" sz="1600" dirty="0">
                <a:solidFill>
                  <a:srgbClr val="000000"/>
                </a:solidFill>
                <a:latin typeface="Tahoma" panose="020B0604030504040204" pitchFamily="34" charset="0"/>
              </a:rPr>
              <a:t>ล้างขวด-บ้านบ่อ</a:t>
            </a:r>
            <a:endParaRPr lang="th-TH" sz="1600" dirty="0"/>
          </a:p>
          <a:p>
            <a:pPr>
              <a:spcBef>
                <a:spcPts val="280"/>
              </a:spcBef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JOB-16 : </a:t>
            </a:r>
            <a:r>
              <a:rPr lang="th-TH" sz="1600" dirty="0">
                <a:solidFill>
                  <a:srgbClr val="000000"/>
                </a:solidFill>
                <a:latin typeface="Tahoma" panose="020B0604030504040204" pitchFamily="34" charset="0"/>
              </a:rPr>
              <a:t>การบันทึกอุณหภูมิ %</a:t>
            </a: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Fat </a:t>
            </a:r>
            <a:r>
              <a:rPr lang="th-TH" sz="1600" dirty="0">
                <a:solidFill>
                  <a:srgbClr val="000000"/>
                </a:solidFill>
                <a:latin typeface="Tahoma" panose="020B0604030504040204" pitchFamily="34" charset="0"/>
              </a:rPr>
              <a:t>และค่าต่างๆในกระบวรการต้ม-พร้าวหอม</a:t>
            </a:r>
            <a:endParaRPr lang="th-TH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7A4144-DF3F-464A-8EC7-2E16B8D2CBAC}"/>
              </a:ext>
            </a:extLst>
          </p:cNvPr>
          <p:cNvSpPr/>
          <p:nvPr/>
        </p:nvSpPr>
        <p:spPr>
          <a:xfrm>
            <a:off x="139320" y="520468"/>
            <a:ext cx="425949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 Be Process </a:t>
            </a:r>
          </a:p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ERP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963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938" y="1068383"/>
            <a:ext cx="11317329" cy="51969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514350" indent="-514350">
              <a:buAutoNum type="arabicPeriod"/>
            </a:pP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แผนออก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Job 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      เตรียมวัตถุดิบ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ต้ม  บรรจุ  ติดฉลาก 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SU  Job  Status</a:t>
            </a:r>
          </a:p>
          <a:p>
            <a:pPr marL="514350" indent="-514350">
              <a:buFontTx/>
              <a:buAutoNum type="arabicPeriod"/>
            </a:pP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ฝ่ายผลิตทำการเบิกของตาม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Job </a:t>
            </a: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ที่ได้จากวางแผน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  </a:t>
            </a:r>
            <a:r>
              <a:rPr lang="en-US" sz="32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CP Inventory Request Transfer</a:t>
            </a:r>
            <a:endParaRPr lang="th-TH" sz="3200" dirty="0">
              <a:solidFill>
                <a:srgbClr val="FF000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marL="514350" indent="-514350">
              <a:buFontTx/>
              <a:buAutoNum type="arabicPeriod"/>
            </a:pP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รับวัตถุดิบบรรจุภัณฑ์ที่เบิกจากคลัง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       </a:t>
            </a:r>
            <a:r>
              <a:rPr lang="en-US" sz="32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CP Inventory Transfer Receive  Scan</a:t>
            </a:r>
            <a:endParaRPr lang="th-TH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marL="514350" indent="-514350">
              <a:buFontTx/>
              <a:buAutoNum type="arabicPeriod"/>
            </a:pP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ตัดสต๊อก             </a:t>
            </a:r>
            <a:r>
              <a:rPr lang="en-US" sz="32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Issue Material</a:t>
            </a:r>
            <a:endParaRPr lang="th-TH" sz="3200" dirty="0">
              <a:solidFill>
                <a:srgbClr val="FF000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marL="514350" indent="-514350">
              <a:buFontTx/>
              <a:buAutoNum type="arabicPeriod"/>
            </a:pPr>
            <a:r>
              <a:rPr lang="th-TH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ทำรับวัตถุดิบตัดแต่ง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 WIP</a:t>
            </a:r>
            <a:r>
              <a:rPr lang="th-TH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ต้ม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WIP</a:t>
            </a:r>
            <a:r>
              <a:rPr lang="th-TH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บรรจุ ที่อยู่ในอาคาร </a:t>
            </a:r>
            <a:r>
              <a:rPr lang="en-US" sz="32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Job Receipt to inventory </a:t>
            </a:r>
            <a:endParaRPr lang="th-TH" sz="3200" dirty="0">
              <a:solidFill>
                <a:srgbClr val="FF000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marL="514350" indent="-514350">
              <a:buFontTx/>
              <a:buAutoNum type="arabicPeriod"/>
            </a:pPr>
            <a:r>
              <a:rPr lang="th-TH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การโอนย้าย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Inventory Transfer </a:t>
            </a:r>
          </a:p>
          <a:p>
            <a:pPr marL="514350" indent="-514350">
              <a:buFontTx/>
              <a:buAutoNum type="arabicPeriod"/>
            </a:pP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ทำ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Tag WIP FG     </a:t>
            </a:r>
            <a:r>
              <a:rPr lang="en-US" sz="32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CP Job Tag Generate</a:t>
            </a:r>
            <a:endParaRPr lang="th-TH" sz="32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marL="514350" indent="-514350">
              <a:buAutoNum type="arabicPeriod"/>
            </a:pPr>
            <a:r>
              <a:rPr lang="th-TH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คีย์เวลาการทำงานลงไฟล์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Excel</a:t>
            </a:r>
            <a:endParaRPr lang="th-TH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marL="514350" indent="-514350">
              <a:buFontTx/>
              <a:buAutoNum type="arabicPeriod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DMT</a:t>
            </a:r>
            <a:endParaRPr lang="th-TH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  <a:p>
            <a:pPr marL="514350" indent="-514350">
              <a:buAutoNum type="arabicPeriod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Complete Job </a:t>
            </a:r>
            <a:r>
              <a:rPr lang="th-TH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ส่งวางแผน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     </a:t>
            </a:r>
            <a:r>
              <a:rPr lang="en-US" sz="32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SU Job Closing</a:t>
            </a:r>
            <a:endParaRPr lang="en-US" sz="32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3" name="Horizontal Scroll 2"/>
          <p:cNvSpPr/>
          <p:nvPr/>
        </p:nvSpPr>
        <p:spPr>
          <a:xfrm>
            <a:off x="298938" y="62194"/>
            <a:ext cx="7263925" cy="769122"/>
          </a:xfrm>
          <a:prstGeom prst="horizontalScroll">
            <a:avLst/>
          </a:prstGeom>
          <a:solidFill>
            <a:srgbClr val="66FFFF"/>
          </a:solidFill>
          <a:ln>
            <a:solidFill>
              <a:srgbClr val="00B0F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การทำงานของระบบ </a:t>
            </a:r>
            <a:r>
              <a:rPr lang="en-US" sz="4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ERP</a:t>
            </a:r>
            <a:endParaRPr lang="th-TH" sz="4000" dirty="0">
              <a:solidFill>
                <a:schemeClr val="tx1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1098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84652" y="1952267"/>
            <a:ext cx="8089074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S-P10  </a:t>
            </a:r>
            <a:r>
              <a:rPr lang="th-TH" sz="54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อาคาร1 วัตถุดิบ</a:t>
            </a:r>
            <a:endParaRPr lang="en-US" sz="54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S-P20  </a:t>
            </a:r>
            <a:r>
              <a:rPr lang="th-TH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อาคาร2</a:t>
            </a:r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S-P30  </a:t>
            </a:r>
            <a:r>
              <a:rPr lang="th-TH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อาคารน้ำพริกแกง / แกงกระป๋อง</a:t>
            </a:r>
            <a:endParaRPr lang="en-US" sz="5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S-P40   </a:t>
            </a:r>
            <a:r>
              <a:rPr lang="th-TH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อาคาร4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loud 2"/>
          <p:cNvSpPr/>
          <p:nvPr/>
        </p:nvSpPr>
        <p:spPr>
          <a:xfrm>
            <a:off x="71669" y="100667"/>
            <a:ext cx="4215105" cy="1929469"/>
          </a:xfrm>
          <a:prstGeom prst="cloud">
            <a:avLst/>
          </a:prstGeom>
          <a:solidFill>
            <a:srgbClr val="66FFFF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รหัส</a:t>
            </a:r>
            <a:r>
              <a:rPr lang="th-TH" sz="36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แต่</a:t>
            </a:r>
            <a:r>
              <a:rPr lang="th-TH" sz="4000" dirty="0">
                <a:solidFill>
                  <a:schemeClr val="tx1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ละอาคาร</a:t>
            </a:r>
          </a:p>
        </p:txBody>
      </p:sp>
    </p:spTree>
    <p:extLst>
      <p:ext uri="{BB962C8B-B14F-4D97-AF65-F5344CB8AC3E}">
        <p14:creationId xmlns:p14="http://schemas.microsoft.com/office/powerpoint/2010/main" val="313852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497" y="173801"/>
            <a:ext cx="54377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6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Britannic Bold" panose="020B0903060703020204" pitchFamily="34" charset="0"/>
                <a:cs typeface="Angsana New" panose="02020603050405020304" pitchFamily="18" charset="-34"/>
              </a:rPr>
              <a:t>เช็คบรรจุภัณฑ์ / </a:t>
            </a:r>
            <a:r>
              <a:rPr lang="en-US" sz="6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Britannic Bold" panose="020B0903060703020204" pitchFamily="34" charset="0"/>
                <a:cs typeface="Angsana New" panose="02020603050405020304" pitchFamily="18" charset="-34"/>
              </a:rPr>
              <a:t>WIP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726" y="1851074"/>
            <a:ext cx="52656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5400" dirty="0">
                <a:solidFill>
                  <a:prstClr val="black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CP  Monitor  Material Bulk</a:t>
            </a:r>
          </a:p>
          <a:p>
            <a:pPr defTabSz="914400"/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defTabSz="914400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SU Part On Hard</a:t>
            </a:r>
            <a:endParaRPr lang="th-TH" sz="5400" dirty="0">
              <a:solidFill>
                <a:prstClr val="black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6093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8916" y="1096753"/>
            <a:ext cx="532709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CP Inventory Request Transfer</a:t>
            </a:r>
            <a:endParaRPr lang="th-TH" sz="4800" dirty="0">
              <a:solidFill>
                <a:srgbClr val="FF000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750"/>
            <a:ext cx="37385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KodchiangUPC" panose="02020603050405020304" pitchFamily="18" charset="-34"/>
                <a:cs typeface="KodchiangUPC" panose="02020603050405020304" pitchFamily="18" charset="-34"/>
              </a:rPr>
              <a:t>การเบิกวัตถุดิบ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05996"/>
            <a:ext cx="120661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th-TH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ทำรับของผลิต วัตถุดิบ บรรจุภัณฑ์  </a:t>
            </a:r>
            <a:r>
              <a:rPr lang="en-US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WIP</a:t>
            </a:r>
            <a:r>
              <a:rPr lang="th-TH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0982" y="4176911"/>
            <a:ext cx="63754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CP Inventory Transfer Receive  Scan</a:t>
            </a:r>
            <a:endParaRPr lang="th-TH" sz="4800" dirty="0">
              <a:solidFill>
                <a:srgbClr val="FF000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7105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3276" y="2059744"/>
            <a:ext cx="45839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en-US" sz="6000" dirty="0">
                <a:solidFill>
                  <a:prstClr val="black"/>
                </a:solidFill>
                <a:latin typeface="Calibri" panose="020F0502020204030204"/>
              </a:rPr>
              <a:t>Issue Material</a:t>
            </a:r>
            <a:endParaRPr lang="th-TH" sz="6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723" y="163676"/>
            <a:ext cx="57885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8800" b="1" dirty="0">
                <a:ln>
                  <a:solidFill>
                    <a:srgbClr val="92D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การตัด  </a:t>
            </a:r>
            <a:r>
              <a:rPr lang="en-US" sz="8800" b="1" dirty="0">
                <a:ln>
                  <a:solidFill>
                    <a:srgbClr val="92D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Stock</a:t>
            </a:r>
            <a:endParaRPr lang="en-US" sz="8800" b="1" cap="none" spc="0" dirty="0">
              <a:ln>
                <a:solidFill>
                  <a:srgbClr val="92D050"/>
                </a:solidFill>
              </a:ln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52973" y="4540590"/>
            <a:ext cx="7482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ตัด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Stock  WIP </a:t>
            </a:r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/ 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FG </a:t>
            </a:r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/ วัตถุดิบ</a:t>
            </a:r>
          </a:p>
        </p:txBody>
      </p:sp>
      <p:sp>
        <p:nvSpPr>
          <p:cNvPr id="5" name="Down Arrow 4"/>
          <p:cNvSpPr/>
          <p:nvPr/>
        </p:nvSpPr>
        <p:spPr>
          <a:xfrm>
            <a:off x="4160939" y="3204593"/>
            <a:ext cx="855678" cy="120801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12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84977" y="1752249"/>
            <a:ext cx="671049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Inventory 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942" y="171268"/>
            <a:ext cx="457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6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การโอนย้าย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15938450-C56C-4674-A589-1574040139C2}"/>
              </a:ext>
            </a:extLst>
          </p:cNvPr>
          <p:cNvSpPr/>
          <p:nvPr/>
        </p:nvSpPr>
        <p:spPr>
          <a:xfrm>
            <a:off x="4423406" y="3001393"/>
            <a:ext cx="855678" cy="120801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BEBCA-B958-4B04-9E6D-A96F509E5E73}"/>
              </a:ext>
            </a:extLst>
          </p:cNvPr>
          <p:cNvSpPr txBox="1"/>
          <p:nvPr/>
        </p:nvSpPr>
        <p:spPr>
          <a:xfrm>
            <a:off x="2481942" y="4800600"/>
            <a:ext cx="7373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/>
              <a:t>การโอนย้ายข้ามอาคาร   </a:t>
            </a:r>
            <a:r>
              <a:rPr lang="en-US" sz="3600" dirty="0"/>
              <a:t>FG  WIP </a:t>
            </a:r>
            <a:r>
              <a:rPr lang="th-TH" sz="3600" dirty="0"/>
              <a:t> บรรจุภัณฑ์   </a:t>
            </a:r>
          </a:p>
        </p:txBody>
      </p:sp>
    </p:spTree>
    <p:extLst>
      <p:ext uri="{BB962C8B-B14F-4D97-AF65-F5344CB8AC3E}">
        <p14:creationId xmlns:p14="http://schemas.microsoft.com/office/powerpoint/2010/main" val="411776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723" y="163676"/>
            <a:ext cx="57885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8800" b="1" dirty="0">
                <a:ln>
                  <a:solidFill>
                    <a:srgbClr val="92D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การคืนวัตถุดิบ</a:t>
            </a:r>
            <a:endParaRPr lang="en-US" sz="8800" b="1" cap="none" spc="0" dirty="0">
              <a:ln>
                <a:solidFill>
                  <a:srgbClr val="92D050"/>
                </a:solidFill>
              </a:ln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9978" y="1881052"/>
            <a:ext cx="5381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5400" dirty="0">
                <a:solidFill>
                  <a:prstClr val="black"/>
                </a:solidFill>
                <a:latin typeface="Britannic Bold" panose="020B0903060703020204" pitchFamily="34" charset="0"/>
              </a:rPr>
              <a:t>Return Material</a:t>
            </a:r>
            <a:endParaRPr lang="th-TH" sz="5400" dirty="0">
              <a:solidFill>
                <a:prstClr val="black"/>
              </a:solidFill>
              <a:latin typeface="Britannic Bold" panose="020B0903060703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6848" y="4283223"/>
            <a:ext cx="7482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คืน  บรรจุภัณฑ์ / 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WIP </a:t>
            </a:r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/ 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FG </a:t>
            </a:r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/ วัตถุดิบ</a:t>
            </a:r>
          </a:p>
        </p:txBody>
      </p:sp>
      <p:sp>
        <p:nvSpPr>
          <p:cNvPr id="5" name="Down Arrow 4"/>
          <p:cNvSpPr/>
          <p:nvPr/>
        </p:nvSpPr>
        <p:spPr>
          <a:xfrm>
            <a:off x="4539762" y="3075208"/>
            <a:ext cx="855678" cy="1208015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7824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278" y="233349"/>
            <a:ext cx="74745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8800" b="1" dirty="0">
                <a:solidFill>
                  <a:srgbClr val="7030A0"/>
                </a:solidFill>
                <a:latin typeface="KodchiangUPC" panose="02020603050405020304" pitchFamily="18" charset="-34"/>
                <a:cs typeface="KodchiangUPC" panose="02020603050405020304" pitchFamily="18" charset="-34"/>
              </a:rPr>
              <a:t>การทำรับ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818172" y="2397047"/>
            <a:ext cx="602280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dirty="0">
                <a:latin typeface="JasmineUPC" panose="02020603050405020304" pitchFamily="18" charset="-34"/>
                <a:cs typeface="JasmineUPC" panose="02020603050405020304" pitchFamily="18" charset="-34"/>
              </a:rPr>
              <a:t>Job Receipt to inventory </a:t>
            </a:r>
            <a:endParaRPr lang="th-TH" sz="6600" dirty="0"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02589" y="4395831"/>
            <a:ext cx="7482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ทำรับ  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WIP </a:t>
            </a:r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/ 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FG / </a:t>
            </a:r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นน.ต้ม / วัตถุดิบ</a:t>
            </a:r>
          </a:p>
        </p:txBody>
      </p:sp>
      <p:sp>
        <p:nvSpPr>
          <p:cNvPr id="5" name="Down Arrow 4"/>
          <p:cNvSpPr/>
          <p:nvPr/>
        </p:nvSpPr>
        <p:spPr>
          <a:xfrm>
            <a:off x="5041783" y="3389151"/>
            <a:ext cx="595619" cy="83303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550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927" y="223338"/>
            <a:ext cx="5402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7200" b="1" dirty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การสร้าง </a:t>
            </a:r>
            <a:r>
              <a:rPr lang="en-US" sz="7200" b="1" dirty="0">
                <a:solidFill>
                  <a:srgbClr val="7030A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Tag </a:t>
            </a:r>
            <a:endParaRPr lang="th-TH" sz="7200" b="1" dirty="0">
              <a:solidFill>
                <a:srgbClr val="7030A0"/>
              </a:solidFill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636" y="1801428"/>
            <a:ext cx="523091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dirty="0">
                <a:latin typeface="JasmineUPC" panose="02020603050405020304" pitchFamily="18" charset="-34"/>
                <a:cs typeface="JasmineUPC" panose="02020603050405020304" pitchFamily="18" charset="-34"/>
              </a:rPr>
              <a:t>CP Job Tag Generate</a:t>
            </a:r>
            <a:endParaRPr lang="th-TH" sz="6600" dirty="0"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11647" y="3741490"/>
            <a:ext cx="4177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สร้าง 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Tag WIP </a:t>
            </a:r>
            <a:r>
              <a:rPr lang="th-TH" sz="5400" dirty="0">
                <a:latin typeface="IrisUPC" panose="020B0604020202020204" pitchFamily="34" charset="-34"/>
                <a:cs typeface="IrisUPC" panose="020B0604020202020204" pitchFamily="34" charset="-34"/>
              </a:rPr>
              <a:t>/ </a:t>
            </a:r>
            <a:r>
              <a:rPr lang="en-US" sz="5400" dirty="0">
                <a:latin typeface="IrisUPC" panose="020B0604020202020204" pitchFamily="34" charset="-34"/>
                <a:cs typeface="IrisUPC" panose="020B0604020202020204" pitchFamily="34" charset="-34"/>
              </a:rPr>
              <a:t>FG</a:t>
            </a:r>
            <a:endParaRPr lang="th-TH" sz="5400" dirty="0"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4320330" y="2827090"/>
            <a:ext cx="402672" cy="687897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8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80572A-A3E3-AC03-4A5D-38508611CD7D}"/>
              </a:ext>
            </a:extLst>
          </p:cNvPr>
          <p:cNvSpPr/>
          <p:nvPr/>
        </p:nvSpPr>
        <p:spPr>
          <a:xfrm>
            <a:off x="63542" y="176168"/>
            <a:ext cx="691407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8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9966F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การคีย์เวลาทำงาน</a:t>
            </a:r>
            <a:endParaRPr lang="en-US" sz="8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9966FF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59748" y="1484278"/>
            <a:ext cx="616226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dirty="0">
                <a:latin typeface="JasmineUPC" panose="02020603050405020304" pitchFamily="18" charset="-34"/>
                <a:cs typeface="JasmineUPC" panose="02020603050405020304" pitchFamily="18" charset="-34"/>
              </a:rPr>
              <a:t>Time And Expense Entry </a:t>
            </a:r>
          </a:p>
          <a:p>
            <a:r>
              <a:rPr lang="en-US" sz="6600" dirty="0">
                <a:latin typeface="JasmineUPC" panose="02020603050405020304" pitchFamily="18" charset="-34"/>
                <a:cs typeface="JasmineUPC" panose="02020603050405020304" pitchFamily="18" charset="-34"/>
              </a:rPr>
              <a:t>DMT </a:t>
            </a:r>
            <a:r>
              <a:rPr lang="th-TH" sz="6600" dirty="0">
                <a:latin typeface="JasmineUPC" panose="02020603050405020304" pitchFamily="18" charset="-34"/>
                <a:cs typeface="JasmineUPC" panose="02020603050405020304" pitchFamily="18" charset="-34"/>
              </a:rPr>
              <a:t>เข้าระบบ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E98CFA18-03C7-4657-B448-09C029A359AA}"/>
              </a:ext>
            </a:extLst>
          </p:cNvPr>
          <p:cNvSpPr/>
          <p:nvPr/>
        </p:nvSpPr>
        <p:spPr>
          <a:xfrm>
            <a:off x="4131733" y="3607936"/>
            <a:ext cx="516467" cy="550333"/>
          </a:xfrm>
          <a:prstGeom prst="down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0F8F47-8F0B-46DF-BDE5-AA19B24C2426}"/>
              </a:ext>
            </a:extLst>
          </p:cNvPr>
          <p:cNvSpPr txBox="1"/>
          <p:nvPr/>
        </p:nvSpPr>
        <p:spPr>
          <a:xfrm>
            <a:off x="1359748" y="4495800"/>
            <a:ext cx="6239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/>
              <a:t>การลงเวลาการทำงานแต่ละ </a:t>
            </a:r>
            <a:r>
              <a:rPr lang="en-US" sz="3600" dirty="0"/>
              <a:t>Job  </a:t>
            </a:r>
            <a:r>
              <a:rPr lang="th-TH" sz="3600" dirty="0"/>
              <a:t>การผลิต</a:t>
            </a:r>
          </a:p>
        </p:txBody>
      </p:sp>
    </p:spTree>
    <p:extLst>
      <p:ext uri="{BB962C8B-B14F-4D97-AF65-F5344CB8AC3E}">
        <p14:creationId xmlns:p14="http://schemas.microsoft.com/office/powerpoint/2010/main" val="146978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0B2D6D-F2A1-479D-8333-CCE6E0CD1D51}"/>
              </a:ext>
            </a:extLst>
          </p:cNvPr>
          <p:cNvSpPr txBox="1"/>
          <p:nvPr/>
        </p:nvSpPr>
        <p:spPr>
          <a:xfrm>
            <a:off x="2083842" y="1741305"/>
            <a:ext cx="58457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ritannic Bold" panose="020B0903060703020204" pitchFamily="34" charset="0"/>
              </a:rPr>
              <a:t>SU Job Closing</a:t>
            </a:r>
            <a:endParaRPr lang="th-TH" sz="6000" dirty="0">
              <a:latin typeface="Britannic Bold" panose="020B0903060703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20D8E-8ACE-4DDF-B6C9-041860CAADF1}"/>
              </a:ext>
            </a:extLst>
          </p:cNvPr>
          <p:cNvSpPr/>
          <p:nvPr/>
        </p:nvSpPr>
        <p:spPr>
          <a:xfrm>
            <a:off x="109268" y="130628"/>
            <a:ext cx="558999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8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</a:t>
            </a:r>
            <a:r>
              <a:rPr lang="en-US" sz="8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 complete  Job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0907F68B-2849-4BB5-B4B9-D41BEF29BDD8}"/>
              </a:ext>
            </a:extLst>
          </p:cNvPr>
          <p:cNvSpPr/>
          <p:nvPr/>
        </p:nvSpPr>
        <p:spPr>
          <a:xfrm>
            <a:off x="4318000" y="2895600"/>
            <a:ext cx="643467" cy="795867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83FF7-C19F-448A-8CE0-073A26ABD097}"/>
              </a:ext>
            </a:extLst>
          </p:cNvPr>
          <p:cNvSpPr txBox="1"/>
          <p:nvPr/>
        </p:nvSpPr>
        <p:spPr>
          <a:xfrm>
            <a:off x="2083842" y="4495800"/>
            <a:ext cx="8516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/>
              <a:t>การ </a:t>
            </a:r>
            <a:r>
              <a:rPr lang="en-US" sz="3200" dirty="0"/>
              <a:t>Complete Job </a:t>
            </a:r>
            <a:r>
              <a:rPr lang="th-TH" sz="3200" dirty="0"/>
              <a:t>ที่ทำการผลิตเสร็จแล้ว  ส่งให้วางแผนปิด</a:t>
            </a:r>
          </a:p>
        </p:txBody>
      </p:sp>
    </p:spTree>
    <p:extLst>
      <p:ext uri="{BB962C8B-B14F-4D97-AF65-F5344CB8AC3E}">
        <p14:creationId xmlns:p14="http://schemas.microsoft.com/office/powerpoint/2010/main" val="408374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2657" y="224134"/>
            <a:ext cx="999183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Issue Miscellaneous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6365" y="2676216"/>
            <a:ext cx="100192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800" dirty="0"/>
              <a:t>       การตัดของออกจากผลิตโดยไม่เข้า </a:t>
            </a:r>
            <a:r>
              <a:rPr lang="en-US" sz="4800" dirty="0"/>
              <a:t>Job  </a:t>
            </a:r>
            <a:r>
              <a:rPr lang="th-TH" sz="4800" dirty="0"/>
              <a:t> เช่น  ตัวอย่าง </a:t>
            </a:r>
            <a:r>
              <a:rPr lang="en-US" sz="4800" dirty="0"/>
              <a:t>,</a:t>
            </a:r>
            <a:r>
              <a:rPr lang="th-TH" sz="4800" dirty="0"/>
              <a:t> </a:t>
            </a:r>
            <a:r>
              <a:rPr lang="en-US" sz="4800" dirty="0"/>
              <a:t>Reprocess , </a:t>
            </a:r>
            <a:r>
              <a:rPr lang="th-TH" sz="4800" dirty="0"/>
              <a:t>น้ำ </a:t>
            </a:r>
            <a:r>
              <a:rPr lang="en-US" sz="4800" dirty="0"/>
              <a:t>, </a:t>
            </a:r>
            <a:r>
              <a:rPr lang="th-TH" sz="4800" dirty="0"/>
              <a:t>วัสดุสิ้นเปลือง</a:t>
            </a:r>
          </a:p>
        </p:txBody>
      </p:sp>
    </p:spTree>
    <p:extLst>
      <p:ext uri="{BB962C8B-B14F-4D97-AF65-F5344CB8AC3E}">
        <p14:creationId xmlns:p14="http://schemas.microsoft.com/office/powerpoint/2010/main" val="329155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222" y="344614"/>
            <a:ext cx="105160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</a:rPr>
              <a:t>Return Miscellaneous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18" y="2728468"/>
            <a:ext cx="11249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800" dirty="0"/>
              <a:t>        การรับของจากผลิตโดยไม่เข้า </a:t>
            </a:r>
            <a:r>
              <a:rPr lang="en-US" sz="4800" dirty="0"/>
              <a:t>Job  </a:t>
            </a:r>
            <a:r>
              <a:rPr lang="th-TH" sz="4800" dirty="0"/>
              <a:t> เช่น</a:t>
            </a:r>
            <a:r>
              <a:rPr lang="en-US" sz="4800" dirty="0"/>
              <a:t>Reprocess , </a:t>
            </a:r>
            <a:r>
              <a:rPr lang="th-TH" sz="4800" dirty="0"/>
              <a:t>น้ำ </a:t>
            </a:r>
          </a:p>
        </p:txBody>
      </p:sp>
    </p:spTree>
    <p:extLst>
      <p:ext uri="{BB962C8B-B14F-4D97-AF65-F5344CB8AC3E}">
        <p14:creationId xmlns:p14="http://schemas.microsoft.com/office/powerpoint/2010/main" val="96868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21" y="4697309"/>
            <a:ext cx="5049076" cy="14801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656" y="2685763"/>
            <a:ext cx="5049076" cy="34917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6C1899-A3AC-4086-9793-5B8EC9EB7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21" y="1433734"/>
            <a:ext cx="5049075" cy="3054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118A66-A130-481B-BACE-179133F3C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656" y="289277"/>
            <a:ext cx="5049075" cy="2288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AEA83C-73B7-4BDA-BAE7-02DB7302A7B0}"/>
              </a:ext>
            </a:extLst>
          </p:cNvPr>
          <p:cNvSpPr txBox="1"/>
          <p:nvPr/>
        </p:nvSpPr>
        <p:spPr>
          <a:xfrm>
            <a:off x="286161" y="323144"/>
            <a:ext cx="33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คำสั่งอื่นๆที่ฝ่ายผลิตมีใช้งาน</a:t>
            </a:r>
          </a:p>
        </p:txBody>
      </p:sp>
    </p:spTree>
    <p:extLst>
      <p:ext uri="{BB962C8B-B14F-4D97-AF65-F5344CB8AC3E}">
        <p14:creationId xmlns:p14="http://schemas.microsoft.com/office/powerpoint/2010/main" val="111981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1196</TotalTime>
  <Words>318</Words>
  <Application>Microsoft Office PowerPoint</Application>
  <PresentationFormat>Widescreen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Angsana New</vt:lpstr>
      <vt:lpstr>Arial</vt:lpstr>
      <vt:lpstr>Britannic Bold</vt:lpstr>
      <vt:lpstr>Calibri</vt:lpstr>
      <vt:lpstr>Cordia New</vt:lpstr>
      <vt:lpstr>Impact</vt:lpstr>
      <vt:lpstr>IrisUPC</vt:lpstr>
      <vt:lpstr>JasmineUPC</vt:lpstr>
      <vt:lpstr>KodchiangUPC</vt:lpstr>
      <vt:lpstr>Tahoma</vt:lpstr>
      <vt:lpstr>Main Event</vt:lpstr>
      <vt:lpstr>สอนงาน  ระบบ ERP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COMPUTER51</dc:creator>
  <cp:lastModifiedBy>COMPUTER04</cp:lastModifiedBy>
  <cp:revision>44</cp:revision>
  <cp:lastPrinted>2025-09-12T06:17:42Z</cp:lastPrinted>
  <dcterms:created xsi:type="dcterms:W3CDTF">2024-10-07T09:05:56Z</dcterms:created>
  <dcterms:modified xsi:type="dcterms:W3CDTF">2025-09-12T09:17:28Z</dcterms:modified>
</cp:coreProperties>
</file>