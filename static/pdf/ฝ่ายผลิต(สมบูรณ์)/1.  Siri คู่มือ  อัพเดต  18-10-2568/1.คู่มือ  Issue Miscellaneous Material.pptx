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49" r:id="rId3"/>
    <p:sldId id="442" r:id="rId4"/>
    <p:sldId id="444" r:id="rId5"/>
    <p:sldId id="445" r:id="rId6"/>
    <p:sldId id="446" r:id="rId7"/>
    <p:sldId id="447" r:id="rId8"/>
    <p:sldId id="448" r:id="rId9"/>
    <p:sldId id="452" r:id="rId10"/>
    <p:sldId id="449" r:id="rId11"/>
    <p:sldId id="450" r:id="rId1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E6046-E5B4-4321-A1AB-36A8A5572B7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AFA75-E478-4CEE-9005-EE4823252C5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37905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6ECCF-E18F-4DC3-8D9A-A0B288EE07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5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37C4A-2434-4209-B78A-E48B07718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E5796-6E00-4AD8-8475-01C7B2115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21A2F-C46C-4303-B6B1-30A6BA0B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BD05F-B78E-4055-8974-971E82ED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D3BCC-E6FE-4486-BA0E-AE0D813B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7248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14A4-7796-441E-9984-35892D53B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2F27F-8F42-4073-B52F-2C800E1D0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D0101-01DB-46E0-9AE6-CD709062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C6F1E-8279-4803-802C-118B6279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E8197-A31A-4CA5-B192-34A976FB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94064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8C7C6-CDB0-413C-9D4B-55DE30BA7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C4BA4-97C9-4EDB-AC51-880528D68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45E8F-BBE7-40AB-A57E-987A6B826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B286C-C5E6-4157-9CBA-EFBA4BA7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1D59A-ED4A-4C17-8321-94B9F5F5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61463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7B66C-0C19-4ABE-9754-1AFEA025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21C5C-471F-4323-A02D-02924BDB8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ED3BE-605F-4CC4-9164-F5B3C319B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ED557-54BE-4DEA-B2B2-582BBF82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B03D6-2E0D-44C5-8886-99E53B270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79E89-B765-4BB0-BEE6-5DA05B05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4164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B69D-FC79-4686-A6D5-9D4665C5A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BC257-1B40-498F-A8C4-89C52CCA7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BD2E0-A1B9-430D-85DC-807D1EAE9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55DE7-23B0-4DC4-804E-66CB025D7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60B893-12F8-4E44-A19A-305842E9A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383999-0124-4267-998A-A546E67E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9459CA-7B4B-4219-BBA4-BE769259B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F14DC-0F2C-4E64-87A1-956AECD5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51587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D27E-F8DA-497A-868E-85F5E868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7CFAB-F62F-4008-9FD8-BCBEAFFE5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A3DEC-87D9-4F54-9031-430C11C5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F9AD5-6892-4DDC-A371-A9E20A77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14186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F5379-6806-44A9-AD11-9C373F55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B3235-0334-41DA-9B1D-6373D8F5C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49F9D-A58A-4B99-BC28-0799069E1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45651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D1D1-BDD5-41A0-A379-3586A2286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4291A-C589-4D14-90D6-D6715827C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C07E0-81F9-480A-883A-51E19737F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D00DD-D435-4D0B-8019-28458F4E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1014C-5BDA-4B2B-BA95-9E221FDB4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B464D-9CBA-402D-9634-8FA64002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3362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E5E59-466F-4EB9-B144-552348BD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D68865-5395-43EE-AAB9-B13D7E613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68EFC-2A20-4FCB-A689-4B9276DB3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73E37-5B44-4868-B082-34D2CBFE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7BE1B-5821-4B20-BE1E-3B50E19E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DA14B-A8DF-4A8D-9C7F-EB63F91FB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81629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179F2-722F-4B8B-95B2-FF1CF4CC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8C02B-CE9D-46E9-A6AE-66AA423F3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A2AEA-53F0-43C7-B4F9-11B4DC7FD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93700-37F4-48AE-9D88-2114AB2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E30BB-9D0C-4099-9861-EF29979D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4641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506EBF-685C-40A5-8195-1D9A6B4B7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11C8B-30A3-4087-ABBB-74FE2BD14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3EDA2-9A67-4FA7-8EA8-04DF57D3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C0A3F-C28E-4D75-892D-AC49CE48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9EA90-D2B0-4C4A-8A3E-68D42A5E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5995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EF234-E4CF-43F7-B9E4-C800B9CB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85042-F22D-4331-816D-198FE2FE1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78B2F-092A-4191-9575-775650DD6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536DF-1F15-4959-B903-2000450CC2F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028EA-F650-47D9-889C-CBDD1E5CB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7907D-641B-4ADB-90C4-57D220185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8BBB5-5C14-4280-AC2E-95B73DDEC78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3363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CC7142-43FB-4D72-881E-9BB5C7297332}"/>
              </a:ext>
            </a:extLst>
          </p:cNvPr>
          <p:cNvSpPr txBox="1"/>
          <p:nvPr/>
        </p:nvSpPr>
        <p:spPr>
          <a:xfrm>
            <a:off x="152400" y="2483878"/>
            <a:ext cx="1203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defRPr/>
            </a:pPr>
            <a:r>
              <a:rPr lang="en-US" sz="7200" u="none" strike="noStrike" dirty="0">
                <a:effectLst/>
                <a:latin typeface="JasmineUPC" panose="02020603050405020304" pitchFamily="18" charset="-34"/>
                <a:cs typeface="JasmineUPC" panose="02020603050405020304" pitchFamily="18" charset="-34"/>
              </a:rPr>
              <a:t>JOB-08</a:t>
            </a:r>
            <a:r>
              <a:rPr lang="en-US" sz="7200" dirty="0">
                <a:solidFill>
                  <a:srgbClr val="00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   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asmineUPC" panose="02020603050405020304" pitchFamily="18" charset="-34"/>
                <a:ea typeface="+mn-ea"/>
                <a:cs typeface="JasmineUPC" panose="02020603050405020304" pitchFamily="18" charset="-34"/>
              </a:rPr>
              <a:t>Issue Miscellaneous Material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asmineUPC" panose="02020603050405020304" pitchFamily="18" charset="-34"/>
              <a:ea typeface="+mn-ea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5752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951684"/>
              </p:ext>
            </p:extLst>
          </p:nvPr>
        </p:nvGraphicFramePr>
        <p:xfrm>
          <a:off x="237067" y="321733"/>
          <a:ext cx="11607799" cy="608753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90492">
                  <a:extLst>
                    <a:ext uri="{9D8B030D-6E8A-4147-A177-3AD203B41FA5}">
                      <a16:colId xmlns:a16="http://schemas.microsoft.com/office/drawing/2014/main" val="21687858"/>
                    </a:ext>
                  </a:extLst>
                </a:gridCol>
                <a:gridCol w="9617307">
                  <a:extLst>
                    <a:ext uri="{9D8B030D-6E8A-4147-A177-3AD203B41FA5}">
                      <a16:colId xmlns:a16="http://schemas.microsoft.com/office/drawing/2014/main" val="761548432"/>
                    </a:ext>
                  </a:extLst>
                </a:gridCol>
              </a:tblGrid>
              <a:tr h="10941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1. </a:t>
                      </a:r>
                      <a:r>
                        <a:rPr lang="th-TH" sz="2400" dirty="0">
                          <a:solidFill>
                            <a:sysClr val="windowText" lastClr="000000"/>
                          </a:solidFill>
                        </a:rPr>
                        <a:t>กระบวนการ (</a:t>
                      </a: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Process)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JOB-08 </a:t>
                      </a: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Issue Miscellaneous Material  </a:t>
                      </a:r>
                      <a:r>
                        <a:rPr kumimoji="0" lang="th-TH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การตัดออกของ  วัตถุดิบ  บรรจุภัณฑ์ </a:t>
                      </a: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 WIP  Reprocess </a:t>
                      </a:r>
                      <a:r>
                        <a:rPr kumimoji="0" lang="th-TH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 วัสดุสิ้นเปลือง   ที่ไม่ได้เข้า </a:t>
                      </a: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Job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JasmineUPC" panose="02020603050405020304" pitchFamily="18" charset="-3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91132"/>
                  </a:ext>
                </a:extLst>
              </a:tr>
              <a:tr h="1044648">
                <a:tc>
                  <a:txBody>
                    <a:bodyPr/>
                    <a:lstStyle/>
                    <a:p>
                      <a:r>
                        <a:rPr lang="en-US" sz="2400" dirty="0"/>
                        <a:t>2. </a:t>
                      </a:r>
                      <a:r>
                        <a:rPr lang="th-TH" sz="2400" dirty="0"/>
                        <a:t>ข้อมูลที่ต้องใช้</a:t>
                      </a:r>
                      <a:r>
                        <a:rPr lang="th-TH" sz="2400" baseline="0" dirty="0"/>
                        <a:t> </a:t>
                      </a:r>
                      <a:endParaRPr lang="en-US" sz="2400" baseline="0" dirty="0"/>
                    </a:p>
                    <a:p>
                      <a:r>
                        <a:rPr lang="th-TH" sz="2400" baseline="0" dirty="0"/>
                        <a:t>(</a:t>
                      </a:r>
                      <a:r>
                        <a:rPr lang="en-US" sz="2400" baseline="0" dirty="0"/>
                        <a:t>In put)</a:t>
                      </a:r>
                      <a:endParaRPr lang="en-US" sz="24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2400" baseline="0" dirty="0"/>
                        <a:t>Part</a:t>
                      </a:r>
                      <a:r>
                        <a:rPr lang="th-TH" sz="2400" baseline="0" dirty="0"/>
                        <a:t>  </a:t>
                      </a:r>
                      <a:r>
                        <a:rPr kumimoji="0" lang="th-TH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วัตถุดิบ  บรรจุภัณฑ์ </a:t>
                      </a:r>
                      <a:r>
                        <a:rPr kumimoji="0" lang="en-US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 WIP  Reprocess </a:t>
                      </a:r>
                      <a:r>
                        <a:rPr kumimoji="0" lang="th-TH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rPr>
                        <a:t> วัสดุสิ้นเปลือง</a:t>
                      </a:r>
                      <a:endParaRPr lang="th-TH" sz="2400" baseline="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จำนวนที่ตัดออก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12708"/>
                  </a:ext>
                </a:extLst>
              </a:tr>
              <a:tr h="1485919">
                <a:tc>
                  <a:txBody>
                    <a:bodyPr/>
                    <a:lstStyle/>
                    <a:p>
                      <a:r>
                        <a:rPr lang="en-US" sz="2400" dirty="0"/>
                        <a:t>3.</a:t>
                      </a:r>
                      <a:r>
                        <a:rPr lang="th-TH" sz="2400" baseline="0" dirty="0"/>
                        <a:t> ขั้นตอนย่อย </a:t>
                      </a:r>
                      <a:endParaRPr lang="en-US" sz="2400" baseline="0" dirty="0"/>
                    </a:p>
                    <a:p>
                      <a:r>
                        <a:rPr lang="th-TH" sz="2400" baseline="0" dirty="0"/>
                        <a:t>(</a:t>
                      </a:r>
                      <a:r>
                        <a:rPr lang="en-US" sz="2400" baseline="0" dirty="0"/>
                        <a:t>Sub process)</a:t>
                      </a:r>
                      <a:endParaRPr lang="en-US" sz="24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400" dirty="0"/>
                        <a:t>การเลือกรายการที่ต้องการเบิกออก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dirty="0"/>
                        <a:t>การคีย์ปริมาณที่ต้องการเบิกออก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dirty="0"/>
                        <a:t>การเลือกคลังให้ตรงกับของที่ต้องการเบิกออก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092378"/>
                  </a:ext>
                </a:extLst>
              </a:tr>
              <a:tr h="1003886">
                <a:tc>
                  <a:txBody>
                    <a:bodyPr/>
                    <a:lstStyle/>
                    <a:p>
                      <a:r>
                        <a:rPr lang="th-TH" sz="2400" dirty="0"/>
                        <a:t>4. ความเสี่ยง </a:t>
                      </a:r>
                    </a:p>
                    <a:p>
                      <a:r>
                        <a:rPr lang="th-TH" sz="2400" dirty="0"/>
                        <a:t>(</a:t>
                      </a:r>
                      <a:r>
                        <a:rPr lang="en-US" sz="2400" dirty="0"/>
                        <a:t>Risk)</a:t>
                      </a:r>
                      <a:endParaRPr lang="en-US" sz="24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</a:t>
                      </a:r>
                      <a:r>
                        <a:rPr lang="en-US" sz="2400" baseline="0" dirty="0"/>
                        <a:t> </a:t>
                      </a:r>
                      <a:r>
                        <a:rPr lang="th-TH" sz="2400" baseline="0" dirty="0"/>
                        <a:t>ความถูกต้องของ จำนวนและวันที่ในการตัดออก</a:t>
                      </a:r>
                    </a:p>
                    <a:p>
                      <a:r>
                        <a:rPr lang="en-US" sz="2400" baseline="0" dirty="0"/>
                        <a:t>2. </a:t>
                      </a:r>
                      <a:r>
                        <a:rPr lang="th-TH" sz="2400" baseline="0" dirty="0"/>
                        <a:t>เลือกคลังไม่ถูกต้อง</a:t>
                      </a:r>
                      <a:endParaRPr lang="en-US" sz="24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85334"/>
                  </a:ext>
                </a:extLst>
              </a:tr>
              <a:tr h="1458902">
                <a:tc>
                  <a:txBody>
                    <a:bodyPr/>
                    <a:lstStyle/>
                    <a:p>
                      <a:r>
                        <a:rPr lang="th-TH" sz="2400" dirty="0"/>
                        <a:t>5. จุดควบคุม</a:t>
                      </a:r>
                    </a:p>
                    <a:p>
                      <a:r>
                        <a:rPr lang="th-TH" sz="2400" baseline="0" dirty="0"/>
                        <a:t>(</a:t>
                      </a:r>
                      <a:r>
                        <a:rPr lang="en-US" sz="2400" baseline="0" dirty="0"/>
                        <a:t>Control point)</a:t>
                      </a:r>
                      <a:endParaRPr lang="en-US" sz="24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2400" baseline="0" dirty="0"/>
                        <a:t>1. วันที่ที่ทำการตัดออก ต้องถูกต้องกับวันที่นำไปใช้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45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47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221484-9343-4437-B37E-7970A1E2E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25" y="698217"/>
            <a:ext cx="4718308" cy="51560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35A33D-24F0-4C9A-AEA1-EB8C5E981253}"/>
              </a:ext>
            </a:extLst>
          </p:cNvPr>
          <p:cNvSpPr txBox="1"/>
          <p:nvPr/>
        </p:nvSpPr>
        <p:spPr>
          <a:xfrm>
            <a:off x="5731933" y="2947256"/>
            <a:ext cx="62653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th-TH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asmineUPC" panose="02020603050405020304" pitchFamily="18" charset="-34"/>
                <a:ea typeface="+mn-ea"/>
                <a:cs typeface="JasmineUPC" panose="02020603050405020304" pitchFamily="18" charset="-34"/>
              </a:rPr>
              <a:t>เลือกเมนู  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asmineUPC" panose="02020603050405020304" pitchFamily="18" charset="-34"/>
                <a:ea typeface="+mn-ea"/>
                <a:cs typeface="JasmineUPC" panose="02020603050405020304" pitchFamily="18" charset="-34"/>
              </a:rPr>
              <a:t>Issue Miscellaneous Material</a:t>
            </a:r>
            <a:endParaRPr lang="th-TH" sz="4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31F3D1-A5B2-4F2E-81A8-6FE421B15603}"/>
              </a:ext>
            </a:extLst>
          </p:cNvPr>
          <p:cNvSpPr/>
          <p:nvPr/>
        </p:nvSpPr>
        <p:spPr>
          <a:xfrm>
            <a:off x="1574800" y="3581400"/>
            <a:ext cx="3589867" cy="12361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5563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4326D-F278-4F6E-8ADE-DC0F0E314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66" y="215112"/>
            <a:ext cx="6932542" cy="64277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4F0A73-C07B-492A-B2CC-3F53D3C2AB9A}"/>
              </a:ext>
            </a:extLst>
          </p:cNvPr>
          <p:cNvSpPr txBox="1"/>
          <p:nvPr/>
        </p:nvSpPr>
        <p:spPr>
          <a:xfrm>
            <a:off x="7820571" y="2459504"/>
            <a:ext cx="38549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dirty="0">
                <a:latin typeface="Cordia New" panose="020B0304020202020204" pitchFamily="34" charset="-34"/>
              </a:rPr>
              <a:t>หน้าจอที่แสดงผล  เมื่อเข้าเมนู เลือกเมนู</a:t>
            </a:r>
            <a:r>
              <a:rPr lang="en-US" sz="4000" dirty="0">
                <a:latin typeface="Cordia New" panose="020B0304020202020204" pitchFamily="34" charset="-34"/>
              </a:rPr>
              <a:t>  Issue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dia New" panose="020B0304020202020204" pitchFamily="34" charset="-34"/>
                <a:ea typeface="Tahoma" panose="020B0604030504040204" pitchFamily="34" charset="0"/>
              </a:rPr>
              <a:t>Miscellaneous Material</a:t>
            </a:r>
            <a:endParaRPr lang="th-TH" sz="4000" dirty="0">
              <a:latin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15803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ECDBE1-C2CF-4D3C-AEA6-53E910E2D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50" y="648616"/>
            <a:ext cx="8840434" cy="20386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21E793-5DB6-4FDB-80F7-A1C0F428F2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652"/>
          <a:stretch/>
        </p:blipFill>
        <p:spPr>
          <a:xfrm>
            <a:off x="2564783" y="3878088"/>
            <a:ext cx="9450593" cy="27825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F96189-63C0-4C20-9A7C-F53F9BB8C906}"/>
              </a:ext>
            </a:extLst>
          </p:cNvPr>
          <p:cNvSpPr/>
          <p:nvPr/>
        </p:nvSpPr>
        <p:spPr>
          <a:xfrm>
            <a:off x="558800" y="999067"/>
            <a:ext cx="2904066" cy="541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5B2FFC-2E66-4879-8DC8-A1A10A07BA2B}"/>
              </a:ext>
            </a:extLst>
          </p:cNvPr>
          <p:cNvSpPr txBox="1"/>
          <p:nvPr/>
        </p:nvSpPr>
        <p:spPr>
          <a:xfrm>
            <a:off x="3632200" y="762000"/>
            <a:ext cx="2810934" cy="54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คีย์ </a:t>
            </a:r>
            <a:r>
              <a:rPr lang="en-US" dirty="0"/>
              <a:t>Part </a:t>
            </a:r>
            <a:r>
              <a:rPr lang="th-TH" dirty="0"/>
              <a:t>แล้ว กด </a:t>
            </a:r>
            <a:r>
              <a:rPr lang="en-US" dirty="0"/>
              <a:t> Tab</a:t>
            </a:r>
            <a:endParaRPr lang="th-TH" dirty="0"/>
          </a:p>
        </p:txBody>
      </p:sp>
      <p:sp>
        <p:nvSpPr>
          <p:cNvPr id="7" name="Arrow: Curved Left 6">
            <a:extLst>
              <a:ext uri="{FF2B5EF4-FFF2-40B4-BE49-F238E27FC236}">
                <a16:creationId xmlns:a16="http://schemas.microsoft.com/office/drawing/2014/main" id="{67BB9206-AD8F-43F4-95E2-41310E66019F}"/>
              </a:ext>
            </a:extLst>
          </p:cNvPr>
          <p:cNvSpPr/>
          <p:nvPr/>
        </p:nvSpPr>
        <p:spPr>
          <a:xfrm rot="20646102">
            <a:off x="9507648" y="1466874"/>
            <a:ext cx="1028700" cy="244075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173A2E-4141-422E-9DF5-F0B9ED9ECF05}"/>
              </a:ext>
            </a:extLst>
          </p:cNvPr>
          <p:cNvSpPr txBox="1"/>
          <p:nvPr/>
        </p:nvSpPr>
        <p:spPr>
          <a:xfrm>
            <a:off x="3286243" y="335486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th-TH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หน้าจอที่แสดงผล เมื่อกด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Tab </a:t>
            </a:r>
            <a:r>
              <a:rPr kumimoji="0" lang="th-TH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แล้ว</a:t>
            </a:r>
            <a:endParaRPr lang="th-TH" sz="1800" dirty="0"/>
          </a:p>
        </p:txBody>
      </p:sp>
    </p:spTree>
    <p:extLst>
      <p:ext uri="{BB962C8B-B14F-4D97-AF65-F5344CB8AC3E}">
        <p14:creationId xmlns:p14="http://schemas.microsoft.com/office/powerpoint/2010/main" val="1925315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6DE94E-E0FE-4773-AA5A-192C055EF2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125" b="59630"/>
          <a:stretch/>
        </p:blipFill>
        <p:spPr>
          <a:xfrm>
            <a:off x="381001" y="508000"/>
            <a:ext cx="9669710" cy="3860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F7E555E-2213-4190-A9A7-B738481400E1}"/>
              </a:ext>
            </a:extLst>
          </p:cNvPr>
          <p:cNvSpPr/>
          <p:nvPr/>
        </p:nvSpPr>
        <p:spPr>
          <a:xfrm>
            <a:off x="2269066" y="2438400"/>
            <a:ext cx="3606800" cy="1684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1908B-BCEC-47C6-B7FF-54C9583458A3}"/>
              </a:ext>
            </a:extLst>
          </p:cNvPr>
          <p:cNvSpPr txBox="1"/>
          <p:nvPr/>
        </p:nvSpPr>
        <p:spPr>
          <a:xfrm>
            <a:off x="855133" y="5063067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คลิกเลือก  </a:t>
            </a:r>
            <a:r>
              <a:rPr lang="en-US" dirty="0"/>
              <a:t>Warehouse </a:t>
            </a:r>
            <a:r>
              <a:rPr lang="th-TH" dirty="0"/>
              <a:t> ที่ต้องการตัดออก</a:t>
            </a:r>
          </a:p>
        </p:txBody>
      </p:sp>
    </p:spTree>
    <p:extLst>
      <p:ext uri="{BB962C8B-B14F-4D97-AF65-F5344CB8AC3E}">
        <p14:creationId xmlns:p14="http://schemas.microsoft.com/office/powerpoint/2010/main" val="65579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E975D4-6F4A-4F44-9E13-D3F2F792E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39" y="1199378"/>
            <a:ext cx="10898121" cy="34771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DC197F-388B-46A4-8916-F7AB23797976}"/>
              </a:ext>
            </a:extLst>
          </p:cNvPr>
          <p:cNvSpPr txBox="1"/>
          <p:nvPr/>
        </p:nvSpPr>
        <p:spPr>
          <a:xfrm>
            <a:off x="1844956" y="5135402"/>
            <a:ext cx="5402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th-TH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หน้าจอที่แสดงผล เมื่อ</a:t>
            </a:r>
            <a:r>
              <a:rPr lang="th-TH" dirty="0">
                <a:solidFill>
                  <a:prstClr val="black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ทำการเลือก</a:t>
            </a:r>
            <a:r>
              <a:rPr lang="en-US" dirty="0"/>
              <a:t> Warehouse </a:t>
            </a:r>
            <a:endParaRPr lang="th-TH" sz="1800" dirty="0"/>
          </a:p>
        </p:txBody>
      </p:sp>
    </p:spTree>
    <p:extLst>
      <p:ext uri="{BB962C8B-B14F-4D97-AF65-F5344CB8AC3E}">
        <p14:creationId xmlns:p14="http://schemas.microsoft.com/office/powerpoint/2010/main" val="2650558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B0A882-5A24-4679-ACCF-EDDC5C88D1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736" b="6666"/>
          <a:stretch/>
        </p:blipFill>
        <p:spPr>
          <a:xfrm>
            <a:off x="347133" y="228600"/>
            <a:ext cx="7103533" cy="6400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9F3720-D19B-49B3-BF3F-BB391FFEF150}"/>
              </a:ext>
            </a:extLst>
          </p:cNvPr>
          <p:cNvSpPr/>
          <p:nvPr/>
        </p:nvSpPr>
        <p:spPr>
          <a:xfrm>
            <a:off x="1388533" y="1998133"/>
            <a:ext cx="6062133" cy="4402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99ACB1-8209-47C6-8479-3452B7C8FE6D}"/>
              </a:ext>
            </a:extLst>
          </p:cNvPr>
          <p:cNvSpPr/>
          <p:nvPr/>
        </p:nvSpPr>
        <p:spPr>
          <a:xfrm>
            <a:off x="1591732" y="5088467"/>
            <a:ext cx="651935" cy="24553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0A735B-D9FB-4A59-AF93-1C35BF3666BA}"/>
              </a:ext>
            </a:extLst>
          </p:cNvPr>
          <p:cNvSpPr/>
          <p:nvPr/>
        </p:nvSpPr>
        <p:spPr>
          <a:xfrm>
            <a:off x="3547532" y="5630333"/>
            <a:ext cx="2235201" cy="1947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017EB-51E9-42B2-A044-2C51D7163305}"/>
              </a:ext>
            </a:extLst>
          </p:cNvPr>
          <p:cNvSpPr txBox="1"/>
          <p:nvPr/>
        </p:nvSpPr>
        <p:spPr>
          <a:xfrm>
            <a:off x="7450666" y="1956656"/>
            <a:ext cx="4233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คลิกเลือกข้อมูลของที่เราต้องการตัดออก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B0C9C-F575-4F5D-AD4A-216AEF06B906}"/>
              </a:ext>
            </a:extLst>
          </p:cNvPr>
          <p:cNvSpPr txBox="1"/>
          <p:nvPr/>
        </p:nvSpPr>
        <p:spPr>
          <a:xfrm>
            <a:off x="1388533" y="4358671"/>
            <a:ext cx="7230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 </a:t>
            </a:r>
            <a:r>
              <a:rPr lang="th-TH" dirty="0"/>
              <a:t>และ </a:t>
            </a:r>
            <a:r>
              <a:rPr lang="en-US" dirty="0"/>
              <a:t>Lot Number </a:t>
            </a:r>
            <a:r>
              <a:rPr lang="th-TH" dirty="0"/>
              <a:t>ของที่เรามีอยู่จะขึ้นมาอัตโนมัติ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1BD620-98A5-4D66-AD1A-6396E0D38B50}"/>
              </a:ext>
            </a:extLst>
          </p:cNvPr>
          <p:cNvCxnSpPr/>
          <p:nvPr/>
        </p:nvCxnSpPr>
        <p:spPr>
          <a:xfrm>
            <a:off x="2895600" y="5825067"/>
            <a:ext cx="4953000" cy="4741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B1245E4-8257-47B5-96EA-5C6E4B2813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75" t="59630" r="50000" b="6666"/>
          <a:stretch/>
        </p:blipFill>
        <p:spPr>
          <a:xfrm>
            <a:off x="7962461" y="4890358"/>
            <a:ext cx="4073344" cy="1790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54CE51-10C9-4CC5-8F6C-A7ECD3411423}"/>
              </a:ext>
            </a:extLst>
          </p:cNvPr>
          <p:cNvSpPr txBox="1"/>
          <p:nvPr/>
        </p:nvSpPr>
        <p:spPr>
          <a:xfrm>
            <a:off x="7781305" y="4298548"/>
            <a:ext cx="4254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 </a:t>
            </a:r>
            <a:r>
              <a:rPr lang="en-US" dirty="0"/>
              <a:t>Reason  </a:t>
            </a:r>
            <a:r>
              <a:rPr lang="th-TH" dirty="0"/>
              <a:t>ที่ทำการตัดออก</a:t>
            </a:r>
          </a:p>
        </p:txBody>
      </p:sp>
    </p:spTree>
    <p:extLst>
      <p:ext uri="{BB962C8B-B14F-4D97-AF65-F5344CB8AC3E}">
        <p14:creationId xmlns:p14="http://schemas.microsoft.com/office/powerpoint/2010/main" val="3496113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8889FE-6148-492F-B7A0-017EB6FA62E4}"/>
              </a:ext>
            </a:extLst>
          </p:cNvPr>
          <p:cNvGraphicFramePr>
            <a:graphicFrameLocks noGrp="1"/>
          </p:cNvGraphicFramePr>
          <p:nvPr/>
        </p:nvGraphicFramePr>
        <p:xfrm>
          <a:off x="237067" y="1690916"/>
          <a:ext cx="11768665" cy="4055181"/>
        </p:xfrm>
        <a:graphic>
          <a:graphicData uri="http://schemas.openxmlformats.org/drawingml/2006/table">
            <a:tbl>
              <a:tblPr/>
              <a:tblGrid>
                <a:gridCol w="1330996">
                  <a:extLst>
                    <a:ext uri="{9D8B030D-6E8A-4147-A177-3AD203B41FA5}">
                      <a16:colId xmlns:a16="http://schemas.microsoft.com/office/drawing/2014/main" val="3654323419"/>
                    </a:ext>
                  </a:extLst>
                </a:gridCol>
                <a:gridCol w="2898909">
                  <a:extLst>
                    <a:ext uri="{9D8B030D-6E8A-4147-A177-3AD203B41FA5}">
                      <a16:colId xmlns:a16="http://schemas.microsoft.com/office/drawing/2014/main" val="1205886181"/>
                    </a:ext>
                  </a:extLst>
                </a:gridCol>
                <a:gridCol w="7538760">
                  <a:extLst>
                    <a:ext uri="{9D8B030D-6E8A-4147-A177-3AD203B41FA5}">
                      <a16:colId xmlns:a16="http://schemas.microsoft.com/office/drawing/2014/main" val="4040623637"/>
                    </a:ext>
                  </a:extLst>
                </a:gridCol>
              </a:tblGrid>
              <a:tr h="1898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Reason Code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Description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เหตุผลในการใช้ 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752903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INV51S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ตัดสินค้าออกไป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Reprocess Sauce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ใช้กรณีที่ตัด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Reprocess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ออกจาก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WH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737515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INV36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รับเข้าจากการ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Reprocess Sauce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ใช้กรณีที่รับ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Reprocess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เข้า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WH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และใช้ในกรณีที่รับขวด / ฝา   เข้า ที่มาจากโรงล้างขวด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194726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INV25S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รับน้ำเข้า-ปรับออกระบบผลิต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ใช้ในการรับน้ำเข้าต้นเดือน  และตัดออกสินเดือน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093211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INV67S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เบิกใช้งานทั่วไป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FG-S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ใช้ในกรณีที่ต้องแก้ไขงาน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FG 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934630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INV66S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เบิกใช้งานทั่วไป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PK-S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ใช้ในกรณีที่ต้องแก้ไขงาน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PK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เปลี่ยนฝา  เปลี่ยนขวด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800780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INV65S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เบิกใช้งานทั่วไป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WP-S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ใช้ในกรณีที่ต้องแก้ไขงาน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WIP 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3182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INV26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เบิกวัสดุสิ้นเปลืองผลิต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ใช้ตัดวัสดุสินเปลือง  เช่น กาว เทปใส ฟิล์ม เชือก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74603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INV33S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เบิกสินค้าตัวอย่าง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Sauce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ใช้กับการเบิกตัวอย่างที่ไม่เข้า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Job  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ตัวอย่าง 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RD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ตัวอย่างลดลอง</a:t>
                      </a:r>
                    </a:p>
                  </a:txBody>
                  <a:tcPr marL="7137" marR="7137" marT="71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610891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INV23S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รับเข้า-เบิกออกผลิต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PK-S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 มีของเกิน/ขาด จาการเบิก เช่น ฉลาก ฝา โฟม ฟอยด์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482780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INV24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รับเข้า-เบิกออกผลิต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RM-S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 มีวัตถุดิบเกิน / ขาด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037354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INV09S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สูญเสียจากการผลิต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</a:t>
                      </a:r>
                    </a:p>
                  </a:txBody>
                  <a:tcPr marL="7137" marR="7137" marT="71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ใช้ในกรณีที่ตัดสูญเสียทุกชนิด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EX.   </a:t>
                      </a:r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ตัดแต่งเสีย  หก ไล่ท่อ ค้างท่อ  ฝาเสีย  ขาดเสีย 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864832"/>
                  </a:ext>
                </a:extLst>
              </a:tr>
              <a:tr h="189852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INV06</a:t>
                      </a:r>
                    </a:p>
                  </a:txBody>
                  <a:tcPr marL="7137" marR="7137" marT="71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ส่งเสริมการขาย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SAUCE</a:t>
                      </a:r>
                    </a:p>
                  </a:txBody>
                  <a:tcPr marL="7137" marR="7137" marT="713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ใช้ในกรณีเบิกตัวอย่างเพื่อส่งให้ลูกค้า</a:t>
                      </a:r>
                    </a:p>
                  </a:txBody>
                  <a:tcPr marL="7137" marR="7137" marT="713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3148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B5A946-95F3-46EF-AC5F-B2CC599F7221}"/>
              </a:ext>
            </a:extLst>
          </p:cNvPr>
          <p:cNvSpPr txBox="1"/>
          <p:nvPr/>
        </p:nvSpPr>
        <p:spPr>
          <a:xfrm>
            <a:off x="778933" y="5111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Reason Code  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dia New" panose="020B0304020202020204" pitchFamily="34" charset="-34"/>
                <a:ea typeface="+mn-ea"/>
                <a:cs typeface="Cordia New" panose="020B0304020202020204" pitchFamily="34" charset="-34"/>
              </a:rPr>
              <a:t>ที่ฝ่ายผลิตใช้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dia New" panose="020B0304020202020204" pitchFamily="34" charset="-34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24163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CF8F84-6A9E-49CC-A38D-D77DA1731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10" y="1070311"/>
            <a:ext cx="9545382" cy="27531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F8B742-F21D-4A8A-A509-675DBA5C0E93}"/>
              </a:ext>
            </a:extLst>
          </p:cNvPr>
          <p:cNvSpPr/>
          <p:nvPr/>
        </p:nvSpPr>
        <p:spPr>
          <a:xfrm>
            <a:off x="6002867" y="3513667"/>
            <a:ext cx="1134533" cy="406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5A66E-6769-436A-9ECA-45D77F2661FB}"/>
              </a:ext>
            </a:extLst>
          </p:cNvPr>
          <p:cNvSpPr txBox="1"/>
          <p:nvPr/>
        </p:nvSpPr>
        <p:spPr>
          <a:xfrm>
            <a:off x="2650067" y="431039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เมื่อใส่ข้อมูลครบแล้ว     กด  </a:t>
            </a:r>
            <a:r>
              <a:rPr lang="en-US" dirty="0"/>
              <a:t>Issue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436039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88F2DC-F134-4888-AF67-C7FEA7504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86" y="400652"/>
            <a:ext cx="11258228" cy="45608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F10858-BF2F-4E33-8678-2D86FB8D059D}"/>
              </a:ext>
            </a:extLst>
          </p:cNvPr>
          <p:cNvSpPr txBox="1"/>
          <p:nvPr/>
        </p:nvSpPr>
        <p:spPr>
          <a:xfrm>
            <a:off x="592667" y="5274733"/>
            <a:ext cx="9177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ของที่เราทำงานตัดออก  ก็จะหายไปจาก </a:t>
            </a:r>
            <a:r>
              <a:rPr lang="en-US" dirty="0"/>
              <a:t> WH 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2571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462</Words>
  <Application>Microsoft Office PowerPoint</Application>
  <PresentationFormat>Widescreen</PresentationFormat>
  <Paragraphs>71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Cordia New</vt:lpstr>
      <vt:lpstr>JasmineUPC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Sirikanda Nakjakha</cp:lastModifiedBy>
  <cp:revision>6</cp:revision>
  <dcterms:created xsi:type="dcterms:W3CDTF">2025-10-19T05:40:12Z</dcterms:created>
  <dcterms:modified xsi:type="dcterms:W3CDTF">2025-10-19T07:12:37Z</dcterms:modified>
</cp:coreProperties>
</file>