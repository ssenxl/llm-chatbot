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ags/tag2.xml" ContentType="application/vnd.openxmlformats-officedocument.presentationml.tags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330" r:id="rId3"/>
    <p:sldId id="258" r:id="rId4"/>
    <p:sldId id="295" r:id="rId5"/>
    <p:sldId id="261" r:id="rId6"/>
    <p:sldId id="292" r:id="rId7"/>
    <p:sldId id="294" r:id="rId8"/>
    <p:sldId id="262" r:id="rId9"/>
    <p:sldId id="291" r:id="rId10"/>
    <p:sldId id="293" r:id="rId11"/>
    <p:sldId id="297" r:id="rId12"/>
    <p:sldId id="298" r:id="rId13"/>
    <p:sldId id="299" r:id="rId14"/>
    <p:sldId id="264" r:id="rId15"/>
    <p:sldId id="300" r:id="rId16"/>
    <p:sldId id="301" r:id="rId17"/>
    <p:sldId id="288" r:id="rId18"/>
    <p:sldId id="302" r:id="rId19"/>
    <p:sldId id="303" r:id="rId20"/>
    <p:sldId id="260" r:id="rId21"/>
    <p:sldId id="326" r:id="rId22"/>
    <p:sldId id="305" r:id="rId23"/>
    <p:sldId id="327" r:id="rId24"/>
    <p:sldId id="328" r:id="rId25"/>
    <p:sldId id="329" r:id="rId26"/>
    <p:sldId id="306" r:id="rId27"/>
    <p:sldId id="316" r:id="rId28"/>
    <p:sldId id="309" r:id="rId29"/>
    <p:sldId id="311" r:id="rId30"/>
    <p:sldId id="308" r:id="rId31"/>
    <p:sldId id="313" r:id="rId32"/>
    <p:sldId id="312" r:id="rId33"/>
    <p:sldId id="314" r:id="rId34"/>
    <p:sldId id="318" r:id="rId35"/>
    <p:sldId id="331" r:id="rId36"/>
    <p:sldId id="319" r:id="rId37"/>
    <p:sldId id="320" r:id="rId38"/>
    <p:sldId id="317" r:id="rId39"/>
    <p:sldId id="321" r:id="rId40"/>
    <p:sldId id="322" r:id="rId41"/>
    <p:sldId id="315" r:id="rId42"/>
    <p:sldId id="323" r:id="rId43"/>
    <p:sldId id="324" r:id="rId44"/>
    <p:sldId id="325" r:id="rId45"/>
    <p:sldId id="257" r:id="rId46"/>
  </p:sldIdLst>
  <p:sldSz cx="12190413" cy="6858000"/>
  <p:notesSz cx="6797675" cy="9929813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A5C85"/>
    <a:srgbClr val="79ACC9"/>
    <a:srgbClr val="F9A9AF"/>
    <a:srgbClr val="F8F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0" autoAdjust="0"/>
    <p:restoredTop sz="93091" autoAdjust="0"/>
  </p:normalViewPr>
  <p:slideViewPr>
    <p:cSldViewPr snapToGrid="0">
      <p:cViewPr varScale="1">
        <p:scale>
          <a:sx n="68" d="100"/>
          <a:sy n="68" d="100"/>
        </p:scale>
        <p:origin x="768" y="78"/>
      </p:cViewPr>
      <p:guideLst>
        <p:guide orient="horz" pos="2160"/>
        <p:guide pos="3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E6C13-C951-4309-969A-45B9DBA2898F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BF7A7-E49A-4C01-A043-ACD9B9E87F5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4657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45659" cy="49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99D8A433-1F44-4674-94B1-1820A00C9E93}" type="datetime1">
              <a:rPr lang="zh-CN" altLang="en-US"/>
              <a:t>2025/10/18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420688" y="1241425"/>
            <a:ext cx="5956300" cy="335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79768" y="4778722"/>
            <a:ext cx="5438140" cy="390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600"/>
            <a:ext cx="2945659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1600"/>
            <a:ext cx="2945659" cy="49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0652FEEA-B408-4291-A696-E0690774AA7B}" type="slidenum">
              <a:rPr lang="zh-CN" altLang="en-US"/>
              <a:t>‹#›</a:t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/>
          <a:lstStyle/>
          <a:p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D8A433-1F44-4674-94B1-1820A00C9E93}" type="datetime1">
              <a:rPr lang="zh-CN" altLang="en-US" smtClean="0"/>
              <a:t>2025/10/18</a:t>
            </a:fld>
            <a:endParaRPr lang="zh-CN" altLang="en-US" sz="1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52FEEA-B408-4291-A696-E0690774AA7B}" type="slidenum">
              <a:rPr lang="zh-CN" altLang="en-US" smtClean="0"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21256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281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121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161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8613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79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79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002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121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1613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2pPr>
      <a:lvl3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3pPr>
      <a:lvl4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4pPr>
      <a:lvl5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  <a:sym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 Light" panose="020F0302020204030204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  <a:sym typeface="Calibri Light" panose="020F03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3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椭圆 6"/>
          <p:cNvSpPr>
            <a:spLocks noChangeArrowheads="1"/>
          </p:cNvSpPr>
          <p:nvPr/>
        </p:nvSpPr>
        <p:spPr bwMode="auto">
          <a:xfrm>
            <a:off x="2773941" y="0"/>
            <a:ext cx="6816725" cy="6816725"/>
          </a:xfrm>
          <a:prstGeom prst="ellipse">
            <a:avLst/>
          </a:prstGeom>
          <a:solidFill>
            <a:srgbClr val="79ACC9">
              <a:alpha val="8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79ACC9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0" name="椭圆 15"/>
          <p:cNvSpPr>
            <a:spLocks noChangeArrowheads="1"/>
          </p:cNvSpPr>
          <p:nvPr/>
        </p:nvSpPr>
        <p:spPr bwMode="auto">
          <a:xfrm>
            <a:off x="681038" y="1166813"/>
            <a:ext cx="1576387" cy="1576387"/>
          </a:xfrm>
          <a:prstGeom prst="ellipse">
            <a:avLst/>
          </a:prstGeom>
          <a:solidFill>
            <a:srgbClr val="BFBFB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1" name="椭圆 16"/>
          <p:cNvSpPr>
            <a:spLocks noChangeArrowheads="1"/>
          </p:cNvSpPr>
          <p:nvPr/>
        </p:nvSpPr>
        <p:spPr bwMode="auto">
          <a:xfrm>
            <a:off x="2700338" y="3905250"/>
            <a:ext cx="987425" cy="987425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2" name="椭圆 17"/>
          <p:cNvSpPr>
            <a:spLocks noChangeArrowheads="1"/>
          </p:cNvSpPr>
          <p:nvPr/>
        </p:nvSpPr>
        <p:spPr bwMode="auto">
          <a:xfrm>
            <a:off x="9007475" y="1166813"/>
            <a:ext cx="2174875" cy="2173287"/>
          </a:xfrm>
          <a:prstGeom prst="ellipse">
            <a:avLst/>
          </a:prstGeom>
          <a:solidFill>
            <a:srgbClr val="8E846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" name="PA_淘宝网chenying0907出品 6"/>
          <p:cNvSpPr txBox="1"/>
          <p:nvPr>
            <p:custDataLst>
              <p:tags r:id="rId2"/>
            </p:custDataLst>
          </p:nvPr>
        </p:nvSpPr>
        <p:spPr>
          <a:xfrm>
            <a:off x="1196827" y="1099267"/>
            <a:ext cx="9387763" cy="4856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คู่มือ </a:t>
            </a:r>
            <a:r>
              <a:rPr lang="en-US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ERP </a:t>
            </a:r>
          </a:p>
          <a:p>
            <a:pPr algn="ctr"/>
            <a:endParaRPr lang="en-US" altLang="zh-CN" sz="3600" b="1" dirty="0" smtClean="0">
              <a:solidFill>
                <a:schemeClr val="bg1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  <a:p>
            <a:pPr algn="ctr"/>
            <a:r>
              <a:rPr lang="th-TH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เรื่อง การกักกันผลิตภัณฑ์</a:t>
            </a:r>
          </a:p>
          <a:p>
            <a:pPr algn="ctr"/>
            <a:endParaRPr lang="th-TH" altLang="zh-CN" sz="3600" b="1" dirty="0" smtClean="0">
              <a:solidFill>
                <a:schemeClr val="bg1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     QC </a:t>
            </a:r>
            <a:r>
              <a:rPr lang="th-TH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ในกระบวนการ</a:t>
            </a:r>
          </a:p>
          <a:p>
            <a:pPr algn="ctr"/>
            <a:r>
              <a:rPr lang="th-TH" altLang="zh-CN" sz="36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   </a:t>
            </a:r>
          </a:p>
          <a:p>
            <a:pPr algn="ctr"/>
            <a:r>
              <a:rPr lang="th-TH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หัวข้อ </a:t>
            </a:r>
            <a:r>
              <a:rPr lang="en-US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ISP-02.2</a:t>
            </a:r>
            <a:endParaRPr lang="en-US" altLang="zh-CN" sz="36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7" name="文本框 41"/>
          <p:cNvSpPr txBox="1"/>
          <p:nvPr/>
        </p:nvSpPr>
        <p:spPr>
          <a:xfrm>
            <a:off x="9427175" y="4419888"/>
            <a:ext cx="2763238" cy="781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3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นำเสนอโดย 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88880" y="5176074"/>
            <a:ext cx="4156363" cy="695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น.ส.</a:t>
            </a:r>
            <a:r>
              <a:rPr lang="th-TH" altLang="zh-CN" sz="28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พัณณภัทร์ 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บุญโต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44081"/>
              </p:ext>
            </p:extLst>
          </p:nvPr>
        </p:nvGraphicFramePr>
        <p:xfrm>
          <a:off x="526089" y="440226"/>
          <a:ext cx="11306628" cy="956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381">
                  <a:extLst>
                    <a:ext uri="{9D8B030D-6E8A-4147-A177-3AD203B41FA5}">
                      <a16:colId xmlns:a16="http://schemas.microsoft.com/office/drawing/2014/main" val="70911569"/>
                    </a:ext>
                  </a:extLst>
                </a:gridCol>
                <a:gridCol w="9032247">
                  <a:extLst>
                    <a:ext uri="{9D8B030D-6E8A-4147-A177-3AD203B41FA5}">
                      <a16:colId xmlns:a16="http://schemas.microsoft.com/office/drawing/2014/main" val="1097745402"/>
                    </a:ext>
                  </a:extLst>
                </a:gridCol>
              </a:tblGrid>
              <a:tr h="10087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กระบวนการ</a:t>
                      </a:r>
                      <a:r>
                        <a:rPr lang="th-TH" altLang="zh-CN" sz="2600" b="1" baseline="0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 </a:t>
                      </a:r>
                      <a:endParaRPr lang="en-US" altLang="zh-CN" sz="2600" b="1" baseline="0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600" b="1" baseline="0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(Process)</a:t>
                      </a:r>
                      <a:endParaRPr lang="th-TH" altLang="zh-CN" sz="2600" b="1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ISP-02.2 In-process Inspection - WIP </a:t>
                      </a:r>
                      <a:r>
                        <a:rPr lang="th-TH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ในกระบวนการ</a:t>
                      </a:r>
                    </a:p>
                    <a:p>
                      <a:pPr algn="l"/>
                      <a:r>
                        <a:rPr lang="th-TH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การกักกันผลิตภัณฑ์</a:t>
                      </a:r>
                      <a:r>
                        <a:rPr lang="en-US" altLang="zh-CN" sz="2600" b="1" baseline="0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 </a:t>
                      </a:r>
                      <a:r>
                        <a:rPr lang="en-US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QC </a:t>
                      </a:r>
                      <a:r>
                        <a:rPr lang="th-TH" altLang="zh-CN" sz="26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ในกระบวนการ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965072"/>
                  </a:ext>
                </a:extLst>
              </a:tr>
              <a:tr h="1227955">
                <a:tc>
                  <a:txBody>
                    <a:bodyPr/>
                    <a:lstStyle/>
                    <a:p>
                      <a:pPr algn="ctr"/>
                      <a:r>
                        <a:rPr lang="th-TH" altLang="zh-CN" sz="26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ข้อูลที่ต้องการใช้</a:t>
                      </a:r>
                    </a:p>
                    <a:p>
                      <a:pPr algn="ctr"/>
                      <a:r>
                        <a:rPr lang="th-TH" sz="26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(</a:t>
                      </a:r>
                      <a:r>
                        <a:rPr lang="en-US" sz="26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Input)</a:t>
                      </a:r>
                      <a:endParaRPr lang="th-TH" sz="26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th-TH" sz="26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1. เลข</a:t>
                      </a:r>
                      <a:r>
                        <a:rPr lang="th-TH" sz="26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6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Part Number </a:t>
                      </a:r>
                      <a:r>
                        <a:rPr lang="th-TH" sz="26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ของผลิตภัณฑ์ที่ต้องการทราบ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th-TH" sz="26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2. จำนวน/ปริมาณที่ต้องการกักผลิตภัณฑ์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th-TH" sz="26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3. คลังที่อยู่ของผลิตภัณฑ์และคลังที่ต้องการย้าย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506051"/>
                  </a:ext>
                </a:extLst>
              </a:tr>
              <a:tr h="1227955">
                <a:tc>
                  <a:txBody>
                    <a:bodyPr/>
                    <a:lstStyle/>
                    <a:p>
                      <a:pPr algn="ctr"/>
                      <a:r>
                        <a:rPr lang="th-TH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ขั้นตอนการย่อย</a:t>
                      </a:r>
                    </a:p>
                    <a:p>
                      <a:pPr algn="ctr"/>
                      <a:r>
                        <a:rPr lang="th-TH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</a:t>
                      </a:r>
                      <a:r>
                        <a:rPr lang="en-US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Sub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Process)</a:t>
                      </a:r>
                      <a:endParaRPr lang="th-TH" sz="2600" b="1" dirty="0">
                        <a:solidFill>
                          <a:srgbClr val="F9A9AF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1. ทำ </a:t>
                      </a:r>
                      <a:r>
                        <a:rPr lang="en-US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Nonconformance </a:t>
                      </a:r>
                      <a:r>
                        <a:rPr lang="th-TH" sz="26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ได้เลข</a:t>
                      </a:r>
                      <a:r>
                        <a:rPr lang="th-TH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Transaction ID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2. </a:t>
                      </a:r>
                      <a:r>
                        <a:rPr lang="th-TH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ทำ 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Inspection Processing</a:t>
                      </a:r>
                      <a:r>
                        <a:rPr lang="th-TH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ได้เลข 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DMR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3. </a:t>
                      </a:r>
                      <a:r>
                        <a:rPr lang="th-TH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ทำ 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DMR Processing </a:t>
                      </a:r>
                      <a:r>
                        <a:rPr lang="th-TH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ปิด </a:t>
                      </a:r>
                      <a:r>
                        <a:rPr lang="en-US" sz="26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02529"/>
                  </a:ext>
                </a:extLst>
              </a:tr>
              <a:tr h="1227955">
                <a:tc>
                  <a:txBody>
                    <a:bodyPr/>
                    <a:lstStyle/>
                    <a:p>
                      <a:pPr algn="ctr"/>
                      <a:r>
                        <a:rPr lang="th-TH" sz="26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ความเสี่ยง </a:t>
                      </a:r>
                      <a:r>
                        <a:rPr lang="en-US" sz="26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(Risk)</a:t>
                      </a:r>
                      <a:endParaRPr lang="th-TH" sz="2600" b="1" dirty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6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R1.</a:t>
                      </a:r>
                      <a:r>
                        <a:rPr lang="en-US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th-TH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การเลือกที่อยู่คลังของผลิตภัณฑ์ตั้งต้นและการโอนย้ายคลัง</a:t>
                      </a:r>
                    </a:p>
                    <a:p>
                      <a:r>
                        <a:rPr lang="en-US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R2. </a:t>
                      </a:r>
                      <a:r>
                        <a:rPr lang="th-TH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การใส่ข้อมูลจำนวน/น้ำหนัก ไม่ถูกต้อง</a:t>
                      </a:r>
                    </a:p>
                    <a:p>
                      <a:r>
                        <a:rPr lang="en-US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R3. </a:t>
                      </a:r>
                      <a:r>
                        <a:rPr lang="th-TH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การใส่เหตุผล </a:t>
                      </a:r>
                      <a:r>
                        <a:rPr lang="en-US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(Reason)</a:t>
                      </a:r>
                      <a:r>
                        <a:rPr lang="th-TH" sz="26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ไม่ถูกต้อง</a:t>
                      </a:r>
                      <a:endParaRPr lang="th-TH" sz="2600" b="1" dirty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40940"/>
                  </a:ext>
                </a:extLst>
              </a:tr>
              <a:tr h="1227955">
                <a:tc>
                  <a:txBody>
                    <a:bodyPr/>
                    <a:lstStyle/>
                    <a:p>
                      <a:pPr algn="ctr"/>
                      <a:r>
                        <a:rPr lang="th-TH" sz="26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จุดควบคุม</a:t>
                      </a:r>
                      <a:r>
                        <a:rPr lang="th-TH" sz="2600" b="1" baseline="0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600" b="1" baseline="0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</a:t>
                      </a:r>
                      <a:r>
                        <a:rPr lang="en-US" sz="26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control point)</a:t>
                      </a:r>
                      <a:endParaRPr lang="th-TH" sz="2600" b="1" dirty="0">
                        <a:solidFill>
                          <a:srgbClr val="EA5C85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th-TH" sz="26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1. ตรวจสอบความถูกต้องของผลิตภัณฑ์ที่กักกัน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th-TH" sz="26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2. ตรวจสอบความถูกต้องของผลิตภัณฑ์ที่ปล่อย เพื่อเข้าสู่กระบวนการการแก้ไขให้ถูกต้อง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0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9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extBox 18"/>
          <p:cNvSpPr>
            <a:spLocks noChangeArrowheads="1"/>
          </p:cNvSpPr>
          <p:nvPr/>
        </p:nvSpPr>
        <p:spPr bwMode="auto">
          <a:xfrm>
            <a:off x="1066101" y="2825748"/>
            <a:ext cx="997870" cy="1476285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Montserrat SemiBold" panose="00000700000000000000" charset="0"/>
                <a:ea typeface="华文细黑" pitchFamily="2" charset="-122"/>
                <a:cs typeface="Montserrat SemiBold" panose="00000700000000000000" charset="0"/>
                <a:sym typeface="华文细黑" pitchFamily="2" charset="-122"/>
              </a:rPr>
              <a:t>1</a:t>
            </a:r>
            <a:endParaRPr lang="en-US" altLang="en-US" sz="8000" dirty="0">
              <a:solidFill>
                <a:schemeClr val="bg1"/>
              </a:solidFill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77116" y="1100064"/>
            <a:ext cx="4954872" cy="11694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th-TH" altLang="zh-CN" sz="5000" b="1" noProof="0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คำจำกัดความ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79ACC9"/>
              </a:solidFill>
              <a:effectLst/>
              <a:uLnTx/>
              <a:uFillTx/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419644" y="3133003"/>
            <a:ext cx="95738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5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Inventory </a:t>
            </a:r>
            <a:r>
              <a:rPr lang="th-TH" altLang="zh-CN" sz="5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คือ สินค้าที่อยู่ในคลัง </a:t>
            </a:r>
            <a:r>
              <a:rPr lang="en-US" altLang="zh-CN" sz="5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WIP / FG</a:t>
            </a:r>
            <a:endParaRPr lang="zh-CN" altLang="en-US" sz="50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9"/>
          <p:cNvSpPr txBox="1"/>
          <p:nvPr/>
        </p:nvSpPr>
        <p:spPr>
          <a:xfrm>
            <a:off x="1419755" y="1553426"/>
            <a:ext cx="10190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3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1. เตรียมวัตถุดิบและผลิตภัณฑ์ไม่ได้มาตรฐานในกระบวนการผลิต</a:t>
            </a:r>
            <a:r>
              <a:rPr lang="en-US" altLang="zh-CN" sz="30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30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(Operation</a:t>
            </a:r>
            <a:r>
              <a:rPr lang="en-US" altLang="zh-CN" sz="3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</a:t>
            </a:r>
            <a:endParaRPr lang="zh-CN" altLang="en-US" sz="30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6" name="文本框 28"/>
          <p:cNvSpPr txBox="1"/>
          <p:nvPr/>
        </p:nvSpPr>
        <p:spPr>
          <a:xfrm>
            <a:off x="824182" y="599382"/>
            <a:ext cx="10429972" cy="9540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th-TH" altLang="zh-CN" sz="40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การกักกันที่ไม่ได้ตามมาตรฐานมี 3 ประเภท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9ACC9"/>
              </a:solidFill>
              <a:effectLst/>
              <a:uLnTx/>
              <a:uFillTx/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7" name="文本框 39"/>
          <p:cNvSpPr txBox="1"/>
          <p:nvPr/>
        </p:nvSpPr>
        <p:spPr>
          <a:xfrm>
            <a:off x="1419755" y="3131337"/>
            <a:ext cx="91789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30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2</a:t>
            </a:r>
            <a:r>
              <a:rPr lang="th-TH" altLang="zh-CN" sz="3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. สินค้าที่อยู่ในอาคารผลิต (บรรจุ) ไม่ได้มาตรฐาน </a:t>
            </a:r>
            <a:r>
              <a:rPr lang="en-US" altLang="zh-CN" sz="3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(Operation</a:t>
            </a:r>
            <a:r>
              <a:rPr lang="en-US" altLang="zh-CN" sz="30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</a:t>
            </a:r>
            <a:endParaRPr lang="zh-CN" altLang="en-US" sz="30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1449682" y="4532564"/>
            <a:ext cx="91789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3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3. </a:t>
            </a:r>
            <a:r>
              <a:rPr lang="th-TH" altLang="zh-CN" sz="30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สินค้าที่อยู่ในคลัง </a:t>
            </a:r>
            <a:r>
              <a:rPr lang="en-US" altLang="zh-CN" sz="30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WIP / </a:t>
            </a:r>
            <a:r>
              <a:rPr lang="en-US" altLang="zh-CN" sz="3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FG </a:t>
            </a:r>
            <a:r>
              <a:rPr lang="th-TH" altLang="zh-CN" sz="30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ไม่ได้ตามมาตรฐาน </a:t>
            </a:r>
            <a:r>
              <a:rPr lang="en-US" altLang="zh-CN" sz="30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(Inventory)</a:t>
            </a:r>
            <a:endParaRPr lang="zh-CN" altLang="en-US" sz="30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94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ldLvl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8" name="圆角矩形 11"/>
          <p:cNvSpPr>
            <a:spLocks noChangeArrowheads="1"/>
          </p:cNvSpPr>
          <p:nvPr/>
        </p:nvSpPr>
        <p:spPr bwMode="auto">
          <a:xfrm>
            <a:off x="1108360" y="3957940"/>
            <a:ext cx="3607812" cy="2401296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21" name="文本框 39"/>
          <p:cNvSpPr txBox="1"/>
          <p:nvPr/>
        </p:nvSpPr>
        <p:spPr>
          <a:xfrm>
            <a:off x="5147264" y="4332770"/>
            <a:ext cx="7043149" cy="129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Login 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 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User 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และ 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Password</a:t>
            </a:r>
            <a:endParaRPr lang="th-TH" altLang="zh-CN" sz="2800" b="1" dirty="0" smtClean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  <a:p>
            <a:pPr algn="l"/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 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22" name="文本框 39"/>
          <p:cNvSpPr txBox="1"/>
          <p:nvPr/>
        </p:nvSpPr>
        <p:spPr>
          <a:xfrm>
            <a:off x="970102" y="888981"/>
            <a:ext cx="3746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32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เริ่มใช้โปรแกรม</a:t>
            </a:r>
            <a:endParaRPr lang="zh-CN" altLang="en-US" sz="32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23" name="直接连接符 4"/>
          <p:cNvSpPr>
            <a:spLocks noChangeShapeType="1"/>
          </p:cNvSpPr>
          <p:nvPr/>
        </p:nvSpPr>
        <p:spPr bwMode="auto">
          <a:xfrm>
            <a:off x="876234" y="941943"/>
            <a:ext cx="1588" cy="531813"/>
          </a:xfrm>
          <a:prstGeom prst="line">
            <a:avLst/>
          </a:prstGeom>
          <a:noFill/>
          <a:ln w="57150" cap="flat" cmpd="sng">
            <a:solidFill>
              <a:srgbClr val="79ACC9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圆角矩形 10"/>
          <p:cNvSpPr>
            <a:spLocks noChangeArrowheads="1"/>
          </p:cNvSpPr>
          <p:nvPr/>
        </p:nvSpPr>
        <p:spPr bwMode="auto">
          <a:xfrm>
            <a:off x="2693156" y="1916575"/>
            <a:ext cx="1518550" cy="1422369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/>
          <a:srcRect l="4009" t="-306" r="6620" b="8280"/>
          <a:stretch/>
        </p:blipFill>
        <p:spPr>
          <a:xfrm>
            <a:off x="2864981" y="2048938"/>
            <a:ext cx="1178341" cy="1157049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8" t="12879" r="9097" b="16962"/>
          <a:stretch/>
        </p:blipFill>
        <p:spPr bwMode="auto">
          <a:xfrm>
            <a:off x="1361823" y="4106313"/>
            <a:ext cx="3099342" cy="21037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" name="文本框 39"/>
          <p:cNvSpPr txBox="1"/>
          <p:nvPr/>
        </p:nvSpPr>
        <p:spPr>
          <a:xfrm>
            <a:off x="5197235" y="2365852"/>
            <a:ext cx="3212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เข้าโปรแกรม </a:t>
            </a:r>
            <a:r>
              <a:rPr lang="en-US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Epicor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6103867" y="5158169"/>
            <a:ext cx="507948" cy="22508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9"/>
          <p:cNvSpPr txBox="1"/>
          <p:nvPr/>
        </p:nvSpPr>
        <p:spPr>
          <a:xfrm>
            <a:off x="970101" y="348642"/>
            <a:ext cx="5347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32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เข้าสู่โหมดทำงานของโปรแกรม</a:t>
            </a:r>
            <a:endParaRPr lang="zh-CN" altLang="en-US" sz="32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8" name="直接连接符 4"/>
          <p:cNvSpPr>
            <a:spLocks noChangeShapeType="1"/>
          </p:cNvSpPr>
          <p:nvPr/>
        </p:nvSpPr>
        <p:spPr bwMode="auto">
          <a:xfrm>
            <a:off x="876234" y="401604"/>
            <a:ext cx="1588" cy="531813"/>
          </a:xfrm>
          <a:prstGeom prst="line">
            <a:avLst/>
          </a:prstGeom>
          <a:noFill/>
          <a:ln w="57150" cap="flat" cmpd="sng">
            <a:solidFill>
              <a:srgbClr val="79ACC9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" b="1"/>
          <a:stretch/>
        </p:blipFill>
        <p:spPr bwMode="auto">
          <a:xfrm>
            <a:off x="734572" y="1058112"/>
            <a:ext cx="10889392" cy="55920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568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39"/>
          <p:cNvSpPr txBox="1"/>
          <p:nvPr/>
        </p:nvSpPr>
        <p:spPr>
          <a:xfrm>
            <a:off x="803138" y="344900"/>
            <a:ext cx="1095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Production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Management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Quality Assurance &gt; General Operation &gt; Nonconformance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4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972"/>
          <a:stretch/>
        </p:blipFill>
        <p:spPr>
          <a:xfrm>
            <a:off x="361720" y="1075941"/>
            <a:ext cx="11289953" cy="5582274"/>
          </a:xfrm>
          <a:prstGeom prst="rect">
            <a:avLst/>
          </a:prstGeom>
        </p:spPr>
      </p:pic>
      <p:pic>
        <p:nvPicPr>
          <p:cNvPr id="11" name="Picture 10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79" y="1424764"/>
            <a:ext cx="595630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 bwMode="auto">
          <a:xfrm>
            <a:off x="853434" y="3657600"/>
            <a:ext cx="1557256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Picture 5" descr="สีชมพู, ชี้ไป, เหล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840" y="3596411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/>
          <p:cNvSpPr/>
          <p:nvPr/>
        </p:nvSpPr>
        <p:spPr bwMode="auto">
          <a:xfrm>
            <a:off x="845817" y="4378037"/>
            <a:ext cx="1447800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" name="Picture 12" descr="สีชมพู, ชี้ไป, เหล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560" y="4316861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/>
        </p:nvSpPr>
        <p:spPr bwMode="auto">
          <a:xfrm>
            <a:off x="853434" y="4880817"/>
            <a:ext cx="1447800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" name="Picture 14" descr="สีชมพู, ชี้ไป, เหล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415" y="4823721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15"/>
          <p:cNvSpPr/>
          <p:nvPr/>
        </p:nvSpPr>
        <p:spPr bwMode="auto">
          <a:xfrm>
            <a:off x="3333400" y="4215799"/>
            <a:ext cx="1447800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" name="Picture 16" descr="สีชมพู, ชี้ไป, เหล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113" y="4175367"/>
            <a:ext cx="482600" cy="48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781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1139483" y="2364111"/>
            <a:ext cx="76442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Operation</a:t>
            </a:r>
            <a:endParaRPr lang="zh-CN" altLang="en-US" sz="9600" b="1" dirty="0">
              <a:solidFill>
                <a:schemeClr val="bg2">
                  <a:lumMod val="25000"/>
                </a:schemeClr>
              </a:solidFill>
              <a:latin typeface="Montserrat SemiBold" panose="00000700000000000000" charset="0"/>
              <a:ea typeface="字魂36号-正文宋楷" panose="02000000000000000000" pitchFamily="2" charset="-122"/>
              <a:cs typeface="Montserrat SemiBold" panose="00000700000000000000" charset="0"/>
              <a:sym typeface="字魂36号-正文宋楷" panose="02000000000000000000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076" y="2967182"/>
            <a:ext cx="1465961" cy="116055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11"/>
          <p:cNvSpPr>
            <a:spLocks noChangeArrowheads="1"/>
          </p:cNvSpPr>
          <p:nvPr/>
        </p:nvSpPr>
        <p:spPr bwMode="auto">
          <a:xfrm rot="5400000">
            <a:off x="129605" y="1138679"/>
            <a:ext cx="5613594" cy="5371639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4" name="圆角矩形 10"/>
          <p:cNvSpPr>
            <a:spLocks noChangeArrowheads="1"/>
          </p:cNvSpPr>
          <p:nvPr/>
        </p:nvSpPr>
        <p:spPr bwMode="auto">
          <a:xfrm>
            <a:off x="5763800" y="1629920"/>
            <a:ext cx="6273073" cy="4991523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33" name="Picture 32"/>
          <p:cNvPicPr/>
          <p:nvPr/>
        </p:nvPicPr>
        <p:blipFill rotWithShape="1">
          <a:blip r:embed="rId3"/>
          <a:srcRect l="-1" t="5586" r="854"/>
          <a:stretch/>
        </p:blipFill>
        <p:spPr bwMode="auto">
          <a:xfrm>
            <a:off x="6158128" y="1899572"/>
            <a:ext cx="5548223" cy="44971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161" name="Freeform 9"/>
          <p:cNvSpPr>
            <a:spLocks noEditPoints="1" noChangeArrowheads="1"/>
          </p:cNvSpPr>
          <p:nvPr/>
        </p:nvSpPr>
        <p:spPr bwMode="auto">
          <a:xfrm>
            <a:off x="6248400" y="3592513"/>
            <a:ext cx="568325" cy="471487"/>
          </a:xfrm>
          <a:custGeom>
            <a:avLst/>
            <a:gdLst>
              <a:gd name="T0" fmla="*/ 1197 w 1907"/>
              <a:gd name="T1" fmla="*/ 1489 h 1579"/>
              <a:gd name="T2" fmla="*/ 1173 w 1907"/>
              <a:gd name="T3" fmla="*/ 1460 h 1579"/>
              <a:gd name="T4" fmla="*/ 1168 w 1907"/>
              <a:gd name="T5" fmla="*/ 1360 h 1579"/>
              <a:gd name="T6" fmla="*/ 1011 w 1907"/>
              <a:gd name="T7" fmla="*/ 1360 h 1579"/>
              <a:gd name="T8" fmla="*/ 906 w 1907"/>
              <a:gd name="T9" fmla="*/ 1360 h 1579"/>
              <a:gd name="T10" fmla="*/ 744 w 1907"/>
              <a:gd name="T11" fmla="*/ 1360 h 1579"/>
              <a:gd name="T12" fmla="*/ 739 w 1907"/>
              <a:gd name="T13" fmla="*/ 1460 h 1579"/>
              <a:gd name="T14" fmla="*/ 715 w 1907"/>
              <a:gd name="T15" fmla="*/ 1489 h 1579"/>
              <a:gd name="T16" fmla="*/ 630 w 1907"/>
              <a:gd name="T17" fmla="*/ 1565 h 1579"/>
              <a:gd name="T18" fmla="*/ 644 w 1907"/>
              <a:gd name="T19" fmla="*/ 1579 h 1579"/>
              <a:gd name="T20" fmla="*/ 906 w 1907"/>
              <a:gd name="T21" fmla="*/ 1579 h 1579"/>
              <a:gd name="T22" fmla="*/ 1011 w 1907"/>
              <a:gd name="T23" fmla="*/ 1579 h 1579"/>
              <a:gd name="T24" fmla="*/ 1268 w 1907"/>
              <a:gd name="T25" fmla="*/ 1579 h 1579"/>
              <a:gd name="T26" fmla="*/ 1283 w 1907"/>
              <a:gd name="T27" fmla="*/ 1565 h 1579"/>
              <a:gd name="T28" fmla="*/ 1197 w 1907"/>
              <a:gd name="T29" fmla="*/ 1489 h 1579"/>
              <a:gd name="T30" fmla="*/ 1197 w 1907"/>
              <a:gd name="T31" fmla="*/ 1489 h 1579"/>
              <a:gd name="T32" fmla="*/ 1850 w 1907"/>
              <a:gd name="T33" fmla="*/ 0 h 1579"/>
              <a:gd name="T34" fmla="*/ 57 w 1907"/>
              <a:gd name="T35" fmla="*/ 0 h 1579"/>
              <a:gd name="T36" fmla="*/ 0 w 1907"/>
              <a:gd name="T37" fmla="*/ 57 h 1579"/>
              <a:gd name="T38" fmla="*/ 0 w 1907"/>
              <a:gd name="T39" fmla="*/ 1264 h 1579"/>
              <a:gd name="T40" fmla="*/ 57 w 1907"/>
              <a:gd name="T41" fmla="*/ 1321 h 1579"/>
              <a:gd name="T42" fmla="*/ 1850 w 1907"/>
              <a:gd name="T43" fmla="*/ 1321 h 1579"/>
              <a:gd name="T44" fmla="*/ 1907 w 1907"/>
              <a:gd name="T45" fmla="*/ 1264 h 1579"/>
              <a:gd name="T46" fmla="*/ 1907 w 1907"/>
              <a:gd name="T47" fmla="*/ 57 h 1579"/>
              <a:gd name="T48" fmla="*/ 1850 w 1907"/>
              <a:gd name="T49" fmla="*/ 0 h 1579"/>
              <a:gd name="T50" fmla="*/ 1817 w 1907"/>
              <a:gd name="T51" fmla="*/ 1083 h 1579"/>
              <a:gd name="T52" fmla="*/ 91 w 1907"/>
              <a:gd name="T53" fmla="*/ 1083 h 1579"/>
              <a:gd name="T54" fmla="*/ 91 w 1907"/>
              <a:gd name="T55" fmla="*/ 95 h 1579"/>
              <a:gd name="T56" fmla="*/ 1817 w 1907"/>
              <a:gd name="T57" fmla="*/ 95 h 1579"/>
              <a:gd name="T58" fmla="*/ 1817 w 1907"/>
              <a:gd name="T59" fmla="*/ 1083 h 1579"/>
              <a:gd name="T60" fmla="*/ 1817 w 1907"/>
              <a:gd name="T61" fmla="*/ 1083 h 1579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1907"/>
              <a:gd name="T94" fmla="*/ 0 h 1579"/>
              <a:gd name="T95" fmla="*/ 1907 w 1907"/>
              <a:gd name="T96" fmla="*/ 1579 h 1579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1907" h="1579">
                <a:moveTo>
                  <a:pt x="1197" y="1489"/>
                </a:moveTo>
                <a:cubicBezTo>
                  <a:pt x="1197" y="1489"/>
                  <a:pt x="1178" y="1469"/>
                  <a:pt x="1173" y="1460"/>
                </a:cubicBezTo>
                <a:cubicBezTo>
                  <a:pt x="1168" y="1441"/>
                  <a:pt x="1168" y="1384"/>
                  <a:pt x="1168" y="1360"/>
                </a:cubicBezTo>
                <a:cubicBezTo>
                  <a:pt x="1011" y="1360"/>
                  <a:pt x="1011" y="1360"/>
                  <a:pt x="1011" y="1360"/>
                </a:cubicBezTo>
                <a:cubicBezTo>
                  <a:pt x="906" y="1360"/>
                  <a:pt x="906" y="1360"/>
                  <a:pt x="906" y="1360"/>
                </a:cubicBezTo>
                <a:cubicBezTo>
                  <a:pt x="744" y="1360"/>
                  <a:pt x="744" y="1360"/>
                  <a:pt x="744" y="1360"/>
                </a:cubicBezTo>
                <a:cubicBezTo>
                  <a:pt x="744" y="1384"/>
                  <a:pt x="749" y="1441"/>
                  <a:pt x="739" y="1460"/>
                </a:cubicBezTo>
                <a:cubicBezTo>
                  <a:pt x="734" y="1469"/>
                  <a:pt x="715" y="1489"/>
                  <a:pt x="715" y="1489"/>
                </a:cubicBezTo>
                <a:cubicBezTo>
                  <a:pt x="630" y="1565"/>
                  <a:pt x="630" y="1565"/>
                  <a:pt x="630" y="1565"/>
                </a:cubicBezTo>
                <a:cubicBezTo>
                  <a:pt x="630" y="1574"/>
                  <a:pt x="639" y="1579"/>
                  <a:pt x="644" y="1579"/>
                </a:cubicBezTo>
                <a:cubicBezTo>
                  <a:pt x="906" y="1579"/>
                  <a:pt x="906" y="1579"/>
                  <a:pt x="906" y="1579"/>
                </a:cubicBezTo>
                <a:cubicBezTo>
                  <a:pt x="1011" y="1579"/>
                  <a:pt x="1011" y="1579"/>
                  <a:pt x="1011" y="1579"/>
                </a:cubicBezTo>
                <a:cubicBezTo>
                  <a:pt x="1268" y="1579"/>
                  <a:pt x="1268" y="1579"/>
                  <a:pt x="1268" y="1579"/>
                </a:cubicBezTo>
                <a:cubicBezTo>
                  <a:pt x="1273" y="1579"/>
                  <a:pt x="1283" y="1574"/>
                  <a:pt x="1283" y="1565"/>
                </a:cubicBezTo>
                <a:cubicBezTo>
                  <a:pt x="1197" y="1489"/>
                  <a:pt x="1197" y="1489"/>
                  <a:pt x="1197" y="1489"/>
                </a:cubicBezTo>
                <a:cubicBezTo>
                  <a:pt x="1197" y="1489"/>
                  <a:pt x="1197" y="1489"/>
                  <a:pt x="1197" y="1489"/>
                </a:cubicBezTo>
                <a:close/>
                <a:moveTo>
                  <a:pt x="1850" y="0"/>
                </a:moveTo>
                <a:cubicBezTo>
                  <a:pt x="57" y="0"/>
                  <a:pt x="57" y="0"/>
                  <a:pt x="57" y="0"/>
                </a:cubicBezTo>
                <a:cubicBezTo>
                  <a:pt x="24" y="0"/>
                  <a:pt x="0" y="23"/>
                  <a:pt x="0" y="57"/>
                </a:cubicBezTo>
                <a:cubicBezTo>
                  <a:pt x="0" y="1264"/>
                  <a:pt x="0" y="1264"/>
                  <a:pt x="0" y="1264"/>
                </a:cubicBezTo>
                <a:cubicBezTo>
                  <a:pt x="0" y="1298"/>
                  <a:pt x="24" y="1321"/>
                  <a:pt x="57" y="1321"/>
                </a:cubicBezTo>
                <a:cubicBezTo>
                  <a:pt x="1850" y="1321"/>
                  <a:pt x="1850" y="1321"/>
                  <a:pt x="1850" y="1321"/>
                </a:cubicBezTo>
                <a:cubicBezTo>
                  <a:pt x="1884" y="1321"/>
                  <a:pt x="1907" y="1298"/>
                  <a:pt x="1907" y="1264"/>
                </a:cubicBezTo>
                <a:cubicBezTo>
                  <a:pt x="1907" y="57"/>
                  <a:pt x="1907" y="57"/>
                  <a:pt x="1907" y="57"/>
                </a:cubicBezTo>
                <a:cubicBezTo>
                  <a:pt x="1907" y="23"/>
                  <a:pt x="1884" y="0"/>
                  <a:pt x="1850" y="0"/>
                </a:cubicBezTo>
                <a:close/>
                <a:moveTo>
                  <a:pt x="1817" y="1083"/>
                </a:moveTo>
                <a:cubicBezTo>
                  <a:pt x="91" y="1083"/>
                  <a:pt x="91" y="1083"/>
                  <a:pt x="91" y="1083"/>
                </a:cubicBezTo>
                <a:cubicBezTo>
                  <a:pt x="91" y="95"/>
                  <a:pt x="91" y="95"/>
                  <a:pt x="91" y="95"/>
                </a:cubicBezTo>
                <a:cubicBezTo>
                  <a:pt x="1817" y="95"/>
                  <a:pt x="1817" y="95"/>
                  <a:pt x="1817" y="95"/>
                </a:cubicBezTo>
                <a:cubicBezTo>
                  <a:pt x="1817" y="1083"/>
                  <a:pt x="1817" y="1083"/>
                  <a:pt x="1817" y="1083"/>
                </a:cubicBezTo>
                <a:cubicBezTo>
                  <a:pt x="1817" y="1083"/>
                  <a:pt x="1817" y="1083"/>
                  <a:pt x="1817" y="10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/>
          <a:p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1" t="-122" r="39157" b="1713"/>
          <a:stretch/>
        </p:blipFill>
        <p:spPr>
          <a:xfrm>
            <a:off x="508899" y="1352560"/>
            <a:ext cx="4807214" cy="4919456"/>
          </a:xfrm>
          <a:prstGeom prst="rect">
            <a:avLst/>
          </a:prstGeom>
        </p:spPr>
      </p:pic>
      <p:pic>
        <p:nvPicPr>
          <p:cNvPr id="22" name="Picture 21" descr="mapmarker, ลูกบอลเหลือง, สีชมพู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文本框 39"/>
          <p:cNvSpPr txBox="1"/>
          <p:nvPr/>
        </p:nvSpPr>
        <p:spPr>
          <a:xfrm>
            <a:off x="561859" y="-6111"/>
            <a:ext cx="11387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Operation &gt;    New &gt; Employee (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ผู้ตรวจสอบ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 &gt; Sort By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Name &gt; Starting At (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พิมพ์ชื่อ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 </a:t>
            </a:r>
            <a:r>
              <a:rPr lang="en-US" altLang="zh-CN" sz="24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Search </a:t>
            </a:r>
            <a:endParaRPr lang="zh-CN" altLang="en-US" sz="24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24" name="Picture 23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5" b="9890"/>
          <a:stretch/>
        </p:blipFill>
        <p:spPr bwMode="auto">
          <a:xfrm>
            <a:off x="2912506" y="97005"/>
            <a:ext cx="249555" cy="40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Rectangle 24"/>
          <p:cNvSpPr/>
          <p:nvPr/>
        </p:nvSpPr>
        <p:spPr bwMode="auto">
          <a:xfrm>
            <a:off x="3973607" y="1796703"/>
            <a:ext cx="767624" cy="344288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Flowchart: Connector 10"/>
          <p:cNvSpPr/>
          <p:nvPr/>
        </p:nvSpPr>
        <p:spPr bwMode="auto">
          <a:xfrm>
            <a:off x="9516342" y="2987589"/>
            <a:ext cx="403514" cy="337504"/>
          </a:xfrm>
          <a:prstGeom prst="flowChartConnector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18"/>
          <p:cNvSpPr>
            <a:spLocks noChangeArrowheads="1"/>
          </p:cNvSpPr>
          <p:nvPr/>
        </p:nvSpPr>
        <p:spPr bwMode="auto">
          <a:xfrm>
            <a:off x="613039" y="103154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28" name="TextBox 18"/>
          <p:cNvSpPr>
            <a:spLocks noChangeArrowheads="1"/>
          </p:cNvSpPr>
          <p:nvPr/>
        </p:nvSpPr>
        <p:spPr bwMode="auto">
          <a:xfrm>
            <a:off x="4733796" y="1684128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912506" y="2387167"/>
            <a:ext cx="874062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TextBox 18"/>
          <p:cNvSpPr>
            <a:spLocks noChangeArrowheads="1"/>
          </p:cNvSpPr>
          <p:nvPr/>
        </p:nvSpPr>
        <p:spPr bwMode="auto">
          <a:xfrm>
            <a:off x="3778907" y="2305945"/>
            <a:ext cx="2509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rgbClr val="FFFF00"/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  <p:sp>
        <p:nvSpPr>
          <p:cNvPr id="16" name="文本框 39"/>
          <p:cNvSpPr txBox="1"/>
          <p:nvPr/>
        </p:nvSpPr>
        <p:spPr>
          <a:xfrm>
            <a:off x="6441586" y="510983"/>
            <a:ext cx="4081048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เลือกชื่อ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OK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4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7" name="Picture 16" descr="สีชมพู, สองคน, นิ้วมือ ไอคอน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24" y="1842337"/>
            <a:ext cx="592691" cy="54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สีชมพู, สองคน, นิ้วมือ ไอคอน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894889" y="2091585"/>
            <a:ext cx="651149" cy="585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18"/>
          <p:cNvSpPr>
            <a:spLocks noChangeArrowheads="1"/>
          </p:cNvSpPr>
          <p:nvPr/>
        </p:nvSpPr>
        <p:spPr bwMode="auto">
          <a:xfrm>
            <a:off x="9894374" y="2970962"/>
            <a:ext cx="2509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</a:p>
        </p:txBody>
      </p:sp>
      <p:sp>
        <p:nvSpPr>
          <p:cNvPr id="26" name="TextBox 18"/>
          <p:cNvSpPr>
            <a:spLocks noChangeArrowheads="1"/>
          </p:cNvSpPr>
          <p:nvPr/>
        </p:nvSpPr>
        <p:spPr bwMode="auto">
          <a:xfrm>
            <a:off x="8649346" y="3214116"/>
            <a:ext cx="2509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5</a:t>
            </a:r>
          </a:p>
        </p:txBody>
      </p:sp>
      <p:sp>
        <p:nvSpPr>
          <p:cNvPr id="29" name="TextBox 18"/>
          <p:cNvSpPr>
            <a:spLocks noChangeArrowheads="1"/>
          </p:cNvSpPr>
          <p:nvPr/>
        </p:nvSpPr>
        <p:spPr bwMode="auto">
          <a:xfrm>
            <a:off x="11420543" y="2388933"/>
            <a:ext cx="25099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6</a:t>
            </a:r>
            <a:endParaRPr lang="en-US" alt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sp>
        <p:nvSpPr>
          <p:cNvPr id="30" name="Flowchart: Connector 29"/>
          <p:cNvSpPr/>
          <p:nvPr/>
        </p:nvSpPr>
        <p:spPr bwMode="auto">
          <a:xfrm>
            <a:off x="418772" y="1381219"/>
            <a:ext cx="374073" cy="441971"/>
          </a:xfrm>
          <a:prstGeom prst="flowChartConnector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6" name="Picture 35" descr="สีชมพู, สองคน, นิ้วมือ ไอคอน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775" y="6339849"/>
            <a:ext cx="592691" cy="54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 descr="สีชมพู, สองคน, นิ้วมือ ไอคอน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622" y="4861004"/>
            <a:ext cx="592691" cy="544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173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animBg="1"/>
      <p:bldP spid="11" grpId="0" animBg="1"/>
      <p:bldP spid="31" grpId="0" animBg="1"/>
      <p:bldP spid="16" grpId="0"/>
      <p:bldP spid="26" grpId="0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10"/>
          <p:cNvSpPr>
            <a:spLocks noChangeArrowheads="1"/>
          </p:cNvSpPr>
          <p:nvPr/>
        </p:nvSpPr>
        <p:spPr bwMode="auto">
          <a:xfrm>
            <a:off x="5763800" y="1491370"/>
            <a:ext cx="6273073" cy="4991523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19" name="圆角矩形 11"/>
          <p:cNvSpPr>
            <a:spLocks noChangeArrowheads="1"/>
          </p:cNvSpPr>
          <p:nvPr/>
        </p:nvSpPr>
        <p:spPr bwMode="auto">
          <a:xfrm rot="5400000">
            <a:off x="129605" y="1138679"/>
            <a:ext cx="5613594" cy="5371639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2"/>
          <a:stretch>
            <a:fillRect/>
          </a:stretch>
        </p:blipFill>
        <p:spPr>
          <a:xfrm>
            <a:off x="6123709" y="1662327"/>
            <a:ext cx="5624945" cy="4669199"/>
          </a:xfrm>
          <a:prstGeom prst="rect">
            <a:avLst/>
          </a:prstGeom>
        </p:spPr>
      </p:pic>
      <p:pic>
        <p:nvPicPr>
          <p:cNvPr id="20" name="Picture 19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文本框 39"/>
          <p:cNvSpPr txBox="1"/>
          <p:nvPr/>
        </p:nvSpPr>
        <p:spPr>
          <a:xfrm>
            <a:off x="761999" y="40588"/>
            <a:ext cx="10871983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Job &gt; Job Status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กดเลือก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Released &gt;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Search &gt;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เลือกเลข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Job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ที่ตรวจสอบ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&gt;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OK</a:t>
            </a:r>
            <a:endParaRPr lang="zh-CN" altLang="en-US" sz="24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1" t="-122" r="39157" b="1713"/>
          <a:stretch/>
        </p:blipFill>
        <p:spPr>
          <a:xfrm>
            <a:off x="527027" y="1404831"/>
            <a:ext cx="4841365" cy="495440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 bwMode="auto">
          <a:xfrm>
            <a:off x="3161888" y="2802804"/>
            <a:ext cx="874062" cy="249382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654608" y="2802804"/>
            <a:ext cx="874062" cy="249382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" name="Picture 25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229" y="3052186"/>
            <a:ext cx="401990" cy="3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121" y="3052186"/>
            <a:ext cx="401990" cy="3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8739" y="2447567"/>
            <a:ext cx="401990" cy="3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02" y="5620259"/>
            <a:ext cx="401990" cy="38713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18"/>
          <p:cNvSpPr>
            <a:spLocks noChangeArrowheads="1"/>
          </p:cNvSpPr>
          <p:nvPr/>
        </p:nvSpPr>
        <p:spPr bwMode="auto">
          <a:xfrm>
            <a:off x="4089402" y="2712051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32" name="TextBox 18"/>
          <p:cNvSpPr>
            <a:spLocks noChangeArrowheads="1"/>
          </p:cNvSpPr>
          <p:nvPr/>
        </p:nvSpPr>
        <p:spPr bwMode="auto">
          <a:xfrm>
            <a:off x="8655105" y="275779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33" name="TextBox 18"/>
          <p:cNvSpPr>
            <a:spLocks noChangeArrowheads="1"/>
          </p:cNvSpPr>
          <p:nvPr/>
        </p:nvSpPr>
        <p:spPr bwMode="auto">
          <a:xfrm>
            <a:off x="10998441" y="191557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sp>
        <p:nvSpPr>
          <p:cNvPr id="34" name="TextBox 18"/>
          <p:cNvSpPr>
            <a:spLocks noChangeArrowheads="1"/>
          </p:cNvSpPr>
          <p:nvPr/>
        </p:nvSpPr>
        <p:spPr bwMode="auto">
          <a:xfrm>
            <a:off x="6837225" y="5305482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pic>
        <p:nvPicPr>
          <p:cNvPr id="35" name="Picture 34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122" y="6365012"/>
            <a:ext cx="401990" cy="38713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18"/>
          <p:cNvSpPr>
            <a:spLocks noChangeArrowheads="1"/>
          </p:cNvSpPr>
          <p:nvPr/>
        </p:nvSpPr>
        <p:spPr bwMode="auto">
          <a:xfrm>
            <a:off x="6689787" y="635923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5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4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0"/>
          <p:cNvSpPr>
            <a:spLocks noChangeArrowheads="1"/>
          </p:cNvSpPr>
          <p:nvPr/>
        </p:nvSpPr>
        <p:spPr bwMode="auto">
          <a:xfrm>
            <a:off x="221964" y="429492"/>
            <a:ext cx="7384171" cy="6276108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85052" y="783900"/>
            <a:ext cx="6857992" cy="5539584"/>
          </a:xfrm>
          <a:prstGeom prst="rect">
            <a:avLst/>
          </a:prstGeom>
        </p:spPr>
      </p:pic>
      <p:pic>
        <p:nvPicPr>
          <p:cNvPr id="6" name="Picture 5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32439">
            <a:off x="4493465" y="3544150"/>
            <a:ext cx="379958" cy="315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mapmarker, ลูกบอลเหลือง, สีชมพู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539" y="699243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7815982" y="57071"/>
            <a:ext cx="4290458" cy="6795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เลือกเลข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Job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แล้ว</a:t>
            </a:r>
          </a:p>
          <a:p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         </a:t>
            </a: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ใส่จำนวนที่กัก 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Tab</a:t>
            </a: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Reason </a:t>
            </a: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Operation </a:t>
            </a:r>
            <a:r>
              <a:rPr lang="en-US" sz="22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Seq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10</a:t>
            </a:r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</a:p>
          <a:p>
            <a:pPr algn="ctr"/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To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กดเลือกคลังที่ต้องการ</a:t>
            </a:r>
          </a:p>
          <a:p>
            <a:pPr algn="ctr"/>
            <a:endParaRPr lang="th-TH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 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</a:t>
            </a:r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9869952" y="219398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9869547" y="137550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9876573" y="2982134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" name="Picture 1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77006" y="3386656"/>
            <a:ext cx="4321190" cy="832321"/>
          </a:xfrm>
          <a:prstGeom prst="rect">
            <a:avLst/>
          </a:prstGeom>
        </p:spPr>
      </p:pic>
      <p:sp>
        <p:nvSpPr>
          <p:cNvPr id="18" name="Down Arrow 17"/>
          <p:cNvSpPr/>
          <p:nvPr/>
        </p:nvSpPr>
        <p:spPr bwMode="auto">
          <a:xfrm>
            <a:off x="9873919" y="4301807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" name="Picture 18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275188" y="4261209"/>
            <a:ext cx="398227" cy="3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Down Arrow 19"/>
          <p:cNvSpPr/>
          <p:nvPr/>
        </p:nvSpPr>
        <p:spPr bwMode="auto">
          <a:xfrm>
            <a:off x="9869547" y="554016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601712" y="3013761"/>
            <a:ext cx="874062" cy="441173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TextBox 18"/>
          <p:cNvSpPr>
            <a:spLocks noChangeArrowheads="1"/>
          </p:cNvSpPr>
          <p:nvPr/>
        </p:nvSpPr>
        <p:spPr bwMode="auto">
          <a:xfrm>
            <a:off x="4779250" y="2939873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 flipV="1">
            <a:off x="5839906" y="3701739"/>
            <a:ext cx="1870674" cy="3714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8" name="TextBox 18"/>
          <p:cNvSpPr>
            <a:spLocks noChangeArrowheads="1"/>
          </p:cNvSpPr>
          <p:nvPr/>
        </p:nvSpPr>
        <p:spPr bwMode="auto">
          <a:xfrm>
            <a:off x="3526982" y="3627941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29" name="TextBox 18"/>
          <p:cNvSpPr>
            <a:spLocks noChangeArrowheads="1"/>
          </p:cNvSpPr>
          <p:nvPr/>
        </p:nvSpPr>
        <p:spPr bwMode="auto">
          <a:xfrm>
            <a:off x="1992025" y="425954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pic>
        <p:nvPicPr>
          <p:cNvPr id="30" name="Picture 29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56032">
            <a:off x="5153463" y="4460322"/>
            <a:ext cx="398227" cy="3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Down Arrow 30"/>
          <p:cNvSpPr/>
          <p:nvPr/>
        </p:nvSpPr>
        <p:spPr bwMode="auto">
          <a:xfrm>
            <a:off x="9891938" y="48351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48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0"/>
          <p:cNvSpPr>
            <a:spLocks noChangeArrowheads="1"/>
          </p:cNvSpPr>
          <p:nvPr/>
        </p:nvSpPr>
        <p:spPr bwMode="auto">
          <a:xfrm>
            <a:off x="221964" y="429492"/>
            <a:ext cx="7384171" cy="6276108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85053" y="797754"/>
            <a:ext cx="6857992" cy="5539584"/>
          </a:xfrm>
          <a:prstGeom prst="rect">
            <a:avLst/>
          </a:prstGeom>
        </p:spPr>
      </p:pic>
      <p:pic>
        <p:nvPicPr>
          <p:cNvPr id="8" name="Picture 7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56032">
            <a:off x="5153463" y="4460322"/>
            <a:ext cx="398227" cy="39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2977" b="476"/>
          <a:stretch/>
        </p:blipFill>
        <p:spPr bwMode="auto">
          <a:xfrm>
            <a:off x="7997716" y="85735"/>
            <a:ext cx="4041915" cy="17251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1" name="Straight Arrow Connector 10"/>
          <p:cNvCxnSpPr/>
          <p:nvPr/>
        </p:nvCxnSpPr>
        <p:spPr bwMode="auto">
          <a:xfrm flipV="1">
            <a:off x="5523420" y="2036618"/>
            <a:ext cx="2409788" cy="25878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5" name="TextBox 14"/>
          <p:cNvSpPr txBox="1"/>
          <p:nvPr/>
        </p:nvSpPr>
        <p:spPr>
          <a:xfrm>
            <a:off x="7762162" y="2129131"/>
            <a:ext cx="436943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From </a:t>
            </a:r>
            <a:r>
              <a:rPr lang="en-US" sz="22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Oper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en-US" sz="22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Seq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th-TH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10</a:t>
            </a:r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200" dirty="0" smtClean="0"/>
          </a:p>
          <a:p>
            <a:pPr algn="ctr"/>
            <a:r>
              <a:rPr lang="en-US" sz="2200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Frome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 </a:t>
            </a:r>
            <a:r>
              <a:rPr lang="th-TH" sz="2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กดเลือกคลังที่ต้องการ</a:t>
            </a:r>
          </a:p>
          <a:p>
            <a:pPr algn="ctr"/>
            <a:endParaRPr lang="th-TH" sz="2200" dirty="0"/>
          </a:p>
          <a:p>
            <a:pPr algn="ctr"/>
            <a:r>
              <a:rPr lang="th-TH" sz="2200" dirty="0"/>
              <a:t> </a:t>
            </a:r>
            <a:r>
              <a:rPr lang="th-TH" sz="2200" dirty="0" smtClean="0"/>
              <a:t> 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เลือกเหมือนเดิม</a:t>
            </a:r>
            <a:endParaRPr lang="th-TH" sz="2200" dirty="0"/>
          </a:p>
          <a:p>
            <a:pPr algn="ctr"/>
            <a:endParaRPr lang="th-TH" sz="2200" dirty="0" smtClean="0"/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     และกด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Yes</a:t>
            </a:r>
            <a:endParaRPr lang="th-TH" sz="2200" dirty="0"/>
          </a:p>
          <a:p>
            <a:pPr algn="ctr"/>
            <a:endParaRPr lang="th-TH" sz="2200" dirty="0"/>
          </a:p>
        </p:txBody>
      </p:sp>
      <p:sp>
        <p:nvSpPr>
          <p:cNvPr id="16" name="Down Arrow 15"/>
          <p:cNvSpPr/>
          <p:nvPr/>
        </p:nvSpPr>
        <p:spPr bwMode="auto">
          <a:xfrm>
            <a:off x="9892933" y="1898377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Down Arrow 16"/>
          <p:cNvSpPr/>
          <p:nvPr/>
        </p:nvSpPr>
        <p:spPr bwMode="auto">
          <a:xfrm>
            <a:off x="9877606" y="260496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9918592" y="3784912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>
            <a:spLocks noChangeArrowheads="1"/>
          </p:cNvSpPr>
          <p:nvPr/>
        </p:nvSpPr>
        <p:spPr bwMode="auto">
          <a:xfrm>
            <a:off x="5442394" y="4606460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</a:p>
        </p:txBody>
      </p:sp>
      <p:pic>
        <p:nvPicPr>
          <p:cNvPr id="20" name="Picture 19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961836" y="4812940"/>
            <a:ext cx="398227" cy="3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18"/>
          <p:cNvSpPr>
            <a:spLocks noChangeArrowheads="1"/>
          </p:cNvSpPr>
          <p:nvPr/>
        </p:nvSpPr>
        <p:spPr bwMode="auto">
          <a:xfrm>
            <a:off x="1983861" y="5164544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5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pic>
        <p:nvPicPr>
          <p:cNvPr id="22" name="Picture 21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193" y="5211698"/>
            <a:ext cx="398227" cy="39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316" y="5239408"/>
            <a:ext cx="398227" cy="3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Box 18"/>
          <p:cNvSpPr>
            <a:spLocks noChangeArrowheads="1"/>
          </p:cNvSpPr>
          <p:nvPr/>
        </p:nvSpPr>
        <p:spPr bwMode="auto">
          <a:xfrm>
            <a:off x="3041111" y="5195512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6</a:t>
            </a:r>
          </a:p>
        </p:txBody>
      </p:sp>
      <p:cxnSp>
        <p:nvCxnSpPr>
          <p:cNvPr id="26" name="Straight Arrow Connector 25"/>
          <p:cNvCxnSpPr/>
          <p:nvPr/>
        </p:nvCxnSpPr>
        <p:spPr bwMode="auto">
          <a:xfrm flipV="1">
            <a:off x="5523420" y="4261832"/>
            <a:ext cx="3353216" cy="3537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79ACC9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27" name="TextBox 18"/>
          <p:cNvSpPr>
            <a:spLocks noChangeArrowheads="1"/>
          </p:cNvSpPr>
          <p:nvPr/>
        </p:nvSpPr>
        <p:spPr bwMode="auto">
          <a:xfrm>
            <a:off x="5523420" y="5195512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7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sp>
        <p:nvSpPr>
          <p:cNvPr id="28" name="Down Arrow 27"/>
          <p:cNvSpPr/>
          <p:nvPr/>
        </p:nvSpPr>
        <p:spPr bwMode="auto">
          <a:xfrm>
            <a:off x="9870341" y="4723765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444" y="5558726"/>
            <a:ext cx="358179" cy="386834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l="-18" t="9771" r="18" b="7995"/>
          <a:stretch/>
        </p:blipFill>
        <p:spPr bwMode="auto">
          <a:xfrm>
            <a:off x="9688537" y="5470290"/>
            <a:ext cx="2463363" cy="13052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Picture 35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137" y="6419720"/>
            <a:ext cx="398227" cy="39851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Box 18"/>
          <p:cNvSpPr>
            <a:spLocks noChangeArrowheads="1"/>
          </p:cNvSpPr>
          <p:nvPr/>
        </p:nvSpPr>
        <p:spPr bwMode="auto">
          <a:xfrm>
            <a:off x="10502629" y="6387350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53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10"/>
          <p:cNvSpPr>
            <a:spLocks noChangeArrowheads="1"/>
          </p:cNvSpPr>
          <p:nvPr/>
        </p:nvSpPr>
        <p:spPr bwMode="auto">
          <a:xfrm>
            <a:off x="221964" y="429492"/>
            <a:ext cx="7384171" cy="6276108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443345" y="906620"/>
            <a:ext cx="6885710" cy="5411052"/>
          </a:xfrm>
          <a:prstGeom prst="rect">
            <a:avLst/>
          </a:prstGeom>
        </p:spPr>
      </p:pic>
      <p:sp>
        <p:nvSpPr>
          <p:cNvPr id="6" name="Flowchart: Connector 5"/>
          <p:cNvSpPr/>
          <p:nvPr/>
        </p:nvSpPr>
        <p:spPr bwMode="auto">
          <a:xfrm>
            <a:off x="3713018" y="1607129"/>
            <a:ext cx="346364" cy="374072"/>
          </a:xfrm>
          <a:prstGeom prst="flowChartConnector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06135" y="2246944"/>
            <a:ext cx="4379539" cy="2652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ได้เลข </a:t>
            </a:r>
            <a:r>
              <a:rPr 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Transaction ID </a:t>
            </a:r>
            <a:r>
              <a:rPr lang="th-TH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</a:t>
            </a:r>
            <a:r>
              <a:rPr lang="th-TH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ต้องการ</a:t>
            </a:r>
            <a:endParaRPr 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เพื่อเข้าสู่โปรแกรมต่อไป</a:t>
            </a:r>
            <a:endParaRPr 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3200" dirty="0" smtClean="0"/>
              <a:t>   </a:t>
            </a:r>
            <a:endParaRPr lang="th-TH" sz="3200" dirty="0"/>
          </a:p>
        </p:txBody>
      </p:sp>
      <p:sp>
        <p:nvSpPr>
          <p:cNvPr id="8" name="TextBox 18"/>
          <p:cNvSpPr>
            <a:spLocks noChangeArrowheads="1"/>
          </p:cNvSpPr>
          <p:nvPr/>
        </p:nvSpPr>
        <p:spPr bwMode="auto">
          <a:xfrm>
            <a:off x="4059382" y="160712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20" y="320750"/>
            <a:ext cx="1609950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直接连接符 2"/>
          <p:cNvSpPr>
            <a:spLocks noChangeShapeType="1"/>
          </p:cNvSpPr>
          <p:nvPr/>
        </p:nvSpPr>
        <p:spPr bwMode="auto">
          <a:xfrm>
            <a:off x="550859" y="218014"/>
            <a:ext cx="1588" cy="531813"/>
          </a:xfrm>
          <a:prstGeom prst="line">
            <a:avLst/>
          </a:prstGeom>
          <a:noFill/>
          <a:ln w="571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78381" y="205252"/>
            <a:ext cx="8196807" cy="695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Inspection Processing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Search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9" name="Pictur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7" y="1801524"/>
            <a:ext cx="4321680" cy="4058948"/>
          </a:xfrm>
          <a:prstGeom prst="rect">
            <a:avLst/>
          </a:prstGeom>
        </p:spPr>
      </p:pic>
      <p:pic>
        <p:nvPicPr>
          <p:cNvPr id="20" name="Picture 19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24" y="5117002"/>
            <a:ext cx="595630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圆角矩形 11"/>
          <p:cNvSpPr>
            <a:spLocks noChangeArrowheads="1"/>
          </p:cNvSpPr>
          <p:nvPr/>
        </p:nvSpPr>
        <p:spPr bwMode="auto">
          <a:xfrm rot="5400000">
            <a:off x="5552099" y="245808"/>
            <a:ext cx="6047730" cy="6954982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21" name="Picture 2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566" y="1137432"/>
            <a:ext cx="6456285" cy="5152531"/>
          </a:xfrm>
          <a:prstGeom prst="rect">
            <a:avLst/>
          </a:prstGeom>
        </p:spPr>
      </p:pic>
      <p:sp>
        <p:nvSpPr>
          <p:cNvPr id="23" name="Flowchart: Connector 22"/>
          <p:cNvSpPr/>
          <p:nvPr/>
        </p:nvSpPr>
        <p:spPr bwMode="auto">
          <a:xfrm>
            <a:off x="7010400" y="1019671"/>
            <a:ext cx="346364" cy="374072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/>
          <a:srcRect r="4178" b="10216"/>
          <a:stretch/>
        </p:blipFill>
        <p:spPr>
          <a:xfrm>
            <a:off x="5569034" y="198355"/>
            <a:ext cx="429986" cy="4612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6899563" y="1526531"/>
            <a:ext cx="678873" cy="261138"/>
          </a:xfrm>
          <a:prstGeom prst="rect">
            <a:avLst/>
          </a:prstGeom>
          <a:noFill/>
          <a:ln w="28575" cap="flat" cmpd="sng" algn="ctr">
            <a:solidFill>
              <a:srgbClr val="EA5C8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23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521528" y="1549835"/>
            <a:ext cx="7716982" cy="4379912"/>
          </a:xfrm>
          <a:prstGeom prst="rect">
            <a:avLst/>
          </a:prstGeom>
          <a:solidFill>
            <a:srgbClr val="8E846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817" y="1825237"/>
            <a:ext cx="7452404" cy="3829108"/>
          </a:xfrm>
          <a:prstGeom prst="rect">
            <a:avLst/>
          </a:prstGeom>
        </p:spPr>
      </p:pic>
      <p:pic>
        <p:nvPicPr>
          <p:cNvPr id="5" name="Picture 4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481815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39"/>
          <p:cNvSpPr txBox="1"/>
          <p:nvPr/>
        </p:nvSpPr>
        <p:spPr>
          <a:xfrm>
            <a:off x="817418" y="284010"/>
            <a:ext cx="11125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Operations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Search</a:t>
            </a:r>
            <a:r>
              <a:rPr lang="zh-CN" altLang="en-US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กดเลือกเลข </a:t>
            </a:r>
            <a:r>
              <a:rPr lang="en-US" sz="2800" b="1" dirty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Transaction </a:t>
            </a:r>
            <a:r>
              <a:rPr lang="en-US" sz="2800" b="1" dirty="0" smtClean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ID </a:t>
            </a:r>
            <a:r>
              <a:rPr lang="th-TH" sz="2800" b="1" dirty="0" smtClean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ที่ต้องการ</a:t>
            </a:r>
            <a:r>
              <a:rPr lang="en-US" sz="2800" b="1" dirty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en-US" sz="2800" b="1" dirty="0" smtClean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&gt; </a:t>
            </a:r>
            <a:r>
              <a:rPr lang="th-TH" sz="2800" b="1" dirty="0" smtClean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800" b="1" dirty="0" smtClean="0">
                <a:solidFill>
                  <a:srgbClr val="79ACC9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OK 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7" name="Picture 6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06500">
            <a:off x="9429680" y="1719853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 bwMode="auto">
          <a:xfrm>
            <a:off x="3318136" y="3232296"/>
            <a:ext cx="874062" cy="249382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1575" y="5654345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67757">
            <a:off x="9091584" y="4490763"/>
            <a:ext cx="482600" cy="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8"/>
          <p:cNvSpPr>
            <a:spLocks noChangeArrowheads="1"/>
          </p:cNvSpPr>
          <p:nvPr/>
        </p:nvSpPr>
        <p:spPr bwMode="auto">
          <a:xfrm>
            <a:off x="2996737" y="3141543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14" name="TextBox 18"/>
          <p:cNvSpPr>
            <a:spLocks noChangeArrowheads="1"/>
          </p:cNvSpPr>
          <p:nvPr/>
        </p:nvSpPr>
        <p:spPr bwMode="auto">
          <a:xfrm>
            <a:off x="9202905" y="1825237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15" name="TextBox 18"/>
          <p:cNvSpPr>
            <a:spLocks noChangeArrowheads="1"/>
          </p:cNvSpPr>
          <p:nvPr/>
        </p:nvSpPr>
        <p:spPr bwMode="auto">
          <a:xfrm>
            <a:off x="9589687" y="451661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  <p:sp>
        <p:nvSpPr>
          <p:cNvPr id="16" name="TextBox 18"/>
          <p:cNvSpPr>
            <a:spLocks noChangeArrowheads="1"/>
          </p:cNvSpPr>
          <p:nvPr/>
        </p:nvSpPr>
        <p:spPr bwMode="auto">
          <a:xfrm>
            <a:off x="3062882" y="560245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877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29498" y="775860"/>
            <a:ext cx="7218217" cy="5278581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" r="14538"/>
          <a:stretch/>
        </p:blipFill>
        <p:spPr bwMode="auto">
          <a:xfrm>
            <a:off x="562282" y="969822"/>
            <a:ext cx="6891469" cy="48906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 bwMode="auto">
          <a:xfrm>
            <a:off x="2840187" y="1814951"/>
            <a:ext cx="4239491" cy="1205346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11906" y="218095"/>
            <a:ext cx="4528220" cy="624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ข้อมูลที่ได้จากหมายเลข</a:t>
            </a:r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Transaction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ID</a:t>
            </a:r>
            <a:endParaRPr lang="th-TH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กด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Inspector ID </a:t>
            </a:r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เลือกชื่อผู้ตรวจสอบ</a:t>
            </a:r>
          </a:p>
          <a:p>
            <a:pPr algn="ctr"/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ใส่จำนวน / น้ำหนัก </a:t>
            </a: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ช่อง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Passed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Qty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: / Failed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Qty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:</a:t>
            </a:r>
          </a:p>
          <a:p>
            <a:pPr algn="ctr"/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Reason </a:t>
            </a:r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ที่กักกัน</a:t>
            </a:r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</a:t>
            </a:r>
            <a:endParaRPr lang="th-TH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เลือกคลัง</a:t>
            </a:r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       </a:t>
            </a:r>
            <a:r>
              <a:rPr lang="th-TH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  ได้เลข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DMR</a:t>
            </a:r>
            <a:endParaRPr lang="th-TH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pic>
        <p:nvPicPr>
          <p:cNvPr id="7" name="Picture 6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906" y="14620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Down Arrow 9"/>
          <p:cNvSpPr/>
          <p:nvPr/>
        </p:nvSpPr>
        <p:spPr bwMode="auto">
          <a:xfrm>
            <a:off x="9770366" y="101216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Flowchart: Connector 10"/>
          <p:cNvSpPr/>
          <p:nvPr/>
        </p:nvSpPr>
        <p:spPr bwMode="auto">
          <a:xfrm>
            <a:off x="5874333" y="2715497"/>
            <a:ext cx="290945" cy="304800"/>
          </a:xfrm>
          <a:prstGeom prst="flowChartConnector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992587" y="3135319"/>
            <a:ext cx="2535382" cy="20363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992586" y="4477117"/>
            <a:ext cx="1842655" cy="399688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9751379" y="3262786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9826841" y="4108258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Down Arrow 15"/>
          <p:cNvSpPr/>
          <p:nvPr/>
        </p:nvSpPr>
        <p:spPr bwMode="auto">
          <a:xfrm>
            <a:off x="9787261" y="1960023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9806743" y="494972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1" name="Picture 20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804" y="5004088"/>
            <a:ext cx="373267" cy="313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333" y="5071280"/>
            <a:ext cx="290945" cy="28835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Down Arrow 22"/>
          <p:cNvSpPr/>
          <p:nvPr/>
        </p:nvSpPr>
        <p:spPr bwMode="auto">
          <a:xfrm>
            <a:off x="9792517" y="5608733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lowchart: Connector 23"/>
          <p:cNvSpPr/>
          <p:nvPr/>
        </p:nvSpPr>
        <p:spPr bwMode="auto">
          <a:xfrm>
            <a:off x="692733" y="914391"/>
            <a:ext cx="290945" cy="304800"/>
          </a:xfrm>
          <a:prstGeom prst="flowChartConnector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6"/>
          <a:srcRect t="12749" b="6669"/>
          <a:stretch/>
        </p:blipFill>
        <p:spPr>
          <a:xfrm flipH="1">
            <a:off x="9251620" y="6003504"/>
            <a:ext cx="458487" cy="415638"/>
          </a:xfrm>
          <a:prstGeom prst="rect">
            <a:avLst/>
          </a:prstGeom>
        </p:spPr>
      </p:pic>
      <p:sp>
        <p:nvSpPr>
          <p:cNvPr id="29" name="矩形 119"/>
          <p:cNvSpPr>
            <a:spLocks noChangeArrowheads="1"/>
          </p:cNvSpPr>
          <p:nvPr/>
        </p:nvSpPr>
        <p:spPr bwMode="auto">
          <a:xfrm>
            <a:off x="590687" y="3618885"/>
            <a:ext cx="1828797" cy="1716463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42" y="3781819"/>
            <a:ext cx="1648686" cy="145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7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3" grpId="0" animBg="1"/>
      <p:bldP spid="24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193964" y="2147455"/>
            <a:ext cx="4294910" cy="3435927"/>
          </a:xfrm>
          <a:prstGeom prst="rect">
            <a:avLst/>
          </a:prstGeom>
          <a:solidFill>
            <a:srgbClr val="8E846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47" name="直接连接符 2"/>
          <p:cNvSpPr>
            <a:spLocks noChangeShapeType="1"/>
          </p:cNvSpPr>
          <p:nvPr/>
        </p:nvSpPr>
        <p:spPr bwMode="auto">
          <a:xfrm>
            <a:off x="550858" y="218014"/>
            <a:ext cx="3323" cy="818235"/>
          </a:xfrm>
          <a:prstGeom prst="line">
            <a:avLst/>
          </a:prstGeom>
          <a:noFill/>
          <a:ln w="571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文本框 39"/>
          <p:cNvSpPr txBox="1"/>
          <p:nvPr/>
        </p:nvSpPr>
        <p:spPr>
          <a:xfrm>
            <a:off x="778381" y="205252"/>
            <a:ext cx="10125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DMR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&gt; DMR Processing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ใส่เลข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DMR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Tab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รายละเอียดขึ้นมา</a:t>
            </a:r>
            <a:endParaRPr lang="zh-CN" altLang="en-US" sz="4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81" y="2252909"/>
            <a:ext cx="4120704" cy="3219634"/>
          </a:xfrm>
          <a:prstGeom prst="rect">
            <a:avLst/>
          </a:prstGeom>
        </p:spPr>
      </p:pic>
      <p:pic>
        <p:nvPicPr>
          <p:cNvPr id="53" name="Picture 52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51" y="4597455"/>
            <a:ext cx="561845" cy="50101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矩形 4"/>
          <p:cNvSpPr>
            <a:spLocks noChangeArrowheads="1"/>
          </p:cNvSpPr>
          <p:nvPr/>
        </p:nvSpPr>
        <p:spPr bwMode="auto">
          <a:xfrm>
            <a:off x="4634865" y="1343891"/>
            <a:ext cx="7426029" cy="5043054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57" name="Picture 56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2" t="14412" r="13537" b="11048"/>
          <a:stretch/>
        </p:blipFill>
        <p:spPr bwMode="auto">
          <a:xfrm>
            <a:off x="4759803" y="1507367"/>
            <a:ext cx="7196412" cy="47107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8" name="Flowchart: Connector 57"/>
          <p:cNvSpPr/>
          <p:nvPr/>
        </p:nvSpPr>
        <p:spPr bwMode="auto">
          <a:xfrm>
            <a:off x="7606150" y="2521533"/>
            <a:ext cx="290945" cy="304800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110838" y="1025237"/>
            <a:ext cx="7503401" cy="4807528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2" t="14401" r="19592" b="28703"/>
          <a:stretch/>
        </p:blipFill>
        <p:spPr bwMode="auto">
          <a:xfrm>
            <a:off x="193962" y="1182110"/>
            <a:ext cx="7287494" cy="44289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21067" y="292822"/>
            <a:ext cx="4528220" cy="632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Accept</a:t>
            </a: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New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Job Operation</a:t>
            </a: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ใส่น้ำหนัก / จำนวน ที่กัก ช่อง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Quantity</a:t>
            </a:r>
            <a:endParaRPr lang="th-TH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ใส่เหตุผล ช่อง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Reason</a:t>
            </a:r>
          </a:p>
          <a:p>
            <a:pPr algn="ctr"/>
            <a:endParaRPr lang="en-US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 </a:t>
            </a:r>
          </a:p>
          <a:p>
            <a:pPr algn="ctr"/>
            <a:endParaRPr lang="en-US" sz="22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sz="2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เลือกคลัง</a:t>
            </a:r>
            <a:endParaRPr lang="th-TH" sz="22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438397" y="1697579"/>
            <a:ext cx="571562" cy="31133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 rot="5400000">
            <a:off x="415636" y="2729346"/>
            <a:ext cx="1510147" cy="1787240"/>
          </a:xfrm>
          <a:prstGeom prst="rect">
            <a:avLst/>
          </a:prstGeom>
          <a:solidFill>
            <a:srgbClr val="F9A9AF">
              <a:alpha val="79999"/>
            </a:srgb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r="18913"/>
          <a:stretch/>
        </p:blipFill>
        <p:spPr>
          <a:xfrm>
            <a:off x="316700" y="2962484"/>
            <a:ext cx="1708018" cy="1320963"/>
          </a:xfrm>
          <a:prstGeom prst="rect">
            <a:avLst/>
          </a:prstGeom>
        </p:spPr>
      </p:pic>
      <p:sp>
        <p:nvSpPr>
          <p:cNvPr id="13" name="Flowchart: Connector 12"/>
          <p:cNvSpPr/>
          <p:nvPr/>
        </p:nvSpPr>
        <p:spPr bwMode="auto">
          <a:xfrm>
            <a:off x="96983" y="1080657"/>
            <a:ext cx="387926" cy="443345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16700" y="3973391"/>
            <a:ext cx="1708018" cy="323911"/>
          </a:xfrm>
          <a:prstGeom prst="rect">
            <a:avLst/>
          </a:prstGeom>
          <a:noFill/>
          <a:ln w="28575" cap="flat" cmpd="sng" algn="ctr">
            <a:solidFill>
              <a:srgbClr val="F8FC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438397" y="3959536"/>
            <a:ext cx="2563094" cy="751009"/>
          </a:xfrm>
          <a:prstGeom prst="rect">
            <a:avLst/>
          </a:prstGeom>
          <a:noFill/>
          <a:ln w="28575" cap="flat" cmpd="sng" algn="ctr">
            <a:solidFill>
              <a:srgbClr val="F9A9A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6" name="Picture 15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651" y="4710545"/>
            <a:ext cx="561845" cy="50101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Down Arrow 16"/>
          <p:cNvSpPr/>
          <p:nvPr/>
        </p:nvSpPr>
        <p:spPr bwMode="auto">
          <a:xfrm>
            <a:off x="9820536" y="99972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9799465" y="354677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Down Arrow 18"/>
          <p:cNvSpPr/>
          <p:nvPr/>
        </p:nvSpPr>
        <p:spPr bwMode="auto">
          <a:xfrm>
            <a:off x="9820536" y="2106994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9844614" y="566254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Down Arrow 20"/>
          <p:cNvSpPr/>
          <p:nvPr/>
        </p:nvSpPr>
        <p:spPr bwMode="auto">
          <a:xfrm>
            <a:off x="9844614" y="4710545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075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6275738" y="3803072"/>
            <a:ext cx="5733938" cy="1350825"/>
          </a:xfrm>
          <a:prstGeom prst="rect">
            <a:avLst/>
          </a:prstGeom>
          <a:solidFill>
            <a:srgbClr val="F9A9AF">
              <a:alpha val="79999"/>
            </a:srgb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5" name="Picture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01" y="3902748"/>
            <a:ext cx="5577533" cy="1111602"/>
          </a:xfrm>
          <a:prstGeom prst="rect">
            <a:avLst/>
          </a:prstGeom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93963" y="263230"/>
            <a:ext cx="6774873" cy="2590793"/>
          </a:xfrm>
          <a:prstGeom prst="rect">
            <a:avLst/>
          </a:prstGeom>
          <a:solidFill>
            <a:srgbClr val="8E846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3" name="Picture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5" t="14626" r="19676" b="52867"/>
          <a:stretch/>
        </p:blipFill>
        <p:spPr bwMode="auto">
          <a:xfrm>
            <a:off x="285179" y="401768"/>
            <a:ext cx="6517403" cy="22998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481456" y="350439"/>
            <a:ext cx="45282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Comments </a:t>
            </a:r>
            <a:r>
              <a:rPr lang="th-TH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เพื่อใส่รายละเอียด</a:t>
            </a:r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</a:t>
            </a:r>
          </a:p>
          <a:p>
            <a:pPr algn="ctr"/>
            <a:endParaRPr lang="en-US" sz="24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4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ปิด </a:t>
            </a:r>
            <a:r>
              <a:rPr lang="en-US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Job</a:t>
            </a:r>
            <a:endParaRPr lang="th-TH" sz="24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t="8388"/>
          <a:stretch/>
        </p:blipFill>
        <p:spPr>
          <a:xfrm>
            <a:off x="10673581" y="2163791"/>
            <a:ext cx="1071889" cy="9490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2521713" y="1389030"/>
            <a:ext cx="678876" cy="32533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235904" y="3199475"/>
            <a:ext cx="5929370" cy="2993503"/>
          </a:xfrm>
          <a:prstGeom prst="rect">
            <a:avLst/>
          </a:prstGeom>
          <a:solidFill>
            <a:srgbClr val="79ACC9">
              <a:alpha val="79999"/>
            </a:srgb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4"/>
          <a:stretch/>
        </p:blipFill>
        <p:spPr>
          <a:xfrm>
            <a:off x="348501" y="3375396"/>
            <a:ext cx="5731510" cy="264165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220615" y="4696225"/>
            <a:ext cx="6952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zh-CN" sz="54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endParaRPr lang="th-TH" sz="5400" dirty="0">
              <a:solidFill>
                <a:srgbClr val="F9A9A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050194" y="3872347"/>
            <a:ext cx="6952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zh-CN" sz="42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endParaRPr lang="th-TH" sz="4200" dirty="0">
              <a:solidFill>
                <a:srgbClr val="79ACC9"/>
              </a:solidFill>
            </a:endParaRPr>
          </a:p>
        </p:txBody>
      </p:sp>
      <p:sp>
        <p:nvSpPr>
          <p:cNvPr id="19" name="Down Arrow 18"/>
          <p:cNvSpPr/>
          <p:nvPr/>
        </p:nvSpPr>
        <p:spPr bwMode="auto">
          <a:xfrm>
            <a:off x="9745566" y="1367998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9745566" y="2528442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4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0"/>
          <p:cNvSpPr txBox="1"/>
          <p:nvPr/>
        </p:nvSpPr>
        <p:spPr>
          <a:xfrm>
            <a:off x="1561515" y="2364111"/>
            <a:ext cx="72222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Inventory</a:t>
            </a:r>
            <a:endParaRPr lang="zh-CN" altLang="en-US" sz="9600" b="1" dirty="0">
              <a:solidFill>
                <a:schemeClr val="bg2">
                  <a:lumMod val="25000"/>
                </a:schemeClr>
              </a:solidFill>
              <a:latin typeface="Montserrat SemiBold" panose="00000700000000000000" charset="0"/>
              <a:ea typeface="字魂36号-正文宋楷" panose="02000000000000000000" pitchFamily="2" charset="-122"/>
              <a:cs typeface="Montserrat SemiBold" panose="00000700000000000000" charset="0"/>
              <a:sym typeface="字魂36号-正文宋楷" panose="02000000000000000000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80" y="2992583"/>
            <a:ext cx="1426342" cy="174567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1"/>
          <p:cNvSpPr>
            <a:spLocks noChangeArrowheads="1"/>
          </p:cNvSpPr>
          <p:nvPr/>
        </p:nvSpPr>
        <p:spPr bwMode="auto">
          <a:xfrm rot="5400000">
            <a:off x="3595606" y="-421303"/>
            <a:ext cx="5263655" cy="8567980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77" y="1437119"/>
            <a:ext cx="7640051" cy="4822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3356047" y="4646815"/>
            <a:ext cx="2974414" cy="305011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" name="Picture 5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077" y="1892508"/>
            <a:ext cx="592691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18"/>
          <p:cNvSpPr>
            <a:spLocks noChangeArrowheads="1"/>
          </p:cNvSpPr>
          <p:nvPr/>
        </p:nvSpPr>
        <p:spPr bwMode="auto">
          <a:xfrm>
            <a:off x="2807330" y="1461621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9" name="TextBox 18"/>
          <p:cNvSpPr>
            <a:spLocks noChangeArrowheads="1"/>
          </p:cNvSpPr>
          <p:nvPr/>
        </p:nvSpPr>
        <p:spPr bwMode="auto">
          <a:xfrm>
            <a:off x="6437671" y="458387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10" name="文本框 39"/>
          <p:cNvSpPr txBox="1"/>
          <p:nvPr/>
        </p:nvSpPr>
        <p:spPr>
          <a:xfrm>
            <a:off x="1038909" y="322918"/>
            <a:ext cx="8555257" cy="867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เข้าเมนู </a:t>
            </a:r>
            <a:r>
              <a:rPr lang="en-US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พิมพ์ </a:t>
            </a:r>
            <a:r>
              <a:rPr lang="en-US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Nonconformance</a:t>
            </a:r>
            <a:endParaRPr lang="zh-CN" altLang="en-US" sz="36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1" name="Picture 10" descr="mapmarker, ลูกบอลเหลือง, สีชมพู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547" y="5035262"/>
            <a:ext cx="600159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1"/>
          <p:cNvSpPr>
            <a:spLocks noChangeArrowheads="1"/>
          </p:cNvSpPr>
          <p:nvPr/>
        </p:nvSpPr>
        <p:spPr bwMode="auto">
          <a:xfrm rot="5400000">
            <a:off x="371210" y="1258740"/>
            <a:ext cx="5216841" cy="5235821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719224" y="248515"/>
            <a:ext cx="11596234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Inventory</a:t>
            </a:r>
            <a:r>
              <a:rPr lang="zh-CN" altLang="en-US" sz="2200" b="1" dirty="0" smtClean="0">
                <a:solidFill>
                  <a:schemeClr val="bg2">
                    <a:lumMod val="25000"/>
                  </a:schemeClr>
                </a:solidFill>
                <a:latin typeface="Montserrat SemiBold" panose="00000700000000000000" charset="0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 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New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en-US" altLang="zh-CN" sz="22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Employee (</a:t>
            </a:r>
            <a:r>
              <a:rPr lang="th-TH" altLang="zh-CN" sz="22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ผู้ตรวจสอบ</a:t>
            </a:r>
            <a:r>
              <a:rPr lang="en-US" altLang="zh-CN" sz="22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 &gt; Sort By </a:t>
            </a:r>
            <a:r>
              <a:rPr lang="th-TH" altLang="zh-CN" sz="22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Name / ID &gt;</a:t>
            </a:r>
            <a:endParaRPr lang="zh-CN" altLang="en-US" sz="22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6" name="Picture 5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รูปภาพ 2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034" b="5387"/>
          <a:stretch/>
        </p:blipFill>
        <p:spPr bwMode="auto">
          <a:xfrm>
            <a:off x="503805" y="1729804"/>
            <a:ext cx="4951650" cy="43263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Flowchart: Connector 7"/>
          <p:cNvSpPr/>
          <p:nvPr/>
        </p:nvSpPr>
        <p:spPr bwMode="auto">
          <a:xfrm>
            <a:off x="367896" y="1589890"/>
            <a:ext cx="387926" cy="443345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15" b="9890"/>
          <a:stretch/>
        </p:blipFill>
        <p:spPr bwMode="auto">
          <a:xfrm>
            <a:off x="2730075" y="286259"/>
            <a:ext cx="249555" cy="40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/>
          <p:cNvSpPr/>
          <p:nvPr/>
        </p:nvSpPr>
        <p:spPr bwMode="auto">
          <a:xfrm>
            <a:off x="4502730" y="2060945"/>
            <a:ext cx="623454" cy="310396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" name="Picture 10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13" y="2131659"/>
            <a:ext cx="592691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39"/>
          <p:cNvSpPr txBox="1"/>
          <p:nvPr/>
        </p:nvSpPr>
        <p:spPr>
          <a:xfrm>
            <a:off x="719224" y="726099"/>
            <a:ext cx="1137831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Starting At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พิมพ์ชื่อ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/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พิมพ์แผนก เช่น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QC &gt; Search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เลือกชื่อ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OK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2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13" name="圆角矩形 10"/>
          <p:cNvSpPr>
            <a:spLocks noChangeArrowheads="1"/>
          </p:cNvSpPr>
          <p:nvPr/>
        </p:nvSpPr>
        <p:spPr bwMode="auto">
          <a:xfrm>
            <a:off x="5708381" y="1662551"/>
            <a:ext cx="6273073" cy="4419604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38595" y="2621069"/>
            <a:ext cx="874062" cy="24938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Box 18"/>
          <p:cNvSpPr>
            <a:spLocks noChangeArrowheads="1"/>
          </p:cNvSpPr>
          <p:nvPr/>
        </p:nvSpPr>
        <p:spPr bwMode="auto">
          <a:xfrm>
            <a:off x="5121529" y="200069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20" name="TextBox 18"/>
          <p:cNvSpPr>
            <a:spLocks noChangeArrowheads="1"/>
          </p:cNvSpPr>
          <p:nvPr/>
        </p:nvSpPr>
        <p:spPr bwMode="auto">
          <a:xfrm>
            <a:off x="719224" y="132876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21" name="TextBox 18"/>
          <p:cNvSpPr>
            <a:spLocks noChangeArrowheads="1"/>
          </p:cNvSpPr>
          <p:nvPr/>
        </p:nvSpPr>
        <p:spPr bwMode="auto">
          <a:xfrm>
            <a:off x="3750963" y="254808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  <p:pic>
        <p:nvPicPr>
          <p:cNvPr id="25" name="Picture 24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483" y="5740206"/>
            <a:ext cx="592691" cy="54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553" y="1915134"/>
            <a:ext cx="5888292" cy="3825072"/>
          </a:xfrm>
          <a:prstGeom prst="rect">
            <a:avLst/>
          </a:prstGeom>
        </p:spPr>
      </p:pic>
      <p:sp>
        <p:nvSpPr>
          <p:cNvPr id="17" name="Flowchart: Connector 16"/>
          <p:cNvSpPr/>
          <p:nvPr/>
        </p:nvSpPr>
        <p:spPr bwMode="auto">
          <a:xfrm>
            <a:off x="9425264" y="2813328"/>
            <a:ext cx="387926" cy="443345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TextBox 18"/>
          <p:cNvSpPr>
            <a:spLocks noChangeArrowheads="1"/>
          </p:cNvSpPr>
          <p:nvPr/>
        </p:nvSpPr>
        <p:spPr bwMode="auto">
          <a:xfrm>
            <a:off x="9844575" y="2825786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</a:p>
        </p:txBody>
      </p:sp>
      <p:sp>
        <p:nvSpPr>
          <p:cNvPr id="28" name="TextBox 18"/>
          <p:cNvSpPr>
            <a:spLocks noChangeArrowheads="1"/>
          </p:cNvSpPr>
          <p:nvPr/>
        </p:nvSpPr>
        <p:spPr bwMode="auto">
          <a:xfrm>
            <a:off x="8099333" y="3139705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5</a:t>
            </a:r>
          </a:p>
        </p:txBody>
      </p:sp>
      <p:pic>
        <p:nvPicPr>
          <p:cNvPr id="26" name="Picture 25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997" y="4992698"/>
            <a:ext cx="563472" cy="409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908426" y="1932936"/>
            <a:ext cx="651149" cy="585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36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10" grpId="0" animBg="1"/>
      <p:bldP spid="15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9"/>
          <p:cNvSpPr txBox="1"/>
          <p:nvPr/>
        </p:nvSpPr>
        <p:spPr>
          <a:xfrm>
            <a:off x="1174115" y="491892"/>
            <a:ext cx="985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การหาเลข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 &gt;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</a:t>
            </a:r>
            <a:r>
              <a:rPr lang="th-TH" altLang="zh-CN" sz="28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เมนู </a:t>
            </a:r>
            <a:r>
              <a:rPr lang="en-US" altLang="zh-CN" sz="28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8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พิมพ์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SU Part on Hand</a:t>
            </a:r>
            <a:r>
              <a:rPr lang="en-US" altLang="zh-CN" sz="3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36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4" name="Picture 3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36" y="491892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圆角矩形 11"/>
          <p:cNvSpPr>
            <a:spLocks noChangeArrowheads="1"/>
          </p:cNvSpPr>
          <p:nvPr/>
        </p:nvSpPr>
        <p:spPr bwMode="auto">
          <a:xfrm rot="5400000">
            <a:off x="3751362" y="751256"/>
            <a:ext cx="4932806" cy="6506958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454" y="1708896"/>
            <a:ext cx="5604785" cy="4591677"/>
          </a:xfrm>
          <a:prstGeom prst="rect">
            <a:avLst/>
          </a:prstGeom>
        </p:spPr>
      </p:pic>
      <p:pic>
        <p:nvPicPr>
          <p:cNvPr id="7" name="Picture 6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105" y="2223114"/>
            <a:ext cx="592691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 bwMode="auto">
          <a:xfrm>
            <a:off x="4809050" y="5476810"/>
            <a:ext cx="1915306" cy="264645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Box 18"/>
          <p:cNvSpPr>
            <a:spLocks noChangeArrowheads="1"/>
          </p:cNvSpPr>
          <p:nvPr/>
        </p:nvSpPr>
        <p:spPr bwMode="auto">
          <a:xfrm>
            <a:off x="3807484" y="1715601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17" name="TextBox 18"/>
          <p:cNvSpPr>
            <a:spLocks noChangeArrowheads="1"/>
          </p:cNvSpPr>
          <p:nvPr/>
        </p:nvSpPr>
        <p:spPr bwMode="auto">
          <a:xfrm>
            <a:off x="6805920" y="5393688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773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0"/>
          <p:cNvSpPr>
            <a:spLocks noChangeArrowheads="1"/>
          </p:cNvSpPr>
          <p:nvPr/>
        </p:nvSpPr>
        <p:spPr bwMode="auto">
          <a:xfrm>
            <a:off x="263332" y="914400"/>
            <a:ext cx="11694205" cy="5809957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6" name="Picture 5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588581" y="180309"/>
            <a:ext cx="12631091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ใส่เลขแบทที่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ช่อง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Lot Number&gt;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Refresh &gt;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รายละเอียด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ทั้งหมดของ 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ขึ้นมา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4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72" y="1194736"/>
            <a:ext cx="11112603" cy="529046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167" y="609111"/>
            <a:ext cx="432971" cy="5116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492368" y="4121834"/>
            <a:ext cx="1389133" cy="393897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0881" y="2684586"/>
            <a:ext cx="2059267" cy="325900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TextBox 18"/>
          <p:cNvSpPr>
            <a:spLocks noChangeArrowheads="1"/>
          </p:cNvSpPr>
          <p:nvPr/>
        </p:nvSpPr>
        <p:spPr bwMode="auto">
          <a:xfrm>
            <a:off x="2916512" y="2632092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14" name="TextBox 18"/>
          <p:cNvSpPr>
            <a:spLocks noChangeArrowheads="1"/>
          </p:cNvSpPr>
          <p:nvPr/>
        </p:nvSpPr>
        <p:spPr bwMode="auto">
          <a:xfrm>
            <a:off x="614561" y="835988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pic>
        <p:nvPicPr>
          <p:cNvPr id="15" name="Picture 14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38" y="1479025"/>
            <a:ext cx="426443" cy="40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8"/>
          <p:cNvSpPr>
            <a:spLocks noChangeArrowheads="1"/>
          </p:cNvSpPr>
          <p:nvPr/>
        </p:nvSpPr>
        <p:spPr bwMode="auto">
          <a:xfrm>
            <a:off x="1352654" y="4441380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737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0"/>
          <p:cNvSpPr>
            <a:spLocks noChangeArrowheads="1"/>
          </p:cNvSpPr>
          <p:nvPr/>
        </p:nvSpPr>
        <p:spPr bwMode="auto">
          <a:xfrm>
            <a:off x="263332" y="900332"/>
            <a:ext cx="11694205" cy="5809957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6" name="Picture 5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998890" y="298618"/>
            <a:ext cx="9036842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Copy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เลข 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 &gt;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ใส่ลงในช่อง 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Refresh     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รายละเอียดทั้งหมดที่ต้องการจะขึ้นมา</a:t>
            </a:r>
            <a:endParaRPr lang="zh-CN" altLang="en-US" sz="24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960" y="250982"/>
            <a:ext cx="432971" cy="5116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62" y="1308610"/>
            <a:ext cx="11222893" cy="50499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561859" y="4291086"/>
            <a:ext cx="874062" cy="249382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334244" y="2320129"/>
            <a:ext cx="2070137" cy="240190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Picture 13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86" y="1521228"/>
            <a:ext cx="426443" cy="40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8"/>
          <p:cNvSpPr>
            <a:spLocks noChangeArrowheads="1"/>
          </p:cNvSpPr>
          <p:nvPr/>
        </p:nvSpPr>
        <p:spPr bwMode="auto">
          <a:xfrm>
            <a:off x="461937" y="1950081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  <p:sp>
        <p:nvSpPr>
          <p:cNvPr id="16" name="TextBox 18"/>
          <p:cNvSpPr>
            <a:spLocks noChangeArrowheads="1"/>
          </p:cNvSpPr>
          <p:nvPr/>
        </p:nvSpPr>
        <p:spPr bwMode="auto">
          <a:xfrm>
            <a:off x="2532074" y="2224780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17" name="TextBox 18"/>
          <p:cNvSpPr>
            <a:spLocks noChangeArrowheads="1"/>
          </p:cNvSpPr>
          <p:nvPr/>
        </p:nvSpPr>
        <p:spPr bwMode="auto">
          <a:xfrm>
            <a:off x="1488218" y="4178879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54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文本框 39"/>
          <p:cNvSpPr txBox="1"/>
          <p:nvPr/>
        </p:nvSpPr>
        <p:spPr>
          <a:xfrm>
            <a:off x="677342" y="117852"/>
            <a:ext cx="11387275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ใส่เลข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ช่อง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Part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Tab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ใส่แบทช่อง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Lot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ใส่จำนวน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Quantity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Reason &gt; </a:t>
            </a:r>
            <a:r>
              <a:rPr lang="th-TH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en-US" altLang="zh-CN" sz="22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Warehouse</a:t>
            </a:r>
            <a:endParaRPr lang="zh-CN" altLang="en-US" sz="22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59" y="1121063"/>
            <a:ext cx="9506453" cy="517691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 bwMode="auto">
          <a:xfrm>
            <a:off x="3077477" y="2658793"/>
            <a:ext cx="3419298" cy="19987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300963" y="4070133"/>
            <a:ext cx="3337238" cy="24926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3840481" y="4357986"/>
            <a:ext cx="2825376" cy="47505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509760" y="978072"/>
            <a:ext cx="2680653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Search</a:t>
            </a: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ที่ต้องการ</a:t>
            </a:r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เลือกคลังที่ต้องการย้าย</a:t>
            </a:r>
          </a:p>
          <a:p>
            <a:pPr algn="ctr"/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To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</a:t>
            </a:r>
            <a:endParaRPr lang="en-US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ที่ต้องการ</a:t>
            </a:r>
            <a:endParaRPr lang="en-US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05-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Z-00-00 (Bin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กลาง)</a:t>
            </a:r>
          </a:p>
        </p:txBody>
      </p:sp>
      <p:sp>
        <p:nvSpPr>
          <p:cNvPr id="31" name="Down Arrow 30"/>
          <p:cNvSpPr/>
          <p:nvPr/>
        </p:nvSpPr>
        <p:spPr bwMode="auto">
          <a:xfrm>
            <a:off x="10890128" y="761395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Down Arrow 31"/>
          <p:cNvSpPr/>
          <p:nvPr/>
        </p:nvSpPr>
        <p:spPr bwMode="auto">
          <a:xfrm>
            <a:off x="10898085" y="147845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Down Arrow 32"/>
          <p:cNvSpPr/>
          <p:nvPr/>
        </p:nvSpPr>
        <p:spPr bwMode="auto">
          <a:xfrm>
            <a:off x="10898084" y="202277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Down Arrow 33"/>
          <p:cNvSpPr/>
          <p:nvPr/>
        </p:nvSpPr>
        <p:spPr bwMode="auto">
          <a:xfrm>
            <a:off x="10884683" y="2658793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Down Arrow 34"/>
          <p:cNvSpPr/>
          <p:nvPr/>
        </p:nvSpPr>
        <p:spPr bwMode="auto">
          <a:xfrm>
            <a:off x="10850086" y="3665902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Down Arrow 35"/>
          <p:cNvSpPr/>
          <p:nvPr/>
        </p:nvSpPr>
        <p:spPr bwMode="auto">
          <a:xfrm>
            <a:off x="10853203" y="505918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188263" y="5351818"/>
            <a:ext cx="11047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th-TH" sz="24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</a:t>
            </a:r>
            <a:endParaRPr lang="th-TH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4"/>
          <a:srcRect t="12749" b="6669"/>
          <a:stretch/>
        </p:blipFill>
        <p:spPr>
          <a:xfrm flipH="1">
            <a:off x="11540296" y="5470763"/>
            <a:ext cx="458487" cy="415638"/>
          </a:xfrm>
          <a:prstGeom prst="rect">
            <a:avLst/>
          </a:prstGeom>
        </p:spPr>
      </p:pic>
      <p:sp>
        <p:nvSpPr>
          <p:cNvPr id="49" name="TextBox 18"/>
          <p:cNvSpPr>
            <a:spLocks noChangeArrowheads="1"/>
          </p:cNvSpPr>
          <p:nvPr/>
        </p:nvSpPr>
        <p:spPr bwMode="auto">
          <a:xfrm>
            <a:off x="6223542" y="4357017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4</a:t>
            </a:r>
          </a:p>
        </p:txBody>
      </p:sp>
      <p:sp>
        <p:nvSpPr>
          <p:cNvPr id="50" name="TextBox 18"/>
          <p:cNvSpPr>
            <a:spLocks noChangeArrowheads="1"/>
          </p:cNvSpPr>
          <p:nvPr/>
        </p:nvSpPr>
        <p:spPr bwMode="auto">
          <a:xfrm>
            <a:off x="6540724" y="3532720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</a:p>
        </p:txBody>
      </p:sp>
      <p:sp>
        <p:nvSpPr>
          <p:cNvPr id="51" name="TextBox 18"/>
          <p:cNvSpPr>
            <a:spLocks noChangeArrowheads="1"/>
          </p:cNvSpPr>
          <p:nvPr/>
        </p:nvSpPr>
        <p:spPr bwMode="auto">
          <a:xfrm>
            <a:off x="6738123" y="3954965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</a:p>
        </p:txBody>
      </p:sp>
      <p:sp>
        <p:nvSpPr>
          <p:cNvPr id="52" name="TextBox 18"/>
          <p:cNvSpPr>
            <a:spLocks noChangeArrowheads="1"/>
          </p:cNvSpPr>
          <p:nvPr/>
        </p:nvSpPr>
        <p:spPr bwMode="auto">
          <a:xfrm>
            <a:off x="6518418" y="2543284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 bwMode="auto">
          <a:xfrm>
            <a:off x="3944326" y="3614797"/>
            <a:ext cx="2996418" cy="224287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4" name="Picture 53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265" y="4833037"/>
            <a:ext cx="366428" cy="357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Picture 54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258" y="5471610"/>
            <a:ext cx="396436" cy="29822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Rectangle 55"/>
          <p:cNvSpPr/>
          <p:nvPr/>
        </p:nvSpPr>
        <p:spPr bwMode="auto">
          <a:xfrm>
            <a:off x="3642811" y="5160877"/>
            <a:ext cx="3023045" cy="36818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7" name="Picture 56" descr="สีชมพู, สองคน, นิ้วม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1478450"/>
            <a:ext cx="566747" cy="491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36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 animBg="1"/>
      <p:bldP spid="26" grpId="0" animBg="1"/>
      <p:bldP spid="27" grpId="0" animBg="1"/>
      <p:bldP spid="53" grpId="0" animBg="1"/>
      <p:bldP spid="5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10"/>
          <p:cNvSpPr>
            <a:spLocks noChangeArrowheads="1"/>
          </p:cNvSpPr>
          <p:nvPr/>
        </p:nvSpPr>
        <p:spPr bwMode="auto">
          <a:xfrm>
            <a:off x="194272" y="909480"/>
            <a:ext cx="6982382" cy="5075684"/>
          </a:xfrm>
          <a:prstGeom prst="roundRect">
            <a:avLst>
              <a:gd name="adj" fmla="val 16667"/>
            </a:avLst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accent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4" name="รูปภาพ 39"/>
          <p:cNvPicPr/>
          <p:nvPr/>
        </p:nvPicPr>
        <p:blipFill rotWithShape="1">
          <a:blip r:embed="rId2"/>
          <a:srcRect t="3508" r="12997" b="15565"/>
          <a:stretch/>
        </p:blipFill>
        <p:spPr bwMode="auto">
          <a:xfrm>
            <a:off x="485069" y="1138738"/>
            <a:ext cx="6400787" cy="46171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Flowchart: Connector 4"/>
          <p:cNvSpPr/>
          <p:nvPr/>
        </p:nvSpPr>
        <p:spPr bwMode="auto">
          <a:xfrm>
            <a:off x="3158997" y="1953489"/>
            <a:ext cx="373913" cy="377325"/>
          </a:xfrm>
          <a:prstGeom prst="flowChartConnector">
            <a:avLst/>
          </a:prstGeom>
          <a:noFill/>
          <a:ln w="28575" cap="flat" cmpd="sng" algn="ctr">
            <a:solidFill>
              <a:srgbClr val="EA5C8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20978" y="2269164"/>
            <a:ext cx="4369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ได้เลข </a:t>
            </a:r>
            <a:r>
              <a:rPr 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Transaction ID </a:t>
            </a:r>
            <a:endParaRPr lang="th-TH" sz="36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ที่ต้องการ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เพื่อเข้าสู่โปรแกรมต่อไป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3600" dirty="0" smtClean="0"/>
              <a:t>   </a:t>
            </a:r>
            <a:endParaRPr lang="th-TH" sz="3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372" y="2660628"/>
            <a:ext cx="910909" cy="78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3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直接连接符 2"/>
          <p:cNvSpPr>
            <a:spLocks noChangeShapeType="1"/>
          </p:cNvSpPr>
          <p:nvPr/>
        </p:nvSpPr>
        <p:spPr bwMode="auto">
          <a:xfrm>
            <a:off x="550859" y="218014"/>
            <a:ext cx="1588" cy="531813"/>
          </a:xfrm>
          <a:prstGeom prst="line">
            <a:avLst/>
          </a:prstGeom>
          <a:noFill/>
          <a:ln w="57150" cap="flat" cmpd="sng">
            <a:solidFill>
              <a:srgbClr val="EA5C85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78381" y="205252"/>
            <a:ext cx="11412032" cy="695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Inspection Processing &gt;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Search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Inventory</a:t>
            </a:r>
            <a:endParaRPr lang="zh-CN" altLang="en-US" sz="28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47" y="1801524"/>
            <a:ext cx="4321680" cy="4058948"/>
          </a:xfrm>
          <a:prstGeom prst="rect">
            <a:avLst/>
          </a:prstGeom>
        </p:spPr>
      </p:pic>
      <p:pic>
        <p:nvPicPr>
          <p:cNvPr id="20" name="Picture 19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24" y="5117002"/>
            <a:ext cx="595630" cy="54483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圆角矩形 11"/>
          <p:cNvSpPr>
            <a:spLocks noChangeArrowheads="1"/>
          </p:cNvSpPr>
          <p:nvPr/>
        </p:nvSpPr>
        <p:spPr bwMode="auto">
          <a:xfrm rot="5400000">
            <a:off x="5579808" y="218099"/>
            <a:ext cx="5909184" cy="6871854"/>
          </a:xfrm>
          <a:prstGeom prst="roundRect">
            <a:avLst>
              <a:gd name="adj" fmla="val 16667"/>
            </a:avLst>
          </a:prstGeom>
          <a:solidFill>
            <a:srgbClr val="8E846C">
              <a:alpha val="68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r="4178" b="10216"/>
          <a:stretch/>
        </p:blipFill>
        <p:spPr>
          <a:xfrm>
            <a:off x="5569034" y="198355"/>
            <a:ext cx="429986" cy="461265"/>
          </a:xfrm>
          <a:prstGeom prst="rect">
            <a:avLst/>
          </a:prstGeom>
        </p:spPr>
      </p:pic>
      <p:pic>
        <p:nvPicPr>
          <p:cNvPr id="13" name="รูปภาพ 51"/>
          <p:cNvPicPr/>
          <p:nvPr/>
        </p:nvPicPr>
        <p:blipFill rotWithShape="1">
          <a:blip r:embed="rId5"/>
          <a:srcRect r="14231"/>
          <a:stretch/>
        </p:blipFill>
        <p:spPr>
          <a:xfrm>
            <a:off x="5320009" y="1167241"/>
            <a:ext cx="6499119" cy="5025746"/>
          </a:xfrm>
          <a:prstGeom prst="rect">
            <a:avLst/>
          </a:prstGeom>
        </p:spPr>
      </p:pic>
      <p:sp>
        <p:nvSpPr>
          <p:cNvPr id="15" name="Flowchart: Connector 14"/>
          <p:cNvSpPr/>
          <p:nvPr/>
        </p:nvSpPr>
        <p:spPr bwMode="auto">
          <a:xfrm>
            <a:off x="7079668" y="1089118"/>
            <a:ext cx="360219" cy="411381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326581" y="1596183"/>
            <a:ext cx="609600" cy="219196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201764" y="4734269"/>
            <a:ext cx="3243627" cy="36818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18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15" grpId="0" animBg="1"/>
      <p:bldP spid="16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4"/>
          <p:cNvSpPr>
            <a:spLocks noChangeArrowheads="1"/>
          </p:cNvSpPr>
          <p:nvPr/>
        </p:nvSpPr>
        <p:spPr bwMode="auto">
          <a:xfrm>
            <a:off x="2189021" y="1805467"/>
            <a:ext cx="7896293" cy="3556237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" name="文本框 39"/>
          <p:cNvSpPr txBox="1">
            <a:spLocks noGrp="1"/>
          </p:cNvSpPr>
          <p:nvPr>
            <p:ph type="title"/>
          </p:nvPr>
        </p:nvSpPr>
        <p:spPr>
          <a:xfrm>
            <a:off x="761999" y="689359"/>
            <a:ext cx="10971213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เลือก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Inventory &gt;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Search</a:t>
            </a:r>
            <a:r>
              <a:rPr lang="zh-CN" altLang="en-US" sz="28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กดเลือกเลข </a:t>
            </a:r>
            <a:r>
              <a:rPr lang="en-US" sz="28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Transaction </a:t>
            </a:r>
            <a:r>
              <a:rPr lang="en-US" sz="28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ID </a:t>
            </a:r>
            <a:r>
              <a:rPr lang="th-TH" sz="28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ที่ต้องการ</a:t>
            </a:r>
            <a:r>
              <a:rPr lang="en-US" sz="28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  <a:r>
              <a:rPr lang="en-US" sz="28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&gt; </a:t>
            </a:r>
            <a:r>
              <a:rPr lang="th-TH" sz="28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8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OK </a:t>
            </a:r>
            <a:endParaRPr lang="zh-CN" altLang="en-US" sz="28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9" name="Picture 8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9359"/>
            <a:ext cx="457199" cy="36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รูปภาพ 53"/>
          <p:cNvPicPr/>
          <p:nvPr/>
        </p:nvPicPr>
        <p:blipFill rotWithShape="1">
          <a:blip r:embed="rId3"/>
          <a:srcRect l="1053" r="337" b="7382"/>
          <a:stretch/>
        </p:blipFill>
        <p:spPr bwMode="auto">
          <a:xfrm>
            <a:off x="2358046" y="1997489"/>
            <a:ext cx="7558241" cy="31721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158974" y="1857523"/>
            <a:ext cx="561218" cy="48404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 bwMode="auto">
          <a:xfrm>
            <a:off x="3089563" y="3979164"/>
            <a:ext cx="734292" cy="24647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4" name="Picture 13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43207">
            <a:off x="9499527" y="4649150"/>
            <a:ext cx="434498" cy="42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8"/>
          <p:cNvSpPr>
            <a:spLocks noChangeArrowheads="1"/>
          </p:cNvSpPr>
          <p:nvPr/>
        </p:nvSpPr>
        <p:spPr bwMode="auto">
          <a:xfrm>
            <a:off x="2794687" y="3886955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1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sp>
        <p:nvSpPr>
          <p:cNvPr id="17" name="TextBox 18"/>
          <p:cNvSpPr>
            <a:spLocks noChangeArrowheads="1"/>
          </p:cNvSpPr>
          <p:nvPr/>
        </p:nvSpPr>
        <p:spPr bwMode="auto">
          <a:xfrm>
            <a:off x="8815441" y="1910678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2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  <p:sp>
        <p:nvSpPr>
          <p:cNvPr id="18" name="TextBox 18"/>
          <p:cNvSpPr>
            <a:spLocks noChangeArrowheads="1"/>
          </p:cNvSpPr>
          <p:nvPr/>
        </p:nvSpPr>
        <p:spPr bwMode="auto">
          <a:xfrm>
            <a:off x="9959463" y="4738793"/>
            <a:ext cx="2948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华文细黑" pitchFamily="2" charset="-122"/>
                <a:cs typeface="CheeseThin" panose="00000500000000000000" pitchFamily="2" charset="-34"/>
                <a:sym typeface="华文细黑" pitchFamily="2" charset="-122"/>
              </a:rPr>
              <a:t>3</a:t>
            </a:r>
            <a:endParaRPr lang="en-US" altLang="en-US" sz="2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华文细黑" pitchFamily="2" charset="-122"/>
              <a:cs typeface="CheeseThin" panose="00000500000000000000" pitchFamily="2" charset="-34"/>
              <a:sym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048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461840" y="282091"/>
            <a:ext cx="4528220" cy="651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ข้อมูลที่ได้จากหมายเลข</a:t>
            </a:r>
            <a:r>
              <a:rPr lang="en-US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Transaction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ID</a:t>
            </a:r>
            <a:endParaRPr lang="th-TH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กด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Inspector ID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เลือกชื่อผู้ตรวจสอบ</a:t>
            </a: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ใส่จำนวน  </a:t>
            </a: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ช่อง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Passed </a:t>
            </a:r>
            <a:r>
              <a:rPr lang="en-US" b="1" dirty="0" err="1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Qty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: / Failed </a:t>
            </a:r>
            <a:r>
              <a:rPr lang="en-US" b="1" dirty="0" err="1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Qty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:</a:t>
            </a:r>
          </a:p>
          <a:p>
            <a:pPr algn="ctr"/>
            <a:endParaRPr lang="en-US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Reason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ที่กักกัน</a:t>
            </a:r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</a:t>
            </a:r>
            <a:endParaRPr lang="th-TH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</a:t>
            </a: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เลือกคลัง</a:t>
            </a: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       </a:t>
            </a:r>
            <a:r>
              <a:rPr lang="th-TH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  ได้เลข </a:t>
            </a:r>
            <a:r>
              <a:rPr lang="en-US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DMR</a:t>
            </a:r>
            <a:endParaRPr lang="th-TH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t="12749" b="6669"/>
          <a:stretch/>
        </p:blipFill>
        <p:spPr>
          <a:xfrm flipH="1">
            <a:off x="9160348" y="6224315"/>
            <a:ext cx="458487" cy="415638"/>
          </a:xfrm>
          <a:prstGeom prst="rect">
            <a:avLst/>
          </a:prstGeom>
        </p:spPr>
      </p:pic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180112" y="669397"/>
            <a:ext cx="7509161" cy="5315767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6" name="รูปภาพ 6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" r="6073"/>
          <a:stretch/>
        </p:blipFill>
        <p:spPr bwMode="auto">
          <a:xfrm>
            <a:off x="372001" y="844765"/>
            <a:ext cx="7178725" cy="4918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7" name="Rectangle 16"/>
          <p:cNvSpPr/>
          <p:nvPr/>
        </p:nvSpPr>
        <p:spPr bwMode="auto">
          <a:xfrm>
            <a:off x="2639422" y="1662545"/>
            <a:ext cx="4822418" cy="88669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Flowchart: Connector 17"/>
          <p:cNvSpPr/>
          <p:nvPr/>
        </p:nvSpPr>
        <p:spPr bwMode="auto">
          <a:xfrm>
            <a:off x="6414659" y="2202873"/>
            <a:ext cx="290945" cy="304800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719537" y="2601367"/>
            <a:ext cx="2489771" cy="224959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2895596" y="4750655"/>
            <a:ext cx="1911927" cy="444799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Down Arrow 9"/>
          <p:cNvSpPr/>
          <p:nvPr/>
        </p:nvSpPr>
        <p:spPr bwMode="auto">
          <a:xfrm>
            <a:off x="9643771" y="332728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Down Arrow 10"/>
          <p:cNvSpPr/>
          <p:nvPr/>
        </p:nvSpPr>
        <p:spPr bwMode="auto">
          <a:xfrm>
            <a:off x="9677080" y="5797088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Down Arrow 12"/>
          <p:cNvSpPr/>
          <p:nvPr/>
        </p:nvSpPr>
        <p:spPr bwMode="auto">
          <a:xfrm>
            <a:off x="9668135" y="505071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9643771" y="4243878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9656677" y="1993216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Down Arrow 21"/>
          <p:cNvSpPr/>
          <p:nvPr/>
        </p:nvSpPr>
        <p:spPr bwMode="auto">
          <a:xfrm>
            <a:off x="9666320" y="1102083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5" name="Picture 24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340" y="5323101"/>
            <a:ext cx="401990" cy="3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947" y="5397142"/>
            <a:ext cx="401990" cy="3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04" y="1081700"/>
            <a:ext cx="401990" cy="38713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Flowchart: Connector 27"/>
          <p:cNvSpPr/>
          <p:nvPr/>
        </p:nvSpPr>
        <p:spPr bwMode="auto">
          <a:xfrm>
            <a:off x="470104" y="790051"/>
            <a:ext cx="290945" cy="304800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1" name="Picture 30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399" y="3987598"/>
            <a:ext cx="401990" cy="387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625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193964" y="2147455"/>
            <a:ext cx="4294910" cy="3435927"/>
          </a:xfrm>
          <a:prstGeom prst="rect">
            <a:avLst/>
          </a:prstGeom>
          <a:solidFill>
            <a:srgbClr val="8E846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50" name="文本框 39"/>
          <p:cNvSpPr txBox="1"/>
          <p:nvPr/>
        </p:nvSpPr>
        <p:spPr>
          <a:xfrm>
            <a:off x="778381" y="205252"/>
            <a:ext cx="121779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DMR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8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en-US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DMR Processing &gt; </a:t>
            </a:r>
            <a:r>
              <a:rPr lang="th-TH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ใส่เลข </a:t>
            </a:r>
            <a:r>
              <a:rPr lang="en-US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DMR </a:t>
            </a:r>
            <a:r>
              <a:rPr lang="th-TH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Tab &gt; </a:t>
            </a:r>
            <a:r>
              <a:rPr lang="th-TH" altLang="zh-CN" sz="26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รายละเอียดขึ้นมา</a:t>
            </a:r>
            <a:endParaRPr lang="zh-CN" altLang="en-US" sz="26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2" name="Picture 5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81" y="2252909"/>
            <a:ext cx="4120704" cy="3219634"/>
          </a:xfrm>
          <a:prstGeom prst="rect">
            <a:avLst/>
          </a:prstGeom>
        </p:spPr>
      </p:pic>
      <p:sp>
        <p:nvSpPr>
          <p:cNvPr id="56" name="矩形 4"/>
          <p:cNvSpPr>
            <a:spLocks noChangeArrowheads="1"/>
          </p:cNvSpPr>
          <p:nvPr/>
        </p:nvSpPr>
        <p:spPr bwMode="auto">
          <a:xfrm>
            <a:off x="4566091" y="1688001"/>
            <a:ext cx="7426029" cy="3895381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11" name="รูปภาพ 67"/>
          <p:cNvPicPr/>
          <p:nvPr/>
        </p:nvPicPr>
        <p:blipFill rotWithShape="1">
          <a:blip r:embed="rId3"/>
          <a:srcRect l="301" r="4703" b="4213"/>
          <a:stretch/>
        </p:blipFill>
        <p:spPr bwMode="auto">
          <a:xfrm>
            <a:off x="4668982" y="1826000"/>
            <a:ext cx="7218218" cy="36465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Flowchart: Connector 11"/>
          <p:cNvSpPr/>
          <p:nvPr/>
        </p:nvSpPr>
        <p:spPr bwMode="auto">
          <a:xfrm>
            <a:off x="7606150" y="2671674"/>
            <a:ext cx="290945" cy="304800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直接连接符 4"/>
          <p:cNvSpPr>
            <a:spLocks noChangeShapeType="1"/>
          </p:cNvSpPr>
          <p:nvPr/>
        </p:nvSpPr>
        <p:spPr bwMode="auto">
          <a:xfrm>
            <a:off x="640707" y="293288"/>
            <a:ext cx="1588" cy="531813"/>
          </a:xfrm>
          <a:prstGeom prst="line">
            <a:avLst/>
          </a:prstGeom>
          <a:noFill/>
          <a:ln w="57150" cap="flat" cmpd="sng">
            <a:solidFill>
              <a:srgbClr val="79ACC9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222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4"/>
          <p:cNvSpPr>
            <a:spLocks noChangeArrowheads="1"/>
          </p:cNvSpPr>
          <p:nvPr/>
        </p:nvSpPr>
        <p:spPr bwMode="auto">
          <a:xfrm>
            <a:off x="107334" y="1700959"/>
            <a:ext cx="7503401" cy="3591473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en-US" sz="5400" dirty="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81456" y="261310"/>
            <a:ext cx="4528220" cy="651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Accept</a:t>
            </a:r>
          </a:p>
          <a:p>
            <a:pPr algn="ctr"/>
            <a:endParaRPr lang="en-US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Stock</a:t>
            </a:r>
            <a:r>
              <a:rPr lang="th-TH" sz="24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 กด </a:t>
            </a:r>
            <a:r>
              <a:rPr lang="en-US" sz="2400" b="1" dirty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New </a:t>
            </a:r>
            <a:endParaRPr lang="en-US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ใส่น้ำหนัก / จำนวน ที่กัก ช่อง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Quantity</a:t>
            </a:r>
            <a:endParaRPr lang="th-TH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ใส่เหตุผล ช่อง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Reason</a:t>
            </a:r>
            <a:endParaRPr lang="en-US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Warehouse </a:t>
            </a:r>
          </a:p>
          <a:p>
            <a:pPr algn="ctr"/>
            <a:endParaRPr lang="en-US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Bin </a:t>
            </a:r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เลือกคลัง</a:t>
            </a:r>
            <a:endParaRPr lang="th-TH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sp>
        <p:nvSpPr>
          <p:cNvPr id="17" name="Down Arrow 16"/>
          <p:cNvSpPr/>
          <p:nvPr/>
        </p:nvSpPr>
        <p:spPr bwMode="auto">
          <a:xfrm>
            <a:off x="9820536" y="99972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9711834" y="3972729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Down Arrow 18"/>
          <p:cNvSpPr/>
          <p:nvPr/>
        </p:nvSpPr>
        <p:spPr bwMode="auto">
          <a:xfrm>
            <a:off x="9806689" y="2442345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Down Arrow 19"/>
          <p:cNvSpPr/>
          <p:nvPr/>
        </p:nvSpPr>
        <p:spPr bwMode="auto">
          <a:xfrm>
            <a:off x="9737416" y="5881792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Down Arrow 20"/>
          <p:cNvSpPr/>
          <p:nvPr/>
        </p:nvSpPr>
        <p:spPr bwMode="auto">
          <a:xfrm>
            <a:off x="9725894" y="488432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" name="รูปภาพ 68"/>
          <p:cNvPicPr/>
          <p:nvPr/>
        </p:nvPicPr>
        <p:blipFill rotWithShape="1">
          <a:blip r:embed="rId2"/>
          <a:srcRect r="10748" b="18744"/>
          <a:stretch/>
        </p:blipFill>
        <p:spPr bwMode="auto">
          <a:xfrm>
            <a:off x="239573" y="1775570"/>
            <a:ext cx="7241883" cy="33783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Rectangle 27"/>
          <p:cNvSpPr/>
          <p:nvPr/>
        </p:nvSpPr>
        <p:spPr bwMode="auto">
          <a:xfrm>
            <a:off x="2549236" y="2175162"/>
            <a:ext cx="519424" cy="22277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2563091" y="3678259"/>
            <a:ext cx="2535382" cy="588941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lowchart: Connector 29"/>
          <p:cNvSpPr/>
          <p:nvPr/>
        </p:nvSpPr>
        <p:spPr bwMode="auto">
          <a:xfrm flipV="1">
            <a:off x="135044" y="1728669"/>
            <a:ext cx="326851" cy="322806"/>
          </a:xfrm>
          <a:prstGeom prst="flowChartConnector">
            <a:avLst/>
          </a:prstGeom>
          <a:noFill/>
          <a:ln>
            <a:solidFill>
              <a:srgbClr val="EA5C85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1" name="Picture 30" descr="สีชมพู, สองคน, นิ้วมือ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815" y="4460038"/>
            <a:ext cx="430349" cy="38905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Rectangle 34"/>
          <p:cNvSpPr/>
          <p:nvPr/>
        </p:nvSpPr>
        <p:spPr bwMode="auto">
          <a:xfrm>
            <a:off x="3207704" y="2392752"/>
            <a:ext cx="519424" cy="222775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038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277091" y="3059799"/>
            <a:ext cx="6216217" cy="3471350"/>
          </a:xfrm>
          <a:prstGeom prst="rect">
            <a:avLst/>
          </a:prstGeom>
          <a:solidFill>
            <a:srgbClr val="79ACC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277091" y="392929"/>
            <a:ext cx="7338003" cy="1710375"/>
          </a:xfrm>
          <a:prstGeom prst="rect">
            <a:avLst/>
          </a:prstGeom>
          <a:solidFill>
            <a:srgbClr val="8E846C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58112" y="628517"/>
            <a:ext cx="45282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Comments </a:t>
            </a:r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เพื่อใส่รายละเอียด</a:t>
            </a:r>
            <a:endParaRPr lang="en-US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กด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Save</a:t>
            </a:r>
          </a:p>
          <a:p>
            <a:pPr algn="ctr"/>
            <a:endParaRPr lang="en-US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en-US" sz="2400" b="1" dirty="0" smtClean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r>
              <a:rPr lang="th-TH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ปิด </a:t>
            </a:r>
            <a:r>
              <a:rPr lang="en-US" sz="2400" b="1" dirty="0" smtClean="0">
                <a:solidFill>
                  <a:srgbClr val="F9A9AF"/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Job</a:t>
            </a:r>
            <a:endParaRPr lang="th-TH" sz="2400" b="1" dirty="0">
              <a:solidFill>
                <a:srgbClr val="F9A9AF"/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  <a:p>
            <a:pPr algn="ctr"/>
            <a:endParaRPr lang="th-TH" sz="24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CheeseThin" panose="00000500000000000000" pitchFamily="2" charset="-34"/>
              <a:cs typeface="CheeseThin" panose="00000500000000000000" pitchFamily="2" charset="-34"/>
            </a:endParaRPr>
          </a:p>
        </p:txBody>
      </p:sp>
      <p:pic>
        <p:nvPicPr>
          <p:cNvPr id="4" name="รูปภาพ 69"/>
          <p:cNvPicPr/>
          <p:nvPr/>
        </p:nvPicPr>
        <p:blipFill rotWithShape="1">
          <a:blip r:embed="rId2"/>
          <a:srcRect l="737" r="4477" b="18680"/>
          <a:stretch/>
        </p:blipFill>
        <p:spPr>
          <a:xfrm>
            <a:off x="420110" y="498764"/>
            <a:ext cx="7051964" cy="1468581"/>
          </a:xfrm>
          <a:prstGeom prst="rect">
            <a:avLst/>
          </a:prstGeom>
        </p:spPr>
      </p:pic>
      <p:pic>
        <p:nvPicPr>
          <p:cNvPr id="5" name="รูปภาพ 72"/>
          <p:cNvPicPr/>
          <p:nvPr/>
        </p:nvPicPr>
        <p:blipFill rotWithShape="1">
          <a:blip r:embed="rId3"/>
          <a:srcRect l="1358" r="5922" b="4138"/>
          <a:stretch/>
        </p:blipFill>
        <p:spPr>
          <a:xfrm>
            <a:off x="420109" y="3181421"/>
            <a:ext cx="5952981" cy="3219379"/>
          </a:xfrm>
          <a:prstGeom prst="rect">
            <a:avLst/>
          </a:prstGeom>
        </p:spPr>
      </p:pic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6567051" y="3934682"/>
            <a:ext cx="5554087" cy="1565574"/>
          </a:xfrm>
          <a:prstGeom prst="rect">
            <a:avLst/>
          </a:prstGeom>
          <a:solidFill>
            <a:srgbClr val="F9A9AF">
              <a:alpha val="79999"/>
            </a:srgb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pic>
        <p:nvPicPr>
          <p:cNvPr id="6" name="รูปภาพ 71"/>
          <p:cNvPicPr/>
          <p:nvPr/>
        </p:nvPicPr>
        <p:blipFill rotWithShape="1">
          <a:blip r:embed="rId4"/>
          <a:srcRect l="490" t="-1" r="6325" b="45396"/>
          <a:stretch/>
        </p:blipFill>
        <p:spPr>
          <a:xfrm>
            <a:off x="6711730" y="4066298"/>
            <a:ext cx="5264727" cy="13300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2812472" y="1330034"/>
            <a:ext cx="748146" cy="235529"/>
          </a:xfrm>
          <a:prstGeom prst="rect">
            <a:avLst/>
          </a:prstGeom>
          <a:noFill/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09778" y="5211329"/>
            <a:ext cx="6952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zh-CN" sz="5400" b="1" dirty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endParaRPr lang="th-TH" sz="5400" dirty="0">
              <a:solidFill>
                <a:srgbClr val="F9A9A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005884" y="4361985"/>
            <a:ext cx="6952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altLang="zh-CN" sz="42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</a:t>
            </a:r>
            <a:endParaRPr lang="th-TH" sz="4200" dirty="0">
              <a:solidFill>
                <a:srgbClr val="79ACC9"/>
              </a:solidFill>
            </a:endParaRPr>
          </a:p>
        </p:txBody>
      </p:sp>
      <p:sp>
        <p:nvSpPr>
          <p:cNvPr id="14" name="Down Arrow 13"/>
          <p:cNvSpPr/>
          <p:nvPr/>
        </p:nvSpPr>
        <p:spPr bwMode="auto">
          <a:xfrm>
            <a:off x="9959081" y="1756941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Down Arrow 14"/>
          <p:cNvSpPr/>
          <p:nvPr/>
        </p:nvSpPr>
        <p:spPr bwMode="auto">
          <a:xfrm>
            <a:off x="9959081" y="2959810"/>
            <a:ext cx="138545" cy="346363"/>
          </a:xfrm>
          <a:prstGeom prst="downArrow">
            <a:avLst/>
          </a:prstGeom>
          <a:solidFill>
            <a:srgbClr val="79ACC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916" y="2699975"/>
            <a:ext cx="1264315" cy="100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3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椭圆 6"/>
          <p:cNvSpPr>
            <a:spLocks noChangeArrowheads="1"/>
          </p:cNvSpPr>
          <p:nvPr/>
        </p:nvSpPr>
        <p:spPr bwMode="auto">
          <a:xfrm>
            <a:off x="2773941" y="0"/>
            <a:ext cx="6816725" cy="6816725"/>
          </a:xfrm>
          <a:prstGeom prst="ellipse">
            <a:avLst/>
          </a:prstGeom>
          <a:solidFill>
            <a:srgbClr val="79ACC9">
              <a:alpha val="8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79ACC9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0" name="椭圆 15"/>
          <p:cNvSpPr>
            <a:spLocks noChangeArrowheads="1"/>
          </p:cNvSpPr>
          <p:nvPr/>
        </p:nvSpPr>
        <p:spPr bwMode="auto">
          <a:xfrm>
            <a:off x="681038" y="1166813"/>
            <a:ext cx="1576387" cy="1576387"/>
          </a:xfrm>
          <a:prstGeom prst="ellipse">
            <a:avLst/>
          </a:prstGeom>
          <a:solidFill>
            <a:srgbClr val="BFBFB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1" name="椭圆 16"/>
          <p:cNvSpPr>
            <a:spLocks noChangeArrowheads="1"/>
          </p:cNvSpPr>
          <p:nvPr/>
        </p:nvSpPr>
        <p:spPr bwMode="auto">
          <a:xfrm>
            <a:off x="2700338" y="3905250"/>
            <a:ext cx="987425" cy="987425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82" name="椭圆 17"/>
          <p:cNvSpPr>
            <a:spLocks noChangeArrowheads="1"/>
          </p:cNvSpPr>
          <p:nvPr/>
        </p:nvSpPr>
        <p:spPr bwMode="auto">
          <a:xfrm>
            <a:off x="9007475" y="1166813"/>
            <a:ext cx="2174875" cy="2173287"/>
          </a:xfrm>
          <a:prstGeom prst="ellipse">
            <a:avLst/>
          </a:prstGeom>
          <a:solidFill>
            <a:srgbClr val="8E846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华文细黑" pitchFamily="2" charset="-122"/>
              <a:ea typeface="华文细黑" pitchFamily="2" charset="-122"/>
              <a:sym typeface="华文细黑" pitchFamily="2" charset="-122"/>
            </a:endParaRPr>
          </a:p>
        </p:txBody>
      </p:sp>
      <p:sp>
        <p:nvSpPr>
          <p:cNvPr id="30" name="PA_淘宝网chenying0907出品 6"/>
          <p:cNvSpPr txBox="1"/>
          <p:nvPr>
            <p:custDataLst>
              <p:tags r:id="rId1"/>
            </p:custDataLst>
          </p:nvPr>
        </p:nvSpPr>
        <p:spPr>
          <a:xfrm>
            <a:off x="3317221" y="946277"/>
            <a:ext cx="5730163" cy="4924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altLang="zh-CN" sz="60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คู่มือ </a:t>
            </a:r>
            <a:r>
              <a:rPr lang="en-US" altLang="zh-CN" sz="60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ERP </a:t>
            </a:r>
          </a:p>
          <a:p>
            <a:pPr algn="ctr"/>
            <a:endParaRPr lang="en-US" altLang="zh-CN" sz="2000" b="1" dirty="0" smtClean="0">
              <a:solidFill>
                <a:schemeClr val="bg1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  <a:p>
            <a:pPr algn="ctr"/>
            <a:r>
              <a:rPr lang="th-TH" altLang="zh-CN" sz="5000" b="1" dirty="0" smtClean="0">
                <a:solidFill>
                  <a:schemeClr val="bg1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เรื่อง การบันทึกค่าเคมีใน       กระบวนการผลิต</a:t>
            </a:r>
            <a:endParaRPr lang="en-US" altLang="zh-CN" sz="5000" b="1" dirty="0">
              <a:solidFill>
                <a:schemeClr val="bg1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7" name="文本框 41"/>
          <p:cNvSpPr txBox="1"/>
          <p:nvPr/>
        </p:nvSpPr>
        <p:spPr>
          <a:xfrm>
            <a:off x="9427175" y="4419888"/>
            <a:ext cx="2763238" cy="781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32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นำเสนอโดย </a:t>
            </a:r>
            <a:endParaRPr lang="zh-CN" altLang="en-US" sz="3200" b="1" dirty="0">
              <a:solidFill>
                <a:schemeClr val="bg2">
                  <a:lumMod val="25000"/>
                </a:schemeClr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519341" y="5169229"/>
            <a:ext cx="4156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น.ส.</a:t>
            </a:r>
            <a:r>
              <a:rPr lang="th-TH" altLang="zh-CN" sz="2800" b="1" dirty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พัณณภัทร์ </a:t>
            </a:r>
            <a:r>
              <a:rPr lang="th-TH" altLang="zh-CN" sz="2800" b="1" dirty="0" smtClean="0">
                <a:solidFill>
                  <a:schemeClr val="bg2">
                    <a:lumMod val="25000"/>
                  </a:schemeClr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บุญโต</a:t>
            </a:r>
          </a:p>
          <a:p>
            <a:endParaRPr lang="th-TH" sz="2800" dirty="0"/>
          </a:p>
        </p:txBody>
      </p:sp>
    </p:spTree>
    <p:extLst>
      <p:ext uri="{BB962C8B-B14F-4D97-AF65-F5344CB8AC3E}">
        <p14:creationId xmlns:p14="http://schemas.microsoft.com/office/powerpoint/2010/main" val="376740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406955"/>
              </p:ext>
            </p:extLst>
          </p:nvPr>
        </p:nvGraphicFramePr>
        <p:xfrm>
          <a:off x="520504" y="182879"/>
          <a:ext cx="11366695" cy="6342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388">
                  <a:extLst>
                    <a:ext uri="{9D8B030D-6E8A-4147-A177-3AD203B41FA5}">
                      <a16:colId xmlns:a16="http://schemas.microsoft.com/office/drawing/2014/main" val="70911569"/>
                    </a:ext>
                  </a:extLst>
                </a:gridCol>
                <a:gridCol w="8792307">
                  <a:extLst>
                    <a:ext uri="{9D8B030D-6E8A-4147-A177-3AD203B41FA5}">
                      <a16:colId xmlns:a16="http://schemas.microsoft.com/office/drawing/2014/main" val="1097745402"/>
                    </a:ext>
                  </a:extLst>
                </a:gridCol>
              </a:tblGrid>
              <a:tr h="11743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altLang="zh-CN" sz="22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กระบวนการ</a:t>
                      </a:r>
                      <a:r>
                        <a:rPr lang="th-TH" altLang="zh-CN" sz="2200" b="1" baseline="0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 </a:t>
                      </a:r>
                      <a:endParaRPr lang="en-US" altLang="zh-CN" sz="2200" b="1" baseline="0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b="1" baseline="0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(Process)</a:t>
                      </a:r>
                      <a:endParaRPr lang="th-TH" altLang="zh-CN" sz="2200" b="1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altLang="zh-CN" sz="2200" b="1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altLang="zh-CN" sz="2200" b="1" dirty="0" smtClean="0">
                          <a:solidFill>
                            <a:schemeClr val="bg1"/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การบันทึกค่าเคมีในกระบวนการผลิต</a:t>
                      </a:r>
                      <a:endParaRPr lang="en-US" altLang="zh-CN" sz="2200" b="1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  <a:p>
                      <a:pPr algn="l"/>
                      <a:endParaRPr lang="th-TH" altLang="zh-CN" sz="2200" b="1" dirty="0" smtClean="0">
                        <a:solidFill>
                          <a:schemeClr val="bg1"/>
                        </a:solidFill>
                        <a:latin typeface="CheeseThin" panose="00000500000000000000" pitchFamily="2" charset="-34"/>
                        <a:ea typeface="字魂36号-正文宋楷" panose="02000000000000000000" pitchFamily="2" charset="-122"/>
                        <a:cs typeface="CheeseThin" panose="00000500000000000000" pitchFamily="2" charset="-34"/>
                        <a:sym typeface="字魂36号-正文宋楷" panose="02000000000000000000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965072"/>
                  </a:ext>
                </a:extLst>
              </a:tr>
              <a:tr h="944416">
                <a:tc>
                  <a:txBody>
                    <a:bodyPr/>
                    <a:lstStyle/>
                    <a:p>
                      <a:pPr algn="ctr"/>
                      <a:r>
                        <a:rPr lang="th-TH" altLang="zh-CN" sz="22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ข้อูลที่ต้องการใช้</a:t>
                      </a:r>
                    </a:p>
                    <a:p>
                      <a:pPr algn="ctr"/>
                      <a:r>
                        <a:rPr lang="th-TH" sz="22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(</a:t>
                      </a:r>
                      <a:r>
                        <a:rPr lang="en-US" sz="22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ea typeface="字魂36号-正文宋楷" panose="02000000000000000000" pitchFamily="2" charset="-122"/>
                          <a:cs typeface="CheeseThin" panose="00000500000000000000" pitchFamily="2" charset="-34"/>
                          <a:sym typeface="字魂36号-正文宋楷" panose="02000000000000000000" pitchFamily="2" charset="-122"/>
                        </a:rPr>
                        <a:t>Input)</a:t>
                      </a:r>
                      <a:endParaRPr lang="th-TH" sz="2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th-TH" sz="2200" b="1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บันทึกการตรวจสอบคุณภาพผลิตภัณฑ์ในกระบวนการ</a:t>
                      </a:r>
                      <a:r>
                        <a:rPr lang="th-TH" sz="22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200" b="1" baseline="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(FM-QC-06)</a:t>
                      </a:r>
                      <a:endParaRPr lang="th-TH" sz="2200" b="1" baseline="0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506051"/>
                  </a:ext>
                </a:extLst>
              </a:tr>
              <a:tr h="989424">
                <a:tc>
                  <a:txBody>
                    <a:bodyPr/>
                    <a:lstStyle/>
                    <a:p>
                      <a:pPr algn="l"/>
                      <a:r>
                        <a:rPr lang="th-TH" sz="22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ขั้นตอนการ</a:t>
                      </a:r>
                      <a:r>
                        <a:rPr lang="th-TH" sz="22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ย่อย(</a:t>
                      </a:r>
                      <a:r>
                        <a:rPr lang="en-US" sz="22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Sub</a:t>
                      </a:r>
                      <a:r>
                        <a:rPr lang="en-US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Process)</a:t>
                      </a:r>
                      <a:endParaRPr lang="th-TH" sz="2200" b="1" dirty="0">
                        <a:solidFill>
                          <a:srgbClr val="F9A9AF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200" b="1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นำข้อมูลใส่ใน</a:t>
                      </a:r>
                      <a:r>
                        <a:rPr lang="th-TH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Excel </a:t>
                      </a:r>
                      <a:r>
                        <a:rPr lang="th-TH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ที่ </a:t>
                      </a:r>
                      <a:r>
                        <a:rPr lang="en-US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IT </a:t>
                      </a:r>
                      <a:r>
                        <a:rPr lang="th-TH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สร้างไว้ เพื่อเป็นฐานข้อมูล </a:t>
                      </a:r>
                      <a:r>
                        <a:rPr lang="en-US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Dash </a:t>
                      </a:r>
                      <a:r>
                        <a:rPr lang="en-US" sz="2200" b="1" baseline="0" dirty="0" smtClean="0">
                          <a:solidFill>
                            <a:srgbClr val="F9A9AF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Board</a:t>
                      </a:r>
                      <a:endParaRPr lang="en-US" sz="2200" b="1" baseline="0" dirty="0" smtClean="0">
                        <a:solidFill>
                          <a:srgbClr val="F9A9AF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302529"/>
                  </a:ext>
                </a:extLst>
              </a:tr>
              <a:tr h="1303028">
                <a:tc>
                  <a:txBody>
                    <a:bodyPr/>
                    <a:lstStyle/>
                    <a:p>
                      <a:pPr algn="ctr"/>
                      <a:r>
                        <a:rPr lang="th-TH" sz="22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ความเสี่ยง </a:t>
                      </a:r>
                      <a:r>
                        <a:rPr lang="en-US" sz="22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(Risk)</a:t>
                      </a:r>
                      <a:endParaRPr lang="th-TH" sz="2200" b="1" dirty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R1.</a:t>
                      </a:r>
                      <a:r>
                        <a:rPr lang="en-US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th-TH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การเรียงลำดับเลขผิด, ข้อมูลผิด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R2. </a:t>
                      </a:r>
                      <a:r>
                        <a:rPr lang="th-TH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การ </a:t>
                      </a:r>
                      <a:r>
                        <a:rPr lang="en-US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Copy</a:t>
                      </a:r>
                      <a:r>
                        <a:rPr lang="th-TH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ข้อมูลผิด อาจทำให้ไม่สามารถวางใน</a:t>
                      </a:r>
                      <a:r>
                        <a:rPr lang="en-US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Dash </a:t>
                      </a:r>
                      <a:r>
                        <a:rPr lang="en-US" sz="2200" b="1" baseline="0" dirty="0" smtClean="0">
                          <a:solidFill>
                            <a:srgbClr val="79ACC9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Board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1" baseline="0" dirty="0" smtClean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200" b="1" baseline="0" dirty="0" smtClean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2200" b="1" baseline="0" dirty="0" smtClean="0">
                        <a:solidFill>
                          <a:srgbClr val="79ACC9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40940"/>
                  </a:ext>
                </a:extLst>
              </a:tr>
              <a:tr h="1140890">
                <a:tc>
                  <a:txBody>
                    <a:bodyPr/>
                    <a:lstStyle/>
                    <a:p>
                      <a:pPr algn="l"/>
                      <a:r>
                        <a:rPr lang="th-TH" sz="22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จุด</a:t>
                      </a:r>
                      <a:r>
                        <a:rPr lang="th-TH" sz="22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ควบคุม</a:t>
                      </a:r>
                      <a:r>
                        <a:rPr lang="en-US" sz="2200" b="1" baseline="0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(</a:t>
                      </a:r>
                      <a:r>
                        <a:rPr lang="en-US" sz="2200" b="1" dirty="0" err="1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controlpoint</a:t>
                      </a:r>
                      <a:r>
                        <a:rPr lang="en-US" sz="22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)</a:t>
                      </a:r>
                      <a:endParaRPr lang="th-TH" sz="2200" b="1" dirty="0">
                        <a:solidFill>
                          <a:srgbClr val="EA5C85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th-TH" sz="22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1. ตรวจสอบความถูกต้องของการลำดับตัวเลขในการรันของผลิตภัณฑ์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th-TH" sz="2200" b="1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2. ตรวจสอบความถูกต้องของข้อมูลที่นำมาวางใน</a:t>
                      </a:r>
                      <a:r>
                        <a:rPr lang="th-TH" sz="2200" b="1" baseline="0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 </a:t>
                      </a:r>
                      <a:r>
                        <a:rPr lang="en-US" sz="2200" b="1" baseline="0" dirty="0" smtClean="0">
                          <a:solidFill>
                            <a:srgbClr val="EA5C85"/>
                          </a:solidFill>
                          <a:latin typeface="CheeseThin" panose="00000500000000000000" pitchFamily="2" charset="-34"/>
                          <a:cs typeface="CheeseThin" panose="00000500000000000000" pitchFamily="2" charset="-34"/>
                        </a:rPr>
                        <a:t>Excel</a:t>
                      </a:r>
                      <a:endParaRPr lang="th-TH" sz="2200" b="1" dirty="0" smtClean="0">
                        <a:solidFill>
                          <a:srgbClr val="EA5C85"/>
                        </a:solidFill>
                        <a:latin typeface="CheeseThin" panose="00000500000000000000" pitchFamily="2" charset="-34"/>
                        <a:cs typeface="CheeseThin" panose="000005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309313"/>
                  </a:ext>
                </a:extLst>
              </a:tr>
            </a:tbl>
          </a:graphicData>
        </a:graphic>
      </p:graphicFrame>
      <p:pic>
        <p:nvPicPr>
          <p:cNvPr id="3" name="Picture 2" descr="SU-Inprocess2A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" t="1744" r="686" b="21526"/>
          <a:stretch/>
        </p:blipFill>
        <p:spPr>
          <a:xfrm>
            <a:off x="3745076" y="4237210"/>
            <a:ext cx="3373176" cy="118804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09073" y="4292422"/>
            <a:ext cx="22508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>
                    <a:lumMod val="75000"/>
                  </a:schemeClr>
                </a:solidFill>
                <a:latin typeface="CheeseThin" panose="00000500000000000000" pitchFamily="2" charset="-34"/>
                <a:cs typeface="CheeseThin" panose="00000500000000000000" pitchFamily="2" charset="-34"/>
              </a:rPr>
              <a:t>Dash Board</a:t>
            </a:r>
          </a:p>
        </p:txBody>
      </p:sp>
      <p:sp>
        <p:nvSpPr>
          <p:cNvPr id="5" name="Right Arrow 4"/>
          <p:cNvSpPr/>
          <p:nvPr/>
        </p:nvSpPr>
        <p:spPr bwMode="auto">
          <a:xfrm rot="10800000">
            <a:off x="6868098" y="4471396"/>
            <a:ext cx="556567" cy="13449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544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9"/>
          <p:cNvSpPr txBox="1"/>
          <p:nvPr/>
        </p:nvSpPr>
        <p:spPr>
          <a:xfrm>
            <a:off x="970101" y="348642"/>
            <a:ext cx="5347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th-TH" altLang="zh-CN" sz="32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เข้าสู่โหมดทำงานของโปรแกรม</a:t>
            </a:r>
            <a:endParaRPr lang="zh-CN" altLang="en-US" sz="32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sp>
        <p:nvSpPr>
          <p:cNvPr id="8" name="直接连接符 4"/>
          <p:cNvSpPr>
            <a:spLocks noChangeShapeType="1"/>
          </p:cNvSpPr>
          <p:nvPr/>
        </p:nvSpPr>
        <p:spPr bwMode="auto">
          <a:xfrm>
            <a:off x="876234" y="401604"/>
            <a:ext cx="1588" cy="531813"/>
          </a:xfrm>
          <a:prstGeom prst="line">
            <a:avLst/>
          </a:prstGeom>
          <a:noFill/>
          <a:ln w="57150" cap="flat" cmpd="sng">
            <a:solidFill>
              <a:srgbClr val="79ACC9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" b="1"/>
          <a:stretch/>
        </p:blipFill>
        <p:spPr bwMode="auto">
          <a:xfrm>
            <a:off x="734572" y="1058112"/>
            <a:ext cx="10889392" cy="55920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080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994"/>
          <a:stretch/>
        </p:blipFill>
        <p:spPr>
          <a:xfrm>
            <a:off x="1107676" y="1184217"/>
            <a:ext cx="9300685" cy="5091164"/>
          </a:xfrm>
          <a:prstGeom prst="rect">
            <a:avLst/>
          </a:prstGeom>
        </p:spPr>
      </p:pic>
      <p:pic>
        <p:nvPicPr>
          <p:cNvPr id="8" name="Picture 7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298618"/>
            <a:ext cx="400279" cy="3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39"/>
          <p:cNvSpPr txBox="1"/>
          <p:nvPr/>
        </p:nvSpPr>
        <p:spPr>
          <a:xfrm>
            <a:off x="803138" y="344900"/>
            <a:ext cx="10959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SU Inspection In Process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en-US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SU Inspection In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Process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บ้านบ่อ (อ.2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A)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1" name="Picture 10" descr="สีชมพู, สองคน, นิ้วม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00" y="1665205"/>
            <a:ext cx="595630" cy="54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สีชมพู, ชี้ไป, เหลือ ไอคอน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718" y="3255635"/>
            <a:ext cx="482600" cy="48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82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b="5507"/>
          <a:stretch/>
        </p:blipFill>
        <p:spPr bwMode="auto">
          <a:xfrm>
            <a:off x="846162" y="1296536"/>
            <a:ext cx="10672548" cy="52543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14652" y="324990"/>
            <a:ext cx="8590530" cy="695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SU Inspection In Process </a:t>
            </a:r>
            <a:r>
              <a:rPr lang="th-TH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บ้านบ่อ (อ.2</a:t>
            </a:r>
            <a:r>
              <a:rPr lang="en-US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A)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8" name="Picture 7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73" y="403403"/>
            <a:ext cx="400279" cy="366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387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9"/>
          <p:cNvSpPr txBox="1"/>
          <p:nvPr/>
        </p:nvSpPr>
        <p:spPr>
          <a:xfrm>
            <a:off x="761999" y="105248"/>
            <a:ext cx="11548086" cy="129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เข้า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File </a:t>
            </a:r>
            <a:r>
              <a:rPr lang="th-TH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บันทึกการตรวจสอบคุณภาพผลิตภัณฑ์ใน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กระบวนการ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en-US" altLang="zh-CN" sz="2800" b="1" dirty="0" smtClean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  <a:p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FM-QC-06)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คลิ๊กขวา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Copy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4" name="Picture 3" descr="mapmarker, ลูกบอลเหลือง, สีชมพู ไอคอน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36685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1.FM-QC-06 ม.ค.68 - Excel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t="29776" r="19673" b="7836"/>
          <a:stretch/>
        </p:blipFill>
        <p:spPr>
          <a:xfrm>
            <a:off x="464025" y="1378423"/>
            <a:ext cx="11464782" cy="494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6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7" y="1488798"/>
            <a:ext cx="11874463" cy="2880000"/>
          </a:xfrm>
          <a:prstGeom prst="rect">
            <a:avLst/>
          </a:prstGeom>
        </p:spPr>
      </p:pic>
      <p:sp>
        <p:nvSpPr>
          <p:cNvPr id="5" name="文本框 39"/>
          <p:cNvSpPr txBox="1"/>
          <p:nvPr/>
        </p:nvSpPr>
        <p:spPr>
          <a:xfrm>
            <a:off x="803138" y="344900"/>
            <a:ext cx="11548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คลิ๊กขวา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Paste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ใน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Excel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ที่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IT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สร้างขึ้นไว้ให้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&gt; </a:t>
            </a:r>
            <a:r>
              <a:rPr lang="th-TH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คอลัมน์ </a:t>
            </a:r>
            <a:r>
              <a:rPr lang="en-US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C</a:t>
            </a:r>
            <a:r>
              <a:rPr lang="th-TH" altLang="zh-CN" sz="2800" b="1" dirty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 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6" name="Picture 5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36685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08741" y="1121981"/>
            <a:ext cx="365467" cy="374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39"/>
          <p:cNvSpPr txBox="1">
            <a:spLocks noGrp="1"/>
          </p:cNvSpPr>
          <p:nvPr>
            <p:ph type="title"/>
          </p:nvPr>
        </p:nvSpPr>
        <p:spPr>
          <a:xfrm>
            <a:off x="155217" y="4686399"/>
            <a:ext cx="10465891" cy="195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เปลี่ยน พ.ศ. เป็น ค.ศ เช่น 16/01/68 เป็น 16/01/2025 สัญลักษณ์ ผ่าน จากเดิมเป็น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เป็น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/ และ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ใส่ลำดับตัวเลข 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Wingdings" panose="05000000000000000000" pitchFamily="2" charset="2"/>
              </a:rPr>
              <a:t>ใน</a:t>
            </a:r>
            <a:r>
              <a:rPr lang="th-TH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คอลัมน์ </a:t>
            </a:r>
            <a:r>
              <a:rPr lang="en-US" altLang="zh-CN" sz="24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A </a:t>
            </a: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โดยเรียงลำดับไปเรื่อยๆ จนถึงตัวสุดท้าย </a:t>
            </a:r>
            <a:b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</a:br>
            <a:r>
              <a:rPr lang="th-TH" altLang="zh-CN" sz="2400" b="1" dirty="0" smtClean="0">
                <a:solidFill>
                  <a:srgbClr val="F9A9AF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(เปลี่ยนแค่ตัวเลข) ถ้าขึ้นวันใหม่ให้รันเลขต่อจากเมื่อวาน </a:t>
            </a:r>
            <a:endParaRPr lang="zh-CN" altLang="en-US" sz="2400" b="1" dirty="0">
              <a:solidFill>
                <a:srgbClr val="F9A9AF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r="26538"/>
          <a:stretch/>
        </p:blipFill>
        <p:spPr>
          <a:xfrm>
            <a:off x="11026834" y="4460919"/>
            <a:ext cx="792127" cy="2341639"/>
          </a:xfrm>
          <a:prstGeom prst="rect">
            <a:avLst/>
          </a:prstGeom>
        </p:spPr>
      </p:pic>
      <p:pic>
        <p:nvPicPr>
          <p:cNvPr id="12" name="Picture 11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09610" y="1166596"/>
            <a:ext cx="365467" cy="3746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 bwMode="auto">
          <a:xfrm>
            <a:off x="11026834" y="4460918"/>
            <a:ext cx="792127" cy="2341639"/>
          </a:xfrm>
          <a:prstGeom prst="rect">
            <a:avLst/>
          </a:prstGeom>
          <a:noFill/>
          <a:ln w="3810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th-TH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243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.FM-QC-06 ม.ค.68 - Excel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" t="27903" r="2376" b="13244"/>
          <a:stretch/>
        </p:blipFill>
        <p:spPr>
          <a:xfrm>
            <a:off x="207675" y="1692319"/>
            <a:ext cx="11846258" cy="3862316"/>
          </a:xfrm>
          <a:prstGeom prst="rect">
            <a:avLst/>
          </a:prstGeom>
        </p:spPr>
      </p:pic>
      <p:sp>
        <p:nvSpPr>
          <p:cNvPr id="4" name="文本框 39"/>
          <p:cNvSpPr txBox="1"/>
          <p:nvPr/>
        </p:nvSpPr>
        <p:spPr>
          <a:xfrm>
            <a:off x="761999" y="471643"/>
            <a:ext cx="11548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คลิ๊กขวา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Copy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" name="Picture 4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549803"/>
            <a:ext cx="400279" cy="366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253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/>
          <a:srcRect r="19460" b="17006"/>
          <a:stretch/>
        </p:blipFill>
        <p:spPr bwMode="auto">
          <a:xfrm>
            <a:off x="1078172" y="1082072"/>
            <a:ext cx="9908275" cy="54688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9"/>
          <p:cNvSpPr txBox="1"/>
          <p:nvPr/>
        </p:nvSpPr>
        <p:spPr>
          <a:xfrm>
            <a:off x="803138" y="344900"/>
            <a:ext cx="11548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ใส่วันที่ผลิต (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Production Date)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คลิ๊กขวา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Paste Insert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" name="Picture 4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36685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182951" y="1749778"/>
            <a:ext cx="365467" cy="3746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886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U-Inprocess2A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" t="1744" r="686" b="21526"/>
          <a:stretch/>
        </p:blipFill>
        <p:spPr>
          <a:xfrm>
            <a:off x="423083" y="1419366"/>
            <a:ext cx="11505062" cy="4722126"/>
          </a:xfrm>
          <a:prstGeom prst="rect">
            <a:avLst/>
          </a:prstGeom>
        </p:spPr>
      </p:pic>
      <p:sp>
        <p:nvSpPr>
          <p:cNvPr id="4" name="文本框 39"/>
          <p:cNvSpPr txBox="1"/>
          <p:nvPr/>
        </p:nvSpPr>
        <p:spPr>
          <a:xfrm>
            <a:off x="803138" y="344900"/>
            <a:ext cx="11548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รายละเอียดจะขึ้นมาทั้งหมด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" name="Picture 4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366858"/>
            <a:ext cx="400279" cy="366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7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48" r="419" b="10176"/>
          <a:stretch/>
        </p:blipFill>
        <p:spPr>
          <a:xfrm>
            <a:off x="992739" y="1405719"/>
            <a:ext cx="10389690" cy="5260418"/>
          </a:xfrm>
          <a:prstGeom prst="rect">
            <a:avLst/>
          </a:prstGeom>
        </p:spPr>
      </p:pic>
      <p:sp>
        <p:nvSpPr>
          <p:cNvPr id="4" name="文本框 39"/>
          <p:cNvSpPr txBox="1"/>
          <p:nvPr/>
        </p:nvSpPr>
        <p:spPr>
          <a:xfrm>
            <a:off x="642327" y="0"/>
            <a:ext cx="10639962" cy="1298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ถ้าต้องการดูย้อนหลังให้ใส่วันที่ผลิตที่ต้องการ ถึง วันที่ที่ต้องการดู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(Production Date &gt; TO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) &gt; </a:t>
            </a:r>
            <a:r>
              <a:rPr lang="th-TH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กด </a:t>
            </a:r>
            <a:r>
              <a:rPr lang="en-US" altLang="zh-CN" sz="2800" b="1" dirty="0" smtClean="0">
                <a:solidFill>
                  <a:srgbClr val="79ACC9"/>
                </a:solidFill>
                <a:latin typeface="CheeseThin" panose="00000500000000000000" pitchFamily="2" charset="-34"/>
                <a:ea typeface="字魂36号-正文宋楷" panose="02000000000000000000" pitchFamily="2" charset="-122"/>
                <a:cs typeface="CheeseThin" panose="00000500000000000000" pitchFamily="2" charset="-34"/>
                <a:sym typeface="字魂36号-正文宋楷" panose="02000000000000000000" pitchFamily="2" charset="-122"/>
              </a:rPr>
              <a:t>Refresh</a:t>
            </a:r>
            <a:endParaRPr lang="zh-CN" altLang="en-US" sz="2800" b="1" dirty="0">
              <a:solidFill>
                <a:srgbClr val="79ACC9"/>
              </a:solidFill>
              <a:latin typeface="CheeseThin" panose="00000500000000000000" pitchFamily="2" charset="-34"/>
              <a:ea typeface="字魂36号-正文宋楷" panose="02000000000000000000" pitchFamily="2" charset="-122"/>
              <a:cs typeface="CheeseThin" panose="00000500000000000000" pitchFamily="2" charset="-34"/>
              <a:sym typeface="字魂36号-正文宋楷" panose="02000000000000000000" pitchFamily="2" charset="-122"/>
            </a:endParaRPr>
          </a:p>
        </p:txBody>
      </p:sp>
      <p:pic>
        <p:nvPicPr>
          <p:cNvPr id="5" name="Picture 4" descr="mapmarker, ลูกบอลเหลือง, สีชมพู ไอคอน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0" y="366858"/>
            <a:ext cx="400279" cy="36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015464" y="1923305"/>
            <a:ext cx="365467" cy="374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741026" y="1923305"/>
            <a:ext cx="365467" cy="374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ynchronize"/>
          <p:cNvSpPr>
            <a:spLocks noChangeAspect="1" noEditPoints="1" noChangeArrowheads="1"/>
          </p:cNvSpPr>
          <p:nvPr/>
        </p:nvSpPr>
        <p:spPr bwMode="auto">
          <a:xfrm>
            <a:off x="8433841" y="713879"/>
            <a:ext cx="398336" cy="425550"/>
          </a:xfrm>
          <a:custGeom>
            <a:avLst/>
            <a:gdLst>
              <a:gd name="T0" fmla="*/ 42 w 395"/>
              <a:gd name="T1" fmla="*/ 0 h 393"/>
              <a:gd name="T2" fmla="*/ 36 w 395"/>
              <a:gd name="T3" fmla="*/ 15 h 393"/>
              <a:gd name="T4" fmla="*/ 69 w 395"/>
              <a:gd name="T5" fmla="*/ 47 h 393"/>
              <a:gd name="T6" fmla="*/ 0 w 395"/>
              <a:gd name="T7" fmla="*/ 196 h 393"/>
              <a:gd name="T8" fmla="*/ 165 w 395"/>
              <a:gd name="T9" fmla="*/ 389 h 393"/>
              <a:gd name="T10" fmla="*/ 175 w 395"/>
              <a:gd name="T11" fmla="*/ 380 h 393"/>
              <a:gd name="T12" fmla="*/ 175 w 395"/>
              <a:gd name="T13" fmla="*/ 302 h 393"/>
              <a:gd name="T14" fmla="*/ 168 w 395"/>
              <a:gd name="T15" fmla="*/ 294 h 393"/>
              <a:gd name="T16" fmla="*/ 94 w 395"/>
              <a:gd name="T17" fmla="*/ 196 h 393"/>
              <a:gd name="T18" fmla="*/ 135 w 395"/>
              <a:gd name="T19" fmla="*/ 114 h 393"/>
              <a:gd name="T20" fmla="*/ 188 w 395"/>
              <a:gd name="T21" fmla="*/ 167 h 393"/>
              <a:gd name="T22" fmla="*/ 203 w 395"/>
              <a:gd name="T23" fmla="*/ 161 h 393"/>
              <a:gd name="T24" fmla="*/ 203 w 395"/>
              <a:gd name="T25" fmla="*/ 9 h 393"/>
              <a:gd name="T26" fmla="*/ 194 w 395"/>
              <a:gd name="T27" fmla="*/ 0 h 393"/>
              <a:gd name="T28" fmla="*/ 42 w 395"/>
              <a:gd name="T29" fmla="*/ 0 h 393"/>
              <a:gd name="T30" fmla="*/ 221 w 395"/>
              <a:gd name="T31" fmla="*/ 12 h 393"/>
              <a:gd name="T32" fmla="*/ 221 w 395"/>
              <a:gd name="T33" fmla="*/ 90 h 393"/>
              <a:gd name="T34" fmla="*/ 227 w 395"/>
              <a:gd name="T35" fmla="*/ 99 h 393"/>
              <a:gd name="T36" fmla="*/ 302 w 395"/>
              <a:gd name="T37" fmla="*/ 197 h 393"/>
              <a:gd name="T38" fmla="*/ 260 w 395"/>
              <a:gd name="T39" fmla="*/ 279 h 393"/>
              <a:gd name="T40" fmla="*/ 207 w 395"/>
              <a:gd name="T41" fmla="*/ 226 h 393"/>
              <a:gd name="T42" fmla="*/ 192 w 395"/>
              <a:gd name="T43" fmla="*/ 232 h 393"/>
              <a:gd name="T44" fmla="*/ 192 w 395"/>
              <a:gd name="T45" fmla="*/ 384 h 393"/>
              <a:gd name="T46" fmla="*/ 201 w 395"/>
              <a:gd name="T47" fmla="*/ 393 h 393"/>
              <a:gd name="T48" fmla="*/ 353 w 395"/>
              <a:gd name="T49" fmla="*/ 393 h 393"/>
              <a:gd name="T50" fmla="*/ 359 w 395"/>
              <a:gd name="T51" fmla="*/ 378 h 393"/>
              <a:gd name="T52" fmla="*/ 327 w 395"/>
              <a:gd name="T53" fmla="*/ 345 h 393"/>
              <a:gd name="T54" fmla="*/ 395 w 395"/>
              <a:gd name="T55" fmla="*/ 197 h 393"/>
              <a:gd name="T56" fmla="*/ 231 w 395"/>
              <a:gd name="T57" fmla="*/ 4 h 393"/>
              <a:gd name="T58" fmla="*/ 221 w 395"/>
              <a:gd name="T59" fmla="*/ 12 h 393"/>
              <a:gd name="T60" fmla="*/ 64 w 395"/>
              <a:gd name="T61" fmla="*/ 17 h 393"/>
              <a:gd name="T62" fmla="*/ 186 w 395"/>
              <a:gd name="T63" fmla="*/ 17 h 393"/>
              <a:gd name="T64" fmla="*/ 186 w 395"/>
              <a:gd name="T65" fmla="*/ 139 h 393"/>
              <a:gd name="T66" fmla="*/ 142 w 395"/>
              <a:gd name="T67" fmla="*/ 96 h 393"/>
              <a:gd name="T68" fmla="*/ 131 w 395"/>
              <a:gd name="T69" fmla="*/ 95 h 393"/>
              <a:gd name="T70" fmla="*/ 76 w 395"/>
              <a:gd name="T71" fmla="*/ 196 h 393"/>
              <a:gd name="T72" fmla="*/ 157 w 395"/>
              <a:gd name="T73" fmla="*/ 309 h 393"/>
              <a:gd name="T74" fmla="*/ 157 w 395"/>
              <a:gd name="T75" fmla="*/ 369 h 393"/>
              <a:gd name="T76" fmla="*/ 18 w 395"/>
              <a:gd name="T77" fmla="*/ 196 h 393"/>
              <a:gd name="T78" fmla="*/ 87 w 395"/>
              <a:gd name="T79" fmla="*/ 55 h 393"/>
              <a:gd name="T80" fmla="*/ 88 w 395"/>
              <a:gd name="T81" fmla="*/ 42 h 393"/>
              <a:gd name="T82" fmla="*/ 64 w 395"/>
              <a:gd name="T83" fmla="*/ 17 h 393"/>
              <a:gd name="T84" fmla="*/ 238 w 395"/>
              <a:gd name="T85" fmla="*/ 23 h 393"/>
              <a:gd name="T86" fmla="*/ 378 w 395"/>
              <a:gd name="T87" fmla="*/ 197 h 393"/>
              <a:gd name="T88" fmla="*/ 308 w 395"/>
              <a:gd name="T89" fmla="*/ 337 h 393"/>
              <a:gd name="T90" fmla="*/ 308 w 395"/>
              <a:gd name="T91" fmla="*/ 351 h 393"/>
              <a:gd name="T92" fmla="*/ 332 w 395"/>
              <a:gd name="T93" fmla="*/ 375 h 393"/>
              <a:gd name="T94" fmla="*/ 210 w 395"/>
              <a:gd name="T95" fmla="*/ 375 h 393"/>
              <a:gd name="T96" fmla="*/ 210 w 395"/>
              <a:gd name="T97" fmla="*/ 253 h 393"/>
              <a:gd name="T98" fmla="*/ 253 w 395"/>
              <a:gd name="T99" fmla="*/ 296 h 393"/>
              <a:gd name="T100" fmla="*/ 264 w 395"/>
              <a:gd name="T101" fmla="*/ 297 h 393"/>
              <a:gd name="T102" fmla="*/ 319 w 395"/>
              <a:gd name="T103" fmla="*/ 197 h 393"/>
              <a:gd name="T104" fmla="*/ 238 w 395"/>
              <a:gd name="T105" fmla="*/ 84 h 393"/>
              <a:gd name="T106" fmla="*/ 238 w 395"/>
              <a:gd name="T107" fmla="*/ 23 h 39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395"/>
              <a:gd name="T163" fmla="*/ 0 h 393"/>
              <a:gd name="T164" fmla="*/ 395 w 395"/>
              <a:gd name="T165" fmla="*/ 393 h 393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395" h="393">
                <a:moveTo>
                  <a:pt x="42" y="0"/>
                </a:moveTo>
                <a:cubicBezTo>
                  <a:pt x="34" y="1"/>
                  <a:pt x="31" y="10"/>
                  <a:pt x="36" y="15"/>
                </a:cubicBezTo>
                <a:lnTo>
                  <a:pt x="69" y="47"/>
                </a:lnTo>
                <a:cubicBezTo>
                  <a:pt x="27" y="83"/>
                  <a:pt x="0" y="136"/>
                  <a:pt x="0" y="196"/>
                </a:cubicBezTo>
                <a:cubicBezTo>
                  <a:pt x="0" y="293"/>
                  <a:pt x="71" y="374"/>
                  <a:pt x="165" y="389"/>
                </a:cubicBezTo>
                <a:cubicBezTo>
                  <a:pt x="170" y="389"/>
                  <a:pt x="175" y="385"/>
                  <a:pt x="175" y="380"/>
                </a:cubicBezTo>
                <a:lnTo>
                  <a:pt x="175" y="302"/>
                </a:lnTo>
                <a:cubicBezTo>
                  <a:pt x="175" y="298"/>
                  <a:pt x="172" y="295"/>
                  <a:pt x="168" y="294"/>
                </a:cubicBezTo>
                <a:cubicBezTo>
                  <a:pt x="125" y="282"/>
                  <a:pt x="94" y="243"/>
                  <a:pt x="94" y="196"/>
                </a:cubicBezTo>
                <a:cubicBezTo>
                  <a:pt x="94" y="162"/>
                  <a:pt x="110" y="132"/>
                  <a:pt x="135" y="114"/>
                </a:cubicBezTo>
                <a:lnTo>
                  <a:pt x="188" y="167"/>
                </a:lnTo>
                <a:cubicBezTo>
                  <a:pt x="194" y="172"/>
                  <a:pt x="203" y="168"/>
                  <a:pt x="203" y="161"/>
                </a:cubicBezTo>
                <a:lnTo>
                  <a:pt x="203" y="9"/>
                </a:lnTo>
                <a:cubicBezTo>
                  <a:pt x="203" y="4"/>
                  <a:pt x="199" y="0"/>
                  <a:pt x="194" y="0"/>
                </a:cubicBezTo>
                <a:lnTo>
                  <a:pt x="42" y="0"/>
                </a:lnTo>
                <a:close/>
                <a:moveTo>
                  <a:pt x="221" y="12"/>
                </a:moveTo>
                <a:lnTo>
                  <a:pt x="221" y="90"/>
                </a:lnTo>
                <a:cubicBezTo>
                  <a:pt x="221" y="94"/>
                  <a:pt x="224" y="98"/>
                  <a:pt x="227" y="99"/>
                </a:cubicBezTo>
                <a:cubicBezTo>
                  <a:pt x="270" y="110"/>
                  <a:pt x="302" y="150"/>
                  <a:pt x="302" y="197"/>
                </a:cubicBezTo>
                <a:cubicBezTo>
                  <a:pt x="302" y="230"/>
                  <a:pt x="285" y="260"/>
                  <a:pt x="260" y="279"/>
                </a:cubicBezTo>
                <a:lnTo>
                  <a:pt x="207" y="226"/>
                </a:lnTo>
                <a:cubicBezTo>
                  <a:pt x="202" y="220"/>
                  <a:pt x="192" y="224"/>
                  <a:pt x="192" y="232"/>
                </a:cubicBezTo>
                <a:lnTo>
                  <a:pt x="192" y="384"/>
                </a:lnTo>
                <a:cubicBezTo>
                  <a:pt x="193" y="389"/>
                  <a:pt x="196" y="393"/>
                  <a:pt x="201" y="393"/>
                </a:cubicBezTo>
                <a:lnTo>
                  <a:pt x="353" y="393"/>
                </a:lnTo>
                <a:cubicBezTo>
                  <a:pt x="361" y="392"/>
                  <a:pt x="364" y="383"/>
                  <a:pt x="359" y="378"/>
                </a:cubicBezTo>
                <a:lnTo>
                  <a:pt x="327" y="345"/>
                </a:lnTo>
                <a:cubicBezTo>
                  <a:pt x="369" y="309"/>
                  <a:pt x="395" y="256"/>
                  <a:pt x="395" y="197"/>
                </a:cubicBezTo>
                <a:cubicBezTo>
                  <a:pt x="395" y="99"/>
                  <a:pt x="324" y="19"/>
                  <a:pt x="231" y="4"/>
                </a:cubicBezTo>
                <a:cubicBezTo>
                  <a:pt x="225" y="3"/>
                  <a:pt x="221" y="7"/>
                  <a:pt x="221" y="12"/>
                </a:cubicBezTo>
                <a:close/>
                <a:moveTo>
                  <a:pt x="64" y="17"/>
                </a:moveTo>
                <a:lnTo>
                  <a:pt x="186" y="17"/>
                </a:lnTo>
                <a:lnTo>
                  <a:pt x="186" y="139"/>
                </a:lnTo>
                <a:lnTo>
                  <a:pt x="142" y="96"/>
                </a:lnTo>
                <a:cubicBezTo>
                  <a:pt x="139" y="93"/>
                  <a:pt x="135" y="93"/>
                  <a:pt x="131" y="95"/>
                </a:cubicBezTo>
                <a:cubicBezTo>
                  <a:pt x="98" y="116"/>
                  <a:pt x="76" y="153"/>
                  <a:pt x="76" y="196"/>
                </a:cubicBezTo>
                <a:cubicBezTo>
                  <a:pt x="76" y="248"/>
                  <a:pt x="110" y="293"/>
                  <a:pt x="157" y="309"/>
                </a:cubicBezTo>
                <a:lnTo>
                  <a:pt x="157" y="369"/>
                </a:lnTo>
                <a:cubicBezTo>
                  <a:pt x="77" y="352"/>
                  <a:pt x="18" y="281"/>
                  <a:pt x="18" y="196"/>
                </a:cubicBezTo>
                <a:cubicBezTo>
                  <a:pt x="18" y="138"/>
                  <a:pt x="45" y="88"/>
                  <a:pt x="87" y="55"/>
                </a:cubicBezTo>
                <a:cubicBezTo>
                  <a:pt x="91" y="51"/>
                  <a:pt x="92" y="45"/>
                  <a:pt x="88" y="42"/>
                </a:cubicBezTo>
                <a:lnTo>
                  <a:pt x="64" y="17"/>
                </a:lnTo>
                <a:close/>
                <a:moveTo>
                  <a:pt x="238" y="23"/>
                </a:moveTo>
                <a:cubicBezTo>
                  <a:pt x="318" y="41"/>
                  <a:pt x="378" y="112"/>
                  <a:pt x="378" y="197"/>
                </a:cubicBezTo>
                <a:cubicBezTo>
                  <a:pt x="378" y="254"/>
                  <a:pt x="350" y="305"/>
                  <a:pt x="308" y="337"/>
                </a:cubicBezTo>
                <a:cubicBezTo>
                  <a:pt x="304" y="341"/>
                  <a:pt x="304" y="347"/>
                  <a:pt x="308" y="351"/>
                </a:cubicBezTo>
                <a:lnTo>
                  <a:pt x="332" y="375"/>
                </a:lnTo>
                <a:lnTo>
                  <a:pt x="210" y="375"/>
                </a:lnTo>
                <a:lnTo>
                  <a:pt x="210" y="253"/>
                </a:lnTo>
                <a:lnTo>
                  <a:pt x="253" y="296"/>
                </a:lnTo>
                <a:cubicBezTo>
                  <a:pt x="256" y="299"/>
                  <a:pt x="261" y="300"/>
                  <a:pt x="264" y="297"/>
                </a:cubicBezTo>
                <a:cubicBezTo>
                  <a:pt x="297" y="276"/>
                  <a:pt x="319" y="239"/>
                  <a:pt x="319" y="197"/>
                </a:cubicBezTo>
                <a:cubicBezTo>
                  <a:pt x="319" y="144"/>
                  <a:pt x="286" y="100"/>
                  <a:pt x="238" y="84"/>
                </a:cubicBezTo>
                <a:lnTo>
                  <a:pt x="238" y="23"/>
                </a:lnTo>
                <a:close/>
              </a:path>
            </a:pathLst>
          </a:custGeom>
          <a:solidFill>
            <a:srgbClr val="EA5C85"/>
          </a:solidFill>
          <a:ln w="0">
            <a:solidFill>
              <a:srgbClr val="EA5C85"/>
            </a:solidFill>
            <a:bevel/>
          </a:ln>
          <a:extLst/>
        </p:spPr>
        <p:txBody>
          <a:bodyPr anchor="ctr"/>
          <a:lstStyle/>
          <a:p>
            <a:pPr algn="ctr"/>
            <a:endParaRPr lang="zh-CN" altLang="zh-CN" sz="900">
              <a:solidFill>
                <a:schemeClr val="bg1"/>
              </a:solidFill>
              <a:latin typeface="华文细黑" pitchFamily="2" charset="-122"/>
              <a:ea typeface="华文细黑" pitchFamily="2" charset="-122"/>
              <a:sym typeface="Calibri" panose="020F0502020204030204" pitchFamily="34" charset="0"/>
            </a:endParaRPr>
          </a:p>
        </p:txBody>
      </p:sp>
      <p:pic>
        <p:nvPicPr>
          <p:cNvPr id="11" name="Picture 10" descr="สีชมพู, ชี้ไป, เหลือ ไอคอน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11981">
            <a:off x="1227268" y="1903903"/>
            <a:ext cx="397046" cy="502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139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椭圆 3"/>
          <p:cNvSpPr>
            <a:spLocks noChangeArrowheads="1"/>
          </p:cNvSpPr>
          <p:nvPr/>
        </p:nvSpPr>
        <p:spPr bwMode="auto">
          <a:xfrm>
            <a:off x="4095750" y="1470025"/>
            <a:ext cx="3916363" cy="3916363"/>
          </a:xfrm>
          <a:prstGeom prst="ellipse">
            <a:avLst/>
          </a:prstGeom>
          <a:solidFill>
            <a:srgbClr val="79ACC9">
              <a:alpha val="89000"/>
            </a:srgb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sp>
        <p:nvSpPr>
          <p:cNvPr id="25605" name="椭圆 4"/>
          <p:cNvSpPr>
            <a:spLocks noChangeArrowheads="1"/>
          </p:cNvSpPr>
          <p:nvPr/>
        </p:nvSpPr>
        <p:spPr bwMode="auto">
          <a:xfrm>
            <a:off x="9578975" y="3429000"/>
            <a:ext cx="1577975" cy="1576388"/>
          </a:xfrm>
          <a:prstGeom prst="ellipse">
            <a:avLst/>
          </a:prstGeom>
          <a:solidFill>
            <a:srgbClr val="BFBFB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sp>
        <p:nvSpPr>
          <p:cNvPr id="25606" name="椭圆 5"/>
          <p:cNvSpPr>
            <a:spLocks noChangeArrowheads="1"/>
          </p:cNvSpPr>
          <p:nvPr/>
        </p:nvSpPr>
        <p:spPr bwMode="auto">
          <a:xfrm>
            <a:off x="8859838" y="1404938"/>
            <a:ext cx="985837" cy="987425"/>
          </a:xfrm>
          <a:prstGeom prst="ellipse">
            <a:avLst/>
          </a:prstGeom>
          <a:solidFill>
            <a:srgbClr val="FFFFF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78228" y="3055614"/>
            <a:ext cx="6951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2">
                    <a:lumMod val="25000"/>
                  </a:schemeClr>
                </a:solidFill>
                <a:latin typeface="FkBeautyRegular" panose="02000000000000000000" pitchFamily="2" charset="-34"/>
                <a:ea typeface="字魂5号-无外润黑体" panose="00000500000000000000" pitchFamily="2" charset="-122"/>
                <a:cs typeface="FkBeautyRegular" panose="02000000000000000000" pitchFamily="2" charset="-34"/>
                <a:sym typeface="字魂5号-无外润黑体" panose="00000500000000000000" pitchFamily="2" charset="-122"/>
              </a:rPr>
              <a:t>Thanks</a:t>
            </a:r>
            <a:r>
              <a:rPr lang="en-US" altLang="zh-CN" sz="7200" b="1" dirty="0">
                <a:solidFill>
                  <a:schemeClr val="tx1"/>
                </a:solidFill>
                <a:latin typeface="FkBeautyRegular" panose="02000000000000000000" pitchFamily="2" charset="-34"/>
                <a:ea typeface="字魂5号-无外润黑体" panose="00000500000000000000" pitchFamily="2" charset="-122"/>
                <a:cs typeface="FkBeautyRegular" panose="02000000000000000000" pitchFamily="2" charset="-34"/>
                <a:sym typeface="字魂5号-无外润黑体" panose="00000500000000000000" pitchFamily="2" charset="-122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665" y="3208029"/>
            <a:ext cx="2410161" cy="1933845"/>
          </a:xfrm>
          <a:prstGeom prst="rect">
            <a:avLst/>
          </a:prstGeom>
        </p:spPr>
      </p:pic>
      <p:sp>
        <p:nvSpPr>
          <p:cNvPr id="9" name="椭圆 6"/>
          <p:cNvSpPr>
            <a:spLocks noChangeArrowheads="1"/>
          </p:cNvSpPr>
          <p:nvPr/>
        </p:nvSpPr>
        <p:spPr bwMode="auto">
          <a:xfrm>
            <a:off x="879474" y="1804754"/>
            <a:ext cx="1851025" cy="1851025"/>
          </a:xfrm>
          <a:prstGeom prst="ellipse">
            <a:avLst/>
          </a:prstGeom>
          <a:solidFill>
            <a:srgbClr val="8E846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18718B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Montserrat SemiBold" panose="00000700000000000000" charset="0"/>
              <a:ea typeface="华文细黑" pitchFamily="2" charset="-122"/>
              <a:cs typeface="Montserrat SemiBold" panose="00000700000000000000" charset="0"/>
              <a:sym typeface="华文细黑" pitchFamily="2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877" y="3522462"/>
            <a:ext cx="1655098" cy="130498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C4E7E"/>
      </a:dk2>
      <a:lt2>
        <a:srgbClr val="E2DFCC"/>
      </a:lt2>
      <a:accent1>
        <a:srgbClr val="093759"/>
      </a:accent1>
      <a:accent2>
        <a:srgbClr val="F33735"/>
      </a:accent2>
      <a:accent3>
        <a:srgbClr val="FFFFFF"/>
      </a:accent3>
      <a:accent4>
        <a:srgbClr val="000000"/>
      </a:accent4>
      <a:accent5>
        <a:srgbClr val="AAAEB5"/>
      </a:accent5>
      <a:accent6>
        <a:srgbClr val="DC312F"/>
      </a:accent6>
      <a:hlink>
        <a:srgbClr val="D10E0C"/>
      </a:hlink>
      <a:folHlink>
        <a:srgbClr val="BBB487"/>
      </a:folHlink>
    </a:clrScheme>
    <a:fontScheme name="Office 主题">
      <a:majorFont>
        <a:latin typeface="Calibri Light"/>
        <a:ea typeface="微软雅黑"/>
        <a:cs typeface=""/>
      </a:majorFont>
      <a:minorFont>
        <a:latin typeface="Calibri Ligh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C4E7E"/>
      </a:dk2>
      <a:lt2>
        <a:srgbClr val="E2DFCC"/>
      </a:lt2>
      <a:accent1>
        <a:srgbClr val="093759"/>
      </a:accent1>
      <a:accent2>
        <a:srgbClr val="F33735"/>
      </a:accent2>
      <a:accent3>
        <a:srgbClr val="FFFFFF"/>
      </a:accent3>
      <a:accent4>
        <a:srgbClr val="000000"/>
      </a:accent4>
      <a:accent5>
        <a:srgbClr val="AAAEB5"/>
      </a:accent5>
      <a:accent6>
        <a:srgbClr val="DC312F"/>
      </a:accent6>
      <a:hlink>
        <a:srgbClr val="D10E0C"/>
      </a:hlink>
      <a:folHlink>
        <a:srgbClr val="BBB48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04D5F"/>
    </a:dk2>
    <a:lt2>
      <a:srgbClr val="E2DFCC"/>
    </a:lt2>
    <a:accent1>
      <a:srgbClr val="229BBF"/>
    </a:accent1>
    <a:accent2>
      <a:srgbClr val="104D60"/>
    </a:accent2>
    <a:accent3>
      <a:srgbClr val="FFFFFF"/>
    </a:accent3>
    <a:accent4>
      <a:srgbClr val="000000"/>
    </a:accent4>
    <a:accent5>
      <a:srgbClr val="ABCBDC"/>
    </a:accent5>
    <a:accent6>
      <a:srgbClr val="0D4556"/>
    </a:accent6>
    <a:hlink>
      <a:srgbClr val="977B2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3897</TotalTime>
  <Words>1075</Words>
  <Application>Microsoft Office PowerPoint</Application>
  <PresentationFormat>Custom</PresentationFormat>
  <Paragraphs>266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9" baseType="lpstr">
      <vt:lpstr>微软雅黑</vt:lpstr>
      <vt:lpstr>宋体</vt:lpstr>
      <vt:lpstr>Arial</vt:lpstr>
      <vt:lpstr>Calibri</vt:lpstr>
      <vt:lpstr>Calibri Light</vt:lpstr>
      <vt:lpstr>CheeseThin</vt:lpstr>
      <vt:lpstr>Cordia New</vt:lpstr>
      <vt:lpstr>FkBeautyRegular</vt:lpstr>
      <vt:lpstr>Montserrat SemiBold</vt:lpstr>
      <vt:lpstr>华文细黑</vt:lpstr>
      <vt:lpstr>Wingdings</vt:lpstr>
      <vt:lpstr>字魂36号-正文宋楷</vt:lpstr>
      <vt:lpstr>字魂5号-无外润黑体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เลือก  Inventory &gt; กด Search &gt; กดเลือกเลข Transaction ID ที่ต้องการ &gt; กด OK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เปลี่ยน พ.ศ. เป็น ค.ศ เช่น 16/01/68 เป็น 16/01/2025 สัญลักษณ์ ผ่าน จากเดิมเป็น เป็น / และใส่ลำดับตัวเลข ในคอลัมน์ A โดยเรียงลำดับไปเรื่อยๆ จนถึงตัวสุดท้าย  (เปลี่ยนแค่ตัวเลข) ถ้าขึ้นวันใหม่ให้รันเลขต่อจากเมื่อวาน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Ratchadaporn Tadmalee</cp:lastModifiedBy>
  <cp:revision>265</cp:revision>
  <cp:lastPrinted>2025-01-20T08:24:48Z</cp:lastPrinted>
  <dcterms:created xsi:type="dcterms:W3CDTF">2015-03-24T02:37:00Z</dcterms:created>
  <dcterms:modified xsi:type="dcterms:W3CDTF">2025-10-18T10:43:11Z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