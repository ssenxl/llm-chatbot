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57" r:id="rId4"/>
    <p:sldId id="258" r:id="rId5"/>
    <p:sldId id="259" r:id="rId6"/>
    <p:sldId id="275" r:id="rId7"/>
    <p:sldId id="260" r:id="rId8"/>
    <p:sldId id="261" r:id="rId9"/>
    <p:sldId id="276" r:id="rId10"/>
    <p:sldId id="263" r:id="rId11"/>
    <p:sldId id="277" r:id="rId12"/>
    <p:sldId id="264" r:id="rId13"/>
    <p:sldId id="265" r:id="rId14"/>
    <p:sldId id="268" r:id="rId15"/>
    <p:sldId id="266" r:id="rId16"/>
    <p:sldId id="267" r:id="rId17"/>
    <p:sldId id="269" r:id="rId18"/>
    <p:sldId id="278" r:id="rId19"/>
    <p:sldId id="270" r:id="rId20"/>
    <p:sldId id="271" r:id="rId21"/>
    <p:sldId id="273" r:id="rId22"/>
    <p:sldId id="272" r:id="rId23"/>
    <p:sldId id="274" r:id="rId24"/>
    <p:sldId id="283" r:id="rId25"/>
    <p:sldId id="284" r:id="rId26"/>
    <p:sldId id="279" r:id="rId27"/>
  </p:sldIdLst>
  <p:sldSz cx="9144000" cy="6858000" type="screen4x3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182D-5965-42A9-914D-7184266CBD54}" type="datetimeFigureOut">
              <a:rPr lang="th-TH" smtClean="0"/>
              <a:pPr/>
              <a:t>10/02/68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46337-E2C6-4F80-8B00-13595CFC692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182D-5965-42A9-914D-7184266CBD54}" type="datetimeFigureOut">
              <a:rPr lang="th-TH" smtClean="0"/>
              <a:pPr/>
              <a:t>10/02/68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46337-E2C6-4F80-8B00-13595CFC692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182D-5965-42A9-914D-7184266CBD54}" type="datetimeFigureOut">
              <a:rPr lang="th-TH" smtClean="0"/>
              <a:pPr/>
              <a:t>10/02/68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46337-E2C6-4F80-8B00-13595CFC692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182D-5965-42A9-914D-7184266CBD54}" type="datetimeFigureOut">
              <a:rPr lang="th-TH" smtClean="0"/>
              <a:pPr/>
              <a:t>10/02/68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46337-E2C6-4F80-8B00-13595CFC692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182D-5965-42A9-914D-7184266CBD54}" type="datetimeFigureOut">
              <a:rPr lang="th-TH" smtClean="0"/>
              <a:pPr/>
              <a:t>10/02/68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46337-E2C6-4F80-8B00-13595CFC692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182D-5965-42A9-914D-7184266CBD54}" type="datetimeFigureOut">
              <a:rPr lang="th-TH" smtClean="0"/>
              <a:pPr/>
              <a:t>10/02/68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46337-E2C6-4F80-8B00-13595CFC692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182D-5965-42A9-914D-7184266CBD54}" type="datetimeFigureOut">
              <a:rPr lang="th-TH" smtClean="0"/>
              <a:pPr/>
              <a:t>10/02/68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46337-E2C6-4F80-8B00-13595CFC692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182D-5965-42A9-914D-7184266CBD54}" type="datetimeFigureOut">
              <a:rPr lang="th-TH" smtClean="0"/>
              <a:pPr/>
              <a:t>10/02/68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46337-E2C6-4F80-8B00-13595CFC692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182D-5965-42A9-914D-7184266CBD54}" type="datetimeFigureOut">
              <a:rPr lang="th-TH" smtClean="0"/>
              <a:pPr/>
              <a:t>10/02/68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46337-E2C6-4F80-8B00-13595CFC692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182D-5965-42A9-914D-7184266CBD54}" type="datetimeFigureOut">
              <a:rPr lang="th-TH" smtClean="0"/>
              <a:pPr/>
              <a:t>10/02/68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46337-E2C6-4F80-8B00-13595CFC692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182D-5965-42A9-914D-7184266CBD54}" type="datetimeFigureOut">
              <a:rPr lang="th-TH" smtClean="0"/>
              <a:pPr/>
              <a:t>10/02/68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46337-E2C6-4F80-8B00-13595CFC692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89182D-5965-42A9-914D-7184266CBD54}" type="datetimeFigureOut">
              <a:rPr lang="th-TH" smtClean="0"/>
              <a:pPr/>
              <a:t>10/02/68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F46337-E2C6-4F80-8B00-13595CFC692E}" type="slidenum">
              <a:rPr lang="th-TH" smtClean="0"/>
              <a:pPr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260648"/>
            <a:ext cx="7772400" cy="1872208"/>
          </a:xfrm>
        </p:spPr>
        <p:txBody>
          <a:bodyPr>
            <a:noAutofit/>
          </a:bodyPr>
          <a:lstStyle/>
          <a:p>
            <a:r>
              <a:rPr lang="th-TH" sz="4800" dirty="0" smtClean="0">
                <a:latin typeface="Algerian" pitchFamily="82" charset="0"/>
              </a:rPr>
              <a:t>คู่มือ </a:t>
            </a:r>
            <a:r>
              <a:rPr lang="en-US" sz="4800" dirty="0" smtClean="0">
                <a:latin typeface="Algerian" pitchFamily="82" charset="0"/>
              </a:rPr>
              <a:t>ERP</a:t>
            </a:r>
            <a:br>
              <a:rPr lang="en-US" sz="4800" dirty="0" smtClean="0">
                <a:latin typeface="Algerian" pitchFamily="82" charset="0"/>
              </a:rPr>
            </a:br>
            <a:r>
              <a:rPr lang="th-TH" b="1" dirty="0" smtClean="0">
                <a:latin typeface="Algerian" pitchFamily="82" charset="0"/>
              </a:rPr>
              <a:t>การเปิดใบขอซื้อ (</a:t>
            </a:r>
            <a:r>
              <a:rPr lang="en-US" b="1" dirty="0" smtClean="0">
                <a:latin typeface="Algerian" pitchFamily="82" charset="0"/>
              </a:rPr>
              <a:t>PR</a:t>
            </a:r>
            <a:r>
              <a:rPr lang="th-TH" b="1" dirty="0" smtClean="0">
                <a:latin typeface="Algerian" pitchFamily="82" charset="0"/>
              </a:rPr>
              <a:t>) </a:t>
            </a:r>
            <a:br>
              <a:rPr lang="th-TH" b="1" dirty="0" smtClean="0">
                <a:latin typeface="Algerian" pitchFamily="82" charset="0"/>
              </a:rPr>
            </a:br>
            <a:r>
              <a:rPr lang="th-TH" b="1" dirty="0" smtClean="0">
                <a:latin typeface="Algerian" pitchFamily="82" charset="0"/>
              </a:rPr>
              <a:t>ค่าใบรับรองและค่าวิเคราะห์</a:t>
            </a:r>
            <a:endParaRPr lang="th-TH" dirty="0">
              <a:latin typeface="Algerian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2200" y="5805264"/>
            <a:ext cx="2448272" cy="888504"/>
          </a:xfrm>
        </p:spPr>
        <p:txBody>
          <a:bodyPr>
            <a:noAutofit/>
          </a:bodyPr>
          <a:lstStyle/>
          <a:p>
            <a:r>
              <a:rPr lang="th-TH" sz="2000" dirty="0" smtClean="0">
                <a:latin typeface="Algerian" pitchFamily="82" charset="0"/>
              </a:rPr>
              <a:t>จัดทำโดย</a:t>
            </a:r>
          </a:p>
          <a:p>
            <a:r>
              <a:rPr lang="th-TH" sz="2000" dirty="0" smtClean="0">
                <a:latin typeface="Algerian" pitchFamily="82" charset="0"/>
              </a:rPr>
              <a:t>คุณรัชนี มาเสือ</a:t>
            </a:r>
            <a:endParaRPr lang="th-TH" sz="2000" dirty="0">
              <a:latin typeface="Algerian" pitchFamily="82" charset="0"/>
            </a:endParaRPr>
          </a:p>
        </p:txBody>
      </p:sp>
      <p:pic>
        <p:nvPicPr>
          <p:cNvPr id="19460" name="Picture 4" descr="อันดับหนึ่ง 105+ ภาพ การ์ตูนกระต่ายน่ารักๆ คมชัด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5816" y="2564904"/>
            <a:ext cx="3384376" cy="33843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/>
              <a:t>POP-02 : Requisition </a:t>
            </a:r>
            <a:r>
              <a:rPr lang="th-TH" sz="3600" dirty="0" smtClean="0"/>
              <a:t>(ใบขอซื้อ)</a:t>
            </a:r>
            <a:endParaRPr lang="en-US" sz="36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5715371"/>
              </p:ext>
            </p:extLst>
          </p:nvPr>
        </p:nvGraphicFramePr>
        <p:xfrm>
          <a:off x="457200" y="1199629"/>
          <a:ext cx="8229600" cy="5510163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2890664">
                  <a:extLst>
                    <a:ext uri="{9D8B030D-6E8A-4147-A177-3AD203B41FA5}">
                      <a16:colId xmlns:a16="http://schemas.microsoft.com/office/drawing/2014/main" val="2781559937"/>
                    </a:ext>
                  </a:extLst>
                </a:gridCol>
                <a:gridCol w="5338936">
                  <a:extLst>
                    <a:ext uri="{9D8B030D-6E8A-4147-A177-3AD203B41FA5}">
                      <a16:colId xmlns:a16="http://schemas.microsoft.com/office/drawing/2014/main" val="3644979885"/>
                    </a:ext>
                  </a:extLst>
                </a:gridCol>
              </a:tblGrid>
              <a:tr h="6382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h-TH" sz="1800" dirty="0" smtClean="0"/>
                        <a:t>1. กระบวนการ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dirty="0" smtClean="0"/>
                        <a:t>(Process)</a:t>
                      </a:r>
                      <a:endParaRPr lang="en-US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POP-02 : Requisition (</a:t>
                      </a:r>
                      <a:r>
                        <a:rPr lang="th-TH" sz="1800" dirty="0" smtClean="0"/>
                        <a:t>ใบขอซื้อ)</a:t>
                      </a:r>
                      <a:endParaRPr lang="en-US" sz="1800" dirty="0"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4895"/>
                  </a:ext>
                </a:extLst>
              </a:tr>
              <a:tr h="1185408">
                <a:tc>
                  <a:txBody>
                    <a:bodyPr/>
                    <a:lstStyle/>
                    <a:p>
                      <a:r>
                        <a:rPr lang="th-TH" sz="1800" dirty="0" smtClean="0"/>
                        <a:t>2. ข้อมูลที่ต้องการใช้</a:t>
                      </a:r>
                    </a:p>
                    <a:p>
                      <a:r>
                        <a:rPr lang="en-US" sz="1800" dirty="0" smtClean="0"/>
                        <a:t>(Sub Process)</a:t>
                      </a:r>
                      <a:endParaRPr lang="en-US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sz="1800" dirty="0" smtClean="0"/>
                        <a:t>INVOICE, PACKING LIST, </a:t>
                      </a:r>
                      <a:r>
                        <a:rPr lang="th-TH" sz="1800" dirty="0" smtClean="0"/>
                        <a:t>ใบสั่งผลิต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1800" dirty="0" smtClean="0"/>
                        <a:t>รายการสินค้า ปริมาณหรือจำนวน และ </a:t>
                      </a:r>
                      <a:r>
                        <a:rPr lang="en-US" sz="1800" dirty="0" smtClean="0"/>
                        <a:t>Lead Time </a:t>
                      </a:r>
                      <a:r>
                        <a:rPr lang="th-TH" sz="1800" dirty="0" smtClean="0"/>
                        <a:t>ในการขอซื้อ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1800" dirty="0" smtClean="0"/>
                        <a:t>ใบเสนอราคา / ใบแจ้งหนี้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1800" dirty="0" smtClean="0"/>
                        <a:t>เอกสารแนบอื่นๆ เช่น </a:t>
                      </a:r>
                      <a:r>
                        <a:rPr lang="en-US" sz="1800" dirty="0" smtClean="0"/>
                        <a:t>Memo , PI</a:t>
                      </a:r>
                      <a:endParaRPr lang="th-TH" sz="1800" dirty="0" smtClean="0"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427251"/>
                  </a:ext>
                </a:extLst>
              </a:tr>
              <a:tr h="1458964">
                <a:tc>
                  <a:txBody>
                    <a:bodyPr/>
                    <a:lstStyle/>
                    <a:p>
                      <a:r>
                        <a:rPr lang="th-TH" sz="1800" dirty="0" smtClean="0"/>
                        <a:t>3. ขั้นตอนย่อย</a:t>
                      </a:r>
                    </a:p>
                    <a:p>
                      <a:r>
                        <a:rPr lang="en-US" sz="1800" dirty="0" smtClean="0"/>
                        <a:t>(Sub Process)</a:t>
                      </a:r>
                      <a:endParaRPr lang="en-US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th-TH" sz="1800" dirty="0" smtClean="0"/>
                        <a:t>การสร้าง </a:t>
                      </a:r>
                      <a:r>
                        <a:rPr lang="en-US" sz="1800" dirty="0" smtClean="0"/>
                        <a:t>New Requisition </a:t>
                      </a:r>
                      <a:r>
                        <a:rPr lang="th-TH" sz="1800" dirty="0" smtClean="0"/>
                        <a:t>ใบขอซื้อและกรอกรายละเอียด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1800" dirty="0" smtClean="0"/>
                        <a:t>สร้าง </a:t>
                      </a:r>
                      <a:r>
                        <a:rPr lang="en-US" sz="1800" dirty="0" smtClean="0"/>
                        <a:t>New Line </a:t>
                      </a:r>
                      <a:r>
                        <a:rPr lang="th-TH" sz="1800" dirty="0" smtClean="0"/>
                        <a:t>รายการสั่งซื้อ จำนวนและวันที่ต้องการ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1800" dirty="0" smtClean="0"/>
                        <a:t>การใส่รายละเอียด </a:t>
                      </a:r>
                      <a:r>
                        <a:rPr lang="en-US" sz="1800" dirty="0" smtClean="0"/>
                        <a:t>Comments</a:t>
                      </a:r>
                      <a:endParaRPr lang="th-TH" sz="1800" dirty="0" smtClean="0"/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1800" dirty="0" smtClean="0"/>
                        <a:t>การ </a:t>
                      </a:r>
                      <a:r>
                        <a:rPr lang="en-US" sz="1800" dirty="0" smtClean="0"/>
                        <a:t>Attachment </a:t>
                      </a:r>
                      <a:r>
                        <a:rPr lang="th-TH" sz="1800" dirty="0" smtClean="0"/>
                        <a:t>แนบไฟล์เอกสาร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1800" dirty="0" smtClean="0"/>
                        <a:t> การส่ง </a:t>
                      </a:r>
                      <a:r>
                        <a:rPr lang="en-US" sz="1800" dirty="0" smtClean="0"/>
                        <a:t>PR </a:t>
                      </a:r>
                      <a:r>
                        <a:rPr lang="th-TH" sz="1800" dirty="0" smtClean="0"/>
                        <a:t>เพื่อขออนุมัติ</a:t>
                      </a:r>
                      <a:endParaRPr lang="en-US" sz="1800" dirty="0"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350515"/>
                  </a:ext>
                </a:extLst>
              </a:tr>
              <a:tr h="1029603">
                <a:tc>
                  <a:txBody>
                    <a:bodyPr/>
                    <a:lstStyle/>
                    <a:p>
                      <a:r>
                        <a:rPr lang="th-TH" sz="1800" dirty="0" smtClean="0"/>
                        <a:t>4. ความเสี่ยง</a:t>
                      </a:r>
                    </a:p>
                    <a:p>
                      <a:r>
                        <a:rPr lang="en-US" sz="1800" dirty="0" smtClean="0"/>
                        <a:t>(Risk)</a:t>
                      </a:r>
                      <a:endParaRPr lang="en-US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th-TH" sz="1800" dirty="0" smtClean="0"/>
                        <a:t>ใส่ราคาค่าใบรับรองและค่าวิเคราะห์ไม่ถูกต้อง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1800" dirty="0" smtClean="0"/>
                        <a:t>ใส่ชื่อผู้ขาย (หน่วยงาน)ไม่ถูกต้อง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1800" dirty="0" smtClean="0"/>
                        <a:t>สินค้าถูกเลื่อนส่งล่าช้าจากกำหนดเดิม</a:t>
                      </a:r>
                      <a:endParaRPr lang="th-TH" sz="1800" dirty="0" smtClean="0"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195545"/>
                  </a:ext>
                </a:extLst>
              </a:tr>
              <a:tr h="1185408">
                <a:tc>
                  <a:txBody>
                    <a:bodyPr/>
                    <a:lstStyle/>
                    <a:p>
                      <a:r>
                        <a:rPr lang="th-TH" sz="1800" dirty="0" smtClean="0"/>
                        <a:t>5. จุดควบคุม</a:t>
                      </a:r>
                    </a:p>
                    <a:p>
                      <a:r>
                        <a:rPr lang="en-US" sz="1800" dirty="0" smtClean="0"/>
                        <a:t>(Control Point)</a:t>
                      </a:r>
                      <a:endParaRPr lang="en-US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th-TH" sz="1800" dirty="0" smtClean="0"/>
                        <a:t>ตรวจสอบรหัสสินค้า หรือกลุ่มสินค้าก่อนเปิดทุกครั้ง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1800" dirty="0" smtClean="0"/>
                        <a:t>ตรวจสอบความถูกต้องราคาค่าใบรับรอง, ค่าวิเคราะห์ และหน่วยงานที่ออกใบรับรอง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1800" dirty="0" smtClean="0"/>
                        <a:t>ตรวจสอบระยะเวลา วันกำหนดส่งสินค้า</a:t>
                      </a:r>
                      <a:endParaRPr lang="en-US" sz="1800" dirty="0"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28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8446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 cstate="print"/>
          <a:srcRect t="1822" r="3338" b="3441"/>
          <a:stretch>
            <a:fillRect/>
          </a:stretch>
        </p:blipFill>
        <p:spPr>
          <a:xfrm>
            <a:off x="1763688" y="1556792"/>
            <a:ext cx="5616624" cy="3744416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1331640" y="1052736"/>
            <a:ext cx="6552728" cy="1066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683568" y="332656"/>
            <a:ext cx="822960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การเข้าสู่ระบบ 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Login</a:t>
            </a:r>
            <a:r>
              <a:rPr kumimoji="0" lang="en-US" sz="36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 User</a:t>
            </a:r>
            <a:r>
              <a:rPr kumimoji="0" lang="th-TH" sz="36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 และ </a:t>
            </a:r>
            <a:r>
              <a:rPr kumimoji="0" lang="en-US" sz="36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Password</a:t>
            </a:r>
            <a:r>
              <a:rPr kumimoji="0" lang="th-TH" sz="36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 กดปุ่ม       เพื่อเข้าระบบ  </a:t>
            </a:r>
            <a:r>
              <a:rPr kumimoji="0" lang="th-TH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  </a:t>
            </a:r>
            <a:endParaRPr kumimoji="0" lang="th-TH" sz="3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61797" y="692696"/>
            <a:ext cx="386467" cy="324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6444208" y="4293096"/>
            <a:ext cx="432048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b="1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sz="3600" dirty="0" smtClean="0">
                <a:latin typeface="Angsana New" pitchFamily="18" charset="-34"/>
                <a:cs typeface="Angsana New" pitchFamily="18" charset="-34"/>
              </a:rPr>
              <a:t>กดปุ่ม </a:t>
            </a:r>
            <a:r>
              <a:rPr kumimoji="0" lang="th-TH" sz="36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 </a:t>
            </a:r>
            <a:r>
              <a:rPr kumimoji="0" lang="th-TH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    เพื่อเข้าหน้า </a:t>
            </a:r>
            <a:r>
              <a:rPr lang="en-US" sz="3600" noProof="0" dirty="0" smtClean="0">
                <a:latin typeface="Angsana New" pitchFamily="18" charset="-34"/>
                <a:cs typeface="Angsana New" pitchFamily="18" charset="-34"/>
              </a:rPr>
              <a:t>Menu</a:t>
            </a:r>
            <a:r>
              <a:rPr kumimoji="0" lang="th-TH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 </a:t>
            </a:r>
            <a:endParaRPr kumimoji="0" lang="th-TH" sz="3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528" y="1340769"/>
            <a:ext cx="8568952" cy="4752528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 cstate="print"/>
          <a:srcRect l="23823" r="4707" b="3078"/>
          <a:stretch>
            <a:fillRect/>
          </a:stretch>
        </p:blipFill>
        <p:spPr bwMode="auto">
          <a:xfrm>
            <a:off x="1331640" y="692696"/>
            <a:ext cx="288032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51520" y="1628800"/>
            <a:ext cx="432048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b="1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544" y="1484784"/>
            <a:ext cx="8280920" cy="46085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7584" y="2492896"/>
            <a:ext cx="1656184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b="1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" name="คำบรรยายภาพแบบวงรี 1"/>
          <p:cNvSpPr/>
          <p:nvPr/>
        </p:nvSpPr>
        <p:spPr>
          <a:xfrm>
            <a:off x="2123728" y="908720"/>
            <a:ext cx="1548172" cy="648072"/>
          </a:xfrm>
          <a:prstGeom prst="wedgeEllipseCallout">
            <a:avLst>
              <a:gd name="adj1" fmla="val -41377"/>
              <a:gd name="adj2" fmla="val 98081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4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สามารถ </a:t>
            </a:r>
            <a:r>
              <a:rPr lang="en-US" sz="14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Search </a:t>
            </a:r>
            <a:r>
              <a:rPr lang="th-TH" sz="14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หาหัวข้อในช่องนี้</a:t>
            </a:r>
            <a:r>
              <a:rPr lang="en-US" sz="14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endParaRPr lang="en-GB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5576" y="1916831"/>
            <a:ext cx="1728192" cy="307933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57200" y="274638"/>
            <a:ext cx="5410944" cy="850106"/>
          </a:xfrm>
        </p:spPr>
        <p:txBody>
          <a:bodyPr>
            <a:normAutofit fontScale="90000"/>
          </a:bodyPr>
          <a:lstStyle/>
          <a:p>
            <a:pPr algn="l"/>
            <a:r>
              <a:rPr lang="th-TH" sz="3600" dirty="0" smtClean="0">
                <a:latin typeface="AngsanaUPC" pitchFamily="18" charset="-34"/>
                <a:cs typeface="AngsanaUPC" pitchFamily="18" charset="-34"/>
              </a:rPr>
              <a:t/>
            </a:r>
            <a:br>
              <a:rPr lang="th-TH" sz="3600" dirty="0" smtClean="0">
                <a:latin typeface="AngsanaUPC" pitchFamily="18" charset="-34"/>
                <a:cs typeface="AngsanaUPC" pitchFamily="18" charset="-34"/>
              </a:rPr>
            </a:br>
            <a:r>
              <a:rPr lang="th-TH" sz="3600" dirty="0" smtClean="0">
                <a:latin typeface="AngsanaUPC" pitchFamily="18" charset="-34"/>
                <a:cs typeface="AngsanaUPC" pitchFamily="18" charset="-34"/>
              </a:rPr>
              <a:t>กดปุ่ม </a:t>
            </a:r>
            <a:r>
              <a:rPr lang="en-US" sz="3600" dirty="0" smtClean="0">
                <a:latin typeface="AngsanaUPC" pitchFamily="18" charset="-34"/>
                <a:cs typeface="AngsanaUPC" pitchFamily="18" charset="-34"/>
              </a:rPr>
              <a:t>Menu </a:t>
            </a:r>
            <a:r>
              <a:rPr lang="th-TH" sz="3600" dirty="0" smtClean="0">
                <a:latin typeface="AngsanaUPC" pitchFamily="18" charset="-34"/>
                <a:cs typeface="AngsanaUPC" pitchFamily="18" charset="-34"/>
              </a:rPr>
              <a:t>เลือก </a:t>
            </a:r>
            <a:r>
              <a:rPr lang="en-US" sz="3600" dirty="0" smtClean="0">
                <a:latin typeface="AngsanaUPC" pitchFamily="18" charset="-34"/>
                <a:cs typeface="AngsanaUPC" pitchFamily="18" charset="-34"/>
              </a:rPr>
              <a:t>CP Requisition Entry</a:t>
            </a:r>
            <a:r>
              <a:rPr lang="th-TH" sz="3600" dirty="0" smtClean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dirty="0" smtClean="0">
                <a:latin typeface="AngsanaUPC" pitchFamily="18" charset="-34"/>
                <a:cs typeface="AngsanaUPC" pitchFamily="18" charset="-34"/>
              </a:rPr>
              <a:t/>
            </a:r>
            <a:br>
              <a:rPr lang="th-TH" dirty="0" smtClean="0">
                <a:latin typeface="AngsanaUPC" pitchFamily="18" charset="-34"/>
                <a:cs typeface="AngsanaUPC" pitchFamily="18" charset="-34"/>
              </a:rPr>
            </a:br>
            <a:endParaRPr lang="th-T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274638"/>
            <a:ext cx="4906888" cy="778098"/>
          </a:xfrm>
        </p:spPr>
        <p:txBody>
          <a:bodyPr>
            <a:normAutofit fontScale="90000"/>
          </a:bodyPr>
          <a:lstStyle/>
          <a:p>
            <a:pPr algn="l"/>
            <a:r>
              <a:rPr lang="th-TH" sz="3200" dirty="0" smtClean="0">
                <a:latin typeface="Algerian" pitchFamily="82" charset="0"/>
              </a:rPr>
              <a:t>หน้าจอเปิด </a:t>
            </a:r>
            <a:r>
              <a:rPr lang="en-US" sz="3200" dirty="0" smtClean="0">
                <a:latin typeface="Algerian" pitchFamily="82" charset="0"/>
              </a:rPr>
              <a:t>PR </a:t>
            </a:r>
            <a:r>
              <a:rPr lang="th-TH" sz="3200" dirty="0" smtClean="0">
                <a:latin typeface="Algerian" pitchFamily="82" charset="0"/>
              </a:rPr>
              <a:t>เลือกแถบ </a:t>
            </a:r>
            <a:r>
              <a:rPr lang="en-US" sz="3200" dirty="0" smtClean="0">
                <a:latin typeface="Algerian" pitchFamily="82" charset="0"/>
              </a:rPr>
              <a:t>Summary</a:t>
            </a:r>
            <a:endParaRPr lang="th-TH" sz="3200" dirty="0">
              <a:latin typeface="Algerian" pitchFamily="82" charset="0"/>
            </a:endParaRPr>
          </a:p>
        </p:txBody>
      </p:sp>
      <p:pic>
        <p:nvPicPr>
          <p:cNvPr id="4" name="รูปภาพ 6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1560" y="1196752"/>
            <a:ext cx="7632848" cy="3528392"/>
          </a:xfrm>
          <a:prstGeom prst="rect">
            <a:avLst/>
          </a:prstGeom>
        </p:spPr>
      </p:pic>
      <p:pic>
        <p:nvPicPr>
          <p:cNvPr id="5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63688" y="1700808"/>
            <a:ext cx="576064" cy="22563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 cstate="print"/>
          <a:srcRect l="6028" t="3077" b="14249"/>
          <a:stretch>
            <a:fillRect/>
          </a:stretch>
        </p:blipFill>
        <p:spPr>
          <a:xfrm>
            <a:off x="611560" y="548680"/>
            <a:ext cx="8136904" cy="468052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07504" y="980728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1</a:t>
            </a:r>
            <a:endParaRPr lang="th-TH" sz="2000" b="1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195736" y="3861048"/>
            <a:ext cx="3096344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1. กดปุ่มเลือก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        NEW </a:t>
            </a:r>
            <a:b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</a:b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2.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 กดปุ่มเลือก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New Requisition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เพื่อทำการสร้าง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PR </a:t>
            </a:r>
            <a:endParaRPr lang="th-TH" sz="2400" dirty="0">
              <a:solidFill>
                <a:srgbClr val="FF000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8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9552" y="1052736"/>
            <a:ext cx="303095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9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11560" y="1205135"/>
            <a:ext cx="1008112" cy="22563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12" name="Oval 11"/>
          <p:cNvSpPr/>
          <p:nvPr/>
        </p:nvSpPr>
        <p:spPr>
          <a:xfrm>
            <a:off x="1691680" y="1196752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2</a:t>
            </a:r>
            <a:endParaRPr lang="th-TH" sz="2000" b="1" dirty="0">
              <a:solidFill>
                <a:schemeClr val="bg1"/>
              </a:solidFill>
            </a:endParaRPr>
          </a:p>
        </p:txBody>
      </p:sp>
      <p:pic>
        <p:nvPicPr>
          <p:cNvPr id="10" name="รูปภาพ 6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91880" y="3933056"/>
            <a:ext cx="295275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/>
          <p:nvPr/>
        </p:nvPicPr>
        <p:blipFill>
          <a:blip r:embed="rId2" cstate="print"/>
          <a:srcRect t="3077" r="-254" b="12014"/>
          <a:stretch>
            <a:fillRect/>
          </a:stretch>
        </p:blipFill>
        <p:spPr>
          <a:xfrm>
            <a:off x="539552" y="404664"/>
            <a:ext cx="8136903" cy="4464496"/>
          </a:xfrm>
          <a:prstGeom prst="rect">
            <a:avLst/>
          </a:prstGeom>
        </p:spPr>
      </p:pic>
      <p:pic>
        <p:nvPicPr>
          <p:cNvPr id="8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940151" y="1412776"/>
            <a:ext cx="1296145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2267744" y="3140968"/>
            <a:ext cx="4248472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ระบบแจ้ง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Request Date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วันที่เปิด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PR</a:t>
            </a: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ระบบแจ้ง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Name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ชื่อผู้เปิด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PR</a:t>
            </a: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กดเลือก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Division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เลือกประเภทการเปิด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PR</a:t>
            </a:r>
            <a:endParaRPr lang="th-TH" sz="2400" dirty="0" smtClean="0">
              <a:solidFill>
                <a:srgbClr val="FF000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Oval 6"/>
          <p:cNvSpPr/>
          <p:nvPr/>
        </p:nvSpPr>
        <p:spPr>
          <a:xfrm>
            <a:off x="6372200" y="980728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3</a:t>
            </a:r>
            <a:endParaRPr lang="th-TH" sz="2000" b="1" dirty="0">
              <a:solidFill>
                <a:schemeClr val="bg1"/>
              </a:solidFill>
            </a:endParaRPr>
          </a:p>
        </p:txBody>
      </p:sp>
      <p:pic>
        <p:nvPicPr>
          <p:cNvPr id="9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79712" y="1340768"/>
            <a:ext cx="1296145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10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83968" y="1340768"/>
            <a:ext cx="1440160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12" name="Oval 11"/>
          <p:cNvSpPr/>
          <p:nvPr/>
        </p:nvSpPr>
        <p:spPr>
          <a:xfrm>
            <a:off x="1475656" y="1268760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1</a:t>
            </a:r>
            <a:endParaRPr lang="th-TH" sz="2000" b="1" dirty="0">
              <a:solidFill>
                <a:schemeClr val="bg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3851920" y="1268760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2</a:t>
            </a:r>
            <a:endParaRPr lang="th-TH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19672" y="5157192"/>
            <a:ext cx="3600400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กดปุ่ม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Department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เพื่อเลือกแผนก </a:t>
            </a: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กดปุ่ม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Search</a:t>
            </a: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เลือกแผนกที่ต้องการ</a:t>
            </a: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กด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OK</a:t>
            </a:r>
          </a:p>
        </p:txBody>
      </p:sp>
      <p:pic>
        <p:nvPicPr>
          <p:cNvPr id="13" name="รูปภาพ 65"/>
          <p:cNvPicPr/>
          <p:nvPr/>
        </p:nvPicPr>
        <p:blipFill>
          <a:blip r:embed="rId2" cstate="print"/>
          <a:srcRect l="15449"/>
          <a:stretch>
            <a:fillRect/>
          </a:stretch>
        </p:blipFill>
        <p:spPr>
          <a:xfrm>
            <a:off x="611560" y="188640"/>
            <a:ext cx="7272808" cy="4680520"/>
          </a:xfrm>
          <a:prstGeom prst="rect">
            <a:avLst/>
          </a:prstGeom>
        </p:spPr>
      </p:pic>
      <p:pic>
        <p:nvPicPr>
          <p:cNvPr id="5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292080" y="1196752"/>
            <a:ext cx="1584176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9" name="Oval 8"/>
          <p:cNvSpPr/>
          <p:nvPr/>
        </p:nvSpPr>
        <p:spPr>
          <a:xfrm>
            <a:off x="5796136" y="764704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1</a:t>
            </a:r>
            <a:endParaRPr lang="th-TH" sz="2000" b="1" dirty="0">
              <a:solidFill>
                <a:schemeClr val="bg1"/>
              </a:solidFill>
            </a:endParaRPr>
          </a:p>
        </p:txBody>
      </p:sp>
      <p:pic>
        <p:nvPicPr>
          <p:cNvPr id="6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83968" y="1196752"/>
            <a:ext cx="792088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10" name="Oval 9"/>
          <p:cNvSpPr/>
          <p:nvPr/>
        </p:nvSpPr>
        <p:spPr>
          <a:xfrm>
            <a:off x="4499992" y="764704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2</a:t>
            </a:r>
            <a:endParaRPr lang="th-TH" sz="2000" b="1" dirty="0">
              <a:solidFill>
                <a:schemeClr val="bg1"/>
              </a:solidFill>
            </a:endParaRPr>
          </a:p>
        </p:txBody>
      </p:sp>
      <p:pic>
        <p:nvPicPr>
          <p:cNvPr id="7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35696" y="2420888"/>
            <a:ext cx="3384376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11" name="Oval 10"/>
          <p:cNvSpPr/>
          <p:nvPr/>
        </p:nvSpPr>
        <p:spPr>
          <a:xfrm>
            <a:off x="1403648" y="2348880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3</a:t>
            </a:r>
            <a:endParaRPr lang="th-TH" sz="2000" b="1" dirty="0">
              <a:solidFill>
                <a:schemeClr val="bg1"/>
              </a:solidFill>
            </a:endParaRPr>
          </a:p>
        </p:txBody>
      </p:sp>
      <p:pic>
        <p:nvPicPr>
          <p:cNvPr id="8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07704" y="4509120"/>
            <a:ext cx="648072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12" name="Oval 11"/>
          <p:cNvSpPr/>
          <p:nvPr/>
        </p:nvSpPr>
        <p:spPr>
          <a:xfrm>
            <a:off x="1403648" y="4437112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4</a:t>
            </a:r>
            <a:endParaRPr lang="th-TH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 cstate="print"/>
          <a:srcRect b="33333"/>
          <a:stretch>
            <a:fillRect/>
          </a:stretch>
        </p:blipFill>
        <p:spPr>
          <a:xfrm>
            <a:off x="899592" y="476672"/>
            <a:ext cx="7416824" cy="30963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27784" y="3919696"/>
            <a:ext cx="3600400" cy="2677656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กดปุ่มเลือก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Material Type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เลือกประเภทที่ต้องการ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 </a:t>
            </a: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กดปุ่มเลือก 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Area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เลือกพื้นที่ ที่ต้องการ</a:t>
            </a:r>
            <a:endParaRPr lang="en-US" sz="2400" dirty="0" smtClean="0">
              <a:solidFill>
                <a:srgbClr val="FF0000"/>
              </a:solidFill>
              <a:latin typeface="AngsanaUPC" pitchFamily="18" charset="-34"/>
              <a:cs typeface="AngsanaUPC" pitchFamily="18" charset="-34"/>
            </a:endParaRP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กดปุ่มเลือก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Shipping Point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เลือกสถานที่ส่งสินค้า</a:t>
            </a: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กดปุ่ม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  <a:sym typeface="Wingdings"/>
              </a:rPr>
              <a:t>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  <a:sym typeface="Wingdings"/>
              </a:rPr>
              <a:t>SAVE</a:t>
            </a:r>
            <a:endParaRPr lang="th-TH" sz="2400" dirty="0" smtClean="0">
              <a:solidFill>
                <a:srgbClr val="FF000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15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84168" y="2060848"/>
            <a:ext cx="1224136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16" name="Oval 15"/>
          <p:cNvSpPr/>
          <p:nvPr/>
        </p:nvSpPr>
        <p:spPr>
          <a:xfrm>
            <a:off x="5652120" y="1988840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1</a:t>
            </a:r>
            <a:endParaRPr lang="th-TH" sz="2000" b="1" dirty="0">
              <a:solidFill>
                <a:schemeClr val="bg1"/>
              </a:solidFill>
            </a:endParaRPr>
          </a:p>
        </p:txBody>
      </p:sp>
      <p:pic>
        <p:nvPicPr>
          <p:cNvPr id="17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00192" y="2276872"/>
            <a:ext cx="1008112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18" name="Oval 17"/>
          <p:cNvSpPr/>
          <p:nvPr/>
        </p:nvSpPr>
        <p:spPr>
          <a:xfrm>
            <a:off x="7380312" y="2204864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2</a:t>
            </a:r>
            <a:endParaRPr lang="th-TH" sz="2000" b="1" dirty="0">
              <a:solidFill>
                <a:schemeClr val="bg1"/>
              </a:solidFill>
            </a:endParaRPr>
          </a:p>
        </p:txBody>
      </p:sp>
      <p:pic>
        <p:nvPicPr>
          <p:cNvPr id="19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84168" y="2564904"/>
            <a:ext cx="2160240" cy="255625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20" name="Oval 19"/>
          <p:cNvSpPr/>
          <p:nvPr/>
        </p:nvSpPr>
        <p:spPr>
          <a:xfrm>
            <a:off x="5652120" y="2492896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3</a:t>
            </a:r>
            <a:endParaRPr lang="th-TH" sz="2000" b="1" dirty="0">
              <a:solidFill>
                <a:schemeClr val="bg1"/>
              </a:solidFill>
            </a:endParaRPr>
          </a:p>
        </p:txBody>
      </p:sp>
      <p:pic>
        <p:nvPicPr>
          <p:cNvPr id="21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43608" y="620688"/>
            <a:ext cx="216024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22" name="Oval 21"/>
          <p:cNvSpPr/>
          <p:nvPr/>
        </p:nvSpPr>
        <p:spPr>
          <a:xfrm>
            <a:off x="467544" y="548680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4</a:t>
            </a:r>
            <a:endParaRPr lang="th-TH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 cstate="print"/>
          <a:srcRect l="14781" t="2941"/>
          <a:stretch>
            <a:fillRect/>
          </a:stretch>
        </p:blipFill>
        <p:spPr>
          <a:xfrm>
            <a:off x="683568" y="476672"/>
            <a:ext cx="7704856" cy="38884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339752" y="3356992"/>
            <a:ext cx="4536504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457200" indent="-457200"/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เมื่อทำการบันทึกข้อมูลเรียบร้อยแล้ว</a:t>
            </a:r>
          </a:p>
          <a:p>
            <a:pPr marL="457200" indent="-457200"/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ระบบจะสร้างเลขที่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PR :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ในช่อง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Int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Req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 ID</a:t>
            </a:r>
          </a:p>
          <a:p>
            <a:pPr marL="457200" indent="-457200"/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และในช่อง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: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Req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 ID</a:t>
            </a:r>
          </a:p>
          <a:p>
            <a:pPr marL="457200" indent="-457200"/>
            <a:endParaRPr lang="en-US" sz="2400" dirty="0" smtClean="0">
              <a:solidFill>
                <a:srgbClr val="FF000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คำบรรยายภาพแบบวงรี 1"/>
          <p:cNvSpPr/>
          <p:nvPr/>
        </p:nvSpPr>
        <p:spPr>
          <a:xfrm>
            <a:off x="3563888" y="1196752"/>
            <a:ext cx="1440160" cy="432048"/>
          </a:xfrm>
          <a:prstGeom prst="wedgeEllipseCallout">
            <a:avLst>
              <a:gd name="adj1" fmla="val 75671"/>
              <a:gd name="adj2" fmla="val 98081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4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เลขที่ </a:t>
            </a:r>
            <a:r>
              <a:rPr lang="en-US" sz="14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PR</a:t>
            </a:r>
            <a:endParaRPr lang="en-GB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" name="คำบรรยายภาพแบบวงรี 1"/>
          <p:cNvSpPr/>
          <p:nvPr/>
        </p:nvSpPr>
        <p:spPr>
          <a:xfrm>
            <a:off x="107504" y="332656"/>
            <a:ext cx="1440160" cy="432048"/>
          </a:xfrm>
          <a:prstGeom prst="wedgeEllipseCallout">
            <a:avLst>
              <a:gd name="adj1" fmla="val 33158"/>
              <a:gd name="adj2" fmla="val 140410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4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เลขที่  </a:t>
            </a:r>
            <a:r>
              <a:rPr lang="en-US" sz="14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PR</a:t>
            </a:r>
            <a:endParaRPr lang="en-GB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 cstate="print"/>
          <a:srcRect t="3077" b="13817"/>
          <a:stretch>
            <a:fillRect/>
          </a:stretch>
        </p:blipFill>
        <p:spPr>
          <a:xfrm>
            <a:off x="971600" y="620688"/>
            <a:ext cx="7344816" cy="38164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059832" y="2996952"/>
            <a:ext cx="3600400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กดปุ่มเลือก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       New</a:t>
            </a: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กดปุ่มเลือก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New Line</a:t>
            </a: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กดปุ่มเลือก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Lines</a:t>
            </a:r>
          </a:p>
        </p:txBody>
      </p:sp>
      <p:pic>
        <p:nvPicPr>
          <p:cNvPr id="12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99592" y="692696"/>
            <a:ext cx="288032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13" name="Oval 12"/>
          <p:cNvSpPr/>
          <p:nvPr/>
        </p:nvSpPr>
        <p:spPr>
          <a:xfrm>
            <a:off x="467544" y="620688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1</a:t>
            </a:r>
            <a:endParaRPr lang="th-TH" sz="2000" b="1" dirty="0">
              <a:solidFill>
                <a:schemeClr val="bg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1907704" y="908720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2</a:t>
            </a:r>
            <a:endParaRPr lang="th-TH" sz="2000" b="1" dirty="0">
              <a:solidFill>
                <a:schemeClr val="bg1"/>
              </a:solidFill>
            </a:endParaRPr>
          </a:p>
        </p:txBody>
      </p:sp>
      <p:pic>
        <p:nvPicPr>
          <p:cNvPr id="15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99592" y="980728"/>
            <a:ext cx="927720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16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347864" y="1052736"/>
            <a:ext cx="360040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17" name="Oval 16"/>
          <p:cNvSpPr/>
          <p:nvPr/>
        </p:nvSpPr>
        <p:spPr>
          <a:xfrm>
            <a:off x="2915816" y="980728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3</a:t>
            </a:r>
            <a:endParaRPr lang="th-TH" sz="2000" b="1" dirty="0">
              <a:solidFill>
                <a:schemeClr val="bg1"/>
              </a:solidFill>
            </a:endParaRPr>
          </a:p>
        </p:txBody>
      </p:sp>
      <p:pic>
        <p:nvPicPr>
          <p:cNvPr id="10" name="รูปภาพ 6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72000" y="3068960"/>
            <a:ext cx="295275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51720" y="4361036"/>
            <a:ext cx="4968552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กดปุ่มเลือก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Part/Rev….</a:t>
            </a: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เลือก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Sort By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เลือก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Part Number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และ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Starting At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พิมพ์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Part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สินค้าที่ต้องการ</a:t>
            </a: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กด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 Search </a:t>
            </a: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กดเลือกรายการที่ต้องการ</a:t>
            </a:r>
            <a:endParaRPr lang="en-US" sz="2400" dirty="0" smtClean="0">
              <a:solidFill>
                <a:srgbClr val="FF0000"/>
              </a:solidFill>
              <a:latin typeface="AngsanaUPC" pitchFamily="18" charset="-34"/>
              <a:cs typeface="AngsanaUPC" pitchFamily="18" charset="-34"/>
            </a:endParaRP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กด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OK</a:t>
            </a:r>
          </a:p>
        </p:txBody>
      </p:sp>
      <p:pic>
        <p:nvPicPr>
          <p:cNvPr id="27" name="รูปภาพ 36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683568" y="116632"/>
            <a:ext cx="8064896" cy="4104456"/>
          </a:xfrm>
          <a:prstGeom prst="rect">
            <a:avLst/>
          </a:prstGeom>
        </p:spPr>
      </p:pic>
      <p:sp>
        <p:nvSpPr>
          <p:cNvPr id="17" name="คำบรรยายภาพแบบวงรี 1"/>
          <p:cNvSpPr/>
          <p:nvPr/>
        </p:nvSpPr>
        <p:spPr>
          <a:xfrm>
            <a:off x="755576" y="1988840"/>
            <a:ext cx="1440160" cy="432048"/>
          </a:xfrm>
          <a:prstGeom prst="wedgeEllipseCallout">
            <a:avLst>
              <a:gd name="adj1" fmla="val 81744"/>
              <a:gd name="adj2" fmla="val 46550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Due Date </a:t>
            </a:r>
            <a:r>
              <a:rPr lang="th-TH" sz="14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คือ วันที่ต้องการ</a:t>
            </a:r>
            <a:endParaRPr lang="en-GB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18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95736" y="1628800"/>
            <a:ext cx="864096" cy="288032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16" name="Oval 15"/>
          <p:cNvSpPr/>
          <p:nvPr/>
        </p:nvSpPr>
        <p:spPr>
          <a:xfrm>
            <a:off x="1763688" y="1556792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1</a:t>
            </a:r>
            <a:endParaRPr lang="th-TH" sz="2000" b="1" dirty="0">
              <a:solidFill>
                <a:schemeClr val="bg1"/>
              </a:solidFill>
            </a:endParaRPr>
          </a:p>
        </p:txBody>
      </p:sp>
      <p:pic>
        <p:nvPicPr>
          <p:cNvPr id="19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64088" y="1412776"/>
            <a:ext cx="1872208" cy="36004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20" name="Oval 19"/>
          <p:cNvSpPr/>
          <p:nvPr/>
        </p:nvSpPr>
        <p:spPr>
          <a:xfrm>
            <a:off x="4932040" y="1484784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2</a:t>
            </a:r>
            <a:endParaRPr lang="th-TH" sz="2000" b="1" dirty="0">
              <a:solidFill>
                <a:schemeClr val="bg1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7308304" y="1340768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3</a:t>
            </a:r>
            <a:endParaRPr lang="th-TH" sz="2000" b="1" dirty="0">
              <a:solidFill>
                <a:schemeClr val="bg1"/>
              </a:solidFill>
            </a:endParaRPr>
          </a:p>
        </p:txBody>
      </p:sp>
      <p:pic>
        <p:nvPicPr>
          <p:cNvPr id="21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740352" y="1412776"/>
            <a:ext cx="720080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23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44008" y="2924944"/>
            <a:ext cx="3888432" cy="144016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24" name="Oval 23"/>
          <p:cNvSpPr/>
          <p:nvPr/>
        </p:nvSpPr>
        <p:spPr>
          <a:xfrm>
            <a:off x="4211960" y="2780928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4</a:t>
            </a:r>
            <a:endParaRPr lang="th-TH" sz="2000" b="1" dirty="0">
              <a:solidFill>
                <a:schemeClr val="bg1"/>
              </a:solidFill>
            </a:endParaRPr>
          </a:p>
        </p:txBody>
      </p:sp>
      <p:pic>
        <p:nvPicPr>
          <p:cNvPr id="25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44008" y="3717032"/>
            <a:ext cx="720080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26" name="Oval 25"/>
          <p:cNvSpPr/>
          <p:nvPr/>
        </p:nvSpPr>
        <p:spPr>
          <a:xfrm>
            <a:off x="4211960" y="3645024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5</a:t>
            </a:r>
            <a:endParaRPr lang="th-TH" sz="2000" b="1" dirty="0">
              <a:solidFill>
                <a:schemeClr val="bg1"/>
              </a:solidFill>
            </a:endParaRPr>
          </a:p>
        </p:txBody>
      </p:sp>
      <p:sp>
        <p:nvSpPr>
          <p:cNvPr id="29" name="คำบรรยายภาพแบบวงรี 1"/>
          <p:cNvSpPr/>
          <p:nvPr/>
        </p:nvSpPr>
        <p:spPr>
          <a:xfrm>
            <a:off x="755576" y="2636912"/>
            <a:ext cx="1440160" cy="432048"/>
          </a:xfrm>
          <a:prstGeom prst="wedgeEllipseCallout">
            <a:avLst>
              <a:gd name="adj1" fmla="val 72359"/>
              <a:gd name="adj2" fmla="val -69393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Request Date </a:t>
            </a:r>
            <a:r>
              <a:rPr lang="th-TH" sz="14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คือ</a:t>
            </a:r>
            <a:r>
              <a:rPr lang="en-GB" sz="14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sz="14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วันที่เปิด </a:t>
            </a:r>
            <a:r>
              <a:rPr lang="en-US" sz="14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PR</a:t>
            </a:r>
            <a:endParaRPr lang="en-GB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รูปภาพ 40"/>
          <p:cNvPicPr/>
          <p:nvPr/>
        </p:nvPicPr>
        <p:blipFill>
          <a:blip r:embed="rId2" cstate="print"/>
          <a:srcRect t="2234" b="14249"/>
          <a:stretch>
            <a:fillRect/>
          </a:stretch>
        </p:blipFill>
        <p:spPr>
          <a:xfrm>
            <a:off x="611560" y="332656"/>
            <a:ext cx="7416824" cy="3744416"/>
          </a:xfrm>
          <a:prstGeom prst="rect">
            <a:avLst/>
          </a:prstGeom>
        </p:spPr>
      </p:pic>
      <p:pic>
        <p:nvPicPr>
          <p:cNvPr id="3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11960" y="2132856"/>
            <a:ext cx="936104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4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76056" y="2996952"/>
            <a:ext cx="792088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2051720" y="4365104"/>
            <a:ext cx="4968552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เลือก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Our Qty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ใส่จำนวนที่ต้องการสั่งซื้อ</a:t>
            </a: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เลือกหน่วยของสินค้า</a:t>
            </a:r>
            <a:endParaRPr lang="en-US" sz="2400" dirty="0" smtClean="0">
              <a:solidFill>
                <a:srgbClr val="FF0000"/>
              </a:solidFill>
              <a:latin typeface="AngsanaUPC" pitchFamily="18" charset="-34"/>
              <a:cs typeface="AngsanaUPC" pitchFamily="18" charset="-34"/>
            </a:endParaRPr>
          </a:p>
          <a:p>
            <a:pPr marL="457200" indent="-457200"/>
            <a:endParaRPr lang="th-TH" sz="2400" dirty="0" smtClean="0">
              <a:solidFill>
                <a:srgbClr val="FF000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Oval 5"/>
          <p:cNvSpPr/>
          <p:nvPr/>
        </p:nvSpPr>
        <p:spPr>
          <a:xfrm>
            <a:off x="3779912" y="2060848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1</a:t>
            </a:r>
            <a:endParaRPr lang="th-TH" sz="2000" b="1" dirty="0">
              <a:solidFill>
                <a:schemeClr val="bg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644008" y="2924944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2</a:t>
            </a:r>
            <a:endParaRPr lang="th-TH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รูปภาพ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576" y="188640"/>
            <a:ext cx="7344816" cy="4248472"/>
          </a:xfrm>
          <a:prstGeom prst="rect">
            <a:avLst/>
          </a:prstGeom>
        </p:spPr>
      </p:pic>
      <p:pic>
        <p:nvPicPr>
          <p:cNvPr id="4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23728" y="2996952"/>
            <a:ext cx="1728192" cy="288032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5" name="Oval 4"/>
          <p:cNvSpPr/>
          <p:nvPr/>
        </p:nvSpPr>
        <p:spPr>
          <a:xfrm>
            <a:off x="1691680" y="2924944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1</a:t>
            </a:r>
            <a:endParaRPr lang="th-TH" sz="2000" b="1" dirty="0">
              <a:solidFill>
                <a:schemeClr val="bg1"/>
              </a:solidFill>
            </a:endParaRPr>
          </a:p>
        </p:txBody>
      </p:sp>
      <p:pic>
        <p:nvPicPr>
          <p:cNvPr id="6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220072" y="1052736"/>
            <a:ext cx="1728192" cy="288032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7" name="Oval 6"/>
          <p:cNvSpPr/>
          <p:nvPr/>
        </p:nvSpPr>
        <p:spPr>
          <a:xfrm>
            <a:off x="4788024" y="980728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2</a:t>
            </a:r>
            <a:endParaRPr lang="th-TH" sz="2000" b="1" dirty="0">
              <a:solidFill>
                <a:schemeClr val="bg1"/>
              </a:solidFill>
            </a:endParaRPr>
          </a:p>
        </p:txBody>
      </p:sp>
      <p:pic>
        <p:nvPicPr>
          <p:cNvPr id="8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6296" y="908720"/>
            <a:ext cx="648072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9" name="Oval 8"/>
          <p:cNvSpPr/>
          <p:nvPr/>
        </p:nvSpPr>
        <p:spPr>
          <a:xfrm>
            <a:off x="7380312" y="476672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3</a:t>
            </a:r>
            <a:endParaRPr lang="th-TH" sz="2000" b="1" dirty="0">
              <a:solidFill>
                <a:schemeClr val="bg1"/>
              </a:solidFill>
            </a:endParaRPr>
          </a:p>
        </p:txBody>
      </p:sp>
      <p:pic>
        <p:nvPicPr>
          <p:cNvPr id="10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99992" y="2060848"/>
            <a:ext cx="3456384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11" name="Oval 10"/>
          <p:cNvSpPr/>
          <p:nvPr/>
        </p:nvSpPr>
        <p:spPr>
          <a:xfrm>
            <a:off x="6156176" y="2348880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4</a:t>
            </a:r>
            <a:endParaRPr lang="th-TH" sz="2000" b="1" dirty="0">
              <a:solidFill>
                <a:schemeClr val="bg1"/>
              </a:solidFill>
            </a:endParaRPr>
          </a:p>
        </p:txBody>
      </p:sp>
      <p:pic>
        <p:nvPicPr>
          <p:cNvPr id="12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99992" y="4221088"/>
            <a:ext cx="576064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13" name="Oval 12"/>
          <p:cNvSpPr/>
          <p:nvPr/>
        </p:nvSpPr>
        <p:spPr>
          <a:xfrm>
            <a:off x="4067944" y="4149080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5</a:t>
            </a:r>
            <a:endParaRPr lang="th-TH" sz="2000" b="1" dirty="0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051720" y="4549676"/>
            <a:ext cx="6120680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กดเลือก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Supplier ID….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ถ้า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Part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ไหนเรารู้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Supplier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สามารถเลือกระบุ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Supplier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ได้เลยแต่ถ้าไม่รู้ก็ไม่ต้องใส่</a:t>
            </a:r>
            <a:endParaRPr lang="en-US" sz="2400" dirty="0" smtClean="0">
              <a:solidFill>
                <a:srgbClr val="FF0000"/>
              </a:solidFill>
              <a:latin typeface="AngsanaUPC" pitchFamily="18" charset="-34"/>
              <a:cs typeface="AngsanaUPC" pitchFamily="18" charset="-34"/>
            </a:endParaRP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เลือก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Starting At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พิมพ์ชื่อ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Supplier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ที่ต้องการ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 </a:t>
            </a:r>
            <a:endParaRPr lang="th-TH" sz="2400" dirty="0" smtClean="0">
              <a:solidFill>
                <a:srgbClr val="FF0000"/>
              </a:solidFill>
              <a:latin typeface="AngsanaUPC" pitchFamily="18" charset="-34"/>
              <a:cs typeface="AngsanaUPC" pitchFamily="18" charset="-34"/>
            </a:endParaRP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กด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 Search </a:t>
            </a: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กดเลือก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Supplier </a:t>
            </a: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กด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OK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รูปภาพ 4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552" y="188640"/>
            <a:ext cx="7560840" cy="4464496"/>
          </a:xfrm>
          <a:prstGeom prst="rect">
            <a:avLst/>
          </a:prstGeom>
        </p:spPr>
      </p:pic>
      <p:pic>
        <p:nvPicPr>
          <p:cNvPr id="3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16016" y="3501008"/>
            <a:ext cx="1152128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4" name="คำบรรยายภาพแบบวงรี 1"/>
          <p:cNvSpPr/>
          <p:nvPr/>
        </p:nvSpPr>
        <p:spPr>
          <a:xfrm>
            <a:off x="4427984" y="2636912"/>
            <a:ext cx="1584176" cy="504056"/>
          </a:xfrm>
          <a:prstGeom prst="wedgeEllipseCallout">
            <a:avLst>
              <a:gd name="adj1" fmla="val 19357"/>
              <a:gd name="adj2" fmla="val 103602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4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เลือก </a:t>
            </a:r>
            <a:r>
              <a:rPr lang="en-US" sz="14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Unit Price </a:t>
            </a:r>
            <a:r>
              <a:rPr lang="th-TH" sz="14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ใส่ราคาสินค้า </a:t>
            </a:r>
            <a:endParaRPr lang="en-GB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79712" y="4941168"/>
            <a:ext cx="3096344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457200" indent="-457200"/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เลือก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Unit Price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ใส่ราคาสินค้า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รูปภาพ 4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3568" y="404664"/>
            <a:ext cx="6480720" cy="2664296"/>
          </a:xfrm>
          <a:prstGeom prst="rect">
            <a:avLst/>
          </a:prstGeom>
        </p:spPr>
      </p:pic>
      <p:pic>
        <p:nvPicPr>
          <p:cNvPr id="4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27784" y="1124744"/>
            <a:ext cx="720080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6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67744" y="1556792"/>
            <a:ext cx="4896544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547664" y="3429000"/>
            <a:ext cx="4968552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เลือก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Comments </a:t>
            </a:r>
            <a:endParaRPr lang="th-TH" sz="2400" dirty="0" smtClean="0">
              <a:solidFill>
                <a:srgbClr val="FF0000"/>
              </a:solidFill>
              <a:latin typeface="AngsanaUPC" pitchFamily="18" charset="-34"/>
              <a:cs typeface="AngsanaUPC" pitchFamily="18" charset="-34"/>
            </a:endParaRP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ใส่รายละเอียดที่ต้องการเพิ่มเติมในช่อง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Comments</a:t>
            </a: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กด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  <a:sym typeface="Wingdings"/>
              </a:rPr>
              <a:t>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  <a:sym typeface="Wingdings"/>
              </a:rPr>
              <a:t>SAVE</a:t>
            </a:r>
            <a:endParaRPr lang="en-US" sz="2400" dirty="0" smtClean="0">
              <a:solidFill>
                <a:srgbClr val="FF0000"/>
              </a:solidFill>
              <a:latin typeface="AngsanaUPC" pitchFamily="18" charset="-34"/>
              <a:cs typeface="AngsanaUPC" pitchFamily="18" charset="-34"/>
            </a:endParaRPr>
          </a:p>
          <a:p>
            <a:pPr marL="457200" indent="-457200"/>
            <a:endParaRPr lang="th-TH" sz="2400" dirty="0" smtClean="0">
              <a:solidFill>
                <a:srgbClr val="FF000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8" name="Oval 7"/>
          <p:cNvSpPr/>
          <p:nvPr/>
        </p:nvSpPr>
        <p:spPr>
          <a:xfrm>
            <a:off x="2195736" y="1052736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1</a:t>
            </a:r>
            <a:endParaRPr lang="th-TH" sz="2000" b="1" dirty="0">
              <a:solidFill>
                <a:schemeClr val="bg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835696" y="1484784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2</a:t>
            </a:r>
            <a:endParaRPr lang="th-TH" sz="2000" b="1" dirty="0">
              <a:solidFill>
                <a:schemeClr val="bg1"/>
              </a:solidFill>
            </a:endParaRPr>
          </a:p>
        </p:txBody>
      </p:sp>
      <p:pic>
        <p:nvPicPr>
          <p:cNvPr id="10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7584" y="548680"/>
            <a:ext cx="288032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11" name="Oval 10"/>
          <p:cNvSpPr/>
          <p:nvPr/>
        </p:nvSpPr>
        <p:spPr>
          <a:xfrm>
            <a:off x="395536" y="476672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3</a:t>
            </a:r>
            <a:endParaRPr lang="th-TH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รูปภาพ 67"/>
          <p:cNvPicPr/>
          <p:nvPr/>
        </p:nvPicPr>
        <p:blipFill>
          <a:blip r:embed="rId2" cstate="print"/>
          <a:srcRect r="48515"/>
          <a:stretch>
            <a:fillRect/>
          </a:stretch>
        </p:blipFill>
        <p:spPr>
          <a:xfrm>
            <a:off x="4860032" y="188640"/>
            <a:ext cx="3744416" cy="40324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763688" y="4725144"/>
            <a:ext cx="5832648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457200" indent="-457200"/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1. ถ้าต้องการเพิ่มรายการให้กด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NEW LINE </a:t>
            </a:r>
            <a:endParaRPr lang="th-TH" sz="2400" dirty="0" smtClean="0">
              <a:solidFill>
                <a:srgbClr val="FF0000"/>
              </a:solidFill>
              <a:latin typeface="AngsanaUPC" pitchFamily="18" charset="-34"/>
              <a:cs typeface="AngsanaUPC" pitchFamily="18" charset="-34"/>
            </a:endParaRPr>
          </a:p>
          <a:p>
            <a:pPr marL="457200" indent="-457200"/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2. รายการที่เพิ่มก็จะเรียงลำดับลงมาเรื่อยๆ</a:t>
            </a:r>
            <a:endParaRPr lang="en-US" sz="2400" dirty="0" smtClean="0">
              <a:solidFill>
                <a:srgbClr val="FF000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6" name="รูปภาพ 69"/>
          <p:cNvPicPr/>
          <p:nvPr/>
        </p:nvPicPr>
        <p:blipFill>
          <a:blip r:embed="rId3" cstate="print"/>
          <a:srcRect t="3076" r="36009" b="5311"/>
          <a:stretch>
            <a:fillRect/>
          </a:stretch>
        </p:blipFill>
        <p:spPr>
          <a:xfrm>
            <a:off x="395536" y="188640"/>
            <a:ext cx="4248472" cy="4032448"/>
          </a:xfrm>
          <a:prstGeom prst="rect">
            <a:avLst/>
          </a:prstGeom>
        </p:spPr>
      </p:pic>
      <p:pic>
        <p:nvPicPr>
          <p:cNvPr id="7" name="รูปภาพ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5536" y="620688"/>
            <a:ext cx="720080" cy="144016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8" name="รูปภาพ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220072" y="1052736"/>
            <a:ext cx="648072" cy="144016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9" name="Oval 8"/>
          <p:cNvSpPr/>
          <p:nvPr/>
        </p:nvSpPr>
        <p:spPr>
          <a:xfrm>
            <a:off x="467544" y="836712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1</a:t>
            </a:r>
            <a:endParaRPr lang="th-TH" sz="2000" b="1" dirty="0">
              <a:solidFill>
                <a:schemeClr val="bg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5364088" y="1268760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2</a:t>
            </a:r>
            <a:endParaRPr lang="th-TH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59632" y="4802376"/>
            <a:ext cx="5616624" cy="1938992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เลือก       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Dispatch Requisition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ส่ง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PR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ให้ผู้จัดการอนุมัติ</a:t>
            </a: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เลือก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Action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เลือกผู้จัดการฝ่าย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Approved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 </a:t>
            </a:r>
            <a:endParaRPr lang="en-US" sz="2400" dirty="0" smtClean="0">
              <a:solidFill>
                <a:srgbClr val="FF0000"/>
              </a:solidFill>
              <a:latin typeface="AngsanaUPC" pitchFamily="18" charset="-34"/>
              <a:cs typeface="AngsanaUPC" pitchFamily="18" charset="-34"/>
            </a:endParaRP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เลือก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Dispatcher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เลือกชื่อผู้จัดการที่จะ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Approved</a:t>
            </a: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กด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OK</a:t>
            </a:r>
          </a:p>
          <a:p>
            <a:pPr marL="457200" indent="-457200"/>
            <a:endParaRPr lang="th-TH" sz="2400" dirty="0" smtClean="0">
              <a:solidFill>
                <a:srgbClr val="FF000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6" name="รูปภาพ 5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7744" y="4869160"/>
            <a:ext cx="285750" cy="257175"/>
          </a:xfrm>
          <a:prstGeom prst="rect">
            <a:avLst/>
          </a:prstGeom>
        </p:spPr>
      </p:pic>
      <p:pic>
        <p:nvPicPr>
          <p:cNvPr id="9" name="รูปภาพ 47"/>
          <p:cNvPicPr/>
          <p:nvPr/>
        </p:nvPicPr>
        <p:blipFill>
          <a:blip r:embed="rId3" cstate="print"/>
          <a:srcRect t="4469" b="10622"/>
          <a:stretch>
            <a:fillRect/>
          </a:stretch>
        </p:blipFill>
        <p:spPr>
          <a:xfrm>
            <a:off x="611560" y="692696"/>
            <a:ext cx="7416824" cy="3960440"/>
          </a:xfrm>
          <a:prstGeom prst="rect">
            <a:avLst/>
          </a:prstGeom>
        </p:spPr>
      </p:pic>
      <p:pic>
        <p:nvPicPr>
          <p:cNvPr id="10" name="รูปภาพ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83768" y="764704"/>
            <a:ext cx="288032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11" name="Oval 10"/>
          <p:cNvSpPr/>
          <p:nvPr/>
        </p:nvSpPr>
        <p:spPr>
          <a:xfrm>
            <a:off x="2051720" y="692696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1</a:t>
            </a:r>
            <a:endParaRPr lang="th-TH" sz="2000" b="1" dirty="0">
              <a:solidFill>
                <a:schemeClr val="bg1"/>
              </a:solidFill>
            </a:endParaRPr>
          </a:p>
        </p:txBody>
      </p:sp>
      <p:pic>
        <p:nvPicPr>
          <p:cNvPr id="12" name="รูปภาพ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635896" y="3212976"/>
            <a:ext cx="1728192" cy="144016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13" name="Oval 12"/>
          <p:cNvSpPr/>
          <p:nvPr/>
        </p:nvSpPr>
        <p:spPr>
          <a:xfrm>
            <a:off x="3563888" y="3429000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2</a:t>
            </a:r>
            <a:endParaRPr lang="th-TH" sz="2000" b="1" dirty="0">
              <a:solidFill>
                <a:schemeClr val="bg1"/>
              </a:solidFill>
            </a:endParaRPr>
          </a:p>
        </p:txBody>
      </p:sp>
      <p:pic>
        <p:nvPicPr>
          <p:cNvPr id="15" name="รูปภาพ 48"/>
          <p:cNvPicPr/>
          <p:nvPr/>
        </p:nvPicPr>
        <p:blipFill>
          <a:blip r:embed="rId5" cstate="print"/>
          <a:srcRect l="35438" t="14706" r="34463" b="12834"/>
          <a:stretch>
            <a:fillRect/>
          </a:stretch>
        </p:blipFill>
        <p:spPr>
          <a:xfrm>
            <a:off x="5580112" y="1196752"/>
            <a:ext cx="2088232" cy="3384376"/>
          </a:xfrm>
          <a:prstGeom prst="rect">
            <a:avLst/>
          </a:prstGeom>
        </p:spPr>
      </p:pic>
      <p:pic>
        <p:nvPicPr>
          <p:cNvPr id="16" name="รูปภาพ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868144" y="3356992"/>
            <a:ext cx="1728192" cy="144016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17" name="Oval 16"/>
          <p:cNvSpPr/>
          <p:nvPr/>
        </p:nvSpPr>
        <p:spPr>
          <a:xfrm>
            <a:off x="5868144" y="3573016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3</a:t>
            </a:r>
            <a:endParaRPr lang="th-TH" sz="2000" b="1" dirty="0">
              <a:solidFill>
                <a:schemeClr val="bg1"/>
              </a:solidFill>
            </a:endParaRPr>
          </a:p>
        </p:txBody>
      </p:sp>
      <p:pic>
        <p:nvPicPr>
          <p:cNvPr id="19" name="รูปภาพ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499992" y="4293096"/>
            <a:ext cx="432048" cy="144016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20" name="Oval 19"/>
          <p:cNvSpPr/>
          <p:nvPr/>
        </p:nvSpPr>
        <p:spPr>
          <a:xfrm>
            <a:off x="4067944" y="4149080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4</a:t>
            </a:r>
            <a:endParaRPr lang="th-TH" sz="2000" b="1" dirty="0">
              <a:solidFill>
                <a:schemeClr val="bg1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5040560" cy="576064"/>
          </a:xfrm>
        </p:spPr>
        <p:txBody>
          <a:bodyPr>
            <a:normAutofit fontScale="90000"/>
          </a:bodyPr>
          <a:lstStyle/>
          <a:p>
            <a:r>
              <a:rPr lang="th-TH" sz="2800" dirty="0" smtClean="0">
                <a:latin typeface="Algerian" pitchFamily="82" charset="0"/>
              </a:rPr>
              <a:t>การส่ง </a:t>
            </a:r>
            <a:r>
              <a:rPr lang="en-US" sz="2800" dirty="0" smtClean="0">
                <a:latin typeface="Algerian" pitchFamily="82" charset="0"/>
              </a:rPr>
              <a:t>PR </a:t>
            </a:r>
            <a:r>
              <a:rPr lang="th-TH" sz="2800" dirty="0" smtClean="0">
                <a:latin typeface="Algerian" pitchFamily="82" charset="0"/>
              </a:rPr>
              <a:t>ให้ผู้จัดการอนุมัติ (</a:t>
            </a:r>
            <a:r>
              <a:rPr lang="en-US" sz="2800" dirty="0" smtClean="0">
                <a:latin typeface="Algerian" pitchFamily="82" charset="0"/>
              </a:rPr>
              <a:t>Approved</a:t>
            </a:r>
            <a:r>
              <a:rPr lang="th-TH" sz="2800" dirty="0" smtClean="0">
                <a:latin typeface="Algerian" pitchFamily="82" charset="0"/>
              </a:rPr>
              <a:t>)</a:t>
            </a:r>
            <a:endParaRPr lang="th-TH" sz="2800" dirty="0"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19" y="56271"/>
            <a:ext cx="2336935" cy="910467"/>
          </a:xfrm>
        </p:spPr>
        <p:txBody>
          <a:bodyPr>
            <a:normAutofit/>
          </a:bodyPr>
          <a:lstStyle/>
          <a:p>
            <a:r>
              <a:rPr lang="th-TH" sz="2800" dirty="0" smtClean="0"/>
              <a:t>ดูตัวอย่างก่อนพิมพ์</a:t>
            </a:r>
            <a:endParaRPr lang="th-TH" sz="2800" dirty="0"/>
          </a:p>
        </p:txBody>
      </p:sp>
      <p:pic>
        <p:nvPicPr>
          <p:cNvPr id="3" name="รูปภาพ 54"/>
          <p:cNvPicPr/>
          <p:nvPr/>
        </p:nvPicPr>
        <p:blipFill>
          <a:blip r:embed="rId2" cstate="print"/>
          <a:srcRect t="3077" b="23186"/>
          <a:stretch>
            <a:fillRect/>
          </a:stretch>
        </p:blipFill>
        <p:spPr>
          <a:xfrm>
            <a:off x="539552" y="836712"/>
            <a:ext cx="7920880" cy="3888432"/>
          </a:xfrm>
          <a:prstGeom prst="rect">
            <a:avLst/>
          </a:prstGeom>
        </p:spPr>
      </p:pic>
      <p:pic>
        <p:nvPicPr>
          <p:cNvPr id="4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63688" y="980728"/>
            <a:ext cx="288032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1259632" y="4797152"/>
            <a:ext cx="5616624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เลือก       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   Print</a:t>
            </a:r>
            <a:endParaRPr lang="th-TH" sz="2400" dirty="0" smtClean="0">
              <a:solidFill>
                <a:srgbClr val="FF0000"/>
              </a:solidFill>
              <a:latin typeface="AngsanaUPC" pitchFamily="18" charset="-34"/>
              <a:cs typeface="AngsanaUPC" pitchFamily="18" charset="-34"/>
            </a:endParaRP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เลือก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Report Style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เลือก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SU FM-PR-01</a:t>
            </a: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เลือก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        Print Preview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เพื่อดูตัวอย่าง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PR  </a:t>
            </a:r>
          </a:p>
          <a:p>
            <a:pPr marL="457200" indent="-457200"/>
            <a:endParaRPr lang="th-TH" sz="2400" dirty="0" smtClean="0">
              <a:solidFill>
                <a:srgbClr val="FF000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6" name="รูปภาพ 5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67744" y="4869160"/>
            <a:ext cx="457200" cy="257175"/>
          </a:xfrm>
          <a:prstGeom prst="rect">
            <a:avLst/>
          </a:prstGeom>
        </p:spPr>
      </p:pic>
      <p:pic>
        <p:nvPicPr>
          <p:cNvPr id="7" name="รูปภาพ 5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67744" y="5589240"/>
            <a:ext cx="342900" cy="323850"/>
          </a:xfrm>
          <a:prstGeom prst="rect">
            <a:avLst/>
          </a:prstGeom>
        </p:spPr>
      </p:pic>
      <p:pic>
        <p:nvPicPr>
          <p:cNvPr id="8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707904" y="2492896"/>
            <a:ext cx="288032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9" name="Oval 8"/>
          <p:cNvSpPr/>
          <p:nvPr/>
        </p:nvSpPr>
        <p:spPr>
          <a:xfrm>
            <a:off x="1331640" y="908720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1</a:t>
            </a:r>
            <a:endParaRPr lang="th-TH" sz="2000" b="1" dirty="0">
              <a:solidFill>
                <a:schemeClr val="bg1"/>
              </a:solidFill>
            </a:endParaRPr>
          </a:p>
        </p:txBody>
      </p:sp>
      <p:pic>
        <p:nvPicPr>
          <p:cNvPr id="10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91880" y="3429000"/>
            <a:ext cx="1800200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12" name="Oval 11"/>
          <p:cNvSpPr/>
          <p:nvPr/>
        </p:nvSpPr>
        <p:spPr>
          <a:xfrm>
            <a:off x="3059832" y="3356992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2</a:t>
            </a:r>
            <a:endParaRPr lang="th-TH" sz="2000" b="1" dirty="0">
              <a:solidFill>
                <a:schemeClr val="bg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3275856" y="2420888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3</a:t>
            </a:r>
            <a:endParaRPr lang="th-TH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รูปภาพ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5816" y="1032098"/>
            <a:ext cx="4032448" cy="5565254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63888" y="0"/>
            <a:ext cx="2520280" cy="850106"/>
          </a:xfrm>
        </p:spPr>
        <p:txBody>
          <a:bodyPr>
            <a:normAutofit/>
          </a:bodyPr>
          <a:lstStyle/>
          <a:p>
            <a:r>
              <a:rPr lang="th-TH" sz="2800" dirty="0" smtClean="0"/>
              <a:t>ตัวอย่างใบ </a:t>
            </a:r>
            <a:r>
              <a:rPr lang="en-US" sz="2800" dirty="0" smtClean="0"/>
              <a:t>PR </a:t>
            </a:r>
            <a:endParaRPr lang="th-TH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251520" y="-27384"/>
            <a:ext cx="4392488" cy="850106"/>
          </a:xfrm>
        </p:spPr>
        <p:txBody>
          <a:bodyPr>
            <a:normAutofit fontScale="90000"/>
          </a:bodyPr>
          <a:lstStyle/>
          <a:p>
            <a:r>
              <a:rPr lang="th-TH" sz="2800" dirty="0" smtClean="0">
                <a:latin typeface="Algerian" pitchFamily="82" charset="0"/>
              </a:rPr>
              <a:t>การแนบไฟล์งานหรือรูปภาพในการเปิด </a:t>
            </a:r>
            <a:r>
              <a:rPr lang="en-US" sz="2800" dirty="0" smtClean="0">
                <a:latin typeface="Algerian" pitchFamily="82" charset="0"/>
              </a:rPr>
              <a:t>PR</a:t>
            </a:r>
            <a:endParaRPr lang="th-TH" sz="2800" dirty="0">
              <a:latin typeface="Algerian" pitchFamily="82" charset="0"/>
            </a:endParaRPr>
          </a:p>
        </p:txBody>
      </p:sp>
      <p:pic>
        <p:nvPicPr>
          <p:cNvPr id="12" name="รูปภาพ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544" y="764704"/>
            <a:ext cx="7056784" cy="3960440"/>
          </a:xfrm>
          <a:prstGeom prst="rect">
            <a:avLst/>
          </a:prstGeom>
        </p:spPr>
      </p:pic>
      <p:pic>
        <p:nvPicPr>
          <p:cNvPr id="13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87624" y="836712"/>
            <a:ext cx="288032" cy="21602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14" name="Oval 13"/>
          <p:cNvSpPr/>
          <p:nvPr/>
        </p:nvSpPr>
        <p:spPr>
          <a:xfrm>
            <a:off x="755576" y="764704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1</a:t>
            </a:r>
            <a:endParaRPr lang="th-TH" sz="2000" b="1" dirty="0">
              <a:solidFill>
                <a:schemeClr val="bg1"/>
              </a:solidFill>
            </a:endParaRPr>
          </a:p>
        </p:txBody>
      </p:sp>
      <p:pic>
        <p:nvPicPr>
          <p:cNvPr id="15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63688" y="4581128"/>
            <a:ext cx="576064" cy="144016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16" name="Oval 15"/>
          <p:cNvSpPr/>
          <p:nvPr/>
        </p:nvSpPr>
        <p:spPr>
          <a:xfrm>
            <a:off x="1331640" y="4437112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2</a:t>
            </a:r>
            <a:endParaRPr lang="th-TH" sz="2000" b="1" dirty="0">
              <a:solidFill>
                <a:schemeClr val="bg1"/>
              </a:solidFill>
            </a:endParaRPr>
          </a:p>
        </p:txBody>
      </p:sp>
      <p:pic>
        <p:nvPicPr>
          <p:cNvPr id="17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75856" y="2492896"/>
            <a:ext cx="1872208" cy="198022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18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00192" y="2636912"/>
            <a:ext cx="792088" cy="198022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19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75856" y="2780928"/>
            <a:ext cx="2952328" cy="198022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20" name="Oval 19"/>
          <p:cNvSpPr/>
          <p:nvPr/>
        </p:nvSpPr>
        <p:spPr>
          <a:xfrm>
            <a:off x="3851920" y="2060848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3</a:t>
            </a:r>
            <a:endParaRPr lang="th-TH" sz="2000" b="1" dirty="0">
              <a:solidFill>
                <a:schemeClr val="bg1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6444208" y="2204864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4</a:t>
            </a:r>
            <a:endParaRPr lang="th-TH" sz="2000" b="1" dirty="0">
              <a:solidFill>
                <a:schemeClr val="bg1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2843808" y="2708920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5</a:t>
            </a:r>
            <a:endParaRPr lang="th-TH" sz="2000" b="1" dirty="0">
              <a:solidFill>
                <a:schemeClr val="bg1"/>
              </a:solidFill>
            </a:endParaRPr>
          </a:p>
        </p:txBody>
      </p:sp>
      <p:pic>
        <p:nvPicPr>
          <p:cNvPr id="23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156176" y="3014954"/>
            <a:ext cx="648072" cy="12601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24" name="Oval 23"/>
          <p:cNvSpPr/>
          <p:nvPr/>
        </p:nvSpPr>
        <p:spPr>
          <a:xfrm>
            <a:off x="6300192" y="3212976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6</a:t>
            </a:r>
            <a:endParaRPr lang="th-TH" sz="2000" b="1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43808" y="3933056"/>
            <a:ext cx="4968552" cy="2677656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เลือก       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   Attachments</a:t>
            </a:r>
            <a:endParaRPr lang="th-TH" sz="2400" dirty="0" smtClean="0">
              <a:solidFill>
                <a:srgbClr val="FF0000"/>
              </a:solidFill>
              <a:latin typeface="AngsanaUPC" pitchFamily="18" charset="-34"/>
              <a:cs typeface="AngsanaUPC" pitchFamily="18" charset="-34"/>
            </a:endParaRP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เลือก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NEW</a:t>
            </a: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เลือก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Doc Type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กดเลือก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PR Document</a:t>
            </a: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กดเลือก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Browse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เพื่อแนบไฟล์หรือรูปภาพ</a:t>
            </a: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เลือก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Title </a:t>
            </a: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พิมพ์ชื่อไฟล์เอกสารแนบ</a:t>
            </a: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กด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OK</a:t>
            </a:r>
          </a:p>
          <a:p>
            <a:pPr marL="457200" indent="-457200"/>
            <a:endParaRPr lang="th-TH" sz="2400" dirty="0" smtClean="0">
              <a:solidFill>
                <a:srgbClr val="FF000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6" name="รูปภาพ 5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51920" y="4005064"/>
            <a:ext cx="381000" cy="295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รูปภาพ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544" y="260648"/>
            <a:ext cx="6192688" cy="417646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59632" y="4797152"/>
            <a:ext cx="5616624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ถ้าต้องการเพิ่ม กด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NEW</a:t>
            </a:r>
            <a:endParaRPr lang="th-TH" sz="2400" dirty="0" smtClean="0">
              <a:solidFill>
                <a:srgbClr val="FF0000"/>
              </a:solidFill>
              <a:latin typeface="AngsanaUPC" pitchFamily="18" charset="-34"/>
              <a:cs typeface="AngsanaUPC" pitchFamily="18" charset="-34"/>
            </a:endParaRP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ถ้าต้องการลบ กด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Delete</a:t>
            </a:r>
          </a:p>
          <a:p>
            <a:pPr marL="457200" indent="-457200">
              <a:buAutoNum type="arabicPeriod"/>
            </a:pPr>
            <a:r>
              <a:rPr lang="th-TH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ถ้าต้องการดูตัวอย่างเอกสารแนบ กด </a:t>
            </a:r>
            <a:r>
              <a:rPr lang="en-US" sz="2400" dirty="0" smtClean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view   </a:t>
            </a:r>
          </a:p>
          <a:p>
            <a:pPr marL="457200" indent="-457200"/>
            <a:endParaRPr lang="th-TH" sz="2400" dirty="0" smtClean="0">
              <a:solidFill>
                <a:srgbClr val="FF000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5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63688" y="4293096"/>
            <a:ext cx="576064" cy="144016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6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11760" y="4293096"/>
            <a:ext cx="576064" cy="144016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7" name="รูปภาพ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59832" y="4293096"/>
            <a:ext cx="576064" cy="144016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8" name="Oval 7"/>
          <p:cNvSpPr/>
          <p:nvPr/>
        </p:nvSpPr>
        <p:spPr>
          <a:xfrm>
            <a:off x="1835696" y="3861048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1</a:t>
            </a:r>
            <a:endParaRPr lang="th-TH" sz="2000" b="1" dirty="0">
              <a:solidFill>
                <a:schemeClr val="bg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2483768" y="3861048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2</a:t>
            </a:r>
            <a:endParaRPr lang="th-TH" sz="2000" b="1" dirty="0">
              <a:solidFill>
                <a:schemeClr val="bg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3203848" y="3861048"/>
            <a:ext cx="360040" cy="36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th-TH" sz="2000" b="1" dirty="0" smtClean="0">
                <a:solidFill>
                  <a:schemeClr val="bg1"/>
                </a:solidFill>
              </a:rPr>
              <a:t>3</a:t>
            </a:r>
            <a:endParaRPr lang="th-TH" sz="2000" b="1" dirty="0">
              <a:solidFill>
                <a:schemeClr val="bg1"/>
              </a:solidFill>
            </a:endParaRPr>
          </a:p>
        </p:txBody>
      </p:sp>
      <p:sp>
        <p:nvSpPr>
          <p:cNvPr id="11" name="คำบรรยายภาพแบบวงรี 1"/>
          <p:cNvSpPr/>
          <p:nvPr/>
        </p:nvSpPr>
        <p:spPr>
          <a:xfrm>
            <a:off x="755576" y="1844824"/>
            <a:ext cx="1440160" cy="432048"/>
          </a:xfrm>
          <a:prstGeom prst="wedgeEllipseCallout">
            <a:avLst>
              <a:gd name="adj1" fmla="val -3732"/>
              <a:gd name="adj2" fmla="val -153131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4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ไฟล์เอกสารแนบ  </a:t>
            </a:r>
            <a:endParaRPr lang="en-GB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3600" dirty="0" smtClean="0"/>
              <a:t>รหัส</a:t>
            </a:r>
            <a:r>
              <a:rPr lang="th-TH" sz="3600" dirty="0" smtClean="0"/>
              <a:t>สินค้าในการเปิด </a:t>
            </a:r>
            <a:r>
              <a:rPr lang="en-US" sz="3600" dirty="0" smtClean="0"/>
              <a:t>PR</a:t>
            </a:r>
            <a:endParaRPr lang="en-US" sz="36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7320739"/>
              </p:ext>
            </p:extLst>
          </p:nvPr>
        </p:nvGraphicFramePr>
        <p:xfrm>
          <a:off x="457200" y="1484784"/>
          <a:ext cx="8218967" cy="476302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1304800">
                  <a:extLst>
                    <a:ext uri="{9D8B030D-6E8A-4147-A177-3AD203B41FA5}">
                      <a16:colId xmlns:a16="http://schemas.microsoft.com/office/drawing/2014/main" val="3161682384"/>
                    </a:ext>
                  </a:extLst>
                </a:gridCol>
                <a:gridCol w="3164258">
                  <a:extLst>
                    <a:ext uri="{9D8B030D-6E8A-4147-A177-3AD203B41FA5}">
                      <a16:colId xmlns:a16="http://schemas.microsoft.com/office/drawing/2014/main" val="872664151"/>
                    </a:ext>
                  </a:extLst>
                </a:gridCol>
                <a:gridCol w="1695167">
                  <a:extLst>
                    <a:ext uri="{9D8B030D-6E8A-4147-A177-3AD203B41FA5}">
                      <a16:colId xmlns:a16="http://schemas.microsoft.com/office/drawing/2014/main" val="2264357535"/>
                    </a:ext>
                  </a:extLst>
                </a:gridCol>
                <a:gridCol w="2054742">
                  <a:extLst>
                    <a:ext uri="{9D8B030D-6E8A-4147-A177-3AD203B41FA5}">
                      <a16:colId xmlns:a16="http://schemas.microsoft.com/office/drawing/2014/main" val="966750439"/>
                    </a:ext>
                  </a:extLst>
                </a:gridCol>
              </a:tblGrid>
              <a:tr h="374024"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รหัสสินค้า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ชื่อสินค้า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หน่วยงาน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ค่าใบรับรอง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937396"/>
                  </a:ext>
                </a:extLst>
              </a:tr>
              <a:tr h="181376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SSV11006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การขอใบรับรอง </a:t>
                      </a:r>
                      <a:r>
                        <a:rPr lang="en-US" sz="1600" dirty="0" smtClean="0"/>
                        <a:t>FRUIT FOODS CERTIFICATE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กรมควบคุมโรค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สินค้า 1 รายการ 200 บาท</a:t>
                      </a:r>
                      <a:endParaRPr lang="en-US" sz="1600" dirty="0" smtClean="0"/>
                    </a:p>
                    <a:p>
                      <a:r>
                        <a:rPr lang="th-TH" sz="1600" dirty="0" smtClean="0"/>
                        <a:t>สินค้า 2 รายการ 400 บาท</a:t>
                      </a:r>
                      <a:endParaRPr lang="en-US" sz="1600" dirty="0" smtClean="0"/>
                    </a:p>
                    <a:p>
                      <a:r>
                        <a:rPr lang="th-TH" sz="1600" dirty="0" smtClean="0"/>
                        <a:t>สินค้า 3-20 รายการ 600 บาท </a:t>
                      </a:r>
                      <a:endParaRPr lang="en-US" sz="1600" dirty="0" smtClean="0"/>
                    </a:p>
                    <a:p>
                      <a:r>
                        <a:rPr lang="th-TH" sz="1600" dirty="0" smtClean="0"/>
                        <a:t>สินค้า 21-50 รายการ 800 บาท </a:t>
                      </a:r>
                      <a:endParaRPr lang="en-US" sz="1600" dirty="0" smtClean="0"/>
                    </a:p>
                    <a:p>
                      <a:r>
                        <a:rPr lang="th-TH" sz="1600" dirty="0" smtClean="0"/>
                        <a:t>สินค้า 51-100 รายการ 1000 บาท </a:t>
                      </a:r>
                      <a:endParaRPr lang="en-US" sz="1600" dirty="0" smtClean="0"/>
                    </a:p>
                    <a:p>
                      <a:r>
                        <a:rPr lang="th-TH" sz="1600" dirty="0" smtClean="0"/>
                        <a:t>สินค้าตั้งแต่ 101 รายการขึ้นไป 2000 บาท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708071"/>
                  </a:ext>
                </a:extLst>
              </a:tr>
              <a:tr h="584092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SSV11007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การขอใบรับรอง </a:t>
                      </a:r>
                      <a:r>
                        <a:rPr lang="en-US" sz="1600" dirty="0" smtClean="0"/>
                        <a:t>FREE SALE CERTIFICATE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สำนักงานคณะกรรมการอาหารและยา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500 บาท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302478"/>
                  </a:ext>
                </a:extLst>
              </a:tr>
              <a:tr h="584092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SSV11008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การขอใบรับรอง </a:t>
                      </a:r>
                      <a:r>
                        <a:rPr lang="en-US" sz="1600" dirty="0" smtClean="0"/>
                        <a:t>PHYTOSANITARY CERTIFICATE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กรมวิชาการเกษตร (กลุ่มบริการส่งออกสินค้าเกษตร) 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ค่าใบรับรอง 100 บาท</a:t>
                      </a:r>
                      <a:endParaRPr lang="en-US" sz="1600" dirty="0" smtClean="0"/>
                    </a:p>
                    <a:p>
                      <a:r>
                        <a:rPr lang="th-TH" sz="1600" dirty="0" smtClean="0"/>
                        <a:t>ค่าป่วยการ ชั่วโมงแรก 120 บาท ชั่งโมงต่อไป 40</a:t>
                      </a:r>
                      <a:r>
                        <a:rPr lang="th-TH" sz="1600" baseline="0" dirty="0" smtClean="0"/>
                        <a:t> บาท 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477532"/>
                  </a:ext>
                </a:extLst>
              </a:tr>
              <a:tr h="584092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SSV11009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การขอใบรับรอง </a:t>
                      </a:r>
                      <a:r>
                        <a:rPr lang="en-US" sz="1600" dirty="0" smtClean="0"/>
                        <a:t>RADIOACTIVITY CERTIFICATE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สถาบันเทคโนโลยีนิวเคลียร์แห่งชาติ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986090"/>
                  </a:ext>
                </a:extLst>
              </a:tr>
              <a:tr h="584092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SSV11014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ค่ายานพาหนะ </a:t>
                      </a:r>
                      <a:r>
                        <a:rPr lang="en-US" sz="1600" dirty="0" smtClean="0"/>
                        <a:t>PHYTOSANITARY CERTIFICATE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กรมวิชาการเกษตร 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1000 บาท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922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54095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1617814"/>
              </p:ext>
            </p:extLst>
          </p:nvPr>
        </p:nvGraphicFramePr>
        <p:xfrm>
          <a:off x="457200" y="260648"/>
          <a:ext cx="8291264" cy="6048674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1388825">
                  <a:extLst>
                    <a:ext uri="{9D8B030D-6E8A-4147-A177-3AD203B41FA5}">
                      <a16:colId xmlns:a16="http://schemas.microsoft.com/office/drawing/2014/main" val="1438300208"/>
                    </a:ext>
                  </a:extLst>
                </a:gridCol>
                <a:gridCol w="3119545">
                  <a:extLst>
                    <a:ext uri="{9D8B030D-6E8A-4147-A177-3AD203B41FA5}">
                      <a16:colId xmlns:a16="http://schemas.microsoft.com/office/drawing/2014/main" val="4126680974"/>
                    </a:ext>
                  </a:extLst>
                </a:gridCol>
                <a:gridCol w="1710078">
                  <a:extLst>
                    <a:ext uri="{9D8B030D-6E8A-4147-A177-3AD203B41FA5}">
                      <a16:colId xmlns:a16="http://schemas.microsoft.com/office/drawing/2014/main" val="4148861754"/>
                    </a:ext>
                  </a:extLst>
                </a:gridCol>
                <a:gridCol w="2072816">
                  <a:extLst>
                    <a:ext uri="{9D8B030D-6E8A-4147-A177-3AD203B41FA5}">
                      <a16:colId xmlns:a16="http://schemas.microsoft.com/office/drawing/2014/main" val="4108805610"/>
                    </a:ext>
                  </a:extLst>
                </a:gridCol>
              </a:tblGrid>
              <a:tr h="383537"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รหัสสินค้า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ชื่อสินค้า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หน่วยงาน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ค่าใบรับรอง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346412"/>
                  </a:ext>
                </a:extLst>
              </a:tr>
              <a:tr h="64955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SSV11029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ค่าสมัคร/ต่ออายุใบรับรองอิเล็กทรอนิกส์ (</a:t>
                      </a:r>
                      <a:r>
                        <a:rPr lang="en-US" sz="1600" dirty="0" smtClean="0"/>
                        <a:t>TOT CA)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บริษัท ทีโอที จำกัด (มหาชน)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ต่ออายุ 3 ปี 1,350 บาท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30731"/>
                  </a:ext>
                </a:extLst>
              </a:tr>
              <a:tr h="1103325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SSV11032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การขอใบรับรอง </a:t>
                      </a:r>
                      <a:r>
                        <a:rPr lang="en-US" sz="1600" dirty="0" smtClean="0"/>
                        <a:t>FREE SALE CERTIFICATE +MANUFACTURER CERTIFICATE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สำนักงานคณะกรรมการอาหารและยา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1000 บาท</a:t>
                      </a:r>
                      <a:endParaRPr lang="th-TH" sz="1600" dirty="0" smtClean="0"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537953"/>
                  </a:ext>
                </a:extLst>
              </a:tr>
              <a:tr h="92304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SSV11036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การขอใบรับรอง </a:t>
                      </a:r>
                      <a:r>
                        <a:rPr lang="en-US" sz="1600" dirty="0" smtClean="0"/>
                        <a:t>HEALTH CERTIFICATE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กรมวิชาการเกษตร </a:t>
                      </a:r>
                    </a:p>
                    <a:p>
                      <a:r>
                        <a:rPr lang="th-TH" sz="1600" dirty="0" smtClean="0"/>
                        <a:t>(กองพัฒนาระบบและรับรองมาตรฐานสินค้าพืช) 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100 บาท สำเนา 50 บาท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741082"/>
                  </a:ext>
                </a:extLst>
              </a:tr>
              <a:tr h="64955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SSV06010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การวิเคราะห์เคมี : </a:t>
                      </a:r>
                      <a:r>
                        <a:rPr lang="en-US" sz="1600" dirty="0" smtClean="0"/>
                        <a:t>SUDAN RED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อุตสาหกรรมพัฒนามูลนิธิเพื่อสถาบันอาหาร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รายการละ 1,500 บาท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031377"/>
                  </a:ext>
                </a:extLst>
              </a:tr>
              <a:tr h="64955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SSV06014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การวิเคราะห์  : กัมมันตรังสี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สถาบันเทคโนโลยีนิวเคลียร์แห่งชาติ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รายการละ 1,605 บาท ราคารวม </a:t>
                      </a:r>
                      <a:r>
                        <a:rPr lang="en-US" sz="1600" dirty="0" smtClean="0"/>
                        <a:t>Vat 7 % 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416696"/>
                  </a:ext>
                </a:extLst>
              </a:tr>
              <a:tr h="92304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SSV06015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การวิเคราะห์เคมี : </a:t>
                      </a:r>
                      <a:r>
                        <a:rPr lang="en-US" sz="1600" dirty="0" smtClean="0"/>
                        <a:t>GMO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กรมวิชาการเกษตร </a:t>
                      </a:r>
                    </a:p>
                    <a:p>
                      <a:r>
                        <a:rPr lang="th-TH" sz="1600" dirty="0" smtClean="0"/>
                        <a:t>(สำนักวิจัยพัฒนาเทคโนโลยีชีวภาพ)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รายการละ 1,800 บาท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891951"/>
                  </a:ext>
                </a:extLst>
              </a:tr>
              <a:tr h="38353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SOS07056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กระดาษ </a:t>
                      </a:r>
                      <a:r>
                        <a:rPr lang="en-US" sz="1600" dirty="0" smtClean="0"/>
                        <a:t>A4 </a:t>
                      </a:r>
                      <a:r>
                        <a:rPr lang="th-TH" sz="1600" dirty="0" smtClean="0"/>
                        <a:t>สีชมพู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-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-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811075"/>
                  </a:ext>
                </a:extLst>
              </a:tr>
              <a:tr h="383537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cs typeface="+mj-cs"/>
                        </a:rPr>
                        <a:t>SOS07078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กระดาษหัวจดหมาย สุรีย์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-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600" dirty="0" smtClean="0"/>
                        <a:t>-</a:t>
                      </a:r>
                      <a:endParaRPr lang="en-US" sz="1600" dirty="0"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363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11156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ภาพน่ารักขอบคุณตัวอักษร PNG, รูป, เวกเตอร์และไฟล์ PSD | ดาวน์โหลดฟรีบน  Pngtree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548680"/>
            <a:ext cx="6408712" cy="5400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2459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897</TotalTime>
  <Words>892</Words>
  <Application>Microsoft Office PowerPoint</Application>
  <PresentationFormat>On-screen Show (4:3)</PresentationFormat>
  <Paragraphs>215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Algerian</vt:lpstr>
      <vt:lpstr>Angsana New</vt:lpstr>
      <vt:lpstr>AngsanaUPC</vt:lpstr>
      <vt:lpstr>Arial</vt:lpstr>
      <vt:lpstr>Calibri</vt:lpstr>
      <vt:lpstr>Cordia New</vt:lpstr>
      <vt:lpstr>Wingdings</vt:lpstr>
      <vt:lpstr>Office Theme</vt:lpstr>
      <vt:lpstr>คู่มือ ERP การเปิดใบขอซื้อ (PR)  ค่าใบรับรองและค่าวิเคราะห์</vt:lpstr>
      <vt:lpstr>POP-02 : Requisition (ใบขอซื้อ)</vt:lpstr>
      <vt:lpstr>PowerPoint Presentation</vt:lpstr>
      <vt:lpstr>กดปุ่ม      เพื่อเข้าหน้า Menu </vt:lpstr>
      <vt:lpstr> กดปุ่ม Menu เลือก CP Requisition Entry  </vt:lpstr>
      <vt:lpstr>หน้าจอเปิด PR เลือกแถบ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การส่ง PR ให้ผู้จัดการอนุมัติ (Approved)</vt:lpstr>
      <vt:lpstr>ดูตัวอย่างก่อนพิมพ์</vt:lpstr>
      <vt:lpstr>ตัวอย่างใบ PR </vt:lpstr>
      <vt:lpstr>การแนบไฟล์งานหรือรูปภาพในการเปิด PR</vt:lpstr>
      <vt:lpstr>PowerPoint Presentation</vt:lpstr>
      <vt:lpstr>รหัสสินค้าในการเปิด PR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LAB2</dc:creator>
  <cp:lastModifiedBy>LAB2</cp:lastModifiedBy>
  <cp:revision>146</cp:revision>
  <dcterms:created xsi:type="dcterms:W3CDTF">2024-05-21T10:49:14Z</dcterms:created>
  <dcterms:modified xsi:type="dcterms:W3CDTF">2025-02-10T02:30:58Z</dcterms:modified>
</cp:coreProperties>
</file>